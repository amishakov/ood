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74" r:id="rId3"/>
    <p:sldId id="275" r:id="rId4"/>
    <p:sldId id="276" r:id="rId5"/>
    <p:sldId id="277" r:id="rId6"/>
    <p:sldId id="257" r:id="rId7"/>
    <p:sldId id="278" r:id="rId8"/>
    <p:sldId id="279" r:id="rId9"/>
    <p:sldId id="280" r:id="rId10"/>
    <p:sldId id="281" r:id="rId11"/>
    <p:sldId id="259" r:id="rId12"/>
    <p:sldId id="282" r:id="rId13"/>
    <p:sldId id="283" r:id="rId14"/>
    <p:sldId id="285" r:id="rId15"/>
    <p:sldId id="284" r:id="rId16"/>
    <p:sldId id="260" r:id="rId17"/>
    <p:sldId id="286" r:id="rId18"/>
    <p:sldId id="287" r:id="rId19"/>
    <p:sldId id="288" r:id="rId20"/>
    <p:sldId id="261" r:id="rId21"/>
    <p:sldId id="289" r:id="rId22"/>
    <p:sldId id="290" r:id="rId23"/>
    <p:sldId id="291" r:id="rId24"/>
    <p:sldId id="292" r:id="rId25"/>
    <p:sldId id="262" r:id="rId26"/>
    <p:sldId id="293" r:id="rId27"/>
    <p:sldId id="294" r:id="rId28"/>
    <p:sldId id="295" r:id="rId29"/>
    <p:sldId id="296" r:id="rId30"/>
    <p:sldId id="263" r:id="rId31"/>
    <p:sldId id="297" r:id="rId32"/>
    <p:sldId id="298" r:id="rId33"/>
    <p:sldId id="299" r:id="rId34"/>
    <p:sldId id="300" r:id="rId35"/>
    <p:sldId id="264" r:id="rId36"/>
    <p:sldId id="301" r:id="rId37"/>
    <p:sldId id="302" r:id="rId38"/>
    <p:sldId id="303" r:id="rId39"/>
    <p:sldId id="304" r:id="rId40"/>
    <p:sldId id="266" r:id="rId41"/>
    <p:sldId id="305" r:id="rId42"/>
    <p:sldId id="306" r:id="rId43"/>
    <p:sldId id="307" r:id="rId44"/>
    <p:sldId id="308" r:id="rId45"/>
    <p:sldId id="309" r:id="rId46"/>
    <p:sldId id="269" r:id="rId47"/>
    <p:sldId id="310" r:id="rId48"/>
    <p:sldId id="311" r:id="rId49"/>
    <p:sldId id="312" r:id="rId50"/>
    <p:sldId id="313" r:id="rId51"/>
    <p:sldId id="270" r:id="rId52"/>
    <p:sldId id="314" r:id="rId53"/>
    <p:sldId id="315" r:id="rId54"/>
    <p:sldId id="316" r:id="rId55"/>
    <p:sldId id="271" r:id="rId56"/>
    <p:sldId id="317" r:id="rId57"/>
    <p:sldId id="318" r:id="rId58"/>
    <p:sldId id="319" r:id="rId59"/>
    <p:sldId id="272" r:id="rId60"/>
    <p:sldId id="320" r:id="rId61"/>
    <p:sldId id="321" r:id="rId62"/>
    <p:sldId id="322" r:id="rId63"/>
    <p:sldId id="273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262" autoAdjust="0"/>
  </p:normalViewPr>
  <p:slideViewPr>
    <p:cSldViewPr snapToGrid="0" showGuides="1">
      <p:cViewPr>
        <p:scale>
          <a:sx n="66" d="100"/>
          <a:sy n="66" d="100"/>
        </p:scale>
        <p:origin x="2232" y="144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9-03T16:23:33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21183 12753 0,'31'0'0,"1"0"16,-1 0-16,-31 31 16,32 1-1,-1-32-15,0 31 16,1 1-1,31-1 1,-32-31-16,1 32 16,-32-1-16,31 1 15,1-32 1,-32 31 0,31-31 15,-31 32-31,63-158 375,-63 94-360,32 32-15,-32-31 32,31-1-17,-31 1-15,63-32 63,-31 63-48,31-32 1,-32 1 15,-94 62 157,0 32-173,-31 0 1,62-63 0,1 32-1,31-1 1,-32-31-16,32 32 16,-31-1-1,-1 1 16,1-1-31,31 1 79,-32 31-64,1-63 16,31 63 16,-32-63-15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26-09-03T16:42:58.1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4281 9730 0,'31'0'78,"1"-31"-62,-1-1-16,1 1 31,-1-1-31,1 1 16,-1-1-1,1-31-15,-1 32 16,0-32-16,32 0 15,-31 0-15,31 31 16,-32 1-16,1 31 16,-1-95-16,1 32 15,-1 0 1,1 63-16,-32-63 16,31 32-1,-31-1-15,32 1 16,31-63-16,-32 31 15,1 63 1,-32-32-16,63-62 16,-1 62-1,-30-31 1,31 63-16,0-31 16,0-1-1,-63 1-15,63-1 16,0-31-1,0 63-15,-32-31 16,1 31-16,-1-32 16,1 1-16,-1-1 15,32 1-15,0-1 16,-32 32-16,64-31 16,-32-32-16,0 63 15,-32 0 1,1-32-16,62 1 15,-62 31-15,-1 0 16,0-32-16,1 32 16,-1-31-16,1 31 15,-1 0-15,1-32 16,31 1 0,-32 31 15,-31-32-31,63 32 15,0 0 17,-63-31-17,32 31 1,-1 0 0,-31-32-1,32 1-15,-1-1 0,1 32 31</inkml:trace>
  <inkml:trace contextRef="#ctx0" brushRef="#br0" timeOffset="1180.78">6295 7369 0,'63'31'47,"31"-31"-47,-31 0 15,32 0-15,-32 32 16,-32-32-16,1 0 15,31 0-15,-32 0 16,1 0-16,-1 0 16,1 0-16,-1 0 15,1 0 1,-1 0 0,-31 31 46,0 0 110,0 32-156,-63 0-16,63 0 15,-63 0-15,32 63 16,31-94-16,-63 31 15,63 0-15,0-32 32,-32-31-32,95 32 109,-31-1-109,31-31 16</inkml:trace>
  <inkml:trace contextRef="#ctx0" brushRef="#br0" timeOffset="5217.22">11646 6518 0,'31'0'0,"32"0"16,-31 0-16,31 0 15,-32 0-15,64 0 16,-33 0-16,1 0 15,0 0-15,95 0 16,-127 0-16,95 0 0,-31 0 16,-1 0-16,32 0 15,-95 0-15,64 0 16,31 0-16,-63 0 16,0 0-16,0 0 15,31 0-15,32 0 16,-95 0-16,32 0 15,63 0-15,63 0 16,-126 0-16,31 0 16,-31 0-16,-31 0 15,94 0-15,-63 0 16,-32 0-16,32 0 0,32 0 16,-1 0-1,32 0 1,-32 0-16,32 0 15,0 0-15,-63 0 16,63 0-16,0 0 16,-32 0-16,-31 0 15,-31 0 32,62 0-31,-62 0-16,-1 0 15,95 0-15,-63 0 0,-32 0 16,1 0 15,-1 0-31,32 0 16,-31 0-16,62 0 16,-62 0-1,31 0-15,-32 0 16,32 0-16,0 32 15,63-32-15,0 63 16,0-63-16,-63 31 16,0-31-16,31 0 15,0 0-15,95 0 16,-63 0-16,0 0 0,-95 0 16,32 32-16,0-32 15,0 31-15,0-31 16,-31 0-1,62 0 1,1 0-16,-32 0 16,31 0-16,-31 0 15,0 0-15,0 0 16,-32 0-16,1 0 16,-1 32-16,32-1 15,-31-31 1,-1 0-16,32 32 15,0-32-15,-31 0 16,62 0-16,-63 0 16,32 0-16,0 0 15,0 0-15,32 0 16,-32 0-16,63 0 16,-63 0-16,-1 0 15,33 0-15,-32 0 16,31 0-16,-31 0 15,-31 0-15,-1 0 16,1 0 15,-1 0-15,-62 0 125</inkml:trace>
  <inkml:trace contextRef="#ctx0" brushRef="#br0" timeOffset="6212.96">19609 6581 0,'-32'0'0,"32"32"0,32-32 15,-1 31 1,64 1 0,-64-1-1,32 32-15,-31-63 16,31 63-16,0-63 15,0 32-15,-1-1 16,1 1-16,0-32 16,0 63-1,-126-63 142,32 0-142,-1 0-15,-125 0 16,31 0-16,32 0 15,-95 0-15,126 0 0,-31 0 16,31 0 0,0 0-16,31 0 15,1 31 1,-1-31 0,1 0-16,-32 0 15,31 32 1,1-32 62,-1 31-78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DE5383-FF2A-4746-9117-68E1BE7D057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7BF74-5358-4FD5-8FD6-AF80439C39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95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работали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и </a:t>
            </a:r>
            <a:r>
              <a:rPr lang="en-US" dirty="0" err="1"/>
              <a:t>небольших</a:t>
            </a:r>
            <a:r>
              <a:rPr lang="en-US" dirty="0"/>
              <a:t> </a:t>
            </a:r>
            <a:r>
              <a:rPr lang="en-US" dirty="0" err="1"/>
              <a:t>групп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инварианты</a:t>
            </a:r>
            <a:r>
              <a:rPr lang="en-US" dirty="0"/>
              <a:t>, </a:t>
            </a:r>
            <a:r>
              <a:rPr lang="en-US" dirty="0" err="1"/>
              <a:t>каким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Разбирали</a:t>
            </a:r>
            <a:r>
              <a:rPr lang="en-US" dirty="0"/>
              <a:t> </a:t>
            </a:r>
            <a:r>
              <a:rPr lang="en-US" dirty="0" err="1"/>
              <a:t>композицию</a:t>
            </a:r>
            <a:r>
              <a:rPr lang="en-US" dirty="0"/>
              <a:t> и </a:t>
            </a:r>
            <a:r>
              <a:rPr lang="en-US" dirty="0" err="1"/>
              <a:t>наследование</a:t>
            </a:r>
            <a:r>
              <a:rPr lang="en-US" dirty="0"/>
              <a:t>, </a:t>
            </a:r>
            <a:r>
              <a:rPr lang="en-US" dirty="0" err="1"/>
              <a:t>полиморфизм</a:t>
            </a:r>
            <a:r>
              <a:rPr lang="en-US" dirty="0"/>
              <a:t>,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исключения</a:t>
            </a:r>
            <a:r>
              <a:rPr lang="en-US" dirty="0"/>
              <a:t> и </a:t>
            </a:r>
            <a:r>
              <a:rPr lang="en-US" dirty="0" err="1"/>
              <a:t>шаблоны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поднимемся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выше</a:t>
            </a:r>
            <a:r>
              <a:rPr lang="en-US" dirty="0"/>
              <a:t>.</a:t>
            </a:r>
          </a:p>
          <a:p>
            <a:r>
              <a:rPr lang="en-US" dirty="0" err="1"/>
              <a:t>Реальная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 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создаются</a:t>
            </a:r>
            <a:r>
              <a:rPr lang="en-US" dirty="0"/>
              <a:t>,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 и </a:t>
            </a:r>
            <a:r>
              <a:rPr lang="en-US" dirty="0" err="1"/>
              <a:t>передают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другу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«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спроектирован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?»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недостаточен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интересовать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организовать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 </a:t>
            </a:r>
            <a:r>
              <a:rPr lang="en-US" b="1" dirty="0" err="1"/>
              <a:t>объектов</a:t>
            </a:r>
            <a:r>
              <a:rPr lang="en-US" b="1" dirty="0"/>
              <a:t> </a:t>
            </a:r>
            <a:r>
              <a:rPr lang="en-US" b="1" dirty="0" err="1"/>
              <a:t>так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было</a:t>
            </a:r>
            <a:r>
              <a:rPr lang="en-US" b="1" dirty="0"/>
              <a:t> </a:t>
            </a:r>
            <a:r>
              <a:rPr lang="en-US" b="1" dirty="0" err="1"/>
              <a:t>удобно</a:t>
            </a:r>
            <a:r>
              <a:rPr lang="en-US" b="1" dirty="0"/>
              <a:t> </a:t>
            </a:r>
            <a:r>
              <a:rPr lang="en-US" b="1" dirty="0" err="1"/>
              <a:t>развивать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требования</a:t>
            </a:r>
            <a:r>
              <a:rPr lang="en-US" b="1" dirty="0"/>
              <a:t> </a:t>
            </a:r>
            <a:r>
              <a:rPr lang="en-US" b="1" dirty="0" err="1"/>
              <a:t>меняются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67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Итак, мы </a:t>
            </a:r>
            <a:r>
              <a:rPr lang="en-US" dirty="0" err="1"/>
              <a:t>умеем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навык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инкапсулирует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, </a:t>
            </a:r>
            <a:r>
              <a:rPr lang="en-US" dirty="0" err="1"/>
              <a:t>нарушает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инварианты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неудобный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никакая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вокруг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спасёт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понятный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скрыто</a:t>
            </a:r>
            <a:r>
              <a:rPr lang="en-US" dirty="0"/>
              <a:t>. </a:t>
            </a:r>
            <a:r>
              <a:rPr lang="en-US" dirty="0" err="1"/>
              <a:t>Инварианты</a:t>
            </a:r>
            <a:r>
              <a:rPr lang="en-US" dirty="0"/>
              <a:t> </a:t>
            </a:r>
            <a:r>
              <a:rPr lang="en-US" dirty="0" err="1"/>
              <a:t>соблюдаются</a:t>
            </a:r>
            <a:r>
              <a:rPr lang="en-US" dirty="0"/>
              <a:t>.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тесты</a:t>
            </a:r>
            <a:r>
              <a:rPr lang="en-US" dirty="0"/>
              <a:t>.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спроектирована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а в </a:t>
            </a:r>
            <a:r>
              <a:rPr lang="en-US" dirty="0" err="1"/>
              <a:t>связях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dirty="0" err="1"/>
              <a:t>другом</a:t>
            </a:r>
            <a:r>
              <a:rPr lang="en-US" dirty="0"/>
              <a:t>.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разбросана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нескольким</a:t>
            </a:r>
            <a:r>
              <a:rPr lang="en-US" dirty="0"/>
              <a:t> </a:t>
            </a:r>
            <a:r>
              <a:rPr lang="en-US" dirty="0" err="1"/>
              <a:t>классам</a:t>
            </a:r>
            <a:r>
              <a:rPr lang="en-US" dirty="0"/>
              <a:t>. А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правок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местах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,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незаметны</a:t>
            </a:r>
            <a:r>
              <a:rPr lang="en-US" dirty="0"/>
              <a:t>.</a:t>
            </a:r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компилируются</a:t>
            </a:r>
            <a:r>
              <a:rPr lang="en-US" dirty="0"/>
              <a:t>. </a:t>
            </a:r>
            <a:r>
              <a:rPr lang="en-US" dirty="0" err="1"/>
              <a:t>Тесты</a:t>
            </a:r>
            <a:r>
              <a:rPr lang="en-US" dirty="0"/>
              <a:t> </a:t>
            </a:r>
            <a:r>
              <a:rPr lang="en-US" dirty="0" err="1"/>
              <a:t>проходят</a:t>
            </a:r>
            <a:r>
              <a:rPr lang="en-US" dirty="0"/>
              <a:t>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— и </a:t>
            </a:r>
            <a:r>
              <a:rPr lang="en-US" dirty="0" err="1"/>
              <a:t>выясняется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, </a:t>
            </a:r>
            <a:r>
              <a:rPr lang="en-US" dirty="0" err="1"/>
              <a:t>казалось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Вот</a:t>
            </a:r>
            <a:r>
              <a:rPr lang="en-US" dirty="0"/>
              <a:t> в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и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 </a:t>
            </a:r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устроен</a:t>
            </a:r>
            <a:r>
              <a:rPr lang="en-US" b="1" dirty="0"/>
              <a:t> </a:t>
            </a:r>
            <a:r>
              <a:rPr lang="en-US" b="1" dirty="0" err="1"/>
              <a:t>каждый</a:t>
            </a:r>
            <a:r>
              <a:rPr lang="en-US" b="1" dirty="0"/>
              <a:t> </a:t>
            </a:r>
            <a:r>
              <a:rPr lang="en-US" b="1" dirty="0" err="1"/>
              <a:t>класс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классы</a:t>
            </a:r>
            <a:r>
              <a:rPr lang="en-US" b="1" dirty="0"/>
              <a:t> </a:t>
            </a:r>
            <a:r>
              <a:rPr lang="en-US" b="1" dirty="0" err="1"/>
              <a:t>связаны</a:t>
            </a:r>
            <a:r>
              <a:rPr lang="en-US" b="1" dirty="0"/>
              <a:t> </a:t>
            </a:r>
            <a:r>
              <a:rPr lang="en-US" b="1" dirty="0" err="1"/>
              <a:t>между</a:t>
            </a:r>
            <a:r>
              <a:rPr lang="en-US" b="1" dirty="0"/>
              <a:t> </a:t>
            </a:r>
            <a:r>
              <a:rPr lang="en-US" b="1" dirty="0" err="1"/>
              <a:t>собой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между</a:t>
            </a:r>
            <a:r>
              <a:rPr lang="en-US" b="1" dirty="0"/>
              <a:t> </a:t>
            </a:r>
            <a:r>
              <a:rPr lang="en-US" b="1" dirty="0" err="1"/>
              <a:t>ними</a:t>
            </a:r>
            <a:r>
              <a:rPr lang="en-US" b="1" dirty="0"/>
              <a:t> </a:t>
            </a:r>
            <a:r>
              <a:rPr lang="en-US" b="1" dirty="0" err="1"/>
              <a:t>распределена</a:t>
            </a:r>
            <a:r>
              <a:rPr lang="en-US" b="1" dirty="0"/>
              <a:t> </a:t>
            </a:r>
            <a:r>
              <a:rPr lang="en-US" b="1" dirty="0" err="1"/>
              <a:t>работа</a:t>
            </a:r>
            <a:r>
              <a:rPr lang="en-US" b="1" dirty="0"/>
              <a:t> и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эти</a:t>
            </a:r>
            <a:r>
              <a:rPr lang="en-US" b="1" dirty="0"/>
              <a:t> </a:t>
            </a:r>
            <a:r>
              <a:rPr lang="en-US" b="1" dirty="0" err="1"/>
              <a:t>связи</a:t>
            </a:r>
            <a:r>
              <a:rPr lang="en-US" b="1" dirty="0"/>
              <a:t> </a:t>
            </a:r>
            <a:r>
              <a:rPr lang="en-US" b="1" dirty="0" err="1"/>
              <a:t>влияют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8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масштаб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взять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спросить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предоставлять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защищать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интересует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dirty="0" err="1"/>
              <a:t>средства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о </a:t>
            </a:r>
            <a:r>
              <a:rPr lang="en-US" dirty="0" err="1"/>
              <a:t>друге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/>
              <a:t>ООП </a:t>
            </a:r>
            <a:r>
              <a:rPr lang="en-US" b="1" dirty="0" err="1"/>
              <a:t>дало</a:t>
            </a:r>
            <a:r>
              <a:rPr lang="en-US" b="1" dirty="0"/>
              <a:t> </a:t>
            </a:r>
            <a:r>
              <a:rPr lang="en-US" b="1" dirty="0" err="1"/>
              <a:t>нам</a:t>
            </a:r>
            <a:r>
              <a:rPr lang="en-US" b="1" dirty="0"/>
              <a:t> </a:t>
            </a:r>
            <a:r>
              <a:rPr lang="en-US" b="1" dirty="0" err="1"/>
              <a:t>строительные</a:t>
            </a:r>
            <a:r>
              <a:rPr lang="en-US" b="1" dirty="0"/>
              <a:t> </a:t>
            </a:r>
            <a:r>
              <a:rPr lang="en-US" b="1" dirty="0" err="1"/>
              <a:t>блоки</a:t>
            </a:r>
            <a:r>
              <a:rPr lang="en-US" b="1" dirty="0"/>
              <a:t>. </a:t>
            </a:r>
            <a:r>
              <a:rPr lang="en-US" b="1" dirty="0" err="1"/>
              <a:t>Теперь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будем</a:t>
            </a:r>
            <a:r>
              <a:rPr lang="en-US" b="1" dirty="0"/>
              <a:t> </a:t>
            </a:r>
            <a:r>
              <a:rPr lang="en-US" b="1" dirty="0" err="1"/>
              <a:t>учиться</a:t>
            </a:r>
            <a:r>
              <a:rPr lang="en-US" b="1" dirty="0"/>
              <a:t> </a:t>
            </a:r>
            <a:r>
              <a:rPr lang="en-US" b="1" dirty="0" err="1"/>
              <a:t>строить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них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4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небольшим</a:t>
            </a:r>
            <a:r>
              <a:rPr lang="en-US" dirty="0"/>
              <a:t> </a:t>
            </a:r>
            <a:r>
              <a:rPr lang="en-US" dirty="0" err="1"/>
              <a:t>графическим</a:t>
            </a:r>
            <a:r>
              <a:rPr lang="en-US" dirty="0"/>
              <a:t> </a:t>
            </a:r>
            <a:r>
              <a:rPr lang="en-US" dirty="0" err="1"/>
              <a:t>редактором</a:t>
            </a:r>
            <a:r>
              <a:rPr lang="en-US" dirty="0"/>
              <a:t>.</a:t>
            </a:r>
          </a:p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.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и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пытаться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предусмотреть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. </a:t>
            </a:r>
            <a:r>
              <a:rPr lang="en-US" dirty="0" err="1"/>
              <a:t>Спроектируем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.</a:t>
            </a:r>
          </a:p>
          <a:p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добавим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—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принимать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.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неожиданно</a:t>
            </a:r>
            <a:r>
              <a:rPr lang="en-US" dirty="0"/>
              <a:t> </a:t>
            </a:r>
            <a:r>
              <a:rPr lang="en-US" dirty="0" err="1"/>
              <a:t>затрагивать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моменты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интересны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рода</a:t>
            </a:r>
            <a:r>
              <a:rPr lang="en-US" dirty="0"/>
              <a:t>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: </a:t>
            </a:r>
            <a:r>
              <a:rPr lang="en-US" b="1" dirty="0" err="1"/>
              <a:t>насколько</a:t>
            </a:r>
            <a:r>
              <a:rPr lang="en-US" b="1" dirty="0"/>
              <a:t> </a:t>
            </a:r>
            <a:r>
              <a:rPr lang="en-US" b="1" dirty="0" err="1"/>
              <a:t>локальными</a:t>
            </a:r>
            <a:r>
              <a:rPr lang="en-US" b="1" dirty="0"/>
              <a:t> </a:t>
            </a:r>
            <a:r>
              <a:rPr lang="en-US" b="1" dirty="0" err="1"/>
              <a:t>оказываются</a:t>
            </a:r>
            <a:r>
              <a:rPr lang="en-US" b="1" dirty="0"/>
              <a:t> </a:t>
            </a:r>
            <a:r>
              <a:rPr lang="en-US" b="1" dirty="0" err="1"/>
              <a:t>изменения</a:t>
            </a:r>
            <a:r>
              <a:rPr lang="en-US" b="1" dirty="0"/>
              <a:t> в </a:t>
            </a:r>
            <a:r>
              <a:rPr lang="en-US" b="1" dirty="0" err="1"/>
              <a:t>коде</a:t>
            </a:r>
            <a:r>
              <a:rPr lang="en-US" b="1" dirty="0"/>
              <a:t> и </a:t>
            </a:r>
            <a:r>
              <a:rPr lang="en-US" b="1" dirty="0" err="1"/>
              <a:t>насколько</a:t>
            </a:r>
            <a:r>
              <a:rPr lang="en-US" b="1" dirty="0"/>
              <a:t> </a:t>
            </a:r>
            <a:r>
              <a:rPr lang="en-US" b="1" dirty="0" err="1"/>
              <a:t>хорошо</a:t>
            </a:r>
            <a:r>
              <a:rPr lang="en-US" b="1" dirty="0"/>
              <a:t> </a:t>
            </a:r>
            <a:r>
              <a:rPr lang="en-US" b="1" dirty="0" err="1"/>
              <a:t>структура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соответствует</a:t>
            </a:r>
            <a:r>
              <a:rPr lang="en-US" b="1" dirty="0"/>
              <a:t> </a:t>
            </a:r>
            <a:r>
              <a:rPr lang="en-US" b="1" dirty="0" err="1"/>
              <a:t>тому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развивается</a:t>
            </a:r>
            <a:r>
              <a:rPr lang="en-US" b="1" dirty="0"/>
              <a:t> </a:t>
            </a:r>
            <a:r>
              <a:rPr lang="en-US" b="1" dirty="0" err="1"/>
              <a:t>задача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9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счёте</a:t>
            </a:r>
            <a:r>
              <a:rPr lang="en-US" dirty="0"/>
              <a:t> </a:t>
            </a:r>
            <a:r>
              <a:rPr lang="en-US" dirty="0" err="1"/>
              <a:t>выражена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формально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необходимая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деталей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читаем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полей</a:t>
            </a:r>
            <a:r>
              <a:rPr lang="en-US" dirty="0"/>
              <a:t>, </a:t>
            </a:r>
            <a:r>
              <a:rPr lang="en-US" dirty="0" err="1"/>
              <a:t>сигнатуры</a:t>
            </a:r>
            <a:r>
              <a:rPr lang="en-US" dirty="0"/>
              <a:t> </a:t>
            </a:r>
            <a:r>
              <a:rPr lang="en-US" dirty="0" err="1"/>
              <a:t>методов</a:t>
            </a:r>
            <a:r>
              <a:rPr lang="en-US" dirty="0"/>
              <a:t>,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.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этими</a:t>
            </a:r>
            <a:r>
              <a:rPr lang="en-US" dirty="0"/>
              <a:t> </a:t>
            </a:r>
            <a:r>
              <a:rPr lang="en-US" dirty="0" err="1"/>
              <a:t>деталями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в </a:t>
            </a:r>
            <a:r>
              <a:rPr lang="en-US" dirty="0" err="1"/>
              <a:t>целом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фрагмент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</a:t>
            </a:r>
            <a:r>
              <a:rPr lang="en-US" dirty="0" err="1"/>
              <a:t>говорит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диаграмме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: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множества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сознательно</a:t>
            </a:r>
            <a:r>
              <a:rPr lang="en-US" dirty="0"/>
              <a:t> </a:t>
            </a:r>
            <a:r>
              <a:rPr lang="en-US" dirty="0" err="1"/>
              <a:t>отбрасываем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 и </a:t>
            </a:r>
            <a:r>
              <a:rPr lang="en-US" dirty="0" err="1"/>
              <a:t>оставляем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рассуждения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используем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и </a:t>
            </a:r>
            <a:r>
              <a:rPr lang="en-US" dirty="0" err="1"/>
              <a:t>диаграммы</a:t>
            </a:r>
            <a:r>
              <a:rPr lang="en-US" dirty="0"/>
              <a:t>.</a:t>
            </a:r>
          </a:p>
          <a:p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помочь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49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самых</a:t>
            </a:r>
            <a:r>
              <a:rPr lang="en-US" dirty="0"/>
              <a:t> </a:t>
            </a:r>
            <a:r>
              <a:rPr lang="en-US" dirty="0" err="1"/>
              <a:t>привычных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— </a:t>
            </a:r>
            <a:r>
              <a:rPr lang="en-US" dirty="0" err="1"/>
              <a:t>рассмотреть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статическую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и </a:t>
            </a:r>
            <a:r>
              <a:rPr lang="en-US" dirty="0" err="1"/>
              <a:t>интерфейсы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наследование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встречались</a:t>
            </a:r>
            <a:r>
              <a:rPr lang="en-US" dirty="0"/>
              <a:t> с </a:t>
            </a:r>
            <a:r>
              <a:rPr lang="en-US" dirty="0" err="1"/>
              <a:t>такими</a:t>
            </a:r>
            <a:r>
              <a:rPr lang="en-US" dirty="0"/>
              <a:t> </a:t>
            </a:r>
            <a:r>
              <a:rPr lang="en-US" dirty="0" err="1"/>
              <a:t>диаграммами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ru-RU" dirty="0"/>
              <a:t> ООП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вспомнить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обозначения</a:t>
            </a:r>
            <a:r>
              <a:rPr lang="en-US" dirty="0"/>
              <a:t> UML, а </a:t>
            </a:r>
            <a:r>
              <a:rPr lang="en-US" dirty="0" err="1"/>
              <a:t>восстановить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навык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обсуждения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полная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показывать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поля</a:t>
            </a:r>
            <a:r>
              <a:rPr lang="en-US" dirty="0"/>
              <a:t>, </a:t>
            </a:r>
            <a:r>
              <a:rPr lang="en-US" dirty="0" err="1"/>
              <a:t>конструкторы</a:t>
            </a:r>
            <a:r>
              <a:rPr lang="en-US" dirty="0"/>
              <a:t> и </a:t>
            </a:r>
            <a:r>
              <a:rPr lang="en-US" dirty="0" err="1"/>
              <a:t>методы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,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показать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изображено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.</a:t>
            </a:r>
          </a:p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— </a:t>
            </a:r>
            <a:r>
              <a:rPr lang="en-US" dirty="0" err="1"/>
              <a:t>та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статической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GraphicsContext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отображение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рисует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происходят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в </a:t>
            </a:r>
            <a:r>
              <a:rPr lang="en-US" dirty="0" err="1"/>
              <a:t>динамике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отобразить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dirty="0" err="1"/>
              <a:t>каждую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нарисоваться</a:t>
            </a:r>
            <a:r>
              <a:rPr lang="en-US" dirty="0"/>
              <a:t>. А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графических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столько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.</a:t>
            </a:r>
          </a:p>
          <a:p>
            <a:r>
              <a:rPr lang="en-US" dirty="0" err="1"/>
              <a:t>Одна</a:t>
            </a:r>
            <a:r>
              <a:rPr lang="en-US" dirty="0"/>
              <a:t> и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диаграмме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очевидной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статическим</a:t>
            </a:r>
            <a:r>
              <a:rPr lang="en-US" dirty="0"/>
              <a:t> и </a:t>
            </a:r>
            <a:r>
              <a:rPr lang="en-US" dirty="0" err="1"/>
              <a:t>динамическим</a:t>
            </a:r>
            <a:r>
              <a:rPr lang="en-US" dirty="0"/>
              <a:t> </a:t>
            </a:r>
            <a:r>
              <a:rPr lang="en-US" dirty="0" err="1"/>
              <a:t>взглядом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09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единственной</a:t>
            </a:r>
            <a:r>
              <a:rPr lang="en-US" dirty="0"/>
              <a:t> «</a:t>
            </a:r>
            <a:r>
              <a:rPr lang="en-US" dirty="0" err="1"/>
              <a:t>правильной</a:t>
            </a:r>
            <a:r>
              <a:rPr lang="en-US" dirty="0"/>
              <a:t>» </a:t>
            </a:r>
            <a:r>
              <a:rPr lang="en-US" dirty="0" err="1"/>
              <a:t>диаграммы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с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сторон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отношения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типами</a:t>
            </a:r>
            <a:r>
              <a:rPr lang="en-US" dirty="0"/>
              <a:t>, </a:t>
            </a:r>
            <a:r>
              <a:rPr lang="en-US" dirty="0" err="1"/>
              <a:t>полезна</a:t>
            </a:r>
            <a:r>
              <a:rPr lang="en-US" dirty="0"/>
              <a:t> </a:t>
            </a:r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в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диаграмму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выполнением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взаимодействий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пригодится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приём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сравнивать</a:t>
            </a:r>
            <a:r>
              <a:rPr lang="en-US" dirty="0"/>
              <a:t> </a:t>
            </a:r>
            <a:r>
              <a:rPr lang="en-US" dirty="0" err="1"/>
              <a:t>диаграммы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и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сможем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ru-RU" dirty="0"/>
              <a:t>не нужно относиться </a:t>
            </a:r>
            <a:r>
              <a:rPr lang="en-US" dirty="0"/>
              <a:t>к </a:t>
            </a:r>
            <a:r>
              <a:rPr lang="en-US" dirty="0" err="1"/>
              <a:t>диаграммам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к </a:t>
            </a:r>
            <a:r>
              <a:rPr lang="en-US" dirty="0" err="1"/>
              <a:t>обязательной</a:t>
            </a:r>
            <a:r>
              <a:rPr lang="en-US" dirty="0"/>
              <a:t> </a:t>
            </a:r>
            <a:r>
              <a:rPr lang="en-US" dirty="0" err="1"/>
              <a:t>документации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написания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инструмент</a:t>
            </a:r>
            <a:r>
              <a:rPr lang="en-US" dirty="0"/>
              <a:t> </a:t>
            </a:r>
            <a:r>
              <a:rPr lang="en-US" dirty="0" err="1"/>
              <a:t>мышления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смотрите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можете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трудно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, </a:t>
            </a:r>
            <a:r>
              <a:rPr lang="en-US" dirty="0" err="1"/>
              <a:t>попробуйте</a:t>
            </a:r>
            <a:r>
              <a:rPr lang="en-US" dirty="0"/>
              <a:t> </a:t>
            </a:r>
            <a:r>
              <a:rPr lang="en-US" dirty="0" err="1"/>
              <a:t>убрать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и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и </a:t>
            </a:r>
            <a:r>
              <a:rPr lang="en-US" dirty="0" err="1"/>
              <a:t>зависимости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непонятно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нарисуйте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взаимодействий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основной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ru-RU" dirty="0"/>
              <a:t>такой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сначала</a:t>
            </a:r>
            <a:r>
              <a:rPr lang="en-US" b="1" dirty="0"/>
              <a:t> </a:t>
            </a:r>
            <a:r>
              <a:rPr lang="en-US" b="1" dirty="0" err="1"/>
              <a:t>сформулируйте</a:t>
            </a:r>
            <a:r>
              <a:rPr lang="en-US" b="1" dirty="0"/>
              <a:t> </a:t>
            </a:r>
            <a:r>
              <a:rPr lang="en-US" b="1" dirty="0" err="1"/>
              <a:t>вопрос</a:t>
            </a:r>
            <a:r>
              <a:rPr lang="en-US" b="1" dirty="0"/>
              <a:t>, а </a:t>
            </a:r>
            <a:r>
              <a:rPr lang="en-US" b="1" dirty="0" err="1"/>
              <a:t>потом</a:t>
            </a:r>
            <a:r>
              <a:rPr lang="en-US" b="1" dirty="0"/>
              <a:t> </a:t>
            </a:r>
            <a:r>
              <a:rPr lang="en-US" b="1" dirty="0" err="1"/>
              <a:t>выберите</a:t>
            </a:r>
            <a:r>
              <a:rPr lang="en-US" b="1" dirty="0"/>
              <a:t> </a:t>
            </a:r>
            <a:r>
              <a:rPr lang="en-US" b="1" dirty="0" err="1"/>
              <a:t>представление</a:t>
            </a:r>
            <a:r>
              <a:rPr lang="en-US" b="1" dirty="0"/>
              <a:t>, </a:t>
            </a:r>
            <a:r>
              <a:rPr lang="en-US" b="1" dirty="0" err="1"/>
              <a:t>которое</a:t>
            </a:r>
            <a:r>
              <a:rPr lang="en-US" b="1" dirty="0"/>
              <a:t> </a:t>
            </a:r>
            <a:r>
              <a:rPr lang="en-US" b="1" dirty="0" err="1"/>
              <a:t>поможет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него</a:t>
            </a:r>
            <a:r>
              <a:rPr lang="en-US" b="1" dirty="0"/>
              <a:t> </a:t>
            </a:r>
            <a:r>
              <a:rPr lang="en-US" b="1" dirty="0" err="1"/>
              <a:t>ответить</a:t>
            </a:r>
            <a:r>
              <a:rPr lang="en-US" b="1" dirty="0"/>
              <a:t>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приёмом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и </a:t>
            </a:r>
            <a:r>
              <a:rPr lang="en-US" dirty="0" err="1"/>
              <a:t>воспользуемся</a:t>
            </a:r>
            <a:r>
              <a:rPr lang="en-US" dirty="0"/>
              <a:t>.</a:t>
            </a:r>
          </a:p>
          <a:p>
            <a:r>
              <a:rPr lang="en-US" dirty="0" err="1"/>
              <a:t>Возьмём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, </a:t>
            </a:r>
            <a:r>
              <a:rPr lang="en-US" dirty="0" err="1"/>
              <a:t>построим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версию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начнём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и </a:t>
            </a:r>
            <a:r>
              <a:rPr lang="en-US" dirty="0" err="1"/>
              <a:t>наблюдать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71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разрабатываем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геометрических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: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.</a:t>
            </a:r>
          </a:p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последнюю</a:t>
            </a:r>
            <a:r>
              <a:rPr lang="en-US" dirty="0"/>
              <a:t> </a:t>
            </a:r>
            <a:r>
              <a:rPr lang="en-US" dirty="0" err="1"/>
              <a:t>фразу</a:t>
            </a:r>
            <a:r>
              <a:rPr lang="en-US" dirty="0"/>
              <a:t>: </a:t>
            </a:r>
            <a:r>
              <a:rPr lang="en-US" b="1" dirty="0" err="1"/>
              <a:t>пока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все</a:t>
            </a:r>
            <a:r>
              <a:rPr lang="en-US" b="1" dirty="0"/>
              <a:t> </a:t>
            </a:r>
            <a:r>
              <a:rPr lang="en-US" b="1" dirty="0" err="1"/>
              <a:t>требования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написано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, </a:t>
            </a:r>
            <a:r>
              <a:rPr lang="en-US" dirty="0" err="1"/>
              <a:t>сохранение</a:t>
            </a:r>
            <a:r>
              <a:rPr lang="en-US" dirty="0"/>
              <a:t> в </a:t>
            </a:r>
            <a:r>
              <a:rPr lang="en-US" dirty="0" err="1"/>
              <a:t>файл</a:t>
            </a:r>
            <a:r>
              <a:rPr lang="en-US" dirty="0"/>
              <a:t>, </a:t>
            </a:r>
            <a:r>
              <a:rPr lang="en-US" dirty="0" err="1"/>
              <a:t>группировку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какие-либо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пытаться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спроектировать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случаи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.</a:t>
            </a:r>
          </a:p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668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.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разная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, и </a:t>
            </a:r>
            <a:r>
              <a:rPr lang="en-US" dirty="0" err="1"/>
              <a:t>рисуются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отображения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: </a:t>
            </a:r>
            <a:r>
              <a:rPr lang="en-US" dirty="0" err="1"/>
              <a:t>любую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ввести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с </a:t>
            </a:r>
            <a:r>
              <a:rPr lang="en-US" dirty="0" err="1"/>
              <a:t>операцией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GraphicsContext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API,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 </a:t>
            </a:r>
            <a:r>
              <a:rPr lang="en-US" dirty="0" err="1"/>
              <a:t>линии</a:t>
            </a:r>
            <a:r>
              <a:rPr lang="en-US" dirty="0"/>
              <a:t>,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предыдущим</a:t>
            </a:r>
            <a:r>
              <a:rPr lang="en-US" dirty="0"/>
              <a:t> </a:t>
            </a:r>
            <a:r>
              <a:rPr lang="en-US" dirty="0" err="1"/>
              <a:t>курсом</a:t>
            </a:r>
            <a:r>
              <a:rPr lang="en-US" dirty="0"/>
              <a:t>. Это </a:t>
            </a:r>
            <a:r>
              <a:rPr lang="en-US" dirty="0" err="1"/>
              <a:t>обычный</a:t>
            </a:r>
            <a:r>
              <a:rPr lang="en-US" dirty="0"/>
              <a:t> runtime-</a:t>
            </a:r>
            <a:r>
              <a:rPr lang="en-US" dirty="0" err="1"/>
              <a:t>полиморфизм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имеющихся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83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соберём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в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отобразить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у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с </a:t>
            </a:r>
            <a:r>
              <a:rPr lang="en-US" dirty="0" err="1"/>
              <a:t>помощью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switch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выполнит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.</a:t>
            </a:r>
          </a:p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множество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а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</a:t>
            </a:r>
          </a:p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просит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нарисоваться</a:t>
            </a:r>
            <a:r>
              <a:rPr lang="en-US" dirty="0"/>
              <a:t>, а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представления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64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Посмотрим на получившуюся систему.</a:t>
            </a:r>
          </a:p>
          <a:p>
            <a:endParaRPr lang="ru-RU" noProof="0" dirty="0"/>
          </a:p>
          <a:p>
            <a:r>
              <a:rPr lang="ru-RU" noProof="0" dirty="0"/>
              <a:t>Есть ли здесь какие-то очевидные проблемы?</a:t>
            </a:r>
          </a:p>
          <a:p>
            <a:r>
              <a:rPr lang="ru-RU" noProof="0" dirty="0"/>
              <a:t>На данный момент — нет.</a:t>
            </a:r>
          </a:p>
          <a:p>
            <a:r>
              <a:rPr lang="ru-RU" noProof="0" dirty="0"/>
              <a:t>Архитектура достаточно проста. Классы имеют понятные обязанности. </a:t>
            </a:r>
            <a:r>
              <a:rPr lang="ru-RU" sz="1200" kern="1200" noProof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ru-RU" noProof="0" dirty="0"/>
              <a:t> работает с фигурами через общий интерфейс. Чтобы отобразить рисунок, нам не требуется знать конкретные типы фигур.</a:t>
            </a:r>
          </a:p>
          <a:p>
            <a:endParaRPr lang="ru-RU" noProof="0" dirty="0"/>
          </a:p>
          <a:p>
            <a:r>
              <a:rPr lang="ru-RU" noProof="0" dirty="0"/>
              <a:t>Можно было бы уже сейчас начать искать потенциальные недостатки и придумывать дополнительные уровни абстракции.</a:t>
            </a:r>
          </a:p>
          <a:p>
            <a:r>
              <a:rPr lang="ru-RU" noProof="0" dirty="0"/>
              <a:t>Но на основании имеющихся требований у нас для этого нет веских причин.</a:t>
            </a:r>
          </a:p>
          <a:p>
            <a:endParaRPr lang="ru-RU" noProof="0" dirty="0"/>
          </a:p>
          <a:p>
            <a:r>
              <a:rPr lang="ru-RU" noProof="0" dirty="0"/>
              <a:t>Поэтому зафиксируем важный момент.</a:t>
            </a:r>
          </a:p>
          <a:p>
            <a:r>
              <a:rPr lang="ru-RU" b="1" noProof="0" dirty="0"/>
              <a:t>Эту архитектуру мы не будем считать плохой.</a:t>
            </a:r>
            <a:endParaRPr lang="ru-RU" noProof="0" dirty="0"/>
          </a:p>
          <a:p>
            <a:r>
              <a:rPr lang="ru-RU" noProof="0" dirty="0"/>
              <a:t>Она решает поставленную задачу и выглядит вполне разумно.</a:t>
            </a:r>
          </a:p>
          <a:p>
            <a:endParaRPr lang="ru-RU" noProof="0" dirty="0"/>
          </a:p>
          <a:p>
            <a:r>
              <a:rPr lang="ru-RU" noProof="0" dirty="0"/>
              <a:t>Но это только версия 1.0.</a:t>
            </a:r>
          </a:p>
          <a:p>
            <a:r>
              <a:rPr lang="ru-RU" noProof="0" dirty="0"/>
              <a:t>Теперь мы сделаем то, что постоянно происходит с реальными программами: изменим требования.</a:t>
            </a:r>
          </a:p>
          <a:p>
            <a:endParaRPr lang="ru-RU" noProof="0" dirty="0"/>
          </a:p>
          <a:p>
            <a:r>
              <a:rPr lang="ru-RU" noProof="0" dirty="0"/>
              <a:t>И посмотрим, насколько легко наша архитектура готовка к изменениям.</a:t>
            </a:r>
          </a:p>
          <a:p>
            <a:r>
              <a:rPr lang="ru-RU" noProof="0" dirty="0"/>
              <a:t>Именно тогда мы начнём узнавать о ней гораздо больше.</a:t>
            </a:r>
          </a:p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72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рисовать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треугольники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и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основным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а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изменить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добавить</a:t>
            </a:r>
            <a:r>
              <a:rPr lang="en-US" b="1" dirty="0"/>
              <a:t> </a:t>
            </a:r>
            <a:r>
              <a:rPr lang="en-US" b="1" dirty="0" err="1"/>
              <a:t>треугольник</a:t>
            </a:r>
            <a:r>
              <a:rPr lang="en-US" b="1" dirty="0"/>
              <a:t>?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?</a:t>
            </a:r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реагирует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59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, </a:t>
            </a:r>
            <a:r>
              <a:rPr lang="en-US" dirty="0" err="1"/>
              <a:t>храним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треугольника</a:t>
            </a:r>
            <a:r>
              <a:rPr lang="en-US" dirty="0"/>
              <a:t> и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у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безразлично</a:t>
            </a:r>
            <a:r>
              <a:rPr lang="en-US" dirty="0"/>
              <a:t>,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в </a:t>
            </a:r>
            <a:r>
              <a:rPr lang="en-US" dirty="0" err="1"/>
              <a:t>коллекции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затронуло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возможностью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4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конкретным</a:t>
            </a:r>
            <a:r>
              <a:rPr lang="en-US" dirty="0"/>
              <a:t>: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— </a:t>
            </a:r>
            <a:r>
              <a:rPr lang="en-US" dirty="0" err="1"/>
              <a:t>треугольник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Drawing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переписывать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перебирает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локальным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разновидность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известного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аккуратно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«</a:t>
            </a:r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».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проверили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текущая</a:t>
            </a:r>
            <a:r>
              <a:rPr lang="en-US" b="1" dirty="0"/>
              <a:t> </a:t>
            </a:r>
            <a:r>
              <a:rPr lang="en-US" b="1" dirty="0" err="1"/>
              <a:t>архитектура</a:t>
            </a:r>
            <a:r>
              <a:rPr lang="en-US" b="1" dirty="0"/>
              <a:t> </a:t>
            </a:r>
            <a:r>
              <a:rPr lang="en-US" b="1" dirty="0" err="1"/>
              <a:t>хорошо</a:t>
            </a:r>
            <a:r>
              <a:rPr lang="en-US" b="1" dirty="0"/>
              <a:t> </a:t>
            </a:r>
            <a:r>
              <a:rPr lang="en-US" b="1" dirty="0" err="1"/>
              <a:t>поддерживает</a:t>
            </a:r>
            <a:r>
              <a:rPr lang="en-US" b="1" dirty="0"/>
              <a:t> </a:t>
            </a:r>
            <a:r>
              <a:rPr lang="en-US" b="1" dirty="0" err="1"/>
              <a:t>добавление</a:t>
            </a:r>
            <a:r>
              <a:rPr lang="en-US" b="1" dirty="0"/>
              <a:t> </a:t>
            </a:r>
            <a:r>
              <a:rPr lang="en-US" b="1" dirty="0" err="1"/>
              <a:t>новых</a:t>
            </a:r>
            <a:r>
              <a:rPr lang="en-US" b="1" dirty="0"/>
              <a:t> </a:t>
            </a:r>
            <a:r>
              <a:rPr lang="en-US" b="1" dirty="0" err="1"/>
              <a:t>видов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.</a:t>
            </a:r>
            <a:endParaRPr lang="ru-RU" b="1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полезнее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назвать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хорошим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плохим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любой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, и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потребовать</a:t>
            </a:r>
            <a:r>
              <a:rPr lang="en-US" dirty="0"/>
              <a:t> </a:t>
            </a:r>
            <a:r>
              <a:rPr lang="en-US" dirty="0" err="1"/>
              <a:t>серьёзной</a:t>
            </a:r>
            <a:r>
              <a:rPr lang="en-US" dirty="0"/>
              <a:t> </a:t>
            </a:r>
            <a:r>
              <a:rPr lang="en-US" dirty="0" err="1"/>
              <a:t>перестройки</a:t>
            </a:r>
            <a:r>
              <a:rPr lang="en-US" dirty="0"/>
              <a:t>.</a:t>
            </a:r>
          </a:p>
          <a:p>
            <a:r>
              <a:rPr lang="en-US" dirty="0" err="1"/>
              <a:t>Следующее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проверит</a:t>
            </a:r>
            <a:r>
              <a:rPr lang="en-US" dirty="0"/>
              <a:t> </a:t>
            </a:r>
            <a:r>
              <a:rPr lang="en-US" dirty="0" err="1"/>
              <a:t>нашу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66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.</a:t>
            </a:r>
          </a:p>
          <a:p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прежними</a:t>
            </a:r>
            <a:r>
              <a:rPr lang="en-US" dirty="0"/>
              <a:t>.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треугольники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SVG.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и в </a:t>
            </a:r>
            <a:r>
              <a:rPr lang="en-US" dirty="0" err="1"/>
              <a:t>прошлый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изменить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выполнить</a:t>
            </a:r>
            <a:r>
              <a:rPr lang="en-US" b="1" dirty="0"/>
              <a:t>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49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?</a:t>
            </a:r>
          </a:p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очевидное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—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фигурам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знала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в SVG.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сформирует</a:t>
            </a:r>
            <a:r>
              <a:rPr lang="en-US" dirty="0"/>
              <a:t> SVG-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—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треугольника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работоспособно</a:t>
            </a:r>
            <a:r>
              <a:rPr lang="en-US" dirty="0"/>
              <a:t>.</a:t>
            </a:r>
          </a:p>
          <a:p>
            <a:r>
              <a:rPr lang="ru-RU" dirty="0" err="1"/>
              <a:t>Подчёркну</a:t>
            </a:r>
            <a:r>
              <a:rPr lang="en-US" dirty="0"/>
              <a:t>: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смысла</a:t>
            </a:r>
            <a:r>
              <a:rPr lang="en-US" dirty="0"/>
              <a:t> </a:t>
            </a:r>
            <a:r>
              <a:rPr lang="en-US" dirty="0" err="1"/>
              <a:t>объявлять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неправильным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подозреваем</a:t>
            </a:r>
            <a:r>
              <a:rPr lang="en-US" dirty="0"/>
              <a:t>,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пойдёт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история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SVG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единственным</a:t>
            </a:r>
            <a:r>
              <a:rPr lang="en-US" dirty="0"/>
              <a:t> </a:t>
            </a:r>
            <a:r>
              <a:rPr lang="en-US" dirty="0" err="1"/>
              <a:t>дополнительным</a:t>
            </a:r>
            <a:r>
              <a:rPr lang="en-US" dirty="0"/>
              <a:t> </a:t>
            </a:r>
            <a:r>
              <a:rPr lang="en-US" dirty="0" err="1"/>
              <a:t>форматом</a:t>
            </a:r>
            <a:r>
              <a:rPr lang="en-US" dirty="0"/>
              <a:t> и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закончились</a:t>
            </a:r>
            <a:r>
              <a:rPr lang="en-US" dirty="0"/>
              <a:t>,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далеко</a:t>
            </a:r>
            <a:r>
              <a:rPr lang="en-US" b="1" dirty="0"/>
              <a:t> </a:t>
            </a:r>
            <a:r>
              <a:rPr lang="en-US" b="1" dirty="0" err="1"/>
              <a:t>распространилось</a:t>
            </a:r>
            <a:r>
              <a:rPr lang="en-US" b="1" dirty="0"/>
              <a:t> </a:t>
            </a:r>
            <a:r>
              <a:rPr lang="en-US" b="1" dirty="0" err="1"/>
              <a:t>изменение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43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сравним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с </a:t>
            </a:r>
            <a:r>
              <a:rPr lang="en-US" dirty="0" err="1"/>
              <a:t>предыдущим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. </a:t>
            </a:r>
            <a:r>
              <a:rPr lang="en-US" dirty="0" err="1"/>
              <a:t>Остальная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изменилась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SVG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небольшое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ошибки</a:t>
            </a:r>
            <a:r>
              <a:rPr lang="en-US" dirty="0"/>
              <a:t> в </a:t>
            </a:r>
            <a:r>
              <a:rPr lang="en-US" dirty="0" err="1"/>
              <a:t>коде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реакция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оказалась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  <a:endParaRPr lang="ru-RU" dirty="0"/>
          </a:p>
          <a:p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добавление</a:t>
            </a:r>
            <a:r>
              <a:rPr lang="en-US" b="1" dirty="0"/>
              <a:t> </a:t>
            </a:r>
            <a:r>
              <a:rPr lang="en-US" b="1" dirty="0" err="1"/>
              <a:t>нового</a:t>
            </a:r>
            <a:r>
              <a:rPr lang="en-US" b="1" dirty="0"/>
              <a:t> </a:t>
            </a:r>
            <a:r>
              <a:rPr lang="en-US" b="1" dirty="0" err="1"/>
              <a:t>способа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 </a:t>
            </a:r>
            <a:r>
              <a:rPr lang="en-US" b="1" dirty="0" err="1"/>
              <a:t>требует</a:t>
            </a:r>
            <a:r>
              <a:rPr lang="en-US" b="1" dirty="0"/>
              <a:t> </a:t>
            </a:r>
            <a:r>
              <a:rPr lang="en-US" b="1" dirty="0" err="1"/>
              <a:t>менять</a:t>
            </a:r>
            <a:r>
              <a:rPr lang="en-US" b="1" dirty="0"/>
              <a:t> </a:t>
            </a:r>
            <a:r>
              <a:rPr lang="en-US" b="1" dirty="0" err="1"/>
              <a:t>каждый</a:t>
            </a:r>
            <a:r>
              <a:rPr lang="en-US" b="1" dirty="0"/>
              <a:t> </a:t>
            </a:r>
            <a:r>
              <a:rPr lang="en-US" b="1" dirty="0" err="1"/>
              <a:t>вид</a:t>
            </a:r>
            <a:r>
              <a:rPr lang="en-US" b="1" dirty="0"/>
              <a:t> </a:t>
            </a:r>
            <a:r>
              <a:rPr lang="en-US" b="1" dirty="0" err="1"/>
              <a:t>фигуры</a:t>
            </a:r>
            <a:r>
              <a:rPr lang="en-US" b="1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68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точное</a:t>
            </a:r>
            <a:r>
              <a:rPr lang="en-US" dirty="0"/>
              <a:t> </a:t>
            </a:r>
            <a:r>
              <a:rPr lang="en-US" dirty="0" err="1"/>
              <a:t>наблюдение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минимум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.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и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справилась</a:t>
            </a:r>
            <a:r>
              <a:rPr lang="en-US" dirty="0"/>
              <a:t> с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.</a:t>
            </a:r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,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SVG.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повела</a:t>
            </a:r>
            <a:r>
              <a:rPr lang="en-US" dirty="0"/>
              <a:t> </a:t>
            </a:r>
            <a:r>
              <a:rPr lang="en-US" dirty="0" err="1"/>
              <a:t>себя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заставил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</a:t>
            </a:r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бывает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«</a:t>
            </a:r>
            <a:r>
              <a:rPr lang="en-US" dirty="0" err="1"/>
              <a:t>гибкой</a:t>
            </a:r>
            <a:r>
              <a:rPr lang="en-US" dirty="0"/>
              <a:t>»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негибкой</a:t>
            </a:r>
            <a:r>
              <a:rPr lang="en-US" dirty="0"/>
              <a:t>».</a:t>
            </a:r>
          </a:p>
          <a:p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удобными</a:t>
            </a:r>
            <a:r>
              <a:rPr lang="en-US" dirty="0"/>
              <a:t> </a:t>
            </a:r>
            <a:r>
              <a:rPr lang="en-US" b="1" dirty="0" err="1"/>
              <a:t>какие-то</a:t>
            </a:r>
            <a:r>
              <a:rPr lang="en-US" b="1" dirty="0"/>
              <a:t> </a:t>
            </a:r>
            <a:r>
              <a:rPr lang="en-US" b="1" dirty="0" err="1"/>
              <a:t>конкретные</a:t>
            </a:r>
            <a:r>
              <a:rPr lang="en-US" b="1" dirty="0"/>
              <a:t> </a:t>
            </a:r>
            <a:r>
              <a:rPr lang="en-US" b="1" dirty="0" err="1"/>
              <a:t>виды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Наш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обходится</a:t>
            </a:r>
            <a:r>
              <a:rPr lang="en-US" dirty="0"/>
              <a:t> </a:t>
            </a:r>
            <a:r>
              <a:rPr lang="en-US" dirty="0" err="1"/>
              <a:t>дороже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SVG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 </a:t>
            </a:r>
            <a:r>
              <a:rPr lang="en-US" dirty="0" err="1"/>
              <a:t>переделывать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разовое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зафиксируем</a:t>
            </a:r>
            <a:r>
              <a:rPr lang="en-US" dirty="0"/>
              <a:t> </a:t>
            </a:r>
            <a:r>
              <a:rPr lang="en-US" dirty="0" err="1"/>
              <a:t>наблюдение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изменим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и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повторится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84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Добавление</a:t>
            </a:r>
            <a:r>
              <a:rPr lang="en-US" dirty="0"/>
              <a:t> SVG </a:t>
            </a:r>
            <a:r>
              <a:rPr lang="en-US" dirty="0" err="1"/>
              <a:t>впервые</a:t>
            </a:r>
            <a:r>
              <a:rPr lang="en-US" dirty="0"/>
              <a:t> </a:t>
            </a:r>
            <a:r>
              <a:rPr lang="en-US" dirty="0" err="1"/>
              <a:t>показало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интересную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текущего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считать</a:t>
            </a:r>
            <a:r>
              <a:rPr lang="en-US" dirty="0"/>
              <a:t> </a:t>
            </a:r>
            <a:r>
              <a:rPr lang="en-US" dirty="0" err="1"/>
              <a:t>единичным</a:t>
            </a:r>
            <a:r>
              <a:rPr lang="en-US" dirty="0"/>
              <a:t> </a:t>
            </a:r>
            <a:r>
              <a:rPr lang="en-US" dirty="0" err="1"/>
              <a:t>случаем</a:t>
            </a:r>
            <a:r>
              <a:rPr lang="en-US" dirty="0"/>
              <a:t>. </a:t>
            </a:r>
            <a:r>
              <a:rPr lang="en-US" dirty="0" err="1"/>
              <a:t>Возможно</a:t>
            </a:r>
            <a:r>
              <a:rPr lang="en-US" dirty="0"/>
              <a:t>, SVG — </a:t>
            </a:r>
            <a:r>
              <a:rPr lang="en-US" dirty="0" err="1"/>
              <a:t>единственный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экспорт</a:t>
            </a:r>
            <a:r>
              <a:rPr lang="en-US" dirty="0"/>
              <a:t> в PDF.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изменились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треугольники</a:t>
            </a:r>
            <a:r>
              <a:rPr lang="en-US" dirty="0"/>
              <a:t>.</a:t>
            </a:r>
          </a:p>
          <a:p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 </a:t>
            </a:r>
            <a:r>
              <a:rPr lang="en-US" b="1" dirty="0" err="1"/>
              <a:t>придётся</a:t>
            </a:r>
            <a:r>
              <a:rPr lang="en-US" b="1" dirty="0"/>
              <a:t> </a:t>
            </a:r>
            <a:r>
              <a:rPr lang="en-US" b="1" dirty="0" err="1"/>
              <a:t>изменить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раз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85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выбранный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,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очевидным</a:t>
            </a:r>
            <a:r>
              <a:rPr lang="en-US" dirty="0"/>
              <a:t>.</a:t>
            </a:r>
          </a:p>
          <a:p>
            <a:r>
              <a:rPr lang="en-US" dirty="0" err="1"/>
              <a:t>Добавляем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ExportToPdf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реализуем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в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функциональности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в </a:t>
            </a:r>
            <a:r>
              <a:rPr lang="en-US" dirty="0" err="1"/>
              <a:t>порядке</a:t>
            </a:r>
            <a:r>
              <a:rPr lang="en-US" dirty="0"/>
              <a:t>.</a:t>
            </a:r>
          </a:p>
          <a:p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в PDF.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тесты</a:t>
            </a:r>
            <a:r>
              <a:rPr lang="en-US" dirty="0"/>
              <a:t>,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и </a:t>
            </a:r>
            <a:r>
              <a:rPr lang="en-US" dirty="0" err="1"/>
              <a:t>выполнить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новый</a:t>
            </a:r>
            <a:r>
              <a:rPr lang="en-US" b="1" dirty="0"/>
              <a:t> </a:t>
            </a:r>
            <a:r>
              <a:rPr lang="en-US" b="1" dirty="0" err="1"/>
              <a:t>способ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dirty="0"/>
              <a:t>, а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b="1" dirty="0" err="1"/>
              <a:t>всю</a:t>
            </a:r>
            <a:r>
              <a:rPr lang="en-US" b="1" dirty="0"/>
              <a:t> </a:t>
            </a:r>
            <a:r>
              <a:rPr lang="en-US" b="1" dirty="0" err="1"/>
              <a:t>иерархию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происходило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SVG.</a:t>
            </a:r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случайность</a:t>
            </a:r>
            <a:r>
              <a:rPr lang="en-US" dirty="0"/>
              <a:t>.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проявляться</a:t>
            </a:r>
            <a:r>
              <a:rPr lang="en-US" dirty="0"/>
              <a:t> </a:t>
            </a:r>
            <a:r>
              <a:rPr lang="en-US" dirty="0" err="1"/>
              <a:t>закономерность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21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закономерность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</a:t>
            </a:r>
            <a:r>
              <a:rPr lang="en-US" dirty="0"/>
              <a:t>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существующим</a:t>
            </a:r>
            <a:r>
              <a:rPr lang="en-US" dirty="0"/>
              <a:t> </a:t>
            </a:r>
            <a:r>
              <a:rPr lang="en-US" dirty="0" err="1"/>
              <a:t>видам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опасно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развивается</a:t>
            </a:r>
            <a:r>
              <a:rPr lang="en-US" dirty="0"/>
              <a:t>.</a:t>
            </a:r>
          </a:p>
          <a:p>
            <a:r>
              <a:rPr lang="en-US" dirty="0" err="1"/>
              <a:t>Добавятся</a:t>
            </a:r>
            <a:r>
              <a:rPr lang="en-US" dirty="0"/>
              <a:t> </a:t>
            </a:r>
            <a:r>
              <a:rPr lang="en-US" dirty="0" err="1"/>
              <a:t>линия</a:t>
            </a:r>
            <a:r>
              <a:rPr lang="en-US" dirty="0"/>
              <a:t>, </a:t>
            </a:r>
            <a:r>
              <a:rPr lang="en-US" dirty="0" err="1"/>
              <a:t>многоугольник</a:t>
            </a:r>
            <a:r>
              <a:rPr lang="en-US" dirty="0"/>
              <a:t>, </a:t>
            </a:r>
            <a:r>
              <a:rPr lang="en-US" dirty="0" err="1"/>
              <a:t>текст</a:t>
            </a:r>
            <a:r>
              <a:rPr lang="en-US" dirty="0"/>
              <a:t>, </a:t>
            </a:r>
            <a:r>
              <a:rPr lang="en-US" dirty="0" err="1"/>
              <a:t>изображение</a:t>
            </a:r>
            <a:r>
              <a:rPr lang="en-US" dirty="0"/>
              <a:t>, </a:t>
            </a:r>
            <a:r>
              <a:rPr lang="en-US" dirty="0" err="1"/>
              <a:t>звезда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?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зависеть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видов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.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PDF и </a:t>
            </a:r>
            <a:r>
              <a:rPr lang="en-US" dirty="0" err="1"/>
              <a:t>не</a:t>
            </a:r>
            <a:r>
              <a:rPr lang="en-US" dirty="0"/>
              <a:t> в SVG.</a:t>
            </a:r>
          </a:p>
          <a:p>
            <a:endParaRPr lang="en-US" dirty="0"/>
          </a:p>
          <a:p>
            <a:r>
              <a:rPr lang="en-US" b="1" dirty="0" err="1"/>
              <a:t>Проблема</a:t>
            </a:r>
            <a:r>
              <a:rPr lang="en-US" b="1" dirty="0"/>
              <a:t> в </a:t>
            </a:r>
            <a:r>
              <a:rPr lang="en-US" b="1" dirty="0" err="1"/>
              <a:t>том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связали</a:t>
            </a:r>
            <a:r>
              <a:rPr lang="en-US" b="1" dirty="0"/>
              <a:t> </a:t>
            </a:r>
            <a:r>
              <a:rPr lang="en-US" b="1" dirty="0" err="1"/>
              <a:t>виды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 </a:t>
            </a:r>
            <a:r>
              <a:rPr lang="en-US" b="1" dirty="0" err="1"/>
              <a:t>со</a:t>
            </a:r>
            <a:r>
              <a:rPr lang="en-US" b="1" dirty="0"/>
              <a:t> </a:t>
            </a:r>
            <a:r>
              <a:rPr lang="en-US" b="1" dirty="0" err="1"/>
              <a:t>способами</a:t>
            </a:r>
            <a:r>
              <a:rPr lang="en-US" b="1" dirty="0"/>
              <a:t> </a:t>
            </a:r>
            <a:r>
              <a:rPr lang="en-US" b="1" dirty="0" err="1"/>
              <a:t>их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32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методы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а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вообще</a:t>
            </a:r>
            <a:r>
              <a:rPr lang="en-US" b="1" dirty="0"/>
              <a:t> </a:t>
            </a:r>
            <a:r>
              <a:rPr lang="en-US" b="1" dirty="0" err="1"/>
              <a:t>может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 в </a:t>
            </a:r>
            <a:r>
              <a:rPr lang="en-US" b="1" dirty="0" err="1"/>
              <a:t>требованиях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расширяться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 </a:t>
            </a:r>
            <a:r>
              <a:rPr lang="en-US" dirty="0" err="1"/>
              <a:t>Завтра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Polygon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расширяться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SVG. </a:t>
            </a:r>
            <a:r>
              <a:rPr lang="en-US" dirty="0" err="1"/>
              <a:t>Теперь</a:t>
            </a:r>
            <a:r>
              <a:rPr lang="en-US" dirty="0"/>
              <a:t> PDF. В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прежние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меняя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собой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а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: </a:t>
            </a:r>
            <a:r>
              <a:rPr lang="en-US" b="1" dirty="0" err="1"/>
              <a:t>можем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устроить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 </a:t>
            </a:r>
            <a:r>
              <a:rPr lang="en-US" b="1" dirty="0" err="1"/>
              <a:t>так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виды</a:t>
            </a:r>
            <a:r>
              <a:rPr lang="en-US" b="1" dirty="0"/>
              <a:t> </a:t>
            </a:r>
            <a:r>
              <a:rPr lang="en-US" b="1" dirty="0" err="1"/>
              <a:t>фигур</a:t>
            </a:r>
            <a:r>
              <a:rPr lang="en-US" b="1" dirty="0"/>
              <a:t> и </a:t>
            </a:r>
            <a:r>
              <a:rPr lang="en-US" b="1" dirty="0" err="1"/>
              <a:t>способы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 </a:t>
            </a:r>
            <a:r>
              <a:rPr lang="en-US" b="1" dirty="0" err="1"/>
              <a:t>могли</a:t>
            </a:r>
            <a:r>
              <a:rPr lang="en-US" b="1" dirty="0"/>
              <a:t> </a:t>
            </a:r>
            <a:r>
              <a:rPr lang="en-US" b="1" dirty="0" err="1"/>
              <a:t>развиваться</a:t>
            </a:r>
            <a:r>
              <a:rPr lang="en-US" b="1" dirty="0"/>
              <a:t> </a:t>
            </a:r>
            <a:r>
              <a:rPr lang="en-US" b="1" dirty="0" err="1"/>
              <a:t>более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?</a:t>
            </a:r>
          </a:p>
          <a:p>
            <a:endParaRPr lang="en-US" dirty="0"/>
          </a:p>
          <a:p>
            <a:r>
              <a:rPr lang="en-US" dirty="0" err="1"/>
              <a:t>Вот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остановиться</a:t>
            </a:r>
            <a:r>
              <a:rPr lang="en-US" dirty="0"/>
              <a:t> и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731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момента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смотрели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и </a:t>
            </a:r>
            <a:r>
              <a:rPr lang="en-US" dirty="0" err="1"/>
              <a:t>методы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с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стороны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менялось</a:t>
            </a:r>
            <a:r>
              <a:rPr lang="en-US" b="1" dirty="0"/>
              <a:t> в </a:t>
            </a:r>
            <a:r>
              <a:rPr lang="en-US" b="1" dirty="0" err="1"/>
              <a:t>требованиях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изменился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 К </a:t>
            </a:r>
            <a:r>
              <a:rPr lang="en-US" dirty="0" err="1"/>
              <a:t>прямоугольнику</a:t>
            </a:r>
            <a:r>
              <a:rPr lang="en-US" dirty="0"/>
              <a:t> и </a:t>
            </a:r>
            <a:r>
              <a:rPr lang="en-US" dirty="0" err="1"/>
              <a:t>эллипсу</a:t>
            </a:r>
            <a:r>
              <a:rPr lang="en-US" dirty="0"/>
              <a:t> </a:t>
            </a:r>
            <a:r>
              <a:rPr lang="en-US" dirty="0" err="1"/>
              <a:t>добавился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Появился</a:t>
            </a:r>
            <a:r>
              <a:rPr lang="en-US" dirty="0"/>
              <a:t> SVG, а </a:t>
            </a:r>
            <a:r>
              <a:rPr lang="en-US" dirty="0" err="1"/>
              <a:t>потом</a:t>
            </a:r>
            <a:r>
              <a:rPr lang="en-US" dirty="0"/>
              <a:t> PDF.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нового</a:t>
            </a:r>
            <a:r>
              <a:rPr lang="en-US" dirty="0"/>
              <a:t> </a:t>
            </a:r>
            <a:r>
              <a:rPr lang="en-US" dirty="0" err="1"/>
              <a:t>формата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наоборот</a:t>
            </a:r>
            <a:r>
              <a:rPr lang="en-US" dirty="0"/>
              <a:t>: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формат</a:t>
            </a:r>
            <a:r>
              <a:rPr lang="en-US" dirty="0"/>
              <a:t> </a:t>
            </a:r>
            <a:r>
              <a:rPr lang="en-US" dirty="0" err="1"/>
              <a:t>экспорта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появиться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останется</a:t>
            </a:r>
            <a:r>
              <a:rPr lang="en-US" dirty="0"/>
              <a:t> </a:t>
            </a:r>
            <a:r>
              <a:rPr lang="en-US" dirty="0" err="1"/>
              <a:t>прежним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развиваются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почему</a:t>
            </a:r>
            <a:r>
              <a:rPr lang="en-US" b="1" dirty="0"/>
              <a:t> </a:t>
            </a:r>
            <a:r>
              <a:rPr lang="en-US" b="1" dirty="0" err="1"/>
              <a:t>тогда</a:t>
            </a:r>
            <a:r>
              <a:rPr lang="en-US" b="1" dirty="0"/>
              <a:t> </a:t>
            </a:r>
            <a:r>
              <a:rPr lang="en-US" b="1" dirty="0" err="1"/>
              <a:t>изменение</a:t>
            </a:r>
            <a:r>
              <a:rPr lang="en-US" b="1" dirty="0"/>
              <a:t> </a:t>
            </a:r>
            <a:r>
              <a:rPr lang="en-US" b="1" dirty="0" err="1"/>
              <a:t>одной</a:t>
            </a:r>
            <a:r>
              <a:rPr lang="en-US" b="1" dirty="0"/>
              <a:t> </a:t>
            </a:r>
            <a:r>
              <a:rPr lang="en-US" b="1" dirty="0" err="1"/>
              <a:t>из</a:t>
            </a:r>
            <a:r>
              <a:rPr lang="en-US" b="1" dirty="0"/>
              <a:t> </a:t>
            </a:r>
            <a:r>
              <a:rPr lang="en-US" b="1" dirty="0" err="1"/>
              <a:t>них</a:t>
            </a:r>
            <a:r>
              <a:rPr lang="en-US" b="1" dirty="0"/>
              <a:t> </a:t>
            </a:r>
            <a:r>
              <a:rPr lang="en-US" b="1" dirty="0" err="1"/>
              <a:t>заставляет</a:t>
            </a:r>
            <a:r>
              <a:rPr lang="en-US" b="1" dirty="0"/>
              <a:t> </a:t>
            </a:r>
            <a:r>
              <a:rPr lang="en-US" b="1" dirty="0" err="1"/>
              <a:t>нас</a:t>
            </a:r>
            <a:r>
              <a:rPr lang="en-US" b="1" dirty="0"/>
              <a:t> </a:t>
            </a:r>
            <a:r>
              <a:rPr lang="en-US" b="1" dirty="0" err="1"/>
              <a:t>менять</a:t>
            </a:r>
            <a:r>
              <a:rPr lang="en-US" b="1" dirty="0"/>
              <a:t> </a:t>
            </a:r>
            <a:r>
              <a:rPr lang="en-US" b="1" dirty="0" err="1"/>
              <a:t>другую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126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noProof="0" dirty="0"/>
              <a:t>Попробуем сформулировать различие точнее.</a:t>
            </a:r>
          </a:p>
          <a:p>
            <a:endParaRPr lang="ru-RU" noProof="0" dirty="0"/>
          </a:p>
          <a:p>
            <a:r>
              <a:rPr lang="ru-RU" noProof="0" dirty="0"/>
              <a:t>Классы фигур меняются тогда, когда мы расширяем набор геометрических объектов, которые умеет хранить редактор.</a:t>
            </a:r>
          </a:p>
          <a:p>
            <a:r>
              <a:rPr lang="ru-RU" noProof="0" dirty="0"/>
              <a:t>Например, добавляем линию, многоугольник или текст.</a:t>
            </a:r>
          </a:p>
          <a:p>
            <a:endParaRPr lang="ru-RU" noProof="0" dirty="0"/>
          </a:p>
          <a:p>
            <a:r>
              <a:rPr lang="ru-RU" noProof="0" dirty="0"/>
              <a:t>Способы вывода меняются по другой причине.</a:t>
            </a:r>
          </a:p>
          <a:p>
            <a:r>
              <a:rPr lang="ru-RU" noProof="0" dirty="0"/>
              <a:t>Например, появляется новый формат экспорта или новый способ отображения.</a:t>
            </a:r>
          </a:p>
          <a:p>
            <a:endParaRPr lang="ru-RU" noProof="0" dirty="0"/>
          </a:p>
          <a:p>
            <a:r>
              <a:rPr lang="ru-RU" noProof="0" dirty="0"/>
              <a:t>Эти изменения приходят из разных требований.</a:t>
            </a:r>
          </a:p>
          <a:p>
            <a:r>
              <a:rPr lang="ru-RU" noProof="0" dirty="0"/>
              <a:t>Но в текущей архитектуре они тесно связаны: каждый новый формат приходится добавлять во все существующие виды фигур.</a:t>
            </a:r>
          </a:p>
          <a:p>
            <a:endParaRPr lang="ru-RU" noProof="0" dirty="0"/>
          </a:p>
          <a:p>
            <a:r>
              <a:rPr lang="ru-RU" noProof="0" dirty="0"/>
              <a:t>Получается, что на уровне требований эти части независимы, а в коде — нет.</a:t>
            </a:r>
          </a:p>
          <a:p>
            <a:endParaRPr lang="ru-RU" noProof="0" dirty="0"/>
          </a:p>
          <a:p>
            <a:r>
              <a:rPr lang="ru-RU" noProof="0" dirty="0"/>
              <a:t>И это уже хороший сигнал: возможно, граница между ответственностями проведена не там, где нужно.</a:t>
            </a:r>
          </a:p>
          <a:p>
            <a:endParaRPr lang="ru-RU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878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в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таблицы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пары</a:t>
            </a:r>
            <a:r>
              <a:rPr lang="en-US" dirty="0"/>
              <a:t> «</a:t>
            </a:r>
            <a:r>
              <a:rPr lang="en-US" dirty="0" err="1"/>
              <a:t>фигура</a:t>
            </a:r>
            <a:r>
              <a:rPr lang="en-US" dirty="0"/>
              <a:t> —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» </a:t>
            </a:r>
            <a:r>
              <a:rPr lang="en-US" dirty="0" err="1"/>
              <a:t>где-то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соответствующая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.</a:t>
            </a:r>
          </a:p>
          <a:p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, в SVG и в PDF.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эллипсу</a:t>
            </a:r>
            <a:r>
              <a:rPr lang="en-US" dirty="0"/>
              <a:t>, </a:t>
            </a:r>
            <a:r>
              <a:rPr lang="en-US" dirty="0" err="1"/>
              <a:t>треугольнику</a:t>
            </a:r>
            <a:r>
              <a:rPr lang="en-US" dirty="0"/>
              <a:t> и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будущим</a:t>
            </a:r>
            <a:r>
              <a:rPr lang="en-US" dirty="0"/>
              <a:t> </a:t>
            </a:r>
            <a:r>
              <a:rPr lang="en-US" dirty="0" err="1"/>
              <a:t>фигурам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таблица</a:t>
            </a:r>
            <a:r>
              <a:rPr lang="en-US" dirty="0"/>
              <a:t> </a:t>
            </a:r>
            <a:r>
              <a:rPr lang="en-US" dirty="0" err="1"/>
              <a:t>маленькая</a:t>
            </a:r>
            <a:r>
              <a:rPr lang="en-US" dirty="0"/>
              <a:t>,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серьёзной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оси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—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—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существующим</a:t>
            </a:r>
            <a:r>
              <a:rPr lang="en-US" dirty="0"/>
              <a:t> </a:t>
            </a:r>
            <a:r>
              <a:rPr lang="en-US" dirty="0" err="1"/>
              <a:t>фигурам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растёт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в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методе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ExportToPdf</a:t>
            </a:r>
            <a:r>
              <a:rPr lang="en-US" dirty="0"/>
              <a:t>.</a:t>
            </a:r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структуре</a:t>
            </a:r>
            <a:r>
              <a:rPr lang="en-US" dirty="0"/>
              <a:t> </a:t>
            </a:r>
            <a:r>
              <a:rPr lang="en-US" dirty="0" err="1"/>
              <a:t>связей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8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ru-RU" dirty="0"/>
              <a:t>изменений в архитектуре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выбираем</a:t>
            </a:r>
            <a:r>
              <a:rPr lang="en-US" dirty="0"/>
              <a:t> </a:t>
            </a:r>
            <a:r>
              <a:rPr lang="ru-RU" dirty="0"/>
              <a:t>какой-либо паттерн проектирования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обсуждаем</a:t>
            </a:r>
            <a:r>
              <a:rPr lang="en-US" dirty="0"/>
              <a:t> </a:t>
            </a:r>
            <a:r>
              <a:rPr lang="en-US" dirty="0" err="1"/>
              <a:t>конкретную</a:t>
            </a:r>
            <a:r>
              <a:rPr lang="en-US" dirty="0"/>
              <a:t> </a:t>
            </a:r>
            <a:r>
              <a:rPr lang="en-US" dirty="0" err="1"/>
              <a:t>конструкцию</a:t>
            </a:r>
            <a:r>
              <a:rPr lang="en-US" dirty="0"/>
              <a:t> C++.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формулируем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и </a:t>
            </a:r>
            <a:r>
              <a:rPr lang="en-US" dirty="0" err="1"/>
              <a:t>желаемое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развиваются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 </a:t>
            </a:r>
            <a:r>
              <a:rPr lang="en-US" dirty="0" err="1"/>
              <a:t>причинам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логично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влияние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</a:t>
            </a:r>
          </a:p>
          <a:p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технический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фигуре</a:t>
            </a:r>
            <a:r>
              <a:rPr lang="en-US" b="1" dirty="0"/>
              <a:t>, </a:t>
            </a:r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могла</a:t>
            </a:r>
            <a:r>
              <a:rPr lang="en-US" b="1" dirty="0"/>
              <a:t> </a:t>
            </a:r>
            <a:r>
              <a:rPr lang="en-US" b="1" dirty="0" err="1"/>
              <a:t>нарисовать</a:t>
            </a:r>
            <a:r>
              <a:rPr lang="en-US" b="1" dirty="0"/>
              <a:t> </a:t>
            </a:r>
            <a:r>
              <a:rPr lang="en-US" b="1" dirty="0" err="1"/>
              <a:t>себя</a:t>
            </a:r>
            <a:r>
              <a:rPr lang="en-US" b="1" dirty="0"/>
              <a:t>?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 </a:t>
            </a:r>
            <a:r>
              <a:rPr lang="en-US" dirty="0" err="1"/>
              <a:t>удастся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,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06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сформулировали</a:t>
            </a:r>
            <a:r>
              <a:rPr lang="en-US" dirty="0"/>
              <a:t> </a:t>
            </a:r>
            <a:r>
              <a:rPr lang="en-US" dirty="0" err="1"/>
              <a:t>архитектурную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: </a:t>
            </a:r>
            <a:r>
              <a:rPr lang="en-US" dirty="0" err="1"/>
              <a:t>хотелось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.</a:t>
            </a:r>
          </a:p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отображается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,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</a:t>
            </a:r>
            <a:r>
              <a:rPr lang="en-US" dirty="0" err="1"/>
              <a:t>графический</a:t>
            </a:r>
            <a:r>
              <a:rPr lang="en-US" dirty="0"/>
              <a:t> API.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экспортируется</a:t>
            </a:r>
            <a:r>
              <a:rPr lang="en-US" dirty="0"/>
              <a:t> в SVG,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SVG.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экспортируется</a:t>
            </a:r>
            <a:r>
              <a:rPr lang="en-US" dirty="0"/>
              <a:t> в PDF — </a:t>
            </a:r>
            <a:r>
              <a:rPr lang="en-US" dirty="0" err="1"/>
              <a:t>правила</a:t>
            </a:r>
            <a:r>
              <a:rPr lang="en-US" dirty="0"/>
              <a:t> PDF.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отбросить</a:t>
            </a:r>
            <a:r>
              <a:rPr lang="en-US" dirty="0"/>
              <a:t> </a:t>
            </a:r>
            <a:r>
              <a:rPr lang="en-US" dirty="0" err="1"/>
              <a:t>технические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,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/>
              <a:t>«</a:t>
            </a:r>
            <a:r>
              <a:rPr lang="en-US" b="1" dirty="0" err="1"/>
              <a:t>нарисуй</a:t>
            </a:r>
            <a:r>
              <a:rPr lang="en-US" b="1" dirty="0"/>
              <a:t> </a:t>
            </a:r>
            <a:r>
              <a:rPr lang="en-US" b="1" dirty="0" err="1"/>
              <a:t>прямоугольник</a:t>
            </a:r>
            <a:r>
              <a:rPr lang="en-US" b="1" dirty="0"/>
              <a:t> с </a:t>
            </a:r>
            <a:r>
              <a:rPr lang="en-US" b="1" dirty="0" err="1"/>
              <a:t>такими</a:t>
            </a:r>
            <a:r>
              <a:rPr lang="en-US" b="1" dirty="0"/>
              <a:t> </a:t>
            </a:r>
            <a:r>
              <a:rPr lang="en-US" b="1" dirty="0" err="1"/>
              <a:t>координатами</a:t>
            </a:r>
            <a:r>
              <a:rPr lang="en-US" b="1" dirty="0"/>
              <a:t> и </a:t>
            </a:r>
            <a:r>
              <a:rPr lang="en-US" b="1" dirty="0" err="1"/>
              <a:t>такими</a:t>
            </a:r>
            <a:r>
              <a:rPr lang="en-US" b="1" dirty="0"/>
              <a:t> </a:t>
            </a:r>
            <a:r>
              <a:rPr lang="en-US" b="1" dirty="0" err="1"/>
              <a:t>параметрами</a:t>
            </a:r>
            <a:r>
              <a:rPr lang="en-US" b="1" dirty="0"/>
              <a:t>».</a:t>
            </a:r>
            <a:endParaRPr lang="en-US" dirty="0"/>
          </a:p>
          <a:p>
            <a:r>
              <a:rPr lang="en-US" dirty="0" err="1"/>
              <a:t>Эллипс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 «</a:t>
            </a:r>
            <a:r>
              <a:rPr lang="en-US" dirty="0" err="1"/>
              <a:t>нарисуй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».</a:t>
            </a:r>
          </a:p>
          <a:p>
            <a:r>
              <a:rPr lang="en-US" dirty="0" err="1"/>
              <a:t>Треугольник</a:t>
            </a:r>
            <a:r>
              <a:rPr lang="en-US" dirty="0"/>
              <a:t> — «</a:t>
            </a:r>
            <a:r>
              <a:rPr lang="en-US" dirty="0" err="1"/>
              <a:t>нарисуй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».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 </a:t>
            </a:r>
            <a:r>
              <a:rPr lang="en-US" dirty="0" err="1"/>
              <a:t>необязательно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, </a:t>
            </a:r>
            <a:r>
              <a:rPr lang="en-US" dirty="0" err="1"/>
              <a:t>записан</a:t>
            </a:r>
            <a:r>
              <a:rPr lang="en-US" dirty="0"/>
              <a:t> в SVG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помещён</a:t>
            </a:r>
            <a:r>
              <a:rPr lang="en-US" dirty="0"/>
              <a:t> в PDF.</a:t>
            </a:r>
          </a:p>
          <a:p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83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выразить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абстракцией</a:t>
            </a:r>
            <a:r>
              <a:rPr lang="en-US" dirty="0"/>
              <a:t>.</a:t>
            </a:r>
          </a:p>
          <a:p>
            <a:r>
              <a:rPr lang="en-US" dirty="0" err="1"/>
              <a:t>Введём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примитивных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: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линию</a:t>
            </a:r>
            <a:r>
              <a:rPr lang="en-US" dirty="0"/>
              <a:t>,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SVG,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PDF,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про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оконный</a:t>
            </a:r>
            <a:r>
              <a:rPr lang="en-US" dirty="0"/>
              <a:t> API.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 — </a:t>
            </a:r>
            <a:r>
              <a:rPr lang="en-US" dirty="0" err="1"/>
              <a:t>описать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интерфейса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нарисовать</a:t>
            </a:r>
            <a:r>
              <a:rPr lang="en-US" b="1" dirty="0"/>
              <a:t>?</a:t>
            </a:r>
            <a:endParaRPr lang="ru-RU" b="1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Canvas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представить</a:t>
            </a:r>
            <a:r>
              <a:rPr lang="en-US" b="1" dirty="0"/>
              <a:t> </a:t>
            </a:r>
            <a:r>
              <a:rPr lang="en-US" b="1" dirty="0" err="1"/>
              <a:t>эти</a:t>
            </a:r>
            <a:r>
              <a:rPr lang="en-US" b="1" dirty="0"/>
              <a:t> </a:t>
            </a:r>
            <a:r>
              <a:rPr lang="en-US" b="1" dirty="0" err="1"/>
              <a:t>команды</a:t>
            </a:r>
            <a:r>
              <a:rPr lang="en-US" b="1" dirty="0"/>
              <a:t> в </a:t>
            </a:r>
            <a:r>
              <a:rPr lang="en-US" b="1" dirty="0" err="1"/>
              <a:t>выбранном</a:t>
            </a:r>
            <a:r>
              <a:rPr lang="en-US" b="1" dirty="0"/>
              <a:t> </a:t>
            </a:r>
            <a:r>
              <a:rPr lang="en-US" b="1" dirty="0" err="1"/>
              <a:t>способе</a:t>
            </a:r>
            <a:r>
              <a:rPr lang="en-US" b="1" dirty="0"/>
              <a:t> </a:t>
            </a:r>
            <a:r>
              <a:rPr lang="en-US" b="1" dirty="0" err="1"/>
              <a:t>вывода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893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перенесём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логичнее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экрана</a:t>
            </a:r>
            <a:r>
              <a:rPr lang="en-US" dirty="0"/>
              <a:t> </a:t>
            </a:r>
            <a:r>
              <a:rPr lang="en-US" dirty="0" err="1"/>
              <a:t>создадим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ScreenCanvas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SVG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SvgCanvas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PDF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r>
              <a:rPr lang="en-US" dirty="0"/>
              <a:t> </a:t>
            </a:r>
            <a:r>
              <a:rPr lang="en-US" dirty="0" err="1"/>
              <a:t>интерпретируют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DrawRectangle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ScreenCanvas</a:t>
            </a:r>
            <a:r>
              <a:rPr lang="en-US" dirty="0"/>
              <a:t> </a:t>
            </a:r>
            <a:r>
              <a:rPr lang="en-US" dirty="0" err="1"/>
              <a:t>приведёт</a:t>
            </a:r>
            <a:r>
              <a:rPr lang="en-US" dirty="0"/>
              <a:t> к </a:t>
            </a:r>
            <a:r>
              <a:rPr lang="en-US" dirty="0" err="1"/>
              <a:t>вызову</a:t>
            </a:r>
            <a:r>
              <a:rPr lang="en-US" dirty="0"/>
              <a:t> </a:t>
            </a:r>
            <a:r>
              <a:rPr lang="en-US" dirty="0" err="1"/>
              <a:t>оконного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API.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SvgCanvas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сформирует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PdfCanvas</a:t>
            </a:r>
            <a:r>
              <a:rPr lang="en-US" dirty="0"/>
              <a:t> —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PDF.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DrawRectangle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о </a:t>
            </a:r>
            <a:r>
              <a:rPr lang="en-US" dirty="0" err="1"/>
              <a:t>формате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исчезло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 и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сосредоточено</a:t>
            </a:r>
            <a:r>
              <a:rPr lang="en-US" dirty="0"/>
              <a:t> в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058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перепроектирования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</a:p>
          <a:p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экрана</a:t>
            </a:r>
            <a:r>
              <a:rPr lang="en-US" dirty="0"/>
              <a:t>, SVG </a:t>
            </a:r>
            <a:r>
              <a:rPr lang="en-US" dirty="0" err="1"/>
              <a:t>или</a:t>
            </a:r>
            <a:r>
              <a:rPr lang="en-US" dirty="0"/>
              <a:t> PDF, а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,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проверяли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—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PostScript,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добавляем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реализацию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узнавать</a:t>
            </a:r>
            <a:r>
              <a:rPr lang="en-US" dirty="0"/>
              <a:t> о </a:t>
            </a:r>
            <a:r>
              <a:rPr lang="en-US" dirty="0" err="1"/>
              <a:t>новом</a:t>
            </a:r>
            <a:r>
              <a:rPr lang="en-US" dirty="0"/>
              <a:t> </a:t>
            </a:r>
            <a:r>
              <a:rPr lang="en-US" dirty="0" err="1"/>
              <a:t>формате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—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выражается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доступные</a:t>
            </a:r>
            <a:r>
              <a:rPr lang="en-US" dirty="0"/>
              <a:t> </a:t>
            </a:r>
            <a:r>
              <a:rPr lang="en-US" dirty="0" err="1"/>
              <a:t>графические</a:t>
            </a:r>
            <a:r>
              <a:rPr lang="en-US" dirty="0"/>
              <a:t> </a:t>
            </a:r>
            <a:r>
              <a:rPr lang="en-US" dirty="0" err="1"/>
              <a:t>примитивы</a:t>
            </a:r>
            <a:r>
              <a:rPr lang="en-US" dirty="0"/>
              <a:t>.</a:t>
            </a:r>
          </a:p>
          <a:p>
            <a:r>
              <a:rPr lang="en-US" dirty="0"/>
              <a:t>Это и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которого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хотели</a:t>
            </a:r>
            <a:r>
              <a:rPr lang="en-US" dirty="0"/>
              <a:t> </a:t>
            </a:r>
            <a:r>
              <a:rPr lang="en-US" dirty="0" err="1"/>
              <a:t>добиться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сделали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«</a:t>
            </a:r>
            <a:r>
              <a:rPr lang="en-US" dirty="0" err="1"/>
              <a:t>гибкой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».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разделили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конкретных</a:t>
            </a:r>
            <a:r>
              <a:rPr lang="en-US" dirty="0"/>
              <a:t> </a:t>
            </a:r>
            <a:r>
              <a:rPr lang="en-US" dirty="0" err="1"/>
              <a:t>направления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локальными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538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добавляли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рядом</a:t>
            </a:r>
            <a:r>
              <a:rPr lang="en-US" dirty="0"/>
              <a:t> с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существующими</a:t>
            </a:r>
            <a:r>
              <a:rPr lang="en-US" dirty="0"/>
              <a:t>.</a:t>
            </a:r>
          </a:p>
          <a:p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 —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Понадобился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— </a:t>
            </a:r>
            <a:r>
              <a:rPr lang="en-US" dirty="0" err="1"/>
              <a:t>появилась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другого</a:t>
            </a:r>
            <a:r>
              <a:rPr lang="en-US" dirty="0"/>
              <a:t> </a:t>
            </a:r>
            <a:r>
              <a:rPr lang="en-US" dirty="0" err="1"/>
              <a:t>характера</a:t>
            </a:r>
            <a:r>
              <a:rPr lang="en-US" dirty="0"/>
              <a:t>.</a:t>
            </a:r>
          </a:p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выделяет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и </a:t>
            </a:r>
            <a:r>
              <a:rPr lang="en-US" dirty="0" err="1"/>
              <a:t>выбирает</a:t>
            </a:r>
            <a:r>
              <a:rPr lang="en-US" dirty="0"/>
              <a:t> в </a:t>
            </a:r>
            <a:r>
              <a:rPr lang="en-US" dirty="0" err="1"/>
              <a:t>панели</a:t>
            </a:r>
            <a:r>
              <a:rPr lang="en-US" dirty="0"/>
              <a:t> </a:t>
            </a:r>
            <a:r>
              <a:rPr lang="en-US" dirty="0" err="1"/>
              <a:t>свойств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эллипс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рисунка</a:t>
            </a:r>
            <a:r>
              <a:rPr lang="en-US" dirty="0"/>
              <a:t>.</a:t>
            </a:r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.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выделена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остаться</a:t>
            </a:r>
            <a:r>
              <a:rPr lang="en-US" dirty="0"/>
              <a:t> </a:t>
            </a:r>
            <a:r>
              <a:rPr lang="en-US" dirty="0" err="1"/>
              <a:t>выделенной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, а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характеристику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тут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превратить</a:t>
            </a:r>
            <a:r>
              <a:rPr lang="en-US" b="1" dirty="0"/>
              <a:t> </a:t>
            </a:r>
            <a:r>
              <a:rPr lang="en-US" b="1" dirty="0" err="1"/>
              <a:t>объект</a:t>
            </a:r>
            <a:r>
              <a:rPr lang="en-US" b="1" dirty="0"/>
              <a:t> </a:t>
            </a:r>
            <a:r>
              <a:rPr lang="en-US" b="1" dirty="0" err="1"/>
              <a:t>класса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b="1" dirty="0"/>
              <a:t> в </a:t>
            </a:r>
            <a:r>
              <a:rPr lang="en-US" b="1" dirty="0" err="1"/>
              <a:t>объект</a:t>
            </a:r>
            <a:r>
              <a:rPr lang="en-US" b="1" dirty="0"/>
              <a:t> </a:t>
            </a:r>
            <a:r>
              <a:rPr lang="en-US" b="1" dirty="0" err="1"/>
              <a:t>класса</a:t>
            </a:r>
            <a:r>
              <a:rPr lang="en-US" b="1" dirty="0"/>
              <a:t>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611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Наша</a:t>
            </a:r>
            <a:r>
              <a:rPr lang="en-US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с </a:t>
            </a:r>
            <a:r>
              <a:rPr lang="en-US" dirty="0" err="1"/>
              <a:t>типом</a:t>
            </a:r>
            <a:r>
              <a:rPr lang="en-US" dirty="0"/>
              <a:t> C++-</a:t>
            </a:r>
            <a:r>
              <a:rPr lang="en-US" dirty="0" err="1"/>
              <a:t>объекта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создан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динамический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ты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Конечно</a:t>
            </a:r>
            <a:r>
              <a:rPr lang="en-US" dirty="0"/>
              <a:t>, </a:t>
            </a:r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обойти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удалить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 и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перенести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кто-то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ссылку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прежнюю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 </a:t>
            </a:r>
            <a:r>
              <a:rPr lang="en-US" dirty="0" err="1"/>
              <a:t>решать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с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сопротивляться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повод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глубокий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считали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типы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общего</a:t>
            </a:r>
            <a:r>
              <a:rPr lang="en-US" dirty="0"/>
              <a:t>: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, </a:t>
            </a:r>
            <a:r>
              <a:rPr lang="en-US" dirty="0" err="1"/>
              <a:t>выделение</a:t>
            </a:r>
            <a:r>
              <a:rPr lang="en-US" dirty="0"/>
              <a:t>,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</a:p>
          <a:p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b="1" dirty="0" err="1"/>
              <a:t>геометрическая</a:t>
            </a:r>
            <a:r>
              <a:rPr lang="en-US" b="1" dirty="0"/>
              <a:t> </a:t>
            </a:r>
            <a:r>
              <a:rPr lang="en-US" b="1" dirty="0" err="1"/>
              <a:t>форма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и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заменяемой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4424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шаге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пришли</a:t>
            </a:r>
            <a:r>
              <a:rPr lang="en-US" dirty="0"/>
              <a:t> к </a:t>
            </a:r>
            <a:r>
              <a:rPr lang="en-US" dirty="0" err="1"/>
              <a:t>мысли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свойства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сохраняться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смене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: </a:t>
            </a:r>
            <a:r>
              <a:rPr lang="en-US" dirty="0" err="1"/>
              <a:t>идентификатор</a:t>
            </a:r>
            <a:r>
              <a:rPr lang="en-US" dirty="0"/>
              <a:t>,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. А </a:t>
            </a:r>
            <a:r>
              <a:rPr lang="en-US" dirty="0" err="1"/>
              <a:t>геометрия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отделяем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стабильную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bounds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/>
              <a:t>. </a:t>
            </a:r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unique_ptr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  <a:r>
              <a:rPr lang="en-US" dirty="0"/>
              <a:t>.</a:t>
            </a:r>
          </a:p>
          <a:p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.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Draw</a:t>
            </a:r>
            <a:r>
              <a:rPr lang="en-US" dirty="0"/>
              <a:t>,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передаются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вещи</a:t>
            </a:r>
            <a:r>
              <a:rPr lang="en-US" dirty="0"/>
              <a:t>: </a:t>
            </a:r>
            <a:r>
              <a:rPr lang="en-US" dirty="0" err="1"/>
              <a:t>холст</a:t>
            </a:r>
            <a:r>
              <a:rPr lang="en-US" dirty="0"/>
              <a:t>,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стиль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, </a:t>
            </a:r>
            <a:r>
              <a:rPr lang="en-US" dirty="0" err="1"/>
              <a:t>ни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 </a:t>
            </a:r>
            <a:r>
              <a:rPr lang="en-US" dirty="0" err="1"/>
              <a:t>интерпретирует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bounds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TriangleGeometry</a:t>
            </a:r>
            <a:r>
              <a:rPr lang="en-US" dirty="0"/>
              <a:t> —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треугольник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рисуются</a:t>
            </a:r>
            <a:r>
              <a:rPr lang="en-US" dirty="0"/>
              <a:t> с </a:t>
            </a:r>
            <a:r>
              <a:rPr lang="en-US" dirty="0" err="1"/>
              <a:t>теми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размерами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стилем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принадлежат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Shape::Draw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рисование</a:t>
            </a:r>
            <a:r>
              <a:rPr lang="en-US" dirty="0"/>
              <a:t> </a:t>
            </a:r>
            <a:r>
              <a:rPr lang="en-US" dirty="0" err="1"/>
              <a:t>текущему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SetGeometry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,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уничтожается</a:t>
            </a:r>
            <a:r>
              <a:rPr lang="en-US" dirty="0"/>
              <a:t>.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en-US" dirty="0"/>
              <a:t>, </a:t>
            </a:r>
            <a:r>
              <a:rPr lang="en-US" dirty="0" err="1"/>
              <a:t>размеры</a:t>
            </a:r>
            <a:r>
              <a:rPr lang="en-US" dirty="0"/>
              <a:t> и </a:t>
            </a:r>
            <a:r>
              <a:rPr lang="en-US" dirty="0" err="1"/>
              <a:t>стиль</a:t>
            </a:r>
            <a:r>
              <a:rPr lang="en-US" dirty="0"/>
              <a:t> </a:t>
            </a:r>
            <a:r>
              <a:rPr lang="en-US" dirty="0" err="1"/>
              <a:t>сохраняются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диаграмме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композиционно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Style</a:t>
            </a:r>
            <a:r>
              <a:rPr lang="en-US" dirty="0"/>
              <a:t> и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, 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 </a:t>
            </a:r>
            <a:r>
              <a:rPr lang="en-US" dirty="0" err="1"/>
              <a:t>свойств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95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проверим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исходным</a:t>
            </a:r>
            <a:r>
              <a:rPr lang="en-US" dirty="0"/>
              <a:t> </a:t>
            </a:r>
            <a:r>
              <a:rPr lang="en-US" dirty="0" err="1"/>
              <a:t>требованием</a:t>
            </a:r>
            <a:r>
              <a:rPr lang="en-US" dirty="0"/>
              <a:t>.</a:t>
            </a:r>
          </a:p>
          <a:p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 с </a:t>
            </a:r>
            <a:r>
              <a:rPr lang="en-US" dirty="0" err="1"/>
              <a:t>идентификатором</a:t>
            </a:r>
            <a:r>
              <a:rPr lang="en-US" dirty="0"/>
              <a:t> 42.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эллипс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заменяем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никуда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исчезает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прежнем</a:t>
            </a:r>
            <a:r>
              <a:rPr lang="en-US" dirty="0"/>
              <a:t> </a:t>
            </a:r>
            <a:r>
              <a:rPr lang="en-US" dirty="0" err="1"/>
              <a:t>месте</a:t>
            </a:r>
            <a:r>
              <a:rPr lang="en-US" dirty="0"/>
              <a:t>,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размеры</a:t>
            </a:r>
            <a:r>
              <a:rPr lang="en-US" dirty="0"/>
              <a:t>, </a:t>
            </a:r>
            <a:r>
              <a:rPr lang="en-US" dirty="0" err="1"/>
              <a:t>стиль</a:t>
            </a:r>
            <a:r>
              <a:rPr lang="en-US" dirty="0"/>
              <a:t> и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Изменяется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и </a:t>
            </a:r>
            <a:r>
              <a:rPr lang="en-US" dirty="0" err="1"/>
              <a:t>требовалось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ход</a:t>
            </a:r>
            <a:r>
              <a:rPr lang="en-US" dirty="0"/>
              <a:t> </a:t>
            </a:r>
            <a:r>
              <a:rPr lang="en-US" dirty="0" err="1"/>
              <a:t>рассуждений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с </a:t>
            </a:r>
            <a:r>
              <a:rPr lang="en-US" dirty="0" err="1"/>
              <a:t>вопроса</a:t>
            </a:r>
            <a:r>
              <a:rPr lang="en-US" dirty="0"/>
              <a:t>: «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ru-RU" dirty="0"/>
              <a:t>проектирования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применить</a:t>
            </a:r>
            <a:r>
              <a:rPr lang="en-US" dirty="0"/>
              <a:t>?»</a:t>
            </a:r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поддерживала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выяснили</a:t>
            </a:r>
            <a:r>
              <a:rPr lang="en-US" dirty="0"/>
              <a:t>, </a:t>
            </a:r>
            <a:r>
              <a:rPr lang="en-US" b="1" dirty="0" err="1"/>
              <a:t>что</a:t>
            </a:r>
            <a:r>
              <a:rPr lang="en-US" b="1" dirty="0"/>
              <a:t> в </a:t>
            </a:r>
            <a:r>
              <a:rPr lang="en-US" b="1" dirty="0" err="1"/>
              <a:t>объекте</a:t>
            </a:r>
            <a:r>
              <a:rPr lang="en-US" b="1" dirty="0"/>
              <a:t> </a:t>
            </a:r>
            <a:r>
              <a:rPr lang="en-US" b="1" dirty="0" err="1"/>
              <a:t>стабильно</a:t>
            </a:r>
            <a:r>
              <a:rPr lang="en-US" b="1" dirty="0"/>
              <a:t>, а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должно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dirty="0"/>
              <a:t>, и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изменяемую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197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Поздравляю, мы только что дошли до паттерна «Стратегия»</a:t>
            </a:r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разбирать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.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посвящена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лекция</a:t>
            </a:r>
            <a:r>
              <a:rPr lang="ru-RU" dirty="0"/>
              <a:t> у меня на канале.</a:t>
            </a:r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если</a:t>
            </a:r>
            <a:r>
              <a:rPr lang="en-US" b="1" dirty="0"/>
              <a:t> </a:t>
            </a:r>
            <a:r>
              <a:rPr lang="en-US" b="1" dirty="0" err="1"/>
              <a:t>некоторая</a:t>
            </a:r>
            <a:r>
              <a:rPr lang="en-US" b="1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поведения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объекта</a:t>
            </a:r>
            <a:r>
              <a:rPr lang="en-US" b="1" dirty="0"/>
              <a:t>,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представить</a:t>
            </a:r>
            <a:r>
              <a:rPr lang="en-US" b="1" dirty="0"/>
              <a:t> </a:t>
            </a:r>
            <a:r>
              <a:rPr lang="en-US" b="1" dirty="0" err="1"/>
              <a:t>отдельным</a:t>
            </a:r>
            <a:r>
              <a:rPr lang="en-US" b="1" dirty="0"/>
              <a:t> </a:t>
            </a:r>
            <a:r>
              <a:rPr lang="en-US" b="1" dirty="0" err="1"/>
              <a:t>заменяемым</a:t>
            </a:r>
            <a:r>
              <a:rPr lang="en-US" b="1" dirty="0"/>
              <a:t> </a:t>
            </a:r>
            <a:r>
              <a:rPr lang="en-US" b="1" dirty="0" err="1"/>
              <a:t>объектом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621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вводили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конкретного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, SVG и PDF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реализациями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отделили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уничтожая</a:t>
            </a:r>
            <a:r>
              <a:rPr lang="en-US" dirty="0"/>
              <a:t> </a:t>
            </a:r>
            <a:r>
              <a:rPr lang="en-US" dirty="0" err="1"/>
              <a:t>саму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дополнительный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r>
              <a:rPr lang="en-US" dirty="0"/>
              <a:t> </a:t>
            </a:r>
            <a:r>
              <a:rPr lang="en-US" dirty="0" err="1"/>
              <a:t>оказался</a:t>
            </a:r>
            <a:r>
              <a:rPr lang="en-US" dirty="0"/>
              <a:t> </a:t>
            </a:r>
            <a:r>
              <a:rPr lang="en-US" dirty="0" err="1"/>
              <a:t>полезным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сильный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заменяемыми</a:t>
            </a:r>
            <a:r>
              <a:rPr lang="en-US" dirty="0"/>
              <a:t>,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различающееся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—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зададим</a:t>
            </a:r>
            <a:r>
              <a:rPr lang="en-US" dirty="0"/>
              <a:t> </a:t>
            </a:r>
            <a:r>
              <a:rPr lang="en-US" dirty="0" err="1"/>
              <a:t>следующий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нужно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стремиться</a:t>
            </a:r>
            <a:r>
              <a:rPr lang="en-US" b="1" dirty="0"/>
              <a:t> </a:t>
            </a:r>
            <a:r>
              <a:rPr lang="en-US" b="1" dirty="0" err="1"/>
              <a:t>сделать</a:t>
            </a:r>
            <a:r>
              <a:rPr lang="en-US" b="1" dirty="0"/>
              <a:t> </a:t>
            </a:r>
            <a:r>
              <a:rPr lang="en-US" b="1" dirty="0" err="1"/>
              <a:t>заменяемой</a:t>
            </a:r>
            <a:r>
              <a:rPr lang="en-US" b="1" dirty="0"/>
              <a:t> </a:t>
            </a:r>
            <a:r>
              <a:rPr lang="en-US" b="1" dirty="0" err="1"/>
              <a:t>любую</a:t>
            </a:r>
            <a:r>
              <a:rPr lang="en-US" b="1" dirty="0"/>
              <a:t> </a:t>
            </a:r>
            <a:r>
              <a:rPr lang="en-US" b="1" dirty="0" err="1"/>
              <a:t>часть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173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Пусть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dirty="0" err="1"/>
              <a:t>попадает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заданная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внутрь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разным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прямоугольника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границ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формула</a:t>
            </a:r>
            <a:r>
              <a:rPr lang="en-US" dirty="0"/>
              <a:t>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треугольника</a:t>
            </a:r>
            <a:r>
              <a:rPr lang="en-US" dirty="0"/>
              <a:t> —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примера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различается</a:t>
            </a:r>
            <a:r>
              <a:rPr lang="en-US" dirty="0"/>
              <a:t>, 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вынесем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придумать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IHitTester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RectangleHitTester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EllipseHitTester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TriangleHitTester</a:t>
            </a:r>
            <a:r>
              <a:rPr lang="en-US" dirty="0"/>
              <a:t> и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заменяемую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Технически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алгоритм</a:t>
            </a:r>
            <a:r>
              <a:rPr lang="en-US" b="1" dirty="0"/>
              <a:t>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b="1" dirty="0"/>
              <a:t> </a:t>
            </a:r>
            <a:r>
              <a:rPr lang="en-US" b="1" dirty="0" err="1"/>
              <a:t>вообще</a:t>
            </a:r>
            <a:r>
              <a:rPr lang="en-US" b="1" dirty="0"/>
              <a:t> </a:t>
            </a:r>
            <a:r>
              <a:rPr lang="en-US" b="1" dirty="0" err="1"/>
              <a:t>изменяться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геометрии</a:t>
            </a:r>
            <a:r>
              <a:rPr lang="en-US" b="1" dirty="0"/>
              <a:t>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064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представляет</a:t>
            </a:r>
            <a:r>
              <a:rPr lang="en-US" dirty="0"/>
              <a:t> </a:t>
            </a:r>
            <a:r>
              <a:rPr lang="en-US" dirty="0" err="1"/>
              <a:t>форму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прямоугольная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эллиптическая</a:t>
            </a:r>
            <a:r>
              <a:rPr lang="en-US" dirty="0"/>
              <a:t> —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эллипса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dirty="0" err="1"/>
              <a:t>попадания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</a:p>
          <a:p>
            <a:r>
              <a:rPr lang="en-US" dirty="0" err="1"/>
              <a:t>Да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классах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RectangleGeometry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EllipseGeometry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TriangleGeometry</a:t>
            </a:r>
            <a:r>
              <a:rPr lang="en-US" dirty="0"/>
              <a:t> </a:t>
            </a:r>
            <a:r>
              <a:rPr lang="en-US" dirty="0" err="1"/>
              <a:t>изменятся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нами</a:t>
            </a:r>
            <a:r>
              <a:rPr lang="en-US" dirty="0"/>
              <a:t> </a:t>
            </a:r>
            <a:r>
              <a:rPr lang="en-US" dirty="0" err="1"/>
              <a:t>плохой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ситуацию</a:t>
            </a:r>
            <a:r>
              <a:rPr lang="en-US" dirty="0"/>
              <a:t> с SVG и PDF.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мог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вещей</a:t>
            </a:r>
            <a:r>
              <a:rPr lang="en-US" dirty="0"/>
              <a:t> </a:t>
            </a:r>
            <a:r>
              <a:rPr lang="en-US" dirty="0" err="1"/>
              <a:t>создавала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естественно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и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попадание</a:t>
            </a:r>
            <a:r>
              <a:rPr lang="en-US" dirty="0"/>
              <a:t> </a:t>
            </a:r>
            <a:r>
              <a:rPr lang="en-US" dirty="0" err="1"/>
              <a:t>точки</a:t>
            </a:r>
            <a:r>
              <a:rPr lang="en-US" dirty="0"/>
              <a:t> в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изменяются</a:t>
            </a:r>
            <a:r>
              <a:rPr lang="en-US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одной</a:t>
            </a:r>
            <a:r>
              <a:rPr lang="en-US" b="1" dirty="0"/>
              <a:t> </a:t>
            </a:r>
            <a:r>
              <a:rPr lang="en-US" b="1" dirty="0" err="1"/>
              <a:t>причине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разделять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ради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необязательно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781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дальнейшего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.</a:t>
            </a:r>
          </a:p>
          <a:p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бесплатна</a:t>
            </a:r>
            <a:r>
              <a:rPr lang="en-US" dirty="0"/>
              <a:t>.</a:t>
            </a:r>
          </a:p>
          <a:p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вида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.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связи</a:t>
            </a:r>
            <a:r>
              <a:rPr lang="en-US" dirty="0"/>
              <a:t>.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вынести</a:t>
            </a:r>
            <a:r>
              <a:rPr lang="en-US" dirty="0"/>
              <a:t> </a:t>
            </a:r>
            <a:r>
              <a:rPr lang="en-US" dirty="0" err="1"/>
              <a:t>некоторую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делать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Полезнее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есть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у </a:t>
            </a:r>
            <a:r>
              <a:rPr lang="en-US" b="1" dirty="0" err="1"/>
              <a:t>этой</a:t>
            </a:r>
            <a:r>
              <a:rPr lang="en-US" b="1" dirty="0"/>
              <a:t> </a:t>
            </a:r>
            <a:r>
              <a:rPr lang="en-US" b="1" dirty="0" err="1"/>
              <a:t>части</a:t>
            </a:r>
            <a:r>
              <a:rPr lang="en-US" b="1" dirty="0"/>
              <a:t> </a:t>
            </a:r>
            <a:r>
              <a:rPr lang="en-US" b="1" dirty="0" err="1"/>
              <a:t>собственная</a:t>
            </a:r>
            <a:r>
              <a:rPr lang="en-US" b="1" dirty="0"/>
              <a:t> </a:t>
            </a:r>
            <a:r>
              <a:rPr lang="en-US" b="1" dirty="0" err="1"/>
              <a:t>причина</a:t>
            </a:r>
            <a:r>
              <a:rPr lang="en-US" b="1" dirty="0"/>
              <a:t> </a:t>
            </a:r>
            <a:r>
              <a:rPr lang="en-US" b="1" dirty="0" err="1"/>
              <a:t>меняться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остальных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однажды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выбираемых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hit testing — </a:t>
            </a:r>
            <a:r>
              <a:rPr lang="en-US" dirty="0" err="1"/>
              <a:t>допустим</a:t>
            </a:r>
            <a:r>
              <a:rPr lang="en-US" dirty="0"/>
              <a:t>, </a:t>
            </a:r>
            <a:r>
              <a:rPr lang="en-US" dirty="0" err="1"/>
              <a:t>точный</a:t>
            </a:r>
            <a:r>
              <a:rPr lang="en-US" dirty="0"/>
              <a:t> </a:t>
            </a:r>
            <a:r>
              <a:rPr lang="en-US" dirty="0" err="1"/>
              <a:t>геометрический</a:t>
            </a:r>
            <a:r>
              <a:rPr lang="en-US" dirty="0"/>
              <a:t> </a:t>
            </a:r>
            <a:r>
              <a:rPr lang="en-US" dirty="0" err="1"/>
              <a:t>тест</a:t>
            </a:r>
            <a:r>
              <a:rPr lang="en-US" dirty="0"/>
              <a:t> и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приближённый</a:t>
            </a:r>
            <a:r>
              <a:rPr lang="en-US" dirty="0"/>
              <a:t> </a:t>
            </a:r>
            <a:r>
              <a:rPr lang="en-US" dirty="0" err="1"/>
              <a:t>тест</a:t>
            </a:r>
            <a:r>
              <a:rPr lang="en-US" dirty="0"/>
              <a:t> —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стратегия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 </a:t>
            </a:r>
            <a:r>
              <a:rPr lang="en-US" dirty="0" err="1"/>
              <a:t>попадания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ru-RU" dirty="0"/>
              <a:t>иметь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максимальная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b="1" dirty="0" err="1"/>
              <a:t>достаточная</a:t>
            </a:r>
            <a:r>
              <a:rPr lang="en-US" b="1" dirty="0"/>
              <a:t> </a:t>
            </a:r>
            <a:r>
              <a:rPr lang="en-US" b="1" dirty="0" err="1"/>
              <a:t>гибкость</a:t>
            </a:r>
            <a:r>
              <a:rPr lang="en-US" b="1" dirty="0"/>
              <a:t> в </a:t>
            </a:r>
            <a:r>
              <a:rPr lang="en-US" b="1" dirty="0" err="1"/>
              <a:t>тех</a:t>
            </a:r>
            <a:r>
              <a:rPr lang="en-US" b="1" dirty="0"/>
              <a:t> </a:t>
            </a:r>
            <a:r>
              <a:rPr lang="en-US" b="1" dirty="0" err="1"/>
              <a:t>направлениях</a:t>
            </a:r>
            <a:r>
              <a:rPr lang="en-US" b="1" dirty="0"/>
              <a:t>, в </a:t>
            </a:r>
            <a:r>
              <a:rPr lang="en-US" b="1" dirty="0" err="1"/>
              <a:t>которых</a:t>
            </a:r>
            <a:r>
              <a:rPr lang="en-US" b="1" dirty="0"/>
              <a:t> </a:t>
            </a:r>
            <a:r>
              <a:rPr lang="en-US" b="1" dirty="0" err="1"/>
              <a:t>система</a:t>
            </a:r>
            <a:r>
              <a:rPr lang="en-US" b="1" dirty="0"/>
              <a:t> </a:t>
            </a:r>
            <a:r>
              <a:rPr lang="en-US" b="1" dirty="0" err="1"/>
              <a:t>действительно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развиваться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способны</a:t>
            </a:r>
            <a:r>
              <a:rPr lang="en-US" dirty="0"/>
              <a:t> </a:t>
            </a:r>
            <a:r>
              <a:rPr lang="en-US" dirty="0" err="1"/>
              <a:t>вообразить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242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—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 —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добавили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SVG и PDF. </a:t>
            </a:r>
            <a:r>
              <a:rPr lang="en-US" dirty="0" err="1"/>
              <a:t>Формально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небольшими</a:t>
            </a:r>
            <a:r>
              <a:rPr lang="en-US" dirty="0"/>
              <a:t>: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первоначальной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затрагивало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виды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изменилась</a:t>
            </a:r>
            <a:r>
              <a:rPr lang="en-US" dirty="0"/>
              <a:t>.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стал</a:t>
            </a:r>
            <a:r>
              <a:rPr lang="en-US" dirty="0"/>
              <a:t> </a:t>
            </a:r>
            <a:r>
              <a:rPr lang="en-US" dirty="0" err="1"/>
              <a:t>отдельной</a:t>
            </a:r>
            <a:r>
              <a:rPr lang="en-US" dirty="0"/>
              <a:t> </a:t>
            </a:r>
            <a:r>
              <a:rPr lang="en-US" dirty="0" err="1"/>
              <a:t>реализацией</a:t>
            </a:r>
            <a:r>
              <a:rPr lang="en-US" dirty="0"/>
              <a:t> и </a:t>
            </a:r>
            <a:r>
              <a:rPr lang="en-US" dirty="0" err="1"/>
              <a:t>перестал</a:t>
            </a:r>
            <a:r>
              <a:rPr lang="en-US" dirty="0"/>
              <a:t> </a:t>
            </a:r>
            <a:r>
              <a:rPr lang="en-US" dirty="0" err="1"/>
              <a:t>распространяться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иерархии</a:t>
            </a:r>
            <a:r>
              <a:rPr lang="en-US" dirty="0"/>
              <a:t> </a:t>
            </a:r>
            <a:r>
              <a:rPr lang="en-US" dirty="0" err="1"/>
              <a:t>геометрий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понадобилось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.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—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добавлении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HitTest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, </a:t>
            </a:r>
            <a:r>
              <a:rPr lang="en-US" dirty="0" err="1"/>
              <a:t>наоборот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.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dirty="0" err="1"/>
              <a:t>пришлось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.</a:t>
            </a:r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назвать</a:t>
            </a:r>
            <a:r>
              <a:rPr lang="en-US" dirty="0"/>
              <a:t> </a:t>
            </a:r>
            <a:r>
              <a:rPr lang="en-US" dirty="0" err="1"/>
              <a:t>дорогим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во</a:t>
            </a:r>
            <a:r>
              <a:rPr lang="en-US" b="1" dirty="0"/>
              <a:t> </a:t>
            </a:r>
            <a:r>
              <a:rPr lang="en-US" b="1" dirty="0" err="1"/>
              <a:t>многом</a:t>
            </a:r>
            <a:r>
              <a:rPr lang="en-US" b="1" dirty="0"/>
              <a:t> </a:t>
            </a:r>
            <a:r>
              <a:rPr lang="en-US" b="1" dirty="0" err="1"/>
              <a:t>задаётся</a:t>
            </a:r>
            <a:r>
              <a:rPr lang="en-US" b="1" dirty="0"/>
              <a:t> </a:t>
            </a:r>
            <a:r>
              <a:rPr lang="en-US" b="1" dirty="0" err="1"/>
              <a:t>тем</a:t>
            </a:r>
            <a:r>
              <a:rPr lang="en-US" b="1" dirty="0"/>
              <a:t>, </a:t>
            </a:r>
            <a:r>
              <a:rPr lang="en-US" b="1" dirty="0" err="1"/>
              <a:t>как</a:t>
            </a:r>
            <a:r>
              <a:rPr lang="en-US" b="1" dirty="0"/>
              <a:t> </a:t>
            </a:r>
            <a:r>
              <a:rPr lang="en-US" b="1" dirty="0" err="1"/>
              <a:t>устроена</a:t>
            </a:r>
            <a:r>
              <a:rPr lang="en-US" b="1" dirty="0"/>
              <a:t> </a:t>
            </a:r>
            <a:r>
              <a:rPr lang="en-US" b="1" dirty="0" err="1"/>
              <a:t>программа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672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возникнуть</a:t>
            </a:r>
            <a:r>
              <a:rPr lang="en-US" dirty="0"/>
              <a:t> </a:t>
            </a:r>
            <a:r>
              <a:rPr lang="en-US" dirty="0" err="1"/>
              <a:t>желание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</a:t>
            </a:r>
          </a:p>
          <a:p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помогли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и </a:t>
            </a:r>
            <a:r>
              <a:rPr lang="en-US" dirty="0" err="1"/>
              <a:t>геометрией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заменяемым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точка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.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ими</a:t>
            </a:r>
            <a:r>
              <a:rPr lang="en-US" dirty="0"/>
              <a:t> </a:t>
            </a:r>
            <a:r>
              <a:rPr lang="en-US" dirty="0" err="1"/>
              <a:t>владеет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проследить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пройти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плохи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оправданы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платим</a:t>
            </a:r>
            <a:r>
              <a:rPr lang="en-US" dirty="0"/>
              <a:t>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структурой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подготовиться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</a:t>
            </a:r>
            <a:r>
              <a:rPr lang="en-US" dirty="0"/>
              <a:t> </a:t>
            </a:r>
            <a:r>
              <a:rPr lang="en-US" dirty="0" err="1"/>
              <a:t>вообразимым</a:t>
            </a:r>
            <a:r>
              <a:rPr lang="en-US" dirty="0"/>
              <a:t> </a:t>
            </a:r>
            <a:r>
              <a:rPr lang="en-US" dirty="0" err="1"/>
              <a:t>изменениям</a:t>
            </a:r>
            <a:r>
              <a:rPr lang="en-US" dirty="0"/>
              <a:t>,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самой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программой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универсально</a:t>
            </a:r>
            <a:r>
              <a:rPr lang="en-US" dirty="0"/>
              <a:t> </a:t>
            </a:r>
            <a:r>
              <a:rPr lang="en-US" dirty="0" err="1"/>
              <a:t>гибкая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268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сформулировать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выводов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эксперимента</a:t>
            </a:r>
            <a:r>
              <a:rPr lang="en-US" dirty="0"/>
              <a:t>.</a:t>
            </a:r>
          </a:p>
          <a:p>
            <a:r>
              <a:rPr lang="en-US" dirty="0" err="1"/>
              <a:t>Проектируя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принимаем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о </a:t>
            </a:r>
            <a:r>
              <a:rPr lang="en-US" dirty="0" err="1"/>
              <a:t>стоимости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выбираем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.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удастся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локально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потребуют</a:t>
            </a:r>
            <a:r>
              <a:rPr lang="en-US" dirty="0"/>
              <a:t> </a:t>
            </a:r>
            <a:r>
              <a:rPr lang="en-US" dirty="0" err="1"/>
              <a:t>затронуть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— 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устраивает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вводить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,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задать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вопросов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?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у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частей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?</a:t>
            </a:r>
          </a:p>
          <a:p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распространяется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?</a:t>
            </a:r>
          </a:p>
          <a:p>
            <a:r>
              <a:rPr lang="en-US" dirty="0"/>
              <a:t>И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уменьшение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стоимости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дополнительной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собираемся</a:t>
            </a:r>
            <a:r>
              <a:rPr lang="en-US" dirty="0"/>
              <a:t> </a:t>
            </a:r>
            <a:r>
              <a:rPr lang="en-US" dirty="0" err="1"/>
              <a:t>добавить</a:t>
            </a:r>
            <a:r>
              <a:rPr lang="en-US" dirty="0"/>
              <a:t>?</a:t>
            </a:r>
          </a:p>
          <a:p>
            <a:endParaRPr lang="ru-RU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универсальной</a:t>
            </a:r>
            <a:r>
              <a:rPr lang="en-US" dirty="0"/>
              <a:t> </a:t>
            </a:r>
            <a:r>
              <a:rPr lang="en-US" dirty="0" err="1"/>
              <a:t>формулы</a:t>
            </a:r>
            <a:r>
              <a:rPr lang="en-US" dirty="0"/>
              <a:t>.</a:t>
            </a:r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строится</a:t>
            </a:r>
            <a:r>
              <a:rPr lang="en-US" dirty="0"/>
              <a:t> в </a:t>
            </a:r>
            <a:r>
              <a:rPr lang="en-US" dirty="0" err="1"/>
              <a:t>условиях</a:t>
            </a:r>
            <a:r>
              <a:rPr lang="en-US" dirty="0"/>
              <a:t> </a:t>
            </a:r>
            <a:r>
              <a:rPr lang="en-US" dirty="0" err="1"/>
              <a:t>неполного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готовой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принимаем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основе</a:t>
            </a:r>
            <a:r>
              <a:rPr lang="en-US" dirty="0"/>
              <a:t> </a:t>
            </a:r>
            <a:r>
              <a:rPr lang="en-US" dirty="0" err="1"/>
              <a:t>тех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считаем</a:t>
            </a:r>
            <a:r>
              <a:rPr lang="en-US" dirty="0"/>
              <a:t> </a:t>
            </a:r>
            <a:r>
              <a:rPr lang="en-US" dirty="0" err="1"/>
              <a:t>значимыми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b="1" dirty="0" err="1"/>
              <a:t>осознанное</a:t>
            </a:r>
            <a:r>
              <a:rPr lang="en-US" b="1" dirty="0"/>
              <a:t> </a:t>
            </a:r>
            <a:r>
              <a:rPr lang="en-US" b="1" dirty="0" err="1"/>
              <a:t>распределение</a:t>
            </a:r>
            <a:r>
              <a:rPr lang="en-US" b="1" dirty="0"/>
              <a:t> </a:t>
            </a:r>
            <a:r>
              <a:rPr lang="en-US" b="1" dirty="0" err="1"/>
              <a:t>стоимости</a:t>
            </a:r>
            <a:r>
              <a:rPr lang="en-US" b="1" dirty="0"/>
              <a:t> </a:t>
            </a:r>
            <a:r>
              <a:rPr lang="en-US" b="1" dirty="0" err="1"/>
              <a:t>будущих</a:t>
            </a:r>
            <a:r>
              <a:rPr lang="en-US" b="1" dirty="0"/>
              <a:t> </a:t>
            </a:r>
            <a:r>
              <a:rPr lang="en-US" b="1" dirty="0" err="1"/>
              <a:t>изменений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498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историю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Triangle</a:t>
            </a:r>
            <a:r>
              <a:rPr lang="en-US" dirty="0"/>
              <a:t>.</a:t>
            </a:r>
          </a:p>
          <a:p>
            <a:r>
              <a:rPr lang="en-US" dirty="0" err="1"/>
              <a:t>Потом</a:t>
            </a:r>
            <a:r>
              <a:rPr lang="en-US" dirty="0"/>
              <a:t> </a:t>
            </a:r>
            <a:r>
              <a:rPr lang="en-US" dirty="0" err="1"/>
              <a:t>понадобились</a:t>
            </a:r>
            <a:r>
              <a:rPr lang="en-US" dirty="0"/>
              <a:t> SVG и PDF.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пользователи</a:t>
            </a:r>
            <a:r>
              <a:rPr lang="en-US" dirty="0"/>
              <a:t> </a:t>
            </a:r>
            <a:r>
              <a:rPr lang="en-US" dirty="0" err="1"/>
              <a:t>захотели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выбирать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посмотреть</a:t>
            </a:r>
            <a:r>
              <a:rPr lang="en-US" dirty="0"/>
              <a:t> </a:t>
            </a:r>
            <a:r>
              <a:rPr lang="en-US" dirty="0" err="1"/>
              <a:t>назад</a:t>
            </a:r>
            <a:r>
              <a:rPr lang="en-US" dirty="0"/>
              <a:t> и </a:t>
            </a:r>
            <a:r>
              <a:rPr lang="en-US" dirty="0" err="1"/>
              <a:t>сказать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ввести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.»</a:t>
            </a:r>
          </a:p>
          <a:p>
            <a:r>
              <a:rPr lang="en-US" dirty="0"/>
              <a:t>«</a:t>
            </a:r>
            <a:r>
              <a:rPr lang="en-US" dirty="0" err="1"/>
              <a:t>Надо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r>
              <a:rPr lang="en-US" dirty="0"/>
              <a:t>.»</a:t>
            </a:r>
          </a:p>
          <a:p>
            <a:r>
              <a:rPr lang="en-US" dirty="0"/>
              <a:t>«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архитектор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был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предусмотреть</a:t>
            </a:r>
            <a:r>
              <a:rPr lang="en-US" dirty="0"/>
              <a:t>.»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эффект</a:t>
            </a:r>
            <a:r>
              <a:rPr lang="en-US" dirty="0"/>
              <a:t> — </a:t>
            </a:r>
            <a:r>
              <a:rPr lang="en-US" dirty="0" err="1"/>
              <a:t>ретроспективное</a:t>
            </a:r>
            <a:r>
              <a:rPr lang="en-US" dirty="0"/>
              <a:t> </a:t>
            </a:r>
            <a:r>
              <a:rPr lang="en-US" dirty="0" err="1"/>
              <a:t>искажение</a:t>
            </a:r>
            <a:r>
              <a:rPr lang="ru-RU" dirty="0"/>
              <a:t> или знание задним числом.</a:t>
            </a:r>
            <a:endParaRPr lang="en-US" dirty="0"/>
          </a:p>
          <a:p>
            <a:endParaRPr lang="ru-RU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прошлое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казаться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предсказуемым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.</a:t>
            </a:r>
          </a:p>
          <a:p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1.0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видел</a:t>
            </a:r>
            <a:r>
              <a:rPr lang="en-US" dirty="0"/>
              <a:t> </a:t>
            </a:r>
            <a:r>
              <a:rPr lang="en-US" dirty="0" err="1"/>
              <a:t>следующих</a:t>
            </a:r>
            <a:r>
              <a:rPr lang="en-US" dirty="0"/>
              <a:t> </a:t>
            </a:r>
            <a:r>
              <a:rPr lang="en-US" dirty="0" err="1"/>
              <a:t>слайдов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/>
              <a:t>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были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, </a:t>
            </a:r>
            <a:r>
              <a:rPr lang="en-US" dirty="0" err="1"/>
              <a:t>эллипсы</a:t>
            </a:r>
            <a:r>
              <a:rPr lang="en-US" dirty="0"/>
              <a:t> и </a:t>
            </a:r>
            <a:r>
              <a:rPr lang="en-US" dirty="0" err="1"/>
              <a:t>вывод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1.0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оценивать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1.5, а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была</a:t>
            </a:r>
            <a:r>
              <a:rPr lang="en-US" dirty="0"/>
              <a:t> </a:t>
            </a:r>
            <a:r>
              <a:rPr lang="en-US" dirty="0" err="1"/>
              <a:t>доступна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принятия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21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противоположная</a:t>
            </a:r>
            <a:r>
              <a:rPr lang="en-US" dirty="0"/>
              <a:t> </a:t>
            </a:r>
            <a:r>
              <a:rPr lang="en-US" dirty="0" err="1"/>
              <a:t>крайность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универсальной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— </a:t>
            </a:r>
            <a:r>
              <a:rPr lang="en-US" dirty="0" err="1"/>
              <a:t>предусмотреть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точек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 «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всякий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».</a:t>
            </a:r>
          </a:p>
          <a:p>
            <a:endParaRPr lang="en-US" dirty="0"/>
          </a:p>
          <a:p>
            <a:r>
              <a:rPr lang="en-US" dirty="0" err="1"/>
              <a:t>Проблема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возможных</a:t>
            </a:r>
            <a:r>
              <a:rPr lang="en-US" dirty="0"/>
              <a:t> </a:t>
            </a:r>
            <a:r>
              <a:rPr lang="en-US" dirty="0" err="1"/>
              <a:t>будущих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.</a:t>
            </a:r>
          </a:p>
          <a:p>
            <a:r>
              <a:rPr lang="en-US" dirty="0" err="1"/>
              <a:t>Нашему</a:t>
            </a:r>
            <a:r>
              <a:rPr lang="en-US" dirty="0"/>
              <a:t> </a:t>
            </a:r>
            <a:r>
              <a:rPr lang="en-US" dirty="0" err="1"/>
              <a:t>редактору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понадобиться</a:t>
            </a:r>
            <a:r>
              <a:rPr lang="en-US" dirty="0"/>
              <a:t> </a:t>
            </a:r>
            <a:r>
              <a:rPr lang="en-US" dirty="0" err="1"/>
              <a:t>плагины</a:t>
            </a:r>
            <a:r>
              <a:rPr lang="en-US" dirty="0"/>
              <a:t>, 3D-графика, </a:t>
            </a:r>
            <a:r>
              <a:rPr lang="en-US" dirty="0" err="1"/>
              <a:t>совместное</a:t>
            </a:r>
            <a:r>
              <a:rPr lang="en-US" dirty="0"/>
              <a:t> </a:t>
            </a:r>
            <a:r>
              <a:rPr lang="en-US" dirty="0" err="1"/>
              <a:t>редактирование</a:t>
            </a:r>
            <a:r>
              <a:rPr lang="en-US" dirty="0"/>
              <a:t>, GPU-</a:t>
            </a:r>
            <a:r>
              <a:rPr lang="en-US" dirty="0" err="1"/>
              <a:t>рендеринг</a:t>
            </a:r>
            <a:r>
              <a:rPr lang="en-US" dirty="0"/>
              <a:t>, </a:t>
            </a:r>
            <a:r>
              <a:rPr lang="en-US" dirty="0" err="1"/>
              <a:t>скрипты</a:t>
            </a:r>
            <a:r>
              <a:rPr lang="en-US" dirty="0"/>
              <a:t>,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форматы</a:t>
            </a:r>
            <a:r>
              <a:rPr lang="en-US" dirty="0"/>
              <a:t> </a:t>
            </a:r>
            <a:r>
              <a:rPr lang="en-US" dirty="0" err="1"/>
              <a:t>файлов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 </a:t>
            </a:r>
            <a:r>
              <a:rPr lang="en-US" dirty="0" err="1"/>
              <a:t>придумать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, </a:t>
            </a:r>
            <a:r>
              <a:rPr lang="en-US" dirty="0" err="1"/>
              <a:t>фабрику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расширения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появится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тестировать</a:t>
            </a:r>
            <a:r>
              <a:rPr lang="en-US" dirty="0"/>
              <a:t> и </a:t>
            </a:r>
            <a:r>
              <a:rPr lang="en-US" dirty="0" err="1"/>
              <a:t>поддерживать</a:t>
            </a:r>
            <a:r>
              <a:rPr lang="en-US" dirty="0"/>
              <a:t>,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соответствующая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неправильно</a:t>
            </a:r>
            <a:r>
              <a:rPr lang="en-US" dirty="0"/>
              <a:t> </a:t>
            </a:r>
            <a:r>
              <a:rPr lang="en-US" dirty="0" err="1"/>
              <a:t>угадать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окажется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гибкой</a:t>
            </a:r>
            <a:r>
              <a:rPr lang="en-US" dirty="0"/>
              <a:t> </a:t>
            </a:r>
            <a:r>
              <a:rPr lang="en-US" dirty="0" err="1"/>
              <a:t>там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никому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, а </a:t>
            </a:r>
            <a:r>
              <a:rPr lang="en-US" dirty="0" err="1"/>
              <a:t>реальные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пойдут</a:t>
            </a:r>
            <a:r>
              <a:rPr lang="en-US" dirty="0"/>
              <a:t> </a:t>
            </a:r>
            <a:r>
              <a:rPr lang="en-US" dirty="0" err="1"/>
              <a:t>совсем</a:t>
            </a:r>
            <a:r>
              <a:rPr lang="en-US" dirty="0"/>
              <a:t> в </a:t>
            </a:r>
            <a:r>
              <a:rPr lang="en-US" dirty="0" err="1"/>
              <a:t>другом</a:t>
            </a:r>
            <a:r>
              <a:rPr lang="en-US" dirty="0"/>
              <a:t> </a:t>
            </a:r>
            <a:r>
              <a:rPr lang="en-US" dirty="0" err="1"/>
              <a:t>направлении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overengineering —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решаемая</a:t>
            </a:r>
            <a:r>
              <a:rPr lang="en-US" dirty="0"/>
              <a:t> </a:t>
            </a:r>
            <a:r>
              <a:rPr lang="en-US" dirty="0" err="1"/>
              <a:t>задача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простых</a:t>
            </a:r>
            <a:r>
              <a:rPr lang="en-US" dirty="0"/>
              <a:t> </a:t>
            </a:r>
            <a:r>
              <a:rPr lang="en-US" dirty="0" err="1"/>
              <a:t>принципа</a:t>
            </a:r>
            <a:r>
              <a:rPr lang="en-US" dirty="0"/>
              <a:t>.</a:t>
            </a:r>
          </a:p>
          <a:p>
            <a:r>
              <a:rPr lang="en-US" b="1" dirty="0"/>
              <a:t>KISS — Keep It Simple, Stupid: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усложняйте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b="1" dirty="0"/>
              <a:t>YAGNI — You Aren’t </a:t>
            </a:r>
            <a:r>
              <a:rPr lang="en-US" b="1" dirty="0" err="1"/>
              <a:t>Gonna</a:t>
            </a:r>
            <a:r>
              <a:rPr lang="en-US" b="1" dirty="0"/>
              <a:t> Need It: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реализуйте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теоретически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пригодиться</a:t>
            </a:r>
            <a:r>
              <a:rPr lang="en-US" dirty="0"/>
              <a:t> 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потом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думать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предположение</a:t>
            </a:r>
            <a:r>
              <a:rPr lang="en-US" dirty="0"/>
              <a:t> «а </a:t>
            </a:r>
            <a:r>
              <a:rPr lang="en-US" dirty="0" err="1"/>
              <a:t>вдруг</a:t>
            </a:r>
            <a:r>
              <a:rPr lang="en-US" dirty="0"/>
              <a:t> </a:t>
            </a:r>
            <a:r>
              <a:rPr lang="en-US" dirty="0" err="1"/>
              <a:t>понадобится</a:t>
            </a:r>
            <a:r>
              <a:rPr lang="en-US" dirty="0"/>
              <a:t>» </a:t>
            </a:r>
            <a:r>
              <a:rPr lang="en-US" dirty="0" err="1"/>
              <a:t>само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—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слабое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гибкой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и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ожидаемых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—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сегодня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196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следует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забыть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думаем</a:t>
            </a:r>
            <a:r>
              <a:rPr lang="en-US" dirty="0"/>
              <a:t> о </a:t>
            </a:r>
            <a:r>
              <a:rPr lang="en-US" dirty="0" err="1"/>
              <a:t>зависимостях</a:t>
            </a:r>
            <a:r>
              <a:rPr lang="en-US" dirty="0"/>
              <a:t>,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ответственности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инкапсуляции</a:t>
            </a:r>
            <a:r>
              <a:rPr lang="en-US" dirty="0"/>
              <a:t> и о </a:t>
            </a:r>
            <a:r>
              <a:rPr lang="en-US" dirty="0" err="1"/>
              <a:t>наиболее</a:t>
            </a:r>
            <a:r>
              <a:rPr lang="en-US" dirty="0"/>
              <a:t> </a:t>
            </a:r>
            <a:r>
              <a:rPr lang="en-US" dirty="0" err="1"/>
              <a:t>вероятных</a:t>
            </a:r>
            <a:r>
              <a:rPr lang="en-US" dirty="0"/>
              <a:t> </a:t>
            </a:r>
            <a:r>
              <a:rPr lang="en-US" dirty="0" err="1"/>
              <a:t>направлениях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«</a:t>
            </a:r>
            <a:r>
              <a:rPr lang="en-US" dirty="0" err="1"/>
              <a:t>думать</a:t>
            </a:r>
            <a:r>
              <a:rPr lang="en-US" dirty="0"/>
              <a:t> о </a:t>
            </a:r>
            <a:r>
              <a:rPr lang="en-US" dirty="0" err="1"/>
              <a:t>будущем</a:t>
            </a:r>
            <a:r>
              <a:rPr lang="en-US" dirty="0"/>
              <a:t>» и «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сценарии</a:t>
            </a:r>
            <a:r>
              <a:rPr lang="en-US" dirty="0"/>
              <a:t>»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большая</a:t>
            </a:r>
            <a:r>
              <a:rPr lang="en-US" dirty="0"/>
              <a:t> </a:t>
            </a:r>
            <a:r>
              <a:rPr lang="en-US" dirty="0" err="1"/>
              <a:t>разница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версии</a:t>
            </a:r>
            <a:r>
              <a:rPr lang="en-US" dirty="0"/>
              <a:t> 1.0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которое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отвечало</a:t>
            </a:r>
            <a:r>
              <a:rPr lang="en-US" dirty="0"/>
              <a:t> </a:t>
            </a:r>
            <a:r>
              <a:rPr lang="en-US" dirty="0" err="1"/>
              <a:t>известным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справилась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начали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 </a:t>
            </a:r>
            <a:r>
              <a:rPr lang="en-US" dirty="0" err="1"/>
              <a:t>реальную</a:t>
            </a:r>
            <a:r>
              <a:rPr lang="en-US" dirty="0"/>
              <a:t> </a:t>
            </a:r>
            <a:r>
              <a:rPr lang="en-US" dirty="0" err="1"/>
              <a:t>повторяющуюся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ввели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ICanvas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возникла</a:t>
            </a:r>
            <a:r>
              <a:rPr lang="en-US" dirty="0"/>
              <a:t>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основание</a:t>
            </a:r>
            <a:r>
              <a:rPr lang="en-US" dirty="0"/>
              <a:t> </a:t>
            </a:r>
            <a:r>
              <a:rPr lang="en-US" dirty="0" err="1"/>
              <a:t>отделить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возникали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предположения</a:t>
            </a:r>
            <a:r>
              <a:rPr lang="en-US" dirty="0"/>
              <a:t> «</a:t>
            </a:r>
            <a:r>
              <a:rPr lang="en-US" dirty="0" err="1"/>
              <a:t>когда-нибудь</a:t>
            </a:r>
            <a:r>
              <a:rPr lang="en-US" dirty="0"/>
              <a:t> </a:t>
            </a:r>
            <a:r>
              <a:rPr lang="en-US" dirty="0" err="1"/>
              <a:t>пригодится</a:t>
            </a:r>
            <a:r>
              <a:rPr lang="en-US" dirty="0"/>
              <a:t>», а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наблюдаемой</a:t>
            </a:r>
            <a:r>
              <a:rPr lang="en-US" dirty="0"/>
              <a:t> </a:t>
            </a:r>
            <a:r>
              <a:rPr lang="en-US" dirty="0" err="1"/>
              <a:t>потребности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пыта</a:t>
            </a:r>
            <a:r>
              <a:rPr lang="ru-RU" b="1" dirty="0" err="1"/>
              <a:t>йтесь</a:t>
            </a:r>
            <a:r>
              <a:rPr lang="en-US" b="1" dirty="0"/>
              <a:t> </a:t>
            </a:r>
            <a:r>
              <a:rPr lang="en-US" b="1" dirty="0" err="1"/>
              <a:t>построить</a:t>
            </a:r>
            <a:r>
              <a:rPr lang="en-US" b="1" dirty="0"/>
              <a:t> </a:t>
            </a:r>
            <a:r>
              <a:rPr lang="en-US" b="1" dirty="0" err="1"/>
              <a:t>систему</a:t>
            </a:r>
            <a:r>
              <a:rPr lang="en-US" b="1" dirty="0"/>
              <a:t>, </a:t>
            </a:r>
            <a:r>
              <a:rPr lang="en-US" b="1" dirty="0" err="1"/>
              <a:t>которой</a:t>
            </a:r>
            <a:r>
              <a:rPr lang="en-US" b="1" dirty="0"/>
              <a:t> </a:t>
            </a:r>
            <a:r>
              <a:rPr lang="en-US" b="1" dirty="0" err="1"/>
              <a:t>никогда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потребуется</a:t>
            </a:r>
            <a:r>
              <a:rPr lang="en-US" b="1" dirty="0"/>
              <a:t> </a:t>
            </a:r>
            <a:r>
              <a:rPr lang="en-US" b="1" dirty="0" err="1"/>
              <a:t>перепроектирование</a:t>
            </a:r>
            <a:r>
              <a:rPr lang="en-US" b="1" dirty="0"/>
              <a:t>.</a:t>
            </a:r>
            <a:endParaRPr lang="en-US" dirty="0"/>
          </a:p>
          <a:p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бывает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строить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мере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новой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принятое</a:t>
            </a:r>
            <a:r>
              <a:rPr lang="en-US" dirty="0"/>
              <a:t> </a:t>
            </a:r>
            <a:r>
              <a:rPr lang="en-US" dirty="0" err="1"/>
              <a:t>ранее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хорошее</a:t>
            </a:r>
            <a:r>
              <a:rPr lang="en-US" dirty="0"/>
              <a:t> </a:t>
            </a:r>
            <a:r>
              <a:rPr lang="en-US" dirty="0" err="1"/>
              <a:t>проектирование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 </a:t>
            </a:r>
            <a:r>
              <a:rPr lang="en-US" dirty="0" err="1"/>
              <a:t>угадать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.</a:t>
            </a:r>
          </a:p>
          <a:p>
            <a:r>
              <a:rPr lang="en-US" b="1" dirty="0"/>
              <a:t>Это </a:t>
            </a:r>
            <a:r>
              <a:rPr lang="en-US" b="1" dirty="0" err="1"/>
              <a:t>способность</a:t>
            </a:r>
            <a:r>
              <a:rPr lang="en-US" b="1" dirty="0"/>
              <a:t> </a:t>
            </a:r>
            <a:r>
              <a:rPr lang="en-US" b="1" dirty="0" err="1"/>
              <a:t>адаптироваться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будущее</a:t>
            </a:r>
            <a:r>
              <a:rPr lang="en-US" b="1" dirty="0"/>
              <a:t> </a:t>
            </a:r>
            <a:r>
              <a:rPr lang="en-US" b="1" dirty="0" err="1"/>
              <a:t>перестаёт</a:t>
            </a:r>
            <a:r>
              <a:rPr lang="en-US" b="1" dirty="0"/>
              <a:t> </a:t>
            </a:r>
            <a:r>
              <a:rPr lang="en-US" b="1" dirty="0" err="1"/>
              <a:t>быть</a:t>
            </a:r>
            <a:r>
              <a:rPr lang="en-US" b="1" dirty="0"/>
              <a:t> </a:t>
            </a:r>
            <a:r>
              <a:rPr lang="en-US" b="1" dirty="0" err="1"/>
              <a:t>неизвестным</a:t>
            </a:r>
            <a:r>
              <a:rPr lang="en-US" b="1" dirty="0"/>
              <a:t> и </a:t>
            </a:r>
            <a:r>
              <a:rPr lang="en-US" b="1" dirty="0" err="1"/>
              <a:t>превращается</a:t>
            </a:r>
            <a:r>
              <a:rPr lang="en-US" b="1" dirty="0"/>
              <a:t> в </a:t>
            </a:r>
            <a:r>
              <a:rPr lang="en-US" b="1" dirty="0" err="1"/>
              <a:t>новое</a:t>
            </a:r>
            <a:r>
              <a:rPr lang="en-US" b="1" dirty="0"/>
              <a:t> </a:t>
            </a:r>
            <a:r>
              <a:rPr lang="en-US" b="1" dirty="0" err="1"/>
              <a:t>требование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832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ходе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столкнулись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известных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, в </a:t>
            </a:r>
            <a:r>
              <a:rPr lang="en-US" dirty="0" err="1"/>
              <a:t>котором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произошло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слов</a:t>
            </a:r>
            <a:r>
              <a:rPr lang="en-US" dirty="0"/>
              <a:t>: «</a:t>
            </a:r>
            <a:r>
              <a:rPr lang="en-US" dirty="0" err="1"/>
              <a:t>Давайте</a:t>
            </a:r>
            <a:r>
              <a:rPr lang="en-US" dirty="0"/>
              <a:t> </a:t>
            </a:r>
            <a:r>
              <a:rPr lang="en-US" dirty="0" err="1"/>
              <a:t>применим</a:t>
            </a:r>
            <a:r>
              <a:rPr lang="en-US" dirty="0"/>
              <a:t> Strategy».</a:t>
            </a:r>
          </a:p>
          <a:p>
            <a:endParaRPr lang="ru-RU" dirty="0"/>
          </a:p>
          <a:p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появилось</a:t>
            </a:r>
            <a:r>
              <a:rPr lang="en-US" dirty="0"/>
              <a:t> </a:t>
            </a:r>
            <a:r>
              <a:rPr lang="en-US" dirty="0" err="1"/>
              <a:t>конкретное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, </a:t>
            </a:r>
            <a:r>
              <a:rPr lang="en-US" dirty="0" err="1"/>
              <a:t>сохраняя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.</a:t>
            </a:r>
          </a:p>
          <a:p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поддерживала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.</a:t>
            </a:r>
          </a:p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стали</a:t>
            </a:r>
            <a:r>
              <a:rPr lang="en-US" dirty="0"/>
              <a:t> </a:t>
            </a:r>
            <a:r>
              <a:rPr lang="en-US" dirty="0" err="1"/>
              <a:t>разбираться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объекте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неизменным</a:t>
            </a:r>
            <a:r>
              <a:rPr lang="en-US" dirty="0"/>
              <a:t>, а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заменяться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IShapeGeometry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стало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, </a:t>
            </a:r>
            <a:r>
              <a:rPr lang="en-US" dirty="0" err="1"/>
              <a:t>оказалось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подобная</a:t>
            </a:r>
            <a:r>
              <a:rPr lang="en-US" dirty="0"/>
              <a:t> </a:t>
            </a:r>
            <a:r>
              <a:rPr lang="en-US" dirty="0" err="1"/>
              <a:t>структура</a:t>
            </a:r>
            <a:r>
              <a:rPr lang="en-US" dirty="0"/>
              <a:t> </a:t>
            </a:r>
            <a:r>
              <a:rPr lang="en-US" dirty="0" err="1"/>
              <a:t>встречается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многих</a:t>
            </a:r>
            <a:r>
              <a:rPr lang="en-US" dirty="0"/>
              <a:t> </a:t>
            </a:r>
            <a:r>
              <a:rPr lang="en-US" dirty="0" err="1"/>
              <a:t>программах</a:t>
            </a:r>
            <a:r>
              <a:rPr lang="en-US" dirty="0"/>
              <a:t> и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известное</a:t>
            </a:r>
            <a:r>
              <a:rPr lang="en-US" dirty="0"/>
              <a:t> </a:t>
            </a:r>
            <a:r>
              <a:rPr lang="en-US" dirty="0" err="1"/>
              <a:t>название</a:t>
            </a:r>
            <a:r>
              <a:rPr lang="en-US" dirty="0"/>
              <a:t> — Strategy.</a:t>
            </a:r>
          </a:p>
          <a:p>
            <a:r>
              <a:rPr lang="en-US" dirty="0" err="1"/>
              <a:t>Именно</a:t>
            </a:r>
            <a:r>
              <a:rPr lang="en-US" dirty="0"/>
              <a:t> в </a:t>
            </a:r>
            <a:r>
              <a:rPr lang="en-US" dirty="0" err="1"/>
              <a:t>таком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я </a:t>
            </a:r>
            <a:r>
              <a:rPr lang="en-US" dirty="0" err="1"/>
              <a:t>предлагаю</a:t>
            </a:r>
            <a:r>
              <a:rPr lang="en-US" dirty="0"/>
              <a:t> </a:t>
            </a:r>
            <a:r>
              <a:rPr lang="en-US" dirty="0" err="1"/>
              <a:t>относиться</a:t>
            </a:r>
            <a:r>
              <a:rPr lang="en-US" dirty="0"/>
              <a:t> к </a:t>
            </a:r>
            <a:r>
              <a:rPr lang="en-US" dirty="0" err="1"/>
              <a:t>паттернам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.</a:t>
            </a:r>
          </a:p>
          <a:p>
            <a:endParaRPr lang="ru-RU" b="1" dirty="0"/>
          </a:p>
          <a:p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искать</a:t>
            </a:r>
            <a:r>
              <a:rPr lang="en-US" b="1" dirty="0"/>
              <a:t> </a:t>
            </a:r>
            <a:r>
              <a:rPr lang="en-US" b="1" dirty="0" err="1"/>
              <a:t>место</a:t>
            </a:r>
            <a:r>
              <a:rPr lang="en-US" b="1" dirty="0"/>
              <a:t>, </a:t>
            </a:r>
            <a:r>
              <a:rPr lang="en-US" b="1" dirty="0" err="1"/>
              <a:t>куда</a:t>
            </a:r>
            <a:r>
              <a:rPr lang="en-US" b="1" dirty="0"/>
              <a:t> </a:t>
            </a:r>
            <a:r>
              <a:rPr lang="en-US" b="1" dirty="0" err="1"/>
              <a:t>можно</a:t>
            </a:r>
            <a:r>
              <a:rPr lang="en-US" b="1" dirty="0"/>
              <a:t> </a:t>
            </a:r>
            <a:r>
              <a:rPr lang="en-US" b="1" dirty="0" err="1"/>
              <a:t>вставить</a:t>
            </a:r>
            <a:r>
              <a:rPr lang="en-US" b="1" dirty="0"/>
              <a:t> </a:t>
            </a:r>
            <a:r>
              <a:rPr lang="en-US" b="1" dirty="0" err="1"/>
              <a:t>известный</a:t>
            </a:r>
            <a:r>
              <a:rPr lang="en-US" b="1" dirty="0"/>
              <a:t> </a:t>
            </a:r>
            <a:r>
              <a:rPr lang="en-US" b="1" dirty="0" err="1"/>
              <a:t>паттерн</a:t>
            </a:r>
            <a:r>
              <a:rPr lang="en-US" b="1" dirty="0"/>
              <a:t>, а </a:t>
            </a:r>
            <a:r>
              <a:rPr lang="en-US" b="1" dirty="0" err="1"/>
              <a:t>сначала</a:t>
            </a:r>
            <a:r>
              <a:rPr lang="en-US" b="1" dirty="0"/>
              <a:t> </a:t>
            </a:r>
            <a:r>
              <a:rPr lang="en-US" b="1" dirty="0" err="1"/>
              <a:t>понимать</a:t>
            </a:r>
            <a:r>
              <a:rPr lang="en-US" b="1" dirty="0"/>
              <a:t> </a:t>
            </a:r>
            <a:r>
              <a:rPr lang="en-US" b="1" dirty="0" err="1"/>
              <a:t>проблему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1040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самостоятельно</a:t>
            </a:r>
            <a:r>
              <a:rPr lang="en-US" dirty="0"/>
              <a:t>, </a:t>
            </a:r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изучать</a:t>
            </a:r>
            <a:r>
              <a:rPr lang="en-US" dirty="0"/>
              <a:t> </a:t>
            </a:r>
            <a:r>
              <a:rPr lang="en-US" dirty="0" err="1"/>
              <a:t>паттерны</a:t>
            </a:r>
            <a:r>
              <a:rPr lang="en-US" dirty="0"/>
              <a:t>?</a:t>
            </a:r>
          </a:p>
          <a:p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причин</a:t>
            </a:r>
            <a:r>
              <a:rPr lang="en-US" dirty="0"/>
              <a:t> — </a:t>
            </a:r>
            <a:r>
              <a:rPr lang="en-US" dirty="0" err="1"/>
              <a:t>язык</a:t>
            </a:r>
            <a:r>
              <a:rPr lang="en-US" dirty="0"/>
              <a:t>.</a:t>
            </a:r>
          </a:p>
          <a:p>
            <a:r>
              <a:rPr lang="en-US" dirty="0" err="1"/>
              <a:t>Представьте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объясняет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рассказать</a:t>
            </a:r>
            <a:r>
              <a:rPr lang="en-US" dirty="0"/>
              <a:t>: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вынесли</a:t>
            </a:r>
            <a:r>
              <a:rPr lang="en-US" dirty="0"/>
              <a:t> </a:t>
            </a:r>
            <a:r>
              <a:rPr lang="en-US" dirty="0" err="1"/>
              <a:t>изменяющийся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 в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работаем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</a:t>
            </a:r>
          </a:p>
          <a:p>
            <a:r>
              <a:rPr lang="en-US" dirty="0"/>
              <a:t>«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Strategy».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разработчика</a:t>
            </a:r>
            <a:r>
              <a:rPr lang="en-US" dirty="0"/>
              <a:t> </a:t>
            </a:r>
            <a:r>
              <a:rPr lang="en-US" dirty="0" err="1"/>
              <a:t>знают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,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довольно</a:t>
            </a:r>
            <a:r>
              <a:rPr lang="en-US" dirty="0"/>
              <a:t> </a:t>
            </a:r>
            <a:r>
              <a:rPr lang="en-US" dirty="0" err="1"/>
              <a:t>большой</a:t>
            </a:r>
            <a:r>
              <a:rPr lang="en-US" dirty="0"/>
              <a:t> </a:t>
            </a:r>
            <a:r>
              <a:rPr lang="en-US" dirty="0" err="1"/>
              <a:t>объём</a:t>
            </a:r>
            <a:r>
              <a:rPr lang="en-US" dirty="0"/>
              <a:t> </a:t>
            </a:r>
            <a:r>
              <a:rPr lang="en-US" dirty="0" err="1"/>
              <a:t>информации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речь</a:t>
            </a:r>
            <a:r>
              <a:rPr lang="en-US" dirty="0"/>
              <a:t> </a:t>
            </a:r>
            <a:r>
              <a:rPr lang="en-US" dirty="0" err="1"/>
              <a:t>идёт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о </a:t>
            </a:r>
            <a:r>
              <a:rPr lang="en-US" dirty="0" err="1"/>
              <a:t>форме</a:t>
            </a:r>
            <a:r>
              <a:rPr lang="en-US" dirty="0"/>
              <a:t> </a:t>
            </a:r>
            <a:r>
              <a:rPr lang="en-US" dirty="0" err="1"/>
              <a:t>диаграммы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названием</a:t>
            </a:r>
            <a:r>
              <a:rPr lang="en-US" dirty="0"/>
              <a:t> </a:t>
            </a:r>
            <a:r>
              <a:rPr lang="en-US" dirty="0" err="1"/>
              <a:t>связаны</a:t>
            </a:r>
            <a:r>
              <a:rPr lang="en-US" dirty="0"/>
              <a:t> </a:t>
            </a:r>
            <a:r>
              <a:rPr lang="en-US" dirty="0" err="1"/>
              <a:t>намерение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область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 и </a:t>
            </a:r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полезны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профессиональный</a:t>
            </a:r>
            <a:r>
              <a:rPr lang="en-US" dirty="0"/>
              <a:t> </a:t>
            </a:r>
            <a:r>
              <a:rPr lang="en-US" dirty="0" err="1"/>
              <a:t>словарь</a:t>
            </a:r>
            <a:r>
              <a:rPr lang="en-US" dirty="0"/>
              <a:t>.</a:t>
            </a:r>
          </a:p>
          <a:p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узнавать</a:t>
            </a:r>
            <a:r>
              <a:rPr lang="en-US" dirty="0"/>
              <a:t> </a:t>
            </a:r>
            <a:r>
              <a:rPr lang="en-US" dirty="0" err="1"/>
              <a:t>знакомые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и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обсуждать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146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обратная</a:t>
            </a:r>
            <a:r>
              <a:rPr lang="en-US" dirty="0"/>
              <a:t> </a:t>
            </a:r>
            <a:r>
              <a:rPr lang="en-US" dirty="0" err="1"/>
              <a:t>сторона</a:t>
            </a:r>
            <a:r>
              <a:rPr lang="en-US" dirty="0"/>
              <a:t> </a:t>
            </a:r>
            <a:r>
              <a:rPr lang="en-US" dirty="0" err="1"/>
              <a:t>знания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разработчик</a:t>
            </a:r>
            <a:r>
              <a:rPr lang="en-US" dirty="0"/>
              <a:t> </a:t>
            </a:r>
            <a:r>
              <a:rPr lang="en-US" dirty="0" err="1"/>
              <a:t>узнаёт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r>
              <a:rPr lang="en-US" dirty="0"/>
              <a:t>,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соблазн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повсюду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—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нужна</a:t>
            </a:r>
            <a:r>
              <a:rPr lang="en-US" dirty="0"/>
              <a:t> Factory.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 — </a:t>
            </a:r>
            <a:r>
              <a:rPr lang="en-US" dirty="0" err="1"/>
              <a:t>значит</a:t>
            </a:r>
            <a:r>
              <a:rPr lang="en-US" dirty="0"/>
              <a:t>, Strategy.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сообщить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изменении</a:t>
            </a:r>
            <a:r>
              <a:rPr lang="en-US" dirty="0"/>
              <a:t> — </a:t>
            </a:r>
            <a:r>
              <a:rPr lang="en-US" dirty="0" err="1"/>
              <a:t>значит</a:t>
            </a:r>
            <a:r>
              <a:rPr lang="en-US" dirty="0"/>
              <a:t>, Observer.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ненужной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факт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некоторой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,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применять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r>
              <a:rPr lang="en-US" dirty="0"/>
              <a:t>.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правило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, </a:t>
            </a:r>
            <a:r>
              <a:rPr lang="en-US" dirty="0" err="1"/>
              <a:t>объекты</a:t>
            </a:r>
            <a:r>
              <a:rPr lang="en-US" dirty="0"/>
              <a:t> и </a:t>
            </a:r>
            <a:r>
              <a:rPr lang="en-US" dirty="0" err="1"/>
              <a:t>связи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двигаться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попробуем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окажется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полученное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давно</a:t>
            </a:r>
            <a:r>
              <a:rPr lang="en-US" dirty="0"/>
              <a:t> </a:t>
            </a:r>
            <a:r>
              <a:rPr lang="en-US" dirty="0" err="1"/>
              <a:t>известно</a:t>
            </a:r>
            <a:r>
              <a:rPr lang="en-US" dirty="0"/>
              <a:t> и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удобным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 и </a:t>
            </a:r>
            <a:r>
              <a:rPr lang="en-US" dirty="0" err="1"/>
              <a:t>обсуждать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собрать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r>
              <a:rPr lang="en-US" b="1" dirty="0" err="1"/>
              <a:t>Цель</a:t>
            </a:r>
            <a:r>
              <a:rPr lang="en-US" b="1" dirty="0"/>
              <a:t> — </a:t>
            </a:r>
            <a:r>
              <a:rPr lang="en-US" b="1" dirty="0" err="1"/>
              <a:t>научиться</a:t>
            </a:r>
            <a:r>
              <a:rPr lang="en-US" b="1" dirty="0"/>
              <a:t> </a:t>
            </a:r>
            <a:r>
              <a:rPr lang="en-US" b="1" dirty="0" err="1"/>
              <a:t>видеть</a:t>
            </a:r>
            <a:r>
              <a:rPr lang="en-US" b="1" dirty="0"/>
              <a:t> </a:t>
            </a:r>
            <a:r>
              <a:rPr lang="en-US" b="1" dirty="0" err="1"/>
              <a:t>проблемы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, </a:t>
            </a:r>
            <a:r>
              <a:rPr lang="en-US" b="1" dirty="0" err="1"/>
              <a:t>сравнивать</a:t>
            </a:r>
            <a:r>
              <a:rPr lang="en-US" b="1" dirty="0"/>
              <a:t> </a:t>
            </a:r>
            <a:r>
              <a:rPr lang="en-US" b="1" dirty="0" err="1"/>
              <a:t>решения</a:t>
            </a:r>
            <a:r>
              <a:rPr lang="en-US" b="1" dirty="0"/>
              <a:t> и </a:t>
            </a:r>
            <a:r>
              <a:rPr lang="en-US" b="1" dirty="0" err="1"/>
              <a:t>понимать</a:t>
            </a:r>
            <a:r>
              <a:rPr lang="en-US" b="1" dirty="0"/>
              <a:t>, </a:t>
            </a:r>
            <a:r>
              <a:rPr lang="en-US" b="1" dirty="0" err="1"/>
              <a:t>почему</a:t>
            </a:r>
            <a:r>
              <a:rPr lang="en-US" b="1" dirty="0"/>
              <a:t> в </a:t>
            </a:r>
            <a:r>
              <a:rPr lang="en-US" b="1" dirty="0" err="1"/>
              <a:t>конкретной</a:t>
            </a:r>
            <a:r>
              <a:rPr lang="en-US" b="1" dirty="0"/>
              <a:t> </a:t>
            </a:r>
            <a:r>
              <a:rPr lang="en-US" b="1" dirty="0" err="1"/>
              <a:t>ситуации</a:t>
            </a:r>
            <a:r>
              <a:rPr lang="en-US" b="1" dirty="0"/>
              <a:t> </a:t>
            </a:r>
            <a:r>
              <a:rPr lang="en-US" b="1" dirty="0" err="1"/>
              <a:t>выбран</a:t>
            </a:r>
            <a:r>
              <a:rPr lang="en-US" b="1" dirty="0"/>
              <a:t> </a:t>
            </a:r>
            <a:r>
              <a:rPr lang="en-US" b="1" dirty="0" err="1"/>
              <a:t>именно</a:t>
            </a:r>
            <a:r>
              <a:rPr lang="en-US" b="1" dirty="0"/>
              <a:t> </a:t>
            </a:r>
            <a:r>
              <a:rPr lang="en-US" b="1" dirty="0" err="1"/>
              <a:t>такой</a:t>
            </a:r>
            <a:r>
              <a:rPr lang="en-US" b="1" dirty="0"/>
              <a:t> </a:t>
            </a:r>
            <a:r>
              <a:rPr lang="en-US" b="1" dirty="0" err="1"/>
              <a:t>дизайн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0594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реже</a:t>
            </a:r>
            <a:r>
              <a:rPr lang="en-US" dirty="0"/>
              <a:t> </a:t>
            </a:r>
            <a:r>
              <a:rPr lang="en-US" dirty="0" err="1"/>
              <a:t>обсуждать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 в </a:t>
            </a:r>
            <a:r>
              <a:rPr lang="en-US" dirty="0" err="1"/>
              <a:t>отрыве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остальной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интересовать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.</a:t>
            </a:r>
          </a:p>
          <a:p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объектами</a:t>
            </a:r>
            <a:r>
              <a:rPr lang="en-US" dirty="0"/>
              <a:t> </a:t>
            </a:r>
            <a:r>
              <a:rPr lang="en-US" dirty="0" err="1"/>
              <a:t>допустимы</a:t>
            </a:r>
            <a:r>
              <a:rPr lang="en-US" dirty="0"/>
              <a:t>?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стоит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дополнительную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, а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новая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усложнит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?</a:t>
            </a:r>
          </a:p>
          <a:p>
            <a:r>
              <a:rPr lang="en-US" dirty="0"/>
              <a:t>И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возвращаться</a:t>
            </a:r>
            <a:r>
              <a:rPr lang="en-US" dirty="0"/>
              <a:t> к </a:t>
            </a:r>
            <a:r>
              <a:rPr lang="en-US" dirty="0" err="1"/>
              <a:t>одному</a:t>
            </a:r>
            <a:r>
              <a:rPr lang="en-US" dirty="0"/>
              <a:t> и </a:t>
            </a:r>
            <a:r>
              <a:rPr lang="en-US" dirty="0" err="1"/>
              <a:t>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вопросу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произойдёт</a:t>
            </a:r>
            <a:r>
              <a:rPr lang="en-US" b="1" dirty="0"/>
              <a:t> с </a:t>
            </a:r>
            <a:r>
              <a:rPr lang="en-US" b="1" dirty="0" err="1"/>
              <a:t>текущим</a:t>
            </a:r>
            <a:r>
              <a:rPr lang="en-US" b="1" dirty="0"/>
              <a:t> </a:t>
            </a:r>
            <a:r>
              <a:rPr lang="en-US" b="1" dirty="0" err="1"/>
              <a:t>дизайном</a:t>
            </a:r>
            <a:r>
              <a:rPr lang="en-US" b="1" dirty="0"/>
              <a:t>,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изменятся</a:t>
            </a:r>
            <a:r>
              <a:rPr lang="en-US" b="1" dirty="0"/>
              <a:t> </a:t>
            </a:r>
            <a:r>
              <a:rPr lang="en-US" b="1" dirty="0" err="1"/>
              <a:t>требования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появляться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конструкций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запоминания</a:t>
            </a:r>
            <a:r>
              <a:rPr lang="en-US" dirty="0"/>
              <a:t>.</a:t>
            </a:r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ответы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повторяющиеся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6702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конечная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максимального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научиться</a:t>
            </a:r>
            <a:r>
              <a:rPr lang="en-US" dirty="0"/>
              <a:t> </a:t>
            </a:r>
            <a:r>
              <a:rPr lang="en-US" dirty="0" err="1"/>
              <a:t>рассуждать</a:t>
            </a:r>
            <a:r>
              <a:rPr lang="en-US" dirty="0"/>
              <a:t> о </a:t>
            </a:r>
            <a:r>
              <a:rPr lang="en-US" dirty="0" err="1"/>
              <a:t>дизайне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Получив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построить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распределить</a:t>
            </a:r>
            <a:r>
              <a:rPr lang="en-US" dirty="0"/>
              <a:t> </a:t>
            </a:r>
            <a:r>
              <a:rPr lang="en-US" dirty="0" err="1"/>
              <a:t>ответственность</a:t>
            </a:r>
            <a:r>
              <a:rPr lang="en-US" dirty="0"/>
              <a:t>,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и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существенны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— </a:t>
            </a:r>
            <a:r>
              <a:rPr lang="en-US" dirty="0" err="1"/>
              <a:t>предложить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вариантов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,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и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.</a:t>
            </a:r>
          </a:p>
          <a:p>
            <a:r>
              <a:rPr lang="en-US" dirty="0" err="1"/>
              <a:t>Причём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объяснить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«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написано</a:t>
            </a:r>
            <a:r>
              <a:rPr lang="en-US" dirty="0"/>
              <a:t> в </a:t>
            </a:r>
            <a:r>
              <a:rPr lang="en-US" dirty="0" err="1"/>
              <a:t>книге</a:t>
            </a:r>
            <a:r>
              <a:rPr lang="en-US" dirty="0"/>
              <a:t>» </a:t>
            </a:r>
            <a:r>
              <a:rPr lang="en-US" dirty="0" err="1"/>
              <a:t>или</a:t>
            </a:r>
            <a:r>
              <a:rPr lang="en-US" dirty="0"/>
              <a:t> «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применяют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», а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к </a:t>
            </a:r>
            <a:r>
              <a:rPr lang="en-US" dirty="0" err="1"/>
              <a:t>текущим</a:t>
            </a:r>
            <a:r>
              <a:rPr lang="en-US" dirty="0"/>
              <a:t> </a:t>
            </a:r>
            <a:r>
              <a:rPr lang="en-US" dirty="0" err="1"/>
              <a:t>требованиям</a:t>
            </a:r>
            <a:r>
              <a:rPr lang="en-US" dirty="0"/>
              <a:t> и </a:t>
            </a:r>
            <a:r>
              <a:rPr lang="en-US" dirty="0" err="1"/>
              <a:t>ожидаемым</a:t>
            </a:r>
            <a:r>
              <a:rPr lang="en-US" dirty="0"/>
              <a:t> </a:t>
            </a:r>
            <a:r>
              <a:rPr lang="en-US" dirty="0" err="1"/>
              <a:t>изменениям</a:t>
            </a:r>
            <a:r>
              <a:rPr lang="en-US" dirty="0"/>
              <a:t>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</a:t>
            </a:r>
            <a:r>
              <a:rPr lang="en-US" dirty="0" err="1"/>
              <a:t>звучит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/>
              <a:t>«Я </a:t>
            </a:r>
            <a:r>
              <a:rPr lang="en-US" b="1" dirty="0" err="1"/>
              <a:t>знаю</a:t>
            </a:r>
            <a:r>
              <a:rPr lang="en-US" b="1" dirty="0"/>
              <a:t> Strategy, Observer, Command и </a:t>
            </a:r>
            <a:r>
              <a:rPr lang="en-US" b="1" dirty="0" err="1"/>
              <a:t>ещё</a:t>
            </a:r>
            <a:r>
              <a:rPr lang="en-US" b="1" dirty="0"/>
              <a:t> </a:t>
            </a:r>
            <a:r>
              <a:rPr lang="en-US" b="1" dirty="0" err="1"/>
              <a:t>двадцать</a:t>
            </a:r>
            <a:r>
              <a:rPr lang="en-US" b="1" dirty="0"/>
              <a:t> </a:t>
            </a:r>
            <a:r>
              <a:rPr lang="en-US" b="1" dirty="0" err="1"/>
              <a:t>паттернов</a:t>
            </a:r>
            <a:r>
              <a:rPr lang="en-US" b="1" dirty="0"/>
              <a:t>».</a:t>
            </a:r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так</a:t>
            </a:r>
            <a:r>
              <a:rPr lang="en-US" dirty="0"/>
              <a:t>:</a:t>
            </a:r>
          </a:p>
          <a:p>
            <a:r>
              <a:rPr lang="en-US" b="1" dirty="0"/>
              <a:t>«Я </a:t>
            </a:r>
            <a:r>
              <a:rPr lang="en-US" b="1" dirty="0" err="1"/>
              <a:t>вижу</a:t>
            </a:r>
            <a:r>
              <a:rPr lang="en-US" b="1" dirty="0"/>
              <a:t> </a:t>
            </a:r>
            <a:r>
              <a:rPr lang="en-US" b="1" dirty="0" err="1"/>
              <a:t>проблему</a:t>
            </a:r>
            <a:r>
              <a:rPr lang="en-US" b="1" dirty="0"/>
              <a:t> </a:t>
            </a:r>
            <a:r>
              <a:rPr lang="en-US" b="1" dirty="0" err="1"/>
              <a:t>проектирования</a:t>
            </a:r>
            <a:r>
              <a:rPr lang="en-US" b="1" dirty="0"/>
              <a:t>, </a:t>
            </a:r>
            <a:r>
              <a:rPr lang="en-US" b="1" dirty="0" err="1"/>
              <a:t>понимаю</a:t>
            </a:r>
            <a:r>
              <a:rPr lang="en-US" b="1" dirty="0"/>
              <a:t> </a:t>
            </a:r>
            <a:r>
              <a:rPr lang="en-US" b="1" dirty="0" err="1"/>
              <a:t>возможные</a:t>
            </a:r>
            <a:r>
              <a:rPr lang="en-US" b="1" dirty="0"/>
              <a:t> </a:t>
            </a:r>
            <a:r>
              <a:rPr lang="en-US" b="1" dirty="0" err="1"/>
              <a:t>варианты</a:t>
            </a:r>
            <a:r>
              <a:rPr lang="en-US" b="1" dirty="0"/>
              <a:t> и </a:t>
            </a:r>
            <a:r>
              <a:rPr lang="en-US" b="1" dirty="0" err="1"/>
              <a:t>могу</a:t>
            </a:r>
            <a:r>
              <a:rPr lang="en-US" b="1" dirty="0"/>
              <a:t> </a:t>
            </a:r>
            <a:r>
              <a:rPr lang="en-US" b="1" dirty="0" err="1"/>
              <a:t>обосновать</a:t>
            </a:r>
            <a:r>
              <a:rPr lang="en-US" b="1" dirty="0"/>
              <a:t> </a:t>
            </a:r>
            <a:r>
              <a:rPr lang="en-US" b="1" dirty="0" err="1"/>
              <a:t>принятое</a:t>
            </a:r>
            <a:r>
              <a:rPr lang="en-US" b="1" dirty="0"/>
              <a:t> </a:t>
            </a:r>
            <a:r>
              <a:rPr lang="en-US" b="1" dirty="0" err="1"/>
              <a:t>решение</a:t>
            </a:r>
            <a:r>
              <a:rPr lang="en-US" b="1" dirty="0"/>
              <a:t>».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87BF74-5358-4FD5-8FD6-AF80439C393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20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4A8F-FD28-E918-9787-E725D8FD3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966AF-7D31-005C-A7EB-8ADD0FD76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3986-5909-ED9E-8D47-8682A5FA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871C0-1FF7-9574-546F-FE806E0CE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87884-4374-52F2-057B-C892AB0E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9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06D0E-3608-93E1-DC5B-B889BA46B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D3AA3-EA08-32E6-3BF4-98109700E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36B71-B419-F046-9856-056FC379B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F0061-E3E0-B412-9615-E341D83A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2AE0F-CE7F-1C4A-3314-02232C0D6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82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9228D-419B-F8E6-C5C9-84DED1E8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C7F56-968E-84AE-CD25-E5E14E0F8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F87A-4250-6105-6393-429B508A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94867-E5D3-C291-C01B-D17911E7A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2BD11-2616-9640-28B5-D613F0F7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1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BD8F-2C55-DE11-797C-A6AA00C98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65DDE-762A-9A8D-0F71-7E542FF40F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7859D-5D9E-F3EC-B250-033FE272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A3DFB-E715-672E-BEAA-4553E0542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C556D-1304-310B-3D07-E06C3444B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464F0-EBD9-7A95-8743-3579F5190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5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BFF2-B297-7B0E-9C3B-2EB088BC5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33AFD-AD53-8871-3096-95B654E0E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3DF8A-6E31-456F-AC06-D1E3974B0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58AB21-E5F5-990C-B061-9108C6BAC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1CF36-96D3-2A3E-5B84-7568D531B7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C0019-AAB9-09E3-E172-E7261E29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EB0AE0-8E07-F7E0-E031-FADD7D292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02DC46-C02C-7FEF-6F30-BDCDA3C1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1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DF6B-9D8E-6599-5212-F84E20DC6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89A05-ACE0-15D0-FC9F-21A53C24A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FAC16C-226A-4BCD-0457-02C7E5D8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7CF1B-9C03-2006-E491-AA6472E2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7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50D9A0-30C6-911C-E0FD-B27AF617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1B9D62-A4EB-A637-B35F-231F0966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E6C944-BA97-7A2A-ACFD-88E16025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3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C59A6-2438-7FD5-4B53-8FF54055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2E1A1-9217-5307-B5F2-40AEC825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2CFEFB-9972-EEE7-B8F3-76C8E1A38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590FF-8998-BBFE-F18E-33E30064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C954B-21B5-260B-3D24-6A334443D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72FC6-CF14-B1E0-592A-1EF1094D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03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CEFED-6A8D-33D3-3E60-90B6698AA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ECE6E-1BFB-5435-4FB6-9DDCEF3AAB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09E23-05E6-CECE-9C6F-2640FE4E9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09C3C-807E-7317-A32E-1EF4547EB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CE71A-C909-1A12-0A08-069C11A8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49FDC-5FA0-4AAA-005F-9108219F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3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5E4D3-F61B-C23F-FDBD-1141666C7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1DCB68-D4AD-8F94-9000-D1FFE8153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C4F15-9221-AACC-06AC-AC15661E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B4D33-6A92-5272-868B-1E927C591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DE1E7-FB7F-96C3-6BA4-68C7E6E3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3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2A073-0387-E22C-DBF9-A134C6E7E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DD9DB-F4A2-A9A0-574C-CD9C7EE62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0D70E-92C0-5785-11E3-4BEAE1ACF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A8D23-6652-484F-D7AE-2C53B920C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9FF06-3800-C22F-E1AC-80146228F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0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85AD9-53B7-B52E-770A-B74A95417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57572-4E2A-1D1F-5719-E4A64B584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59960-C1C2-37AE-A30F-9C25CC2C7A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1408ED-71D4-47B9-89E4-A75ACFF34BB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1183-7645-489F-5FE3-3C4256EF1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92A36-37F6-E10B-A478-FEC77B94B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6BFDA-613E-4075-A11E-5E970CFFB2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68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customXml" Target="../ink/ink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hyperlink" Target="https://youtu.be/fG6ctBy_G5A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131FD-6681-6603-E170-9231BFCAD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Объектно-ориентированное проектирование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958EE-EC01-F664-CD18-5D525707CD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48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538F97-52DC-118D-F5F6-F32DCC8A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 отдельного класса к системе объектов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2CF6E8-FCED-1C93-93A9-51A70A5F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Вы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умеете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ru-RU" dirty="0"/>
              <a:t> и использовать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</a:t>
            </a:r>
            <a:r>
              <a:rPr lang="en-US" dirty="0" err="1"/>
              <a:t>нкапсуляци</a:t>
            </a:r>
            <a:r>
              <a:rPr lang="ru-RU" dirty="0"/>
              <a:t>ю</a:t>
            </a:r>
            <a:r>
              <a:rPr lang="en-US" dirty="0"/>
              <a:t> и </a:t>
            </a:r>
            <a:r>
              <a:rPr lang="en-US" dirty="0" err="1"/>
              <a:t>инварианты</a:t>
            </a:r>
            <a:r>
              <a:rPr lang="ru-RU" dirty="0"/>
              <a:t> классов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композици</a:t>
            </a:r>
            <a:r>
              <a:rPr lang="ru-RU" dirty="0"/>
              <a:t>ю</a:t>
            </a:r>
            <a:r>
              <a:rPr lang="en-US" dirty="0"/>
              <a:t> и </a:t>
            </a:r>
            <a:r>
              <a:rPr lang="en-US" dirty="0" err="1"/>
              <a:t>наследование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полиморфизм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исключения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шаблоны</a:t>
            </a:r>
            <a:r>
              <a:rPr lang="en-US" dirty="0"/>
              <a:t> и </a:t>
            </a:r>
            <a:r>
              <a:rPr lang="en-US" dirty="0" err="1"/>
              <a:t>обобщённый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  <a:p>
            <a:r>
              <a:rPr lang="ru-RU" dirty="0"/>
              <a:t>Р</a:t>
            </a:r>
            <a:r>
              <a:rPr lang="en-US" dirty="0" err="1"/>
              <a:t>еальная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взаимодействующих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.</a:t>
            </a:r>
            <a:endParaRPr lang="ru-RU" dirty="0"/>
          </a:p>
          <a:p>
            <a:pPr lvl="1"/>
            <a:r>
              <a:rPr lang="ru-RU" dirty="0"/>
              <a:t>К</a:t>
            </a:r>
            <a:r>
              <a:rPr lang="en-US" dirty="0" err="1"/>
              <a:t>ак</a:t>
            </a:r>
            <a:r>
              <a:rPr lang="en-US" dirty="0"/>
              <a:t> </a:t>
            </a:r>
            <a:r>
              <a:rPr lang="ru-RU" dirty="0"/>
              <a:t>сделать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развивать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меняются</a:t>
            </a:r>
            <a:r>
              <a:rPr lang="en-US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445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FDC63-9A59-EE10-C5AB-B792C328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Хорошие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означают</a:t>
            </a:r>
            <a:r>
              <a:rPr lang="en-US" dirty="0"/>
              <a:t>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87C47-A5D3-B861-D423-6FFD318CF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спроектированных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плохой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?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классов</a:t>
            </a:r>
            <a:r>
              <a:rPr lang="en-US" dirty="0"/>
              <a:t>, а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22B5D0-FC81-50B6-1960-0CA319DEA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063" y="3698361"/>
            <a:ext cx="9139844" cy="247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3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34D4-F636-0113-5E22-80462493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Меняется масштаб задачи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71DB57-2419-73EE-22F5-169CA5465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Курс «Объектно-ориентированное программирование»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F4C38-BF0A-67A3-E388-FC2BDA9665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Как устроить объект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Какое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ru-RU" dirty="0"/>
              <a:t>Какие инварианты защищать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Каким должен быть интерфейс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полиморфизм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/>
              <a:t>OOP</a:t>
            </a:r>
            <a:r>
              <a:rPr lang="ru-RU" dirty="0"/>
              <a:t> даёт нам строительные блоки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F4D863-073E-D6D5-D0F8-72CEBA453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Курс «Объектно-ориентированное проектирование»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4A73DC1-1AD9-E76D-1BA1-18B7D2CF317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устроить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  <a:endParaRPr lang="ru-RU" dirty="0"/>
          </a:p>
          <a:p>
            <a:pPr lvl="1"/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 </a:t>
            </a:r>
            <a:r>
              <a:rPr lang="en-US" dirty="0" err="1"/>
              <a:t>вызовет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/>
              <a:t>OOD </a:t>
            </a:r>
            <a:r>
              <a:rPr lang="ru-RU" dirty="0"/>
              <a:t>учит организовывать из них изменяемые системы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28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4F30-D426-CC5F-BF2A-E6C17B61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изменения влияют на архитектуру</a:t>
            </a:r>
            <a:r>
              <a:rPr lang="en-US" dirty="0"/>
              <a:t>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2CCB9DA-5A7F-2117-D54F-809A0A2B87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79500"/>
            <a:ext cx="10515600" cy="424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8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DDF4BA-C8B3-F225-76E9-9EB821B8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ru-RU" dirty="0"/>
              <a:t>увидеть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E729C0-AA83-36E8-0FD1-BD926D131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05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426B44FF-5B72-5B46-0F6C-113BF43F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. </a:t>
            </a:r>
            <a:r>
              <a:rPr lang="en-US" dirty="0" err="1"/>
              <a:t>Архитектуру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4CB35C-7966-7298-CF47-B7DDD41D9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5536" y="2664227"/>
            <a:ext cx="5038263" cy="265591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161F578-735E-8757-C2F8-0689584EAB29}"/>
              </a:ext>
            </a:extLst>
          </p:cNvPr>
          <p:cNvSpPr txBox="1"/>
          <p:nvPr/>
        </p:nvSpPr>
        <p:spPr>
          <a:xfrm>
            <a:off x="838201" y="2628781"/>
            <a:ext cx="52578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AddShape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A4D2B8-3F13-7728-F268-78DD3845092C}"/>
              </a:ext>
            </a:extLst>
          </p:cNvPr>
          <p:cNvSpPr txBox="1"/>
          <p:nvPr/>
        </p:nvSpPr>
        <p:spPr>
          <a:xfrm>
            <a:off x="838200" y="5494734"/>
            <a:ext cx="775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Чтобы</a:t>
            </a:r>
            <a:r>
              <a:rPr lang="en-US" b="1" dirty="0"/>
              <a:t> </a:t>
            </a:r>
            <a:r>
              <a:rPr lang="en-US" b="1" dirty="0" err="1"/>
              <a:t>рассуждать</a:t>
            </a:r>
            <a:r>
              <a:rPr lang="en-US" b="1" dirty="0"/>
              <a:t> о </a:t>
            </a:r>
            <a:r>
              <a:rPr lang="en-US" b="1" dirty="0" err="1"/>
              <a:t>системе</a:t>
            </a:r>
            <a:r>
              <a:rPr lang="en-US" b="1" dirty="0"/>
              <a:t>,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строим</a:t>
            </a:r>
            <a:r>
              <a:rPr lang="en-US" b="1" dirty="0"/>
              <a:t> </a:t>
            </a:r>
            <a:r>
              <a:rPr lang="en-US" b="1" dirty="0" err="1"/>
              <a:t>её</a:t>
            </a:r>
            <a:r>
              <a:rPr lang="en-US" b="1" dirty="0"/>
              <a:t> </a:t>
            </a:r>
            <a:r>
              <a:rPr lang="en-US" b="1" dirty="0" err="1"/>
              <a:t>упрощённые</a:t>
            </a:r>
            <a:r>
              <a:rPr lang="en-US" b="1" dirty="0"/>
              <a:t> </a:t>
            </a:r>
            <a:r>
              <a:rPr lang="en-US" b="1" dirty="0" err="1"/>
              <a:t>модели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325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AF84-F87F-EFE8-8822-17A5DB805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noProof="0" dirty="0"/>
              <a:t>Статический взгляд: из каких частей состоит система?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555A-E7CF-DE56-AD06-21F41F5C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059786"/>
          </a:xfrm>
        </p:spPr>
        <p:txBody>
          <a:bodyPr>
            <a:normAutofit lnSpcReduction="10000"/>
          </a:bodyPr>
          <a:lstStyle/>
          <a:p>
            <a:r>
              <a:rPr lang="ru-RU" noProof="0" dirty="0"/>
              <a:t>Диаграмма классов помогает ответить на вопросы:</a:t>
            </a:r>
          </a:p>
          <a:p>
            <a:pPr lvl="1"/>
            <a:r>
              <a:rPr lang="ru-RU" noProof="0" dirty="0"/>
              <a:t>Какие типы есть в системе?</a:t>
            </a:r>
          </a:p>
          <a:p>
            <a:pPr lvl="1"/>
            <a:r>
              <a:rPr lang="ru-RU" noProof="0" dirty="0"/>
              <a:t>Какие отношения между ними?</a:t>
            </a:r>
          </a:p>
          <a:p>
            <a:pPr lvl="1"/>
            <a:r>
              <a:rPr lang="ru-RU" noProof="0" dirty="0"/>
              <a:t>Кто кого содержит?</a:t>
            </a:r>
          </a:p>
          <a:p>
            <a:pPr lvl="1"/>
            <a:r>
              <a:rPr lang="ru-RU" noProof="0" dirty="0"/>
              <a:t>Кто от кого зависит?</a:t>
            </a:r>
          </a:p>
          <a:p>
            <a:pPr lvl="1"/>
            <a:r>
              <a:rPr lang="ru-RU" noProof="0" dirty="0"/>
              <a:t>Где используются наследование и композиция?</a:t>
            </a:r>
          </a:p>
          <a:p>
            <a:r>
              <a:rPr lang="ru-RU" noProof="0" dirty="0"/>
              <a:t>Диаграмма классов показывает статическую структуру программы.</a:t>
            </a:r>
          </a:p>
          <a:p>
            <a:endParaRPr lang="ru-RU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F029A6-7EA8-1782-98FD-62E1A3E91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1785" y="1825625"/>
            <a:ext cx="4959140" cy="264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4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0C14-DA7E-C58A-2B03-68F0E053F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0" dirty="0"/>
              <a:t>Динамический взгляд: как объекты работают вместе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4C548B9-75B7-11B1-CB84-A7F70E109D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878390" cy="4351338"/>
          </a:xfrm>
        </p:spPr>
        <p:txBody>
          <a:bodyPr>
            <a:normAutofit/>
          </a:bodyPr>
          <a:lstStyle/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ответить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инициирует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в </a:t>
            </a:r>
            <a:r>
              <a:rPr lang="en-US" dirty="0" err="1"/>
              <a:t>ней</a:t>
            </a:r>
            <a:r>
              <a:rPr lang="en-US" dirty="0"/>
              <a:t> </a:t>
            </a:r>
            <a:r>
              <a:rPr lang="en-US" dirty="0" err="1"/>
              <a:t>участвуют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взаимодействуют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передаёт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?</a:t>
            </a:r>
          </a:p>
          <a:p>
            <a:r>
              <a:rPr lang="en-US" dirty="0" err="1"/>
              <a:t>Диаграмма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endParaRPr lang="en-US" dirty="0"/>
          </a:p>
          <a:p>
            <a:endParaRPr lang="en-US" dirty="0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B90F9C4E-8C7F-A201-901E-475072199E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16590" y="1825626"/>
            <a:ext cx="5212233" cy="278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6CE1-9D0D-085A-6B80-F151132BD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выбирают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233BD9-72A4-E473-BB4E-AE88BDD0D5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52151723"/>
              </p:ext>
            </p:extLst>
          </p:nvPr>
        </p:nvGraphicFramePr>
        <p:xfrm>
          <a:off x="838200" y="1825625"/>
          <a:ext cx="10515600" cy="2846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6062">
                  <a:extLst>
                    <a:ext uri="{9D8B030D-6E8A-4147-A177-3AD203B41FA5}">
                      <a16:colId xmlns:a16="http://schemas.microsoft.com/office/drawing/2014/main" val="3306993411"/>
                    </a:ext>
                  </a:extLst>
                </a:gridCol>
                <a:gridCol w="6349538">
                  <a:extLst>
                    <a:ext uri="{9D8B030D-6E8A-4147-A177-3AD203B41FA5}">
                      <a16:colId xmlns:a16="http://schemas.microsoft.com/office/drawing/2014/main" val="3656417935"/>
                    </a:ext>
                  </a:extLst>
                </a:gridCol>
              </a:tblGrid>
              <a:tr h="474355">
                <a:tc>
                  <a:txBody>
                    <a:bodyPr/>
                    <a:lstStyle/>
                    <a:p>
                      <a:r>
                        <a:rPr lang="ru-RU" dirty="0"/>
                        <a:t>Что нас интересует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Какое представление выбрать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105176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Какие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типы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существуют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классов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148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Как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связаны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конкретные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объекты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объектов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000837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зависит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зависимостей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05529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Как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выполняется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сценарий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последовательности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69893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r>
                        <a:rPr lang="en-US" dirty="0" err="1"/>
                        <a:t>Что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изменилось</a:t>
                      </a:r>
                      <a:r>
                        <a:rPr lang="en-US" dirty="0"/>
                        <a:t> в </a:t>
                      </a:r>
                      <a:r>
                        <a:rPr lang="en-US" dirty="0" err="1"/>
                        <a:t>архитектуре</a:t>
                      </a:r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Диаграммы</a:t>
                      </a:r>
                      <a:r>
                        <a:rPr lang="en-US" dirty="0"/>
                        <a:t> «</a:t>
                      </a:r>
                      <a:r>
                        <a:rPr lang="en-US" dirty="0" err="1"/>
                        <a:t>до</a:t>
                      </a:r>
                      <a:r>
                        <a:rPr lang="en-US" dirty="0"/>
                        <a:t>» и «</a:t>
                      </a:r>
                      <a:r>
                        <a:rPr lang="en-US" dirty="0" err="1"/>
                        <a:t>после</a:t>
                      </a:r>
                      <a:r>
                        <a:rPr lang="en-US"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375115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8C33DB-7411-C896-72FF-68F660A43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4806691"/>
            <a:ext cx="10515600" cy="1370271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рисуйте</a:t>
            </a:r>
            <a:r>
              <a:rPr lang="en-US" b="1" dirty="0"/>
              <a:t> </a:t>
            </a:r>
            <a:r>
              <a:rPr lang="en-US" b="1" dirty="0" err="1"/>
              <a:t>диаграмму</a:t>
            </a:r>
            <a:r>
              <a:rPr lang="en-US" b="1" dirty="0"/>
              <a:t> </a:t>
            </a:r>
            <a:r>
              <a:rPr lang="en-US" b="1" dirty="0" err="1"/>
              <a:t>ради</a:t>
            </a:r>
            <a:r>
              <a:rPr lang="en-US" b="1" dirty="0"/>
              <a:t> </a:t>
            </a:r>
            <a:r>
              <a:rPr lang="en-US" b="1" dirty="0" err="1"/>
              <a:t>диаграммы</a:t>
            </a:r>
            <a:r>
              <a:rPr lang="en-US" b="1" dirty="0"/>
              <a:t>.</a:t>
            </a:r>
            <a:br>
              <a:rPr lang="en-US" b="1" dirty="0"/>
            </a:br>
            <a:r>
              <a:rPr lang="en-US" b="1" dirty="0" err="1"/>
              <a:t>Сначала</a:t>
            </a:r>
            <a:r>
              <a:rPr lang="en-US" b="1" dirty="0"/>
              <a:t> </a:t>
            </a:r>
            <a:r>
              <a:rPr lang="en-US" b="1" dirty="0" err="1"/>
              <a:t>сформулируйте</a:t>
            </a:r>
            <a:r>
              <a:rPr lang="en-US" b="1" dirty="0"/>
              <a:t> </a:t>
            </a:r>
            <a:r>
              <a:rPr lang="en-US" b="1" dirty="0" err="1"/>
              <a:t>вопрос</a:t>
            </a:r>
            <a:r>
              <a:rPr lang="en-US" b="1" dirty="0"/>
              <a:t>,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который</a:t>
            </a:r>
            <a:r>
              <a:rPr lang="en-US" b="1" dirty="0"/>
              <a:t> </a:t>
            </a:r>
            <a:r>
              <a:rPr lang="en-US" b="1" dirty="0" err="1"/>
              <a:t>она</a:t>
            </a:r>
            <a:r>
              <a:rPr lang="en-US" b="1" dirty="0"/>
              <a:t> </a:t>
            </a:r>
            <a:r>
              <a:rPr lang="en-US" b="1" dirty="0" err="1"/>
              <a:t>должна</a:t>
            </a:r>
            <a:r>
              <a:rPr lang="en-US" b="1" dirty="0"/>
              <a:t> </a:t>
            </a:r>
            <a:r>
              <a:rPr lang="en-US" b="1" dirty="0" err="1"/>
              <a:t>ответить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115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3D183-BEF1-91BB-A13A-EED4827E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редактор 1.0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20B7B-AC0E-CD02-1E8D-CCD202530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240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34DD40-12A7-4F1E-A9D5-A598D29A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Графический редактор версии 1.0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081E06-38DB-4872-57F3-086F1B1D04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разработать</a:t>
            </a:r>
            <a:r>
              <a:rPr lang="en-US" dirty="0"/>
              <a:t> </a:t>
            </a:r>
            <a:r>
              <a:rPr lang="en-US" dirty="0" err="1"/>
              <a:t>небольшую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графического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.</a:t>
            </a:r>
          </a:p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прямоугольники</a:t>
            </a:r>
            <a:r>
              <a:rPr lang="en-US" dirty="0"/>
              <a:t> и </a:t>
            </a:r>
            <a:r>
              <a:rPr lang="en-US" dirty="0" err="1"/>
              <a:t>эллипсы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7AD6065-C6DA-3076-7444-A769BC9088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27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9D837-A42C-613E-AC35-2BCB6303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Фигуры имеют общий интерфейс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26B1C-9FD7-1A2C-3B5B-1650426A446D}"/>
              </a:ext>
            </a:extLst>
          </p:cNvPr>
          <p:cNvSpPr txBox="1"/>
          <p:nvPr/>
        </p:nvSpPr>
        <p:spPr>
          <a:xfrm>
            <a:off x="399011" y="1690689"/>
            <a:ext cx="611816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... */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16" name="Content Placeholder 10">
            <a:extLst>
              <a:ext uri="{FF2B5EF4-FFF2-40B4-BE49-F238E27FC236}">
                <a16:creationId xmlns:a16="http://schemas.microsoft.com/office/drawing/2014/main" id="{F2F302E3-5067-A29E-ECD0-5EE547554B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21941" y="3269295"/>
            <a:ext cx="6687426" cy="322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144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4FBD7-1FE4-52A2-CD63-D594B2B55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с </a:t>
            </a:r>
            <a:r>
              <a:rPr lang="en-US" dirty="0" err="1"/>
              <a:t>фигурами</a:t>
            </a:r>
            <a:r>
              <a:rPr lang="en-US" dirty="0"/>
              <a:t> </a:t>
            </a:r>
            <a:r>
              <a:rPr lang="en-US" dirty="0" err="1"/>
              <a:t>полиморфно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110DD-0FF4-CBDF-F787-6B05DD7C3EB3}"/>
              </a:ext>
            </a:extLst>
          </p:cNvPr>
          <p:cNvSpPr txBox="1"/>
          <p:nvPr/>
        </p:nvSpPr>
        <p:spPr>
          <a:xfrm>
            <a:off x="838200" y="1929390"/>
            <a:ext cx="5977876" cy="2857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Drawing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&gt;&gt;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m_shapes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261024-445B-9929-C159-480FA3D26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6076" y="2104510"/>
            <a:ext cx="4324103" cy="21620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64285-B687-DA0A-4FA2-A30016C06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16076" y="4841855"/>
            <a:ext cx="4195849" cy="178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02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014E3-A42E-2053-C767-A46D79655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Хорошо ли спроектирована эта система</a:t>
            </a:r>
            <a:r>
              <a:rPr lang="en-US" dirty="0"/>
              <a:t>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73B03B-2AAC-79C9-E927-647D6265A2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028113" cy="4351338"/>
          </a:xfrm>
        </p:spPr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текущих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 —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возможно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.</a:t>
            </a:r>
          </a:p>
          <a:p>
            <a:r>
              <a:rPr lang="en-US" dirty="0" err="1"/>
              <a:t>Качество</a:t>
            </a:r>
            <a:r>
              <a:rPr lang="en-US" dirty="0"/>
              <a:t> </a:t>
            </a:r>
            <a:r>
              <a:rPr lang="ru-RU" dirty="0"/>
              <a:t>архитектуры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</a:t>
            </a:r>
            <a:r>
              <a:rPr lang="en-US" dirty="0" err="1"/>
              <a:t>проверять</a:t>
            </a:r>
            <a:r>
              <a:rPr lang="en-US" dirty="0"/>
              <a:t> </a:t>
            </a:r>
            <a:r>
              <a:rPr lang="en-US" dirty="0" err="1"/>
              <a:t>изменением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r>
              <a:rPr lang="en-US" dirty="0"/>
              <a:t>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852EBFA-AA97-EDF7-964D-D666BEB4CB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5080" y="1825625"/>
            <a:ext cx="51816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89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527A-EC6C-8296-E277-BBAA09C3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723C8-36D4-BB88-9FB5-A42366205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Первое изменение – новая фигура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46FD9-D647-7067-7184-E35157F6C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218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54F2CC-9017-1729-5AF0-C5157932F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треугольник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206D8F8-5283-F07E-BC53-5DFECF50A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011160" cy="4351338"/>
          </a:xfrm>
        </p:spPr>
        <p:txBody>
          <a:bodyPr>
            <a:normAutofit/>
          </a:bodyPr>
          <a:lstStyle/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поддерживать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вид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ru-RU" dirty="0"/>
              <a:t> «Треугольник»</a:t>
            </a:r>
          </a:p>
          <a:p>
            <a:r>
              <a:rPr lang="ru-RU" dirty="0"/>
              <a:t>Какие части программы нужно изменить</a:t>
            </a:r>
            <a:r>
              <a:rPr lang="en-US" dirty="0"/>
              <a:t>?</a:t>
            </a:r>
          </a:p>
          <a:p>
            <a:pPr marL="628650" lvl="1" indent="-171450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ru-RU" dirty="0"/>
              <a:t>класс </a:t>
            </a:r>
            <a:r>
              <a:rPr lang="en-US" dirty="0"/>
              <a:t>Drawing?</a:t>
            </a:r>
          </a:p>
          <a:p>
            <a:pPr marL="628650" lvl="1" indent="-171450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существующие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?</a:t>
            </a:r>
          </a:p>
          <a:p>
            <a:pPr marL="628650" lvl="1" indent="-171450"/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отображает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?</a:t>
            </a:r>
          </a:p>
          <a:p>
            <a:pPr lvl="1"/>
            <a:endParaRPr lang="en-US" dirty="0"/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A7469591-E8D8-6BBE-0176-DB29D25FDB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49360" y="2058194"/>
            <a:ext cx="4504440" cy="337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66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C3D1-7D58-5D7C-5EE6-A6EDCA5E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Добавляем</a:t>
            </a:r>
            <a:r>
              <a:rPr lang="en-US" dirty="0"/>
              <a:t> Triangle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E9516-D8DE-8B5D-ED5C-D9A88B1110AE}"/>
              </a:ext>
            </a:extLst>
          </p:cNvPr>
          <p:cNvSpPr txBox="1"/>
          <p:nvPr/>
        </p:nvSpPr>
        <p:spPr>
          <a:xfrm>
            <a:off x="339436" y="1905989"/>
            <a:ext cx="57565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m_p1;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m_p2;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m_p3;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87A4F3-2AD7-7DA0-9D02-88EF385F0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777" y="3308465"/>
            <a:ext cx="7089020" cy="30644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DFE7EB6-7455-877B-1B0B-F15FCD22E9CB}"/>
                  </a:ext>
                </a:extLst>
              </p14:cNvPr>
              <p14:cNvContentPartPr/>
              <p14:nvPr/>
            </p14:nvContentPartPr>
            <p14:xfrm>
              <a:off x="7625880" y="4568400"/>
              <a:ext cx="272160" cy="181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DFE7EB6-7455-877B-1B0B-F15FCD22E9C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16520" y="4559040"/>
                <a:ext cx="290880" cy="20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6496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64C1C-7C0B-129C-7ACC-5D916FDD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Изменение осталось локальным</a:t>
            </a:r>
            <a:endParaRPr lang="en-US" dirty="0"/>
          </a:p>
        </p:txBody>
      </p:sp>
      <p:pic>
        <p:nvPicPr>
          <p:cNvPr id="3" name="Content Placeholder 8">
            <a:extLst>
              <a:ext uri="{FF2B5EF4-FFF2-40B4-BE49-F238E27FC236}">
                <a16:creationId xmlns:a16="http://schemas.microsoft.com/office/drawing/2014/main" id="{E7B384AB-73F8-EAA8-E3DD-77E37560E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2721" y="2204334"/>
            <a:ext cx="4898664" cy="24493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642B22-6940-B812-E45E-E009525BA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197" y="2204334"/>
            <a:ext cx="5666018" cy="2449332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76E5D26E-5360-AD91-CCB9-7BF103AE10D6}"/>
              </a:ext>
            </a:extLst>
          </p:cNvPr>
          <p:cNvSpPr/>
          <p:nvPr/>
        </p:nvSpPr>
        <p:spPr>
          <a:xfrm>
            <a:off x="5669280" y="2693324"/>
            <a:ext cx="1296785" cy="101415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8FEEB-9CBD-654C-182E-3D435A8B1C14}"/>
              </a:ext>
            </a:extLst>
          </p:cNvPr>
          <p:cNvSpPr txBox="1"/>
          <p:nvPr/>
        </p:nvSpPr>
        <p:spPr>
          <a:xfrm>
            <a:off x="980902" y="5120640"/>
            <a:ext cx="8977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Текущая архитектура хорошо поддерживает добавление новых видов фигур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0438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B97D-06C7-5E69-027A-AD90DA7FF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Второе изменение: новый способ вывода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5A035-DE4D-D995-623A-6AE6470BC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122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72F60C-536D-0E0F-203C-BA55FD47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экспорт</a:t>
            </a:r>
            <a:r>
              <a:rPr lang="en-US" dirty="0"/>
              <a:t> в SVG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9C3F30-E660-5252-00A9-1578CA6C67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умел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Нужно добавить экспорт в формате </a:t>
            </a:r>
            <a:r>
              <a:rPr lang="en-US" dirty="0"/>
              <a:t>SVG</a:t>
            </a:r>
          </a:p>
          <a:p>
            <a:r>
              <a:rPr lang="ru-RU" dirty="0"/>
              <a:t>Фигуры остались прежними</a:t>
            </a:r>
          </a:p>
          <a:p>
            <a:r>
              <a:rPr lang="ru-RU" dirty="0"/>
              <a:t>Что придётся изменить в программе</a:t>
            </a:r>
            <a:r>
              <a:rPr lang="en-US" dirty="0"/>
              <a:t>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A268904-0B77-794A-28C9-18EB9B7067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58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D459-9AF5-987F-3B33-E07C0EE8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очевидное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00108-DB01-F04C-E894-D7732FE6C391}"/>
              </a:ext>
            </a:extLst>
          </p:cNvPr>
          <p:cNvSpPr txBox="1"/>
          <p:nvPr/>
        </p:nvSpPr>
        <p:spPr>
          <a:xfrm>
            <a:off x="909551" y="1690688"/>
            <a:ext cx="1037289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3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virtual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13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Triangle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Ellipse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3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ExportToSvg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(std::</a:t>
            </a:r>
            <a:r>
              <a:rPr lang="en-US" sz="13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ostream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3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output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3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override</a:t>
            </a:r>
            <a:r>
              <a:rPr lang="en-US" sz="13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51160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D06D4-D518-DD30-2E4C-65F57DCDA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далеко</a:t>
            </a:r>
            <a:r>
              <a:rPr lang="en-US" dirty="0"/>
              <a:t> </a:t>
            </a:r>
            <a:r>
              <a:rPr lang="en-US" dirty="0" err="1"/>
              <a:t>распространилось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28E8F-ACFA-07CD-D07B-C3E76C3C00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Поддержка </a:t>
            </a:r>
            <a:r>
              <a:rPr lang="en-US" dirty="0"/>
              <a:t>SVG</a:t>
            </a:r>
            <a:r>
              <a:rPr lang="ru-RU" dirty="0"/>
              <a:t> потребовало изменить </a:t>
            </a:r>
            <a:r>
              <a:rPr lang="en-US" dirty="0" err="1"/>
              <a:t>IShape</a:t>
            </a:r>
            <a:r>
              <a:rPr lang="ru-RU" dirty="0"/>
              <a:t>, </a:t>
            </a:r>
            <a:r>
              <a:rPr lang="en-US" dirty="0"/>
              <a:t>Rectangle</a:t>
            </a:r>
            <a:r>
              <a:rPr lang="ru-RU" dirty="0"/>
              <a:t>, </a:t>
            </a:r>
            <a:r>
              <a:rPr lang="en-US" dirty="0"/>
              <a:t>Ellipse</a:t>
            </a:r>
            <a:r>
              <a:rPr lang="ru-RU" dirty="0"/>
              <a:t>, </a:t>
            </a:r>
            <a:r>
              <a:rPr lang="en-US" dirty="0"/>
              <a:t>Triangle</a:t>
            </a:r>
          </a:p>
          <a:p>
            <a:pPr lvl="1"/>
            <a:r>
              <a:rPr lang="ru-RU" dirty="0"/>
              <a:t>При этом ни одной новой фигуры не добавилось</a:t>
            </a:r>
          </a:p>
          <a:p>
            <a:r>
              <a:rPr lang="ru-RU" dirty="0"/>
              <a:t>Сравним:</a:t>
            </a:r>
          </a:p>
          <a:p>
            <a:pPr lvl="1"/>
            <a:r>
              <a:rPr lang="ru-RU" dirty="0"/>
              <a:t>Для поддержки треугольников</a:t>
            </a:r>
            <a:r>
              <a:rPr lang="en-US" dirty="0"/>
              <a:t> </a:t>
            </a:r>
            <a:r>
              <a:rPr lang="ru-RU" dirty="0"/>
              <a:t>добавился один класс </a:t>
            </a:r>
            <a:r>
              <a:rPr lang="en-US" dirty="0"/>
              <a:t>Triangle</a:t>
            </a:r>
            <a:endParaRPr lang="ru-RU" dirty="0"/>
          </a:p>
          <a:p>
            <a:pPr lvl="1"/>
            <a:r>
              <a:rPr lang="ru-RU" dirty="0"/>
              <a:t>Для поддержки </a:t>
            </a:r>
            <a:r>
              <a:rPr lang="en-US" dirty="0"/>
              <a:t>SVG </a:t>
            </a:r>
            <a:r>
              <a:rPr lang="ru-RU" dirty="0"/>
              <a:t>изменилась вся иерархия фигур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6FFDD4-8368-F3A3-8F90-8A10EF2C52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2200" y="3056458"/>
            <a:ext cx="5181600" cy="188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86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F431-1987-8575-5A25-02599ACD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затрагивают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AC7239-7C2B-E4AD-B065-1EF1CCEC3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меняется набор фигур, изменение локально</a:t>
            </a:r>
          </a:p>
          <a:p>
            <a:r>
              <a:rPr lang="ru-RU" dirty="0"/>
              <a:t>Когда меняется способ вывода, изменяются все фигуры</a:t>
            </a:r>
          </a:p>
          <a:p>
            <a:r>
              <a:rPr lang="ru-RU" dirty="0"/>
              <a:t>Архитектура, которая хорошо поддерживает одни изменения, может плохо поддерживать другие</a:t>
            </a:r>
          </a:p>
          <a:p>
            <a:r>
              <a:rPr lang="ru-RU" dirty="0"/>
              <a:t>Что произойдёт, когда способов станет больше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56582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0ECE-9664-8492-05A8-1DCDCDF1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Добавить </a:t>
            </a:r>
            <a:r>
              <a:rPr lang="en-US" dirty="0"/>
              <a:t>PDF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1B780-3F88-2935-092F-FACB0596A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9995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4D2BF88-6A2F-2761-AA02-939E6F4B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экспорт</a:t>
            </a:r>
            <a:r>
              <a:rPr lang="en-US" dirty="0"/>
              <a:t> в PDF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15FFC9-77E9-EA0F-B804-6D0541323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умеет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отображать</a:t>
            </a:r>
            <a:r>
              <a:rPr lang="en-US" dirty="0"/>
              <a:t> </a:t>
            </a:r>
            <a:r>
              <a:rPr lang="en-US" dirty="0" err="1"/>
              <a:t>рисунок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экране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экспортировать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SVG.</a:t>
            </a:r>
          </a:p>
          <a:p>
            <a:r>
              <a:rPr lang="ru-RU" dirty="0"/>
              <a:t>Нужно добавить </a:t>
            </a:r>
            <a:r>
              <a:rPr lang="en-US" dirty="0" err="1"/>
              <a:t>экспорт</a:t>
            </a:r>
            <a:r>
              <a:rPr lang="en-US" dirty="0"/>
              <a:t> в PDF</a:t>
            </a:r>
            <a:endParaRPr lang="ru-RU" dirty="0"/>
          </a:p>
          <a:p>
            <a:r>
              <a:rPr lang="ru-RU" dirty="0"/>
              <a:t>Какие изменения для этого потребуются</a:t>
            </a:r>
            <a:r>
              <a:rPr lang="en-US" dirty="0"/>
              <a:t>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F024CFB-05E0-1379-E10B-898FBA8DA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4342" y="1825625"/>
            <a:ext cx="5479550" cy="410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408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1A967-25A9-E18E-C52A-B7F5C7C9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Следуем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выбранному</a:t>
            </a:r>
            <a:r>
              <a:rPr lang="en-US" dirty="0"/>
              <a:t> </a:t>
            </a:r>
            <a:r>
              <a:rPr lang="en-US" dirty="0" err="1"/>
              <a:t>решению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EA8AA5C-64EB-EA5C-245F-40D696528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8910603"/>
              </p:ext>
            </p:extLst>
          </p:nvPr>
        </p:nvGraphicFramePr>
        <p:xfrm>
          <a:off x="838200" y="4053436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56830930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217321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496654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35271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59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302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38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2058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EFD434E-2EEC-479A-0048-A4BAA34D73A4}"/>
              </a:ext>
            </a:extLst>
          </p:cNvPr>
          <p:cNvSpPr txBox="1"/>
          <p:nvPr/>
        </p:nvSpPr>
        <p:spPr>
          <a:xfrm>
            <a:off x="698269" y="1866322"/>
            <a:ext cx="6251171" cy="1781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GraphicsContext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graphics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ExportToSvg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ostream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virtual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ExportToPdf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PdfDocument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document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770744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70EDD-1FB4-EF17-0C1C-79E2BD68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Повторяется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сценарий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EBE71-2BC0-8AB1-F11E-92F9A861B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noProof="0" dirty="0"/>
              <a:t>Добавление нового формата приводит к изменению во всех фигурах</a:t>
            </a:r>
          </a:p>
          <a:p>
            <a:r>
              <a:rPr lang="ru-RU" noProof="0" dirty="0"/>
              <a:t>Чем больше фигур, тем дороже добавление нового формата.</a:t>
            </a:r>
            <a:endParaRPr lang="en-US" noProof="0" dirty="0"/>
          </a:p>
          <a:p>
            <a:pPr lvl="1"/>
            <a:r>
              <a:rPr lang="ru-RU" dirty="0"/>
              <a:t>Сегодня: 3 вида фигур × 3 способа вывода</a:t>
            </a:r>
          </a:p>
          <a:p>
            <a:pPr lvl="1"/>
            <a:r>
              <a:rPr lang="ru-RU" dirty="0"/>
              <a:t>Завтра: </a:t>
            </a:r>
            <a:r>
              <a:rPr lang="ru-RU" b="1" dirty="0"/>
              <a:t>10 видов фигур × 5 способов вывода</a:t>
            </a:r>
            <a:endParaRPr lang="ru-RU" b="1" noProof="0" dirty="0"/>
          </a:p>
          <a:p>
            <a:endParaRPr lang="ru-RU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6D4EC5-BD2F-94BD-DCED-02ED05F65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2582" y="4040619"/>
            <a:ext cx="7504314" cy="270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773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A440-E874-0E8B-8D6E-42026C89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в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4F42-EE7A-1226-12D0-8089A8FB5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Виды фигур и способы их вывода могут меняться независимо</a:t>
            </a:r>
            <a:endParaRPr lang="en-US" dirty="0"/>
          </a:p>
          <a:p>
            <a:pPr lvl="1"/>
            <a:r>
              <a:rPr lang="ru-RU" dirty="0"/>
              <a:t>Виды фигур: </a:t>
            </a:r>
            <a:r>
              <a:rPr lang="en-US" dirty="0"/>
              <a:t>Rectangle, Ellipse, Triangle, Polygon, Callout</a:t>
            </a:r>
          </a:p>
          <a:p>
            <a:pPr lvl="1"/>
            <a:r>
              <a:rPr lang="ru-RU" dirty="0"/>
              <a:t>Способы вывода: </a:t>
            </a:r>
            <a:r>
              <a:rPr lang="en-US" dirty="0"/>
              <a:t>Screen, PDF, PNG, PostScript</a:t>
            </a:r>
            <a:endParaRPr lang="ru-RU" dirty="0"/>
          </a:p>
          <a:p>
            <a:r>
              <a:rPr lang="ru-RU" dirty="0"/>
              <a:t>Текущая архитектура связывает эти изменения</a:t>
            </a:r>
          </a:p>
          <a:p>
            <a:pPr lvl="1"/>
            <a:r>
              <a:rPr lang="ru-RU" dirty="0"/>
              <a:t>Новый способ вывода приводит к изменению каждого вида фигуры</a:t>
            </a:r>
          </a:p>
          <a:p>
            <a:r>
              <a:rPr lang="ru-RU" dirty="0"/>
              <a:t>Можно ли разделить эти два направления изменений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447366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B7155-9186-73F4-6D7F-22B6B09A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D6829-77FD-F211-FCC3-014027A3D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230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BFB5FD-3803-E0D2-CFC9-D33AF77B7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FB8590-09CD-7161-51CA-CE793DE74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развития</a:t>
            </a:r>
            <a:r>
              <a:rPr lang="en-US" dirty="0"/>
              <a:t> </a:t>
            </a:r>
            <a:r>
              <a:rPr lang="en-US" dirty="0" err="1"/>
              <a:t>редактора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en-US" dirty="0"/>
              <a:t> </a:t>
            </a:r>
            <a:r>
              <a:rPr lang="en-US" dirty="0" err="1"/>
              <a:t>менялись</a:t>
            </a:r>
            <a:r>
              <a:rPr lang="en-US" dirty="0"/>
              <a:t> </a:t>
            </a:r>
            <a:r>
              <a:rPr lang="en-US" dirty="0" err="1"/>
              <a:t>по-разному</a:t>
            </a:r>
            <a:endParaRPr lang="en-US" dirty="0"/>
          </a:p>
          <a:p>
            <a:pPr lvl="1"/>
            <a:r>
              <a:rPr lang="ru-RU" dirty="0"/>
              <a:t>Менялся набор фигур: </a:t>
            </a:r>
            <a:r>
              <a:rPr lang="en-US" dirty="0"/>
              <a:t>Rectangle, Ellipse, </a:t>
            </a:r>
            <a:r>
              <a:rPr lang="ru-RU" dirty="0"/>
              <a:t>+</a:t>
            </a:r>
            <a:r>
              <a:rPr lang="en-US" dirty="0"/>
              <a:t>Triangle</a:t>
            </a:r>
            <a:endParaRPr lang="ru-RU" dirty="0"/>
          </a:p>
          <a:p>
            <a:pPr lvl="1"/>
            <a:r>
              <a:rPr lang="ru-RU" dirty="0"/>
              <a:t>Менялись способы вывода: </a:t>
            </a:r>
            <a:r>
              <a:rPr lang="en-US" dirty="0"/>
              <a:t>Screen, +SVG, +PDF</a:t>
            </a:r>
          </a:p>
          <a:p>
            <a:r>
              <a:rPr lang="ru-RU" dirty="0"/>
              <a:t>Связаны ли эти изменения друг с другом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673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FF9C-6AAA-656E-7D4B-6C0C9EE0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F72AC-EBBC-3769-66FD-E9E635707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Когда мы расширяем набор геометрических примитивов, добавляются классы фигур</a:t>
            </a:r>
            <a:endParaRPr lang="en-US" dirty="0"/>
          </a:p>
          <a:p>
            <a:r>
              <a:rPr lang="ru-RU" dirty="0"/>
              <a:t>Способы вывода меняются, когда добавляется новый формат экспорта</a:t>
            </a:r>
            <a:endParaRPr lang="en-US" dirty="0"/>
          </a:p>
          <a:p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причины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— </a:t>
            </a:r>
            <a:r>
              <a:rPr lang="en-US" dirty="0" err="1"/>
              <a:t>повод</a:t>
            </a:r>
            <a:r>
              <a:rPr lang="en-US" dirty="0"/>
              <a:t> </a:t>
            </a:r>
            <a:r>
              <a:rPr lang="en-US" dirty="0" err="1"/>
              <a:t>проверить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32217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53C0-051C-D1C0-AF3C-480B6D6E1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связывает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оси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AD84536-FB40-29F6-005A-265D1C3BCC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461608"/>
              </p:ext>
            </p:extLst>
          </p:nvPr>
        </p:nvGraphicFramePr>
        <p:xfrm>
          <a:off x="838200" y="1825625"/>
          <a:ext cx="10515600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14487545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601203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29492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169666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318592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35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Rectangle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211909"/>
                  </a:ext>
                </a:extLst>
              </a:tr>
              <a:tr h="325524">
                <a:tc>
                  <a:txBody>
                    <a:bodyPr/>
                    <a:lstStyle/>
                    <a:p>
                      <a:r>
                        <a:rPr lang="en-US" dirty="0"/>
                        <a:t>Ellipse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86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711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Polygon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✅️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567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623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0179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0E16-EC11-5064-755C-1F5B9DB0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в </a:t>
            </a:r>
            <a:r>
              <a:rPr lang="en-US" dirty="0" err="1"/>
              <a:t>архитектуре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B22C-69C9-C3B6-3CB0-C8941AB9F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noProof="0" dirty="0"/>
              <a:t>Архитектурная цель - </a:t>
            </a:r>
            <a:r>
              <a:rPr lang="ru-RU" noProof="0" dirty="0" err="1"/>
              <a:t>cделать</a:t>
            </a:r>
            <a:r>
              <a:rPr lang="ru-RU" noProof="0" dirty="0"/>
              <a:t> так, чтобы виды фигур и способы вывода могли развиваться независимо.</a:t>
            </a:r>
          </a:p>
          <a:p>
            <a:r>
              <a:rPr lang="ru-RU" noProof="0" dirty="0"/>
              <a:t>Что на самом деле нужно фигуре, чтобы нарисовать себя?</a:t>
            </a:r>
          </a:p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385892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5B11E-8B6C-4A28-E3D5-90D0831C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Разделяем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и </a:t>
            </a:r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ru-RU" dirty="0"/>
              <a:t>их </a:t>
            </a:r>
            <a:r>
              <a:rPr lang="en-US" dirty="0" err="1"/>
              <a:t>вывода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6A438-1DC1-8517-A0AD-30BDDE888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28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875DB0-0B69-696D-0E25-45E67732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деле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фигуре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FC0AFB-F750-87DF-BC48-D8BC1F99A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ru-RU" dirty="0"/>
              <a:t>каждая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конкретном</a:t>
            </a:r>
            <a:r>
              <a:rPr lang="en-US" dirty="0"/>
              <a:t> </a:t>
            </a:r>
            <a:r>
              <a:rPr lang="en-US" dirty="0" err="1"/>
              <a:t>способе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:</a:t>
            </a:r>
            <a:endParaRPr lang="ru-RU" dirty="0"/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GraphicsContext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graphics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graphics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DrawRectangle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(...);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ExportToSvg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(std::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ostream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формирование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SVG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ExportToPdf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PdfDocument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document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формирование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 PDF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13095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Rectangle </a:t>
            </a:r>
            <a:r>
              <a:rPr lang="ru-RU" dirty="0"/>
              <a:t>на самом деле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Он п</a:t>
            </a:r>
            <a:r>
              <a:rPr lang="en-US" dirty="0" err="1"/>
              <a:t>росит</a:t>
            </a:r>
            <a:r>
              <a:rPr lang="en-US" dirty="0"/>
              <a:t> </a:t>
            </a:r>
            <a:r>
              <a:rPr lang="en-US" dirty="0" err="1"/>
              <a:t>нарисовать</a:t>
            </a:r>
            <a:r>
              <a:rPr lang="en-US" dirty="0"/>
              <a:t> </a:t>
            </a:r>
            <a:r>
              <a:rPr lang="en-US" dirty="0" err="1"/>
              <a:t>прямоугольник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верно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фигур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7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21441-EBEC-D7D2-FB94-817B381A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Вводим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dirty="0" err="1"/>
              <a:t>способа</a:t>
            </a:r>
            <a:r>
              <a:rPr lang="en-US" dirty="0"/>
              <a:t> </a:t>
            </a:r>
            <a:r>
              <a:rPr lang="en-US" dirty="0" err="1"/>
              <a:t>рисования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C1E34-B942-9AB5-0424-14993B416D6D}"/>
              </a:ext>
            </a:extLst>
          </p:cNvPr>
          <p:cNvSpPr txBox="1"/>
          <p:nvPr/>
        </p:nvSpPr>
        <p:spPr>
          <a:xfrm>
            <a:off x="0" y="1886783"/>
            <a:ext cx="6096000" cy="480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ru-RU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DrawLine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Point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DrawEllipse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DrawRectangle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IShape</a:t>
            </a:r>
            <a:r>
              <a:rPr lang="ru-RU" sz="1600" dirty="0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~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IShape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</a:rPr>
              <a:t>Rectangle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rgbClr val="74531F"/>
                </a:solidFill>
                <a:latin typeface="Consolas" panose="020B0609020204030204" pitchFamily="49" charset="0"/>
              </a:rPr>
              <a:t>Draw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2B91AF"/>
                </a:solidFill>
                <a:latin typeface="Consolas" panose="020B0609020204030204" pitchFamily="49" charset="0"/>
              </a:rPr>
              <a:t>ICanvas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600" dirty="0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808080"/>
                </a:solidFill>
                <a:latin typeface="Consolas" panose="020B0609020204030204" pitchFamily="49" charset="0"/>
              </a:rPr>
              <a:t>canvas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DrawRectangle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m_bounds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pPr>
              <a:lnSpc>
                <a:spcPct val="113095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417DF-CD81-C390-6017-3E47475DF0D4}"/>
              </a:ext>
            </a:extLst>
          </p:cNvPr>
          <p:cNvSpPr txBox="1"/>
          <p:nvPr/>
        </p:nvSpPr>
        <p:spPr>
          <a:xfrm>
            <a:off x="6516748" y="2199240"/>
            <a:ext cx="350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Холст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en-US" b="1" dirty="0" err="1"/>
              <a:t>как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вывести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EF2343-8FB8-8B96-4CB7-6C4C56C16FE6}"/>
              </a:ext>
            </a:extLst>
          </p:cNvPr>
          <p:cNvSpPr txBox="1"/>
          <p:nvPr/>
        </p:nvSpPr>
        <p:spPr>
          <a:xfrm>
            <a:off x="6328062" y="4289428"/>
            <a:ext cx="4270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 err="1"/>
              <a:t>Фигура</a:t>
            </a:r>
            <a:r>
              <a:rPr lang="en-US" sz="1800" dirty="0"/>
              <a:t> </a:t>
            </a:r>
            <a:r>
              <a:rPr lang="en-US" sz="1800" dirty="0" err="1"/>
              <a:t>описывает</a:t>
            </a:r>
            <a:r>
              <a:rPr lang="en-US" dirty="0"/>
              <a:t>,</a:t>
            </a:r>
            <a:r>
              <a:rPr lang="en-US" sz="1800" dirty="0"/>
              <a:t> </a:t>
            </a:r>
            <a:r>
              <a:rPr lang="en-US" sz="1800" b="1" dirty="0" err="1"/>
              <a:t>что</a:t>
            </a:r>
            <a:r>
              <a:rPr lang="en-US" sz="1800" dirty="0"/>
              <a:t> </a:t>
            </a:r>
            <a:r>
              <a:rPr lang="en-US" sz="1800" dirty="0" err="1"/>
              <a:t>нарисовать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9978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1A243-3CD8-96E2-0967-D36DFE866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Способы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отдельными</a:t>
            </a:r>
            <a:r>
              <a:rPr lang="en-US" dirty="0"/>
              <a:t> </a:t>
            </a:r>
            <a:r>
              <a:rPr lang="en-US" dirty="0" err="1"/>
              <a:t>реализациями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19375C-E42A-8F71-B4C3-4F9DE2B0B9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263" y="2078182"/>
            <a:ext cx="10813474" cy="30895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E9B526-A09F-7EDE-7B34-8DBF0E626471}"/>
                  </a:ext>
                </a:extLst>
              </p14:cNvPr>
              <p14:cNvContentPartPr/>
              <p14:nvPr/>
            </p14:nvContentPartPr>
            <p14:xfrm>
              <a:off x="1541160" y="2346480"/>
              <a:ext cx="5767560" cy="1156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E9B526-A09F-7EDE-7B34-8DBF0E6264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1800" y="2337120"/>
                <a:ext cx="5786280" cy="117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9843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EA8F-ED7C-B3E4-1477-9A63BD736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части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развиваться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845FD7-789B-EF8A-D813-71A1E2FC4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7" y="1787236"/>
            <a:ext cx="12137666" cy="328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178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BF2-36D4-A511-E740-808AB9F4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уметь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тип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2C2D3-6C08-69B3-1C19-F713610DF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173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A71A7F1-D4D2-A53C-F448-0183672F6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существующей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522CFF-899E-5AEA-EFC4-EB2EF6CED4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Пользователь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фигуру</a:t>
            </a:r>
            <a:r>
              <a:rPr lang="en-US" dirty="0"/>
              <a:t> и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тип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Rectangle → Ellipse → Triangle</a:t>
            </a:r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остаться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фигура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и </a:t>
            </a:r>
            <a:r>
              <a:rPr lang="en-US" dirty="0" err="1"/>
              <a:t>размер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цвет</a:t>
            </a:r>
            <a:r>
              <a:rPr lang="en-US" dirty="0"/>
              <a:t> и </a:t>
            </a:r>
            <a:r>
              <a:rPr lang="en-US" dirty="0" err="1"/>
              <a:t>стиль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выделенной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сохраняется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идентификатор</a:t>
            </a:r>
            <a:r>
              <a:rPr lang="en-US" dirty="0"/>
              <a:t>.</a:t>
            </a:r>
          </a:p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превратить</a:t>
            </a:r>
            <a:r>
              <a:rPr lang="en-US" dirty="0"/>
              <a:t> Rectangle в Ellipse?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67D43C5-20A5-D998-0436-7FE975366E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3343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28854-7AD3-6796-40EC-6E1FB480F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Иерархия</a:t>
            </a:r>
            <a:r>
              <a:rPr lang="en-US" dirty="0"/>
              <a:t> </a:t>
            </a:r>
            <a:r>
              <a:rPr lang="en-US" dirty="0" err="1"/>
              <a:t>типов</a:t>
            </a:r>
            <a:r>
              <a:rPr lang="en-US" dirty="0"/>
              <a:t>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мешать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10C5-C38C-44E5-4899-208E1B659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Текущая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ru-RU" dirty="0"/>
              <a:t> связывает тип фигуры с типом </a:t>
            </a:r>
            <a:r>
              <a:rPr lang="en-US" dirty="0"/>
              <a:t>C++ </a:t>
            </a:r>
            <a:r>
              <a:rPr lang="ru-RU" dirty="0"/>
              <a:t>объекта</a:t>
            </a:r>
          </a:p>
          <a:p>
            <a:pPr lvl="1"/>
            <a:r>
              <a:rPr lang="en-US" dirty="0" err="1">
                <a:latin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IShape</a:t>
            </a: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 err="1">
                <a:latin typeface="Consolas" panose="020B0609020204030204" pitchFamily="49" charset="0"/>
              </a:rPr>
              <a:t>sh</a:t>
            </a:r>
            <a:r>
              <a:rPr lang="en-US" dirty="0">
                <a:latin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</a:rPr>
              <a:t>make_unique</a:t>
            </a:r>
            <a:r>
              <a:rPr lang="en-US" dirty="0">
                <a:latin typeface="Consolas" panose="020B0609020204030204" pitchFamily="49" charset="0"/>
              </a:rPr>
              <a:t>&lt;Rectangle&gt;();</a:t>
            </a:r>
          </a:p>
          <a:p>
            <a:pPr lvl="1"/>
            <a:r>
              <a:rPr lang="ru-RU" dirty="0"/>
              <a:t>Динамический тип объекта в </a:t>
            </a:r>
            <a:r>
              <a:rPr lang="en-US" dirty="0"/>
              <a:t>C++ </a:t>
            </a:r>
            <a:r>
              <a:rPr lang="ru-RU" dirty="0"/>
              <a:t>изменить нельзя</a:t>
            </a:r>
          </a:p>
          <a:p>
            <a:r>
              <a:rPr lang="ru-RU" dirty="0"/>
              <a:t>Обходной путь: удалить старый объект и создать новый</a:t>
            </a:r>
          </a:p>
          <a:p>
            <a:pPr lvl="1"/>
            <a:r>
              <a:rPr lang="ru-RU" dirty="0"/>
              <a:t>Нужно перенести свойства объекта</a:t>
            </a:r>
          </a:p>
          <a:p>
            <a:pPr lvl="1"/>
            <a:r>
              <a:rPr lang="ru-RU" dirty="0"/>
              <a:t>На старый объект могут ссылаться другие объекты</a:t>
            </a:r>
          </a:p>
          <a:p>
            <a:r>
              <a:rPr lang="ru-RU" dirty="0"/>
              <a:t>Что если сделать изменяемой не саму фигуру, а её геометрическую форму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931256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9B49-40F5-0D22-6B17-24443E93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Отдел</a:t>
            </a:r>
            <a:r>
              <a:rPr lang="ru-RU" dirty="0" err="1"/>
              <a:t>яе</a:t>
            </a:r>
            <a:r>
              <a:rPr lang="en-US" dirty="0"/>
              <a:t>м </a:t>
            </a:r>
            <a:r>
              <a:rPr lang="en-US" dirty="0" err="1"/>
              <a:t>фигуру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геометрии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9EC69-04A5-8201-76E4-153D6B5DAA18}"/>
              </a:ext>
            </a:extLst>
          </p:cNvPr>
          <p:cNvSpPr txBox="1"/>
          <p:nvPr/>
        </p:nvSpPr>
        <p:spPr>
          <a:xfrm>
            <a:off x="124691" y="1690688"/>
            <a:ext cx="76061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ShapeId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m_bounds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m_style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m_geometry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568C25-DB1D-FC21-E659-500C811DD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374" y="3429000"/>
            <a:ext cx="6487626" cy="28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349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4487-7527-E4B0-30C7-C0DE5E9E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ru-RU" dirty="0"/>
              <a:t>фигуры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локальным</a:t>
            </a:r>
            <a:endParaRPr lang="en-US" dirty="0"/>
          </a:p>
        </p:txBody>
      </p:sp>
      <p:pic>
        <p:nvPicPr>
          <p:cNvPr id="12" name="Content Placeholder 6">
            <a:extLst>
              <a:ext uri="{FF2B5EF4-FFF2-40B4-BE49-F238E27FC236}">
                <a16:creationId xmlns:a16="http://schemas.microsoft.com/office/drawing/2014/main" id="{692ABB2C-A5DE-7928-9DDA-C84E568B9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80" y="2454142"/>
            <a:ext cx="5157787" cy="2287266"/>
          </a:xfrm>
          <a:prstGeom prst="rect">
            <a:avLst/>
          </a:prstGeom>
        </p:spPr>
      </p:pic>
      <p:pic>
        <p:nvPicPr>
          <p:cNvPr id="15" name="Content Placeholder 7">
            <a:extLst>
              <a:ext uri="{FF2B5EF4-FFF2-40B4-BE49-F238E27FC236}">
                <a16:creationId xmlns:a16="http://schemas.microsoft.com/office/drawing/2014/main" id="{EC52137C-9571-BE2B-9D07-CD71ABCA3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2576" y="2454142"/>
            <a:ext cx="6143943" cy="2198789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4C48B506-27B2-CC7A-2F63-E82EC595A4AF}"/>
              </a:ext>
            </a:extLst>
          </p:cNvPr>
          <p:cNvSpPr/>
          <p:nvPr/>
        </p:nvSpPr>
        <p:spPr>
          <a:xfrm>
            <a:off x="5062348" y="3278460"/>
            <a:ext cx="740229" cy="63862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213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453AA0-28B3-4231-261E-8707396C7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Это решение – паттерн «Стратегия»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7722E2-7D8A-007B-A540-D8FE457BC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421" y="4926387"/>
            <a:ext cx="1795517" cy="1795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E0A838-A2DE-CB96-6B46-10608CEBD758}"/>
              </a:ext>
            </a:extLst>
          </p:cNvPr>
          <p:cNvSpPr txBox="1"/>
          <p:nvPr/>
        </p:nvSpPr>
        <p:spPr>
          <a:xfrm>
            <a:off x="7906793" y="4462321"/>
            <a:ext cx="3352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https://youtu.be/fG6ctBy_G5A</a:t>
            </a:r>
            <a:endParaRPr lang="en-US" dirty="0"/>
          </a:p>
        </p:txBody>
      </p:sp>
      <p:pic>
        <p:nvPicPr>
          <p:cNvPr id="14" name="Picture 13">
            <a:hlinkClick r:id="rId4"/>
            <a:extLst>
              <a:ext uri="{FF2B5EF4-FFF2-40B4-BE49-F238E27FC236}">
                <a16:creationId xmlns:a16="http://schemas.microsoft.com/office/drawing/2014/main" id="{37175724-FC2E-0C76-DAD7-1657244549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6793" y="1690688"/>
            <a:ext cx="3717145" cy="26768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13C2E1-D78A-787A-E12C-D29110A3C939}"/>
              </a:ext>
            </a:extLst>
          </p:cNvPr>
          <p:cNvSpPr txBox="1"/>
          <p:nvPr/>
        </p:nvSpPr>
        <p:spPr>
          <a:xfrm>
            <a:off x="568062" y="5206418"/>
            <a:ext cx="733873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Идея: е</a:t>
            </a:r>
            <a:r>
              <a:rPr lang="en-US" sz="2000" dirty="0" err="1"/>
              <a:t>сли</a:t>
            </a:r>
            <a:r>
              <a:rPr lang="en-US" sz="2000" dirty="0"/>
              <a:t> </a:t>
            </a:r>
            <a:r>
              <a:rPr lang="en-US" sz="2000" dirty="0" err="1"/>
              <a:t>некоторая</a:t>
            </a:r>
            <a:r>
              <a:rPr lang="en-US" sz="2000" dirty="0"/>
              <a:t> </a:t>
            </a:r>
            <a:r>
              <a:rPr lang="en-US" sz="2000" dirty="0" err="1"/>
              <a:t>часть</a:t>
            </a:r>
            <a:r>
              <a:rPr lang="en-US" sz="2000" dirty="0"/>
              <a:t> </a:t>
            </a:r>
            <a:r>
              <a:rPr lang="en-US" sz="2000" dirty="0" err="1"/>
              <a:t>поведения</a:t>
            </a:r>
            <a:r>
              <a:rPr lang="en-US" sz="2000" dirty="0"/>
              <a:t> </a:t>
            </a:r>
            <a:r>
              <a:rPr lang="en-US" sz="2000" dirty="0" err="1"/>
              <a:t>должна</a:t>
            </a:r>
            <a:r>
              <a:rPr lang="en-US" sz="2000" dirty="0"/>
              <a:t> </a:t>
            </a:r>
            <a:r>
              <a:rPr lang="en-US" sz="2000" dirty="0" err="1"/>
              <a:t>изменяться</a:t>
            </a:r>
            <a:r>
              <a:rPr lang="en-US" sz="2000" dirty="0"/>
              <a:t> </a:t>
            </a:r>
            <a:r>
              <a:rPr lang="en-US" sz="2000" dirty="0" err="1"/>
              <a:t>независимо</a:t>
            </a:r>
            <a:r>
              <a:rPr lang="en-US" sz="2000" dirty="0"/>
              <a:t> </a:t>
            </a:r>
            <a:r>
              <a:rPr lang="en-US" sz="2000" dirty="0" err="1"/>
              <a:t>от</a:t>
            </a:r>
            <a:r>
              <a:rPr lang="en-US" sz="2000" dirty="0"/>
              <a:t> </a:t>
            </a:r>
            <a:r>
              <a:rPr lang="en-US" sz="2000" dirty="0" err="1"/>
              <a:t>объекта</a:t>
            </a:r>
            <a:r>
              <a:rPr lang="en-US" sz="2000" dirty="0"/>
              <a:t>, </a:t>
            </a:r>
            <a:r>
              <a:rPr lang="en-US" sz="2000" dirty="0" err="1"/>
              <a:t>её</a:t>
            </a:r>
            <a:r>
              <a:rPr lang="en-US" sz="2000" dirty="0"/>
              <a:t> </a:t>
            </a:r>
            <a:r>
              <a:rPr lang="en-US" sz="2000" dirty="0" err="1"/>
              <a:t>можно</a:t>
            </a:r>
            <a:r>
              <a:rPr lang="en-US" sz="2000" dirty="0"/>
              <a:t> </a:t>
            </a:r>
            <a:r>
              <a:rPr lang="en-US" sz="2000" dirty="0" err="1"/>
              <a:t>представить</a:t>
            </a:r>
            <a:r>
              <a:rPr lang="en-US" sz="2000" dirty="0"/>
              <a:t> </a:t>
            </a:r>
            <a:r>
              <a:rPr lang="en-US" sz="2000" dirty="0" err="1"/>
              <a:t>отдельным</a:t>
            </a:r>
            <a:r>
              <a:rPr lang="en-US" sz="2000" dirty="0"/>
              <a:t> </a:t>
            </a:r>
            <a:r>
              <a:rPr lang="en-US" sz="2000" dirty="0" err="1"/>
              <a:t>заменяемым</a:t>
            </a:r>
            <a:r>
              <a:rPr lang="en-US" sz="2000" dirty="0"/>
              <a:t> </a:t>
            </a:r>
            <a:r>
              <a:rPr lang="en-US" sz="2000" dirty="0" err="1"/>
              <a:t>объектом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115778-E291-D6BF-46F5-5272182B7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84223"/>
            <a:ext cx="6839858" cy="240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88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207CB-F61E-0F13-1573-0483C686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Любая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гибкость</a:t>
            </a:r>
            <a:r>
              <a:rPr lang="en-US" dirty="0"/>
              <a:t> </a:t>
            </a:r>
            <a:r>
              <a:rPr lang="en-US" dirty="0" err="1"/>
              <a:t>полезна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2BF1C-0625-67E7-2E7B-A32234AD6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19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F9FADE-6E48-6FE1-5188-7C1F26A8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, </a:t>
            </a:r>
            <a:r>
              <a:rPr lang="en-US" dirty="0" err="1"/>
              <a:t>сделаем</a:t>
            </a:r>
            <a:r>
              <a:rPr lang="en-US" dirty="0"/>
              <a:t> </a:t>
            </a:r>
            <a:r>
              <a:rPr lang="en-US" dirty="0" err="1"/>
              <a:t>заменяемым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B9B8AF-8596-D652-8CF7-ED0F58FC9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 </a:t>
            </a:r>
            <a:r>
              <a:rPr lang="en-US" dirty="0" err="1"/>
              <a:t>помогали</a:t>
            </a:r>
            <a:endParaRPr lang="ru-RU" dirty="0"/>
          </a:p>
          <a:p>
            <a:pPr lvl="1"/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вывода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заменить</a:t>
            </a:r>
            <a:r>
              <a:rPr lang="ru-RU" dirty="0"/>
              <a:t> за счёт интерфейса </a:t>
            </a:r>
            <a:r>
              <a:rPr lang="en-US" dirty="0"/>
              <a:t>I</a:t>
            </a:r>
            <a:r>
              <a:rPr lang="ru-RU" dirty="0"/>
              <a:t>С</a:t>
            </a:r>
            <a:r>
              <a:rPr lang="en-US" dirty="0" err="1"/>
              <a:t>anvas</a:t>
            </a:r>
            <a:endParaRPr lang="en-US" dirty="0"/>
          </a:p>
          <a:p>
            <a:pPr lvl="1"/>
            <a:r>
              <a:rPr lang="ru-RU" dirty="0"/>
              <a:t>Геометрию фигуры можно изменять за счёт интерфейса </a:t>
            </a:r>
            <a:r>
              <a:rPr lang="en-US" dirty="0" err="1"/>
              <a:t>IShapeGeometry</a:t>
            </a:r>
            <a:endParaRPr lang="ru-RU" dirty="0"/>
          </a:p>
          <a:p>
            <a:r>
              <a:rPr lang="ru-RU" dirty="0"/>
              <a:t>Интерфейсы помогают разным частям системы изменяться независимо</a:t>
            </a:r>
          </a:p>
          <a:p>
            <a:r>
              <a:rPr lang="ru-RU" dirty="0"/>
              <a:t>Значит ли это, что хороший дизайн – это когда заменить можно всё</a:t>
            </a:r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682513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6BE2-DF01-8F4C-49D5-513A9004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: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фигуры</a:t>
            </a:r>
            <a:r>
              <a:rPr lang="en-US" dirty="0"/>
              <a:t> </a:t>
            </a:r>
            <a:r>
              <a:rPr lang="en-US" dirty="0" err="1"/>
              <a:t>мышью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A6D7C-9923-2D45-E7E6-29E0028418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Когда пользователь щелкает по рисунку, редактор должен определить, принадлежит ли точка некоторой фигуре</a:t>
            </a:r>
          </a:p>
          <a:p>
            <a:r>
              <a:rPr lang="ru-RU" dirty="0"/>
              <a:t>В зависимости от типа фигуры проверка выполняется по-разному</a:t>
            </a:r>
          </a:p>
          <a:p>
            <a:r>
              <a:rPr lang="ru-RU" dirty="0"/>
              <a:t>Стоит ли вынести его в отдельную стратегию</a:t>
            </a:r>
            <a:r>
              <a:rPr lang="en-US" dirty="0"/>
              <a:t> </a:t>
            </a:r>
            <a:r>
              <a:rPr lang="en-US" dirty="0" err="1"/>
              <a:t>IHitTester</a:t>
            </a:r>
            <a:r>
              <a:rPr lang="en-US" dirty="0"/>
              <a:t>?</a:t>
            </a:r>
            <a:endParaRPr lang="ru-RU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B7CA32-DB04-4708-7A88-E7826EAD3E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058194"/>
            <a:ext cx="5181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0603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EFD0B-1D72-9228-8E38-0BEC06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различающееся</a:t>
            </a:r>
            <a:r>
              <a:rPr lang="en-US" dirty="0"/>
              <a:t>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отделять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C288EE7-35E9-41DF-2AD8-EBC6EF7F1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Геометрия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форму</a:t>
            </a:r>
            <a:r>
              <a:rPr lang="en-US" dirty="0"/>
              <a:t> </a:t>
            </a:r>
            <a:r>
              <a:rPr lang="en-US" dirty="0" err="1"/>
              <a:t>объекта</a:t>
            </a:r>
            <a:endParaRPr lang="en-US" dirty="0"/>
          </a:p>
          <a:p>
            <a:r>
              <a:rPr lang="en-US" dirty="0" err="1"/>
              <a:t>HitTest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геометрией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неё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B71B2-3AB4-6376-48C1-DFA425CE55DF}"/>
              </a:ext>
            </a:extLst>
          </p:cNvPr>
          <p:cNvSpPr txBox="1"/>
          <p:nvPr/>
        </p:nvSpPr>
        <p:spPr>
          <a:xfrm>
            <a:off x="838200" y="3429000"/>
            <a:ext cx="11353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IShapeGeometry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~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IShapeGeometry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ICanvas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canvas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bounds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virtual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bool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HitTest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point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Rect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bounds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116245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684D1-6C93-250F-0C41-04643B57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гибкости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цена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B587B-A9E1-3943-E706-E3586E3A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Дополнительная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даёт</a:t>
            </a:r>
            <a:endParaRPr lang="en-US" dirty="0"/>
          </a:p>
          <a:p>
            <a:pPr lvl="1"/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независимой</a:t>
            </a:r>
            <a:r>
              <a:rPr lang="en-US" dirty="0"/>
              <a:t> </a:t>
            </a:r>
            <a:r>
              <a:rPr lang="en-US" dirty="0" err="1"/>
              <a:t>замены</a:t>
            </a:r>
            <a:endParaRPr lang="en-US" dirty="0"/>
          </a:p>
          <a:p>
            <a:pPr lvl="1"/>
            <a:r>
              <a:rPr lang="en-US" dirty="0" err="1"/>
              <a:t>локализацию</a:t>
            </a:r>
            <a:r>
              <a:rPr lang="en-US" dirty="0"/>
              <a:t> </a:t>
            </a:r>
            <a:r>
              <a:rPr lang="en-US" dirty="0" err="1"/>
              <a:t>определённых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endParaRPr lang="en-US" dirty="0"/>
          </a:p>
          <a:p>
            <a:pPr lvl="1"/>
            <a:r>
              <a:rPr lang="en-US" dirty="0" err="1"/>
              <a:t>новых</a:t>
            </a:r>
            <a:r>
              <a:rPr lang="en-US" dirty="0"/>
              <a:t> </a:t>
            </a:r>
            <a:r>
              <a:rPr lang="en-US" dirty="0" err="1"/>
              <a:t>интерфейсов</a:t>
            </a:r>
            <a:r>
              <a:rPr lang="en-US" dirty="0"/>
              <a:t> и </a:t>
            </a:r>
            <a:r>
              <a:rPr lang="en-US" dirty="0" err="1"/>
              <a:t>классов</a:t>
            </a:r>
            <a:endParaRPr lang="en-US" dirty="0"/>
          </a:p>
          <a:p>
            <a:pPr lvl="1"/>
            <a:r>
              <a:rPr lang="en-US" dirty="0" err="1"/>
              <a:t>дополнительных</a:t>
            </a:r>
            <a:r>
              <a:rPr lang="en-US" dirty="0"/>
              <a:t> </a:t>
            </a:r>
            <a:r>
              <a:rPr lang="en-US" dirty="0" err="1"/>
              <a:t>связей</a:t>
            </a:r>
            <a:endParaRPr lang="en-US" dirty="0"/>
          </a:p>
          <a:p>
            <a:pPr lvl="1"/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косвенности</a:t>
            </a:r>
            <a:endParaRPr lang="en-US" dirty="0"/>
          </a:p>
          <a:p>
            <a:pPr lvl="1"/>
            <a:r>
              <a:rPr lang="en-US" dirty="0" err="1"/>
              <a:t>большей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endParaRPr lang="en-US" dirty="0"/>
          </a:p>
          <a:p>
            <a:r>
              <a:rPr lang="ru-RU" dirty="0"/>
              <a:t>Задавайте не вопрос </a:t>
            </a:r>
            <a:r>
              <a:rPr lang="en-US" dirty="0"/>
              <a:t>«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заменяемым</a:t>
            </a:r>
            <a:r>
              <a:rPr lang="en-US" dirty="0"/>
              <a:t>?»</a:t>
            </a:r>
            <a:r>
              <a:rPr lang="ru-RU" dirty="0"/>
              <a:t>, а </a:t>
            </a:r>
            <a:r>
              <a:rPr lang="en-US" dirty="0"/>
              <a:t>«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изменяться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?»</a:t>
            </a:r>
          </a:p>
          <a:p>
            <a:endParaRPr lang="en-US" dirty="0"/>
          </a:p>
        </p:txBody>
      </p:sp>
      <p:pic>
        <p:nvPicPr>
          <p:cNvPr id="4" name="Picture 3" descr="r/traaaaaaannnnnnnnnns - APERTURE Science &quot;WE DO WHAT WE MUST S BECAUSE WE CAN">
            <a:extLst>
              <a:ext uri="{FF2B5EF4-FFF2-40B4-BE49-F238E27FC236}">
                <a16:creationId xmlns:a16="http://schemas.microsoft.com/office/drawing/2014/main" id="{2BC16328-09A5-6FAF-535C-D9F295D8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429" y="1825625"/>
            <a:ext cx="4209142" cy="252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163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A9AC5-0641-54F2-1244-0E25EC42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Архитектура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изменения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2399E-D2E5-B5F6-3CB4-E386E4645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7587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3DA069-53DF-E34A-C687-71E71A015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— </a:t>
            </a:r>
            <a:r>
              <a:rPr lang="en-US" dirty="0" err="1"/>
              <a:t>разн</a:t>
            </a:r>
            <a:r>
              <a:rPr lang="ru-RU" dirty="0" err="1"/>
              <a:t>ая</a:t>
            </a:r>
            <a:r>
              <a:rPr lang="en-US" dirty="0"/>
              <a:t> </a:t>
            </a:r>
            <a:r>
              <a:rPr lang="ru-RU" dirty="0"/>
              <a:t>цена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9EC49D-9F92-EB51-A7FA-CE9CE85C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Добавление треугольника оказалось дешёвым</a:t>
            </a:r>
          </a:p>
          <a:p>
            <a:pPr lvl="1"/>
            <a:r>
              <a:rPr lang="ru-RU" dirty="0"/>
              <a:t>Просто добавили новый тип фигуры</a:t>
            </a:r>
          </a:p>
          <a:p>
            <a:r>
              <a:rPr lang="ru-RU" dirty="0"/>
              <a:t>Вывод в </a:t>
            </a:r>
            <a:r>
              <a:rPr lang="en-US" dirty="0"/>
              <a:t>SVG</a:t>
            </a:r>
            <a:r>
              <a:rPr lang="ru-RU" dirty="0"/>
              <a:t> и </a:t>
            </a:r>
            <a:r>
              <a:rPr lang="en-US" dirty="0"/>
              <a:t>PDF</a:t>
            </a:r>
            <a:r>
              <a:rPr lang="ru-RU" dirty="0"/>
              <a:t> затронул все типы фигур</a:t>
            </a:r>
          </a:p>
          <a:p>
            <a:r>
              <a:rPr lang="ru-RU" dirty="0"/>
              <a:t>После введения интерфейса </a:t>
            </a:r>
            <a:r>
              <a:rPr lang="en-US" dirty="0" err="1"/>
              <a:t>ICanvas</a:t>
            </a:r>
            <a:r>
              <a:rPr lang="en-US" dirty="0"/>
              <a:t> </a:t>
            </a:r>
            <a:r>
              <a:rPr lang="ru-RU" dirty="0"/>
              <a:t>новые способы вывода перестали влиять на иерархию фигур</a:t>
            </a:r>
          </a:p>
          <a:p>
            <a:r>
              <a:rPr lang="ru-RU" dirty="0"/>
              <a:t>Изменение формы фигуры привело к отделению </a:t>
            </a:r>
            <a:r>
              <a:rPr lang="en-US" dirty="0"/>
              <a:t>Shape </a:t>
            </a:r>
            <a:r>
              <a:rPr lang="ru-RU" dirty="0"/>
              <a:t>и </a:t>
            </a:r>
            <a:r>
              <a:rPr lang="en-US" dirty="0" err="1"/>
              <a:t>IShapeGeometry</a:t>
            </a:r>
            <a:endParaRPr lang="en-US" dirty="0"/>
          </a:p>
          <a:p>
            <a:r>
              <a:rPr lang="ru-RU" dirty="0"/>
              <a:t>Чтобы ввести </a:t>
            </a:r>
            <a:r>
              <a:rPr lang="en-US" dirty="0" err="1"/>
              <a:t>HitTest</a:t>
            </a:r>
            <a:r>
              <a:rPr lang="ru-RU" dirty="0"/>
              <a:t>, не стали вводить новую абстракцию</a:t>
            </a:r>
          </a:p>
          <a:p>
            <a:r>
              <a:rPr lang="ru-RU" b="1" dirty="0"/>
              <a:t>Стоимость изменений определяется тем, как устроена программа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87557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314D-558B-7FA7-7B7F-C6970716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получится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1761E-DD80-1010-9647-2CE489090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Дополнительные точки расширения усложняют систему</a:t>
            </a:r>
          </a:p>
          <a:p>
            <a:r>
              <a:rPr lang="ru-RU" dirty="0"/>
              <a:t>Абстракции оправданы тогда, когда дают ту гибкость, которая нам нужна</a:t>
            </a:r>
          </a:p>
          <a:p>
            <a:r>
              <a:rPr lang="ru-RU" dirty="0"/>
              <a:t>Универсальная гибкость – не самоцель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913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B1AE-CEDA-CEAE-3C10-E11DF306C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– это выбор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805A5-7480-459D-7442-B4D0FAB96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noProof="0" dirty="0"/>
              <a:t>Перед введением новой абстракции стоит ответить на вопросы</a:t>
            </a:r>
          </a:p>
          <a:p>
            <a:pPr lvl="1"/>
            <a:r>
              <a:rPr lang="ru-RU" noProof="0" dirty="0"/>
              <a:t>Что действительно будет меняться?</a:t>
            </a:r>
          </a:p>
          <a:p>
            <a:pPr lvl="1"/>
            <a:r>
              <a:rPr lang="ru-RU" noProof="0" dirty="0"/>
              <a:t>Что должно меняться независимо?</a:t>
            </a:r>
          </a:p>
          <a:p>
            <a:pPr lvl="1"/>
            <a:r>
              <a:rPr lang="ru-RU" noProof="0" dirty="0"/>
              <a:t>Как далеко сейчас распространяется изменение?</a:t>
            </a:r>
          </a:p>
          <a:p>
            <a:pPr lvl="1"/>
            <a:r>
              <a:rPr lang="ru-RU" noProof="0" dirty="0"/>
              <a:t>Оправдывает ли выигрыш дополнительную сложность?</a:t>
            </a:r>
          </a:p>
          <a:p>
            <a:r>
              <a:rPr lang="ru-RU" b="1" noProof="0" dirty="0"/>
              <a:t>Архитектура</a:t>
            </a:r>
            <a:r>
              <a:rPr lang="ru-RU" noProof="0" dirty="0"/>
              <a:t> — это не попытка сделать всё гибким.</a:t>
            </a:r>
          </a:p>
          <a:p>
            <a:r>
              <a:rPr lang="ru-RU" noProof="0" dirty="0"/>
              <a:t>Это осознанный </a:t>
            </a:r>
            <a:r>
              <a:rPr lang="ru-RU" b="1" noProof="0" dirty="0"/>
              <a:t>выбор</a:t>
            </a:r>
            <a:r>
              <a:rPr lang="ru-RU" noProof="0" dirty="0"/>
              <a:t> того, </a:t>
            </a:r>
            <a:r>
              <a:rPr lang="ru-RU" b="1" noProof="0" dirty="0"/>
              <a:t>какие изменения сделать дешёвыми</a:t>
            </a:r>
            <a:r>
              <a:rPr lang="ru-RU" noProof="0" dirty="0"/>
              <a:t>.</a:t>
            </a:r>
          </a:p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3825250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554C-C391-3E1E-502D-5F5A61661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спроектировать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заранее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9461C-FA44-F817-DEFE-57FCBC8204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202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D5E09A-83C4-4541-F68A-BC16BCA6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Зная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,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критиковать</a:t>
            </a:r>
            <a:r>
              <a:rPr lang="en-US" dirty="0"/>
              <a:t> </a:t>
            </a:r>
            <a:r>
              <a:rPr lang="en-US" dirty="0" err="1"/>
              <a:t>прошл</a:t>
            </a:r>
            <a:r>
              <a:rPr lang="ru-RU" dirty="0" err="1"/>
              <a:t>ые</a:t>
            </a:r>
            <a:r>
              <a:rPr lang="en-US" dirty="0"/>
              <a:t> </a:t>
            </a:r>
            <a:r>
              <a:rPr lang="en-US" dirty="0" err="1"/>
              <a:t>решени</a:t>
            </a:r>
            <a:r>
              <a:rPr lang="ru-RU" dirty="0"/>
              <a:t>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732851-1683-913C-3249-D404815F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начале проекта нам не было известно о новых требованиях</a:t>
            </a:r>
          </a:p>
          <a:p>
            <a:r>
              <a:rPr lang="ru-RU" dirty="0"/>
              <a:t>Легко начать думать:</a:t>
            </a:r>
          </a:p>
          <a:p>
            <a:pPr lvl="1"/>
            <a:r>
              <a:rPr lang="ru-RU" dirty="0"/>
              <a:t>Надо было сразу ввести </a:t>
            </a:r>
            <a:r>
              <a:rPr lang="en-US" dirty="0" err="1"/>
              <a:t>ICanvas</a:t>
            </a:r>
            <a:r>
              <a:rPr lang="en-US" dirty="0"/>
              <a:t>, </a:t>
            </a:r>
            <a:r>
              <a:rPr lang="ru-RU" dirty="0"/>
              <a:t>отделить </a:t>
            </a:r>
            <a:r>
              <a:rPr lang="en-US" dirty="0"/>
              <a:t>Shape</a:t>
            </a:r>
            <a:r>
              <a:rPr lang="ru-RU" dirty="0"/>
              <a:t> от </a:t>
            </a:r>
            <a:r>
              <a:rPr lang="en-US" dirty="0" err="1"/>
              <a:t>IShapeGeometry</a:t>
            </a:r>
            <a:endParaRPr lang="en-US" dirty="0"/>
          </a:p>
          <a:p>
            <a:pPr lvl="1"/>
            <a:r>
              <a:rPr lang="ru-RU" dirty="0"/>
              <a:t>Хороший архитектор должен был это предусмотреть</a:t>
            </a:r>
          </a:p>
          <a:p>
            <a:r>
              <a:rPr lang="ru-RU" dirty="0"/>
              <a:t>Когда мы знаем результат, прошлое кажется более предсказуемым</a:t>
            </a:r>
            <a:endParaRPr lang="en-US" dirty="0"/>
          </a:p>
          <a:p>
            <a:r>
              <a:rPr lang="ru-RU" dirty="0"/>
              <a:t>Архитектуру версии 1.0 нужно оценивать по той информации, которая была доступна в момент принятия решения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1277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145F5-12AD-9CF4-AB9C-6A533921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Подготовиться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 —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плохая</a:t>
            </a:r>
            <a:r>
              <a:rPr lang="en-US" dirty="0"/>
              <a:t> </a:t>
            </a:r>
            <a:r>
              <a:rPr lang="en-US" dirty="0" err="1"/>
              <a:t>стратегия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7C983-3037-9920-73F0-7A11AD7C5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639050" cy="4351338"/>
          </a:xfrm>
        </p:spPr>
        <p:txBody>
          <a:bodyPr>
            <a:normAutofit/>
          </a:bodyPr>
          <a:lstStyle/>
          <a:p>
            <a:r>
              <a:rPr lang="ru-RU" dirty="0"/>
              <a:t>Если вы не знаете будущего, не делайте «универсальный </a:t>
            </a:r>
            <a:r>
              <a:rPr lang="ru-RU" dirty="0" err="1"/>
              <a:t>универсатор</a:t>
            </a:r>
            <a:r>
              <a:rPr lang="ru-RU" dirty="0"/>
              <a:t>»</a:t>
            </a:r>
          </a:p>
          <a:p>
            <a:pPr lvl="1"/>
            <a:r>
              <a:rPr lang="ru-RU" dirty="0"/>
              <a:t>Будущих требований может быть очень много</a:t>
            </a:r>
          </a:p>
          <a:p>
            <a:pPr lvl="1"/>
            <a:r>
              <a:rPr lang="ru-RU" dirty="0"/>
              <a:t>Не все требования появятся сегодня</a:t>
            </a:r>
          </a:p>
          <a:p>
            <a:pPr lvl="1"/>
            <a:r>
              <a:rPr lang="ru-RU" dirty="0"/>
              <a:t>Можно неправильно угадать направление развития системы</a:t>
            </a:r>
          </a:p>
          <a:p>
            <a:r>
              <a:rPr lang="en-US" dirty="0"/>
              <a:t>Overengineering – </a:t>
            </a:r>
            <a:r>
              <a:rPr lang="ru-RU" dirty="0"/>
              <a:t>почти всегда плохая затея</a:t>
            </a:r>
            <a:endParaRPr lang="en-US" dirty="0"/>
          </a:p>
          <a:p>
            <a:r>
              <a:rPr lang="en-US" b="1" dirty="0"/>
              <a:t>KISS</a:t>
            </a:r>
            <a:r>
              <a:rPr lang="en-US" dirty="0"/>
              <a:t> (Keep It Simple, Stupid)</a:t>
            </a:r>
          </a:p>
          <a:p>
            <a:r>
              <a:rPr lang="en-US" b="1" dirty="0"/>
              <a:t>YAGNI</a:t>
            </a:r>
            <a:r>
              <a:rPr lang="en-US" dirty="0"/>
              <a:t> (You Aren’t </a:t>
            </a:r>
            <a:r>
              <a:rPr lang="en-US" dirty="0" err="1"/>
              <a:t>Gonna</a:t>
            </a:r>
            <a:r>
              <a:rPr lang="en-US" dirty="0"/>
              <a:t> Need It)</a:t>
            </a:r>
            <a:endParaRPr lang="ru-RU" dirty="0"/>
          </a:p>
          <a:p>
            <a:pPr lvl="1"/>
            <a:endParaRPr lang="ru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6000A2B-96FF-4D21-F343-1478989168E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547" y="1825625"/>
            <a:ext cx="245125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022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CF58-D516-3507-77FD-4A107F20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Проектируем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неизвестного</a:t>
            </a:r>
            <a:r>
              <a:rPr lang="en-US" dirty="0"/>
              <a:t> </a:t>
            </a:r>
            <a:r>
              <a:rPr lang="en-US" dirty="0" err="1"/>
              <a:t>будущего</a:t>
            </a:r>
            <a:r>
              <a:rPr lang="en-US" dirty="0"/>
              <a:t>, а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измениться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D0BB5-17C2-7BDF-0918-583B791F9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П</a:t>
            </a:r>
            <a:r>
              <a:rPr lang="en-US" dirty="0" err="1"/>
              <a:t>рактический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endParaRPr lang="en-US" dirty="0"/>
          </a:p>
          <a:p>
            <a:pPr lvl="1"/>
            <a:r>
              <a:rPr lang="ru-RU" dirty="0"/>
              <a:t>Есть </a:t>
            </a:r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r>
              <a:rPr lang="ru-RU" dirty="0"/>
              <a:t> – выбираем </a:t>
            </a:r>
            <a:r>
              <a:rPr lang="en-US" dirty="0" err="1"/>
              <a:t>простое</a:t>
            </a:r>
            <a:r>
              <a:rPr lang="en-US" dirty="0"/>
              <a:t> </a:t>
            </a:r>
            <a:r>
              <a:rPr lang="en-US" dirty="0" err="1"/>
              <a:t>достаточное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en-US" dirty="0"/>
          </a:p>
          <a:p>
            <a:pPr lvl="1"/>
            <a:r>
              <a:rPr lang="ru-RU" dirty="0"/>
              <a:t>Есть </a:t>
            </a:r>
            <a:r>
              <a:rPr lang="en-US" dirty="0" err="1"/>
              <a:t>реальное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ru-RU" dirty="0"/>
              <a:t> - </a:t>
            </a:r>
            <a:r>
              <a:rPr lang="en-US" dirty="0" err="1"/>
              <a:t>наблюдаем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ru-RU" dirty="0"/>
              <a:t> и п</a:t>
            </a:r>
            <a:r>
              <a:rPr lang="en-US" dirty="0" err="1"/>
              <a:t>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ru-RU" dirty="0"/>
              <a:t> </a:t>
            </a:r>
            <a:r>
              <a:rPr lang="en-US" dirty="0" err="1"/>
              <a:t>пересматриваем</a:t>
            </a:r>
            <a:r>
              <a:rPr lang="en-US" dirty="0"/>
              <a:t> </a:t>
            </a:r>
            <a:r>
              <a:rPr lang="en-US" dirty="0" err="1"/>
              <a:t>архитектуру</a:t>
            </a:r>
            <a:endParaRPr lang="en-US" dirty="0"/>
          </a:p>
          <a:p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endParaRPr lang="en-US" dirty="0"/>
          </a:p>
          <a:p>
            <a:pPr lvl="1"/>
            <a:r>
              <a:rPr lang="en-US" dirty="0" err="1"/>
              <a:t>решать</a:t>
            </a:r>
            <a:r>
              <a:rPr lang="en-US" dirty="0"/>
              <a:t> </a:t>
            </a:r>
            <a:r>
              <a:rPr lang="en-US" dirty="0" err="1"/>
              <a:t>сегодняшнюю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лишней</a:t>
            </a:r>
            <a:r>
              <a:rPr lang="en-US" dirty="0"/>
              <a:t> </a:t>
            </a:r>
            <a:r>
              <a:rPr lang="en-US" dirty="0" err="1"/>
              <a:t>сложности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оставаться</a:t>
            </a:r>
            <a:r>
              <a:rPr lang="en-US" dirty="0"/>
              <a:t> </a:t>
            </a:r>
            <a:r>
              <a:rPr lang="en-US" dirty="0" err="1"/>
              <a:t>понятным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позволять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 </a:t>
            </a:r>
            <a:r>
              <a:rPr lang="en-US" dirty="0" err="1"/>
              <a:t>принятые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.</a:t>
            </a:r>
          </a:p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угадывать</a:t>
            </a:r>
            <a:r>
              <a:rPr lang="en-US" dirty="0"/>
              <a:t> </a:t>
            </a:r>
            <a:r>
              <a:rPr lang="en-US" dirty="0" err="1"/>
              <a:t>будущее</a:t>
            </a:r>
            <a:r>
              <a:rPr lang="en-US" dirty="0"/>
              <a:t>.</a:t>
            </a:r>
            <a:r>
              <a:rPr lang="ru-RU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способность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83374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A2FC-BC90-ED07-5AE1-C3E6BC2E0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Паттерны</a:t>
            </a:r>
            <a:r>
              <a:rPr lang="en-US" dirty="0"/>
              <a:t>: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цель</a:t>
            </a:r>
            <a:r>
              <a:rPr lang="en-US" dirty="0"/>
              <a:t>, а </a:t>
            </a:r>
            <a:r>
              <a:rPr lang="en-US" dirty="0" err="1"/>
              <a:t>словарь</a:t>
            </a:r>
            <a:r>
              <a:rPr lang="en-US" dirty="0"/>
              <a:t> </a:t>
            </a:r>
            <a:r>
              <a:rPr lang="en-US" dirty="0" err="1"/>
              <a:t>решений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D9DB5-7492-E40A-0828-603EBC72B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7476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BA30F8-9F7E-359E-0FD0-CCDF3F29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встретили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r>
              <a:rPr lang="en-US" dirty="0"/>
              <a:t> —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начинали</a:t>
            </a:r>
            <a:r>
              <a:rPr lang="en-US" dirty="0"/>
              <a:t> с </a:t>
            </a:r>
            <a:r>
              <a:rPr lang="en-US" dirty="0" err="1"/>
              <a:t>него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B5D2B1-16CB-5052-AE7B-336E97D1B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Вспомним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требований</a:t>
            </a:r>
            <a:endParaRPr lang="en-US" dirty="0"/>
          </a:p>
          <a:p>
            <a:pPr lvl="1"/>
            <a:r>
              <a:rPr lang="en-US" dirty="0" err="1"/>
              <a:t>Фигура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геометрию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 err="1"/>
              <a:t>оставаясь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Мы не начали с «Давайте применим </a:t>
            </a:r>
            <a:r>
              <a:rPr lang="en-US" dirty="0"/>
              <a:t>Strategy</a:t>
            </a:r>
            <a:r>
              <a:rPr lang="ru-RU" dirty="0"/>
              <a:t>»</a:t>
            </a:r>
          </a:p>
          <a:p>
            <a:r>
              <a:rPr lang="ru-RU" dirty="0"/>
              <a:t>Путь был такой</a:t>
            </a:r>
          </a:p>
          <a:p>
            <a:pPr lvl="1"/>
            <a:r>
              <a:rPr lang="ru-RU" dirty="0"/>
              <a:t>Текущая модель плохо поддерживала такое изменение</a:t>
            </a:r>
          </a:p>
          <a:p>
            <a:pPr lvl="1"/>
            <a:r>
              <a:rPr lang="ru-RU" dirty="0"/>
              <a:t>Мы разобрались, что должно оставаться </a:t>
            </a:r>
            <a:r>
              <a:rPr lang="ru-RU" dirty="0" err="1"/>
              <a:t>неизменнным</a:t>
            </a:r>
            <a:r>
              <a:rPr lang="ru-RU" dirty="0"/>
              <a:t>, а что заменяться</a:t>
            </a:r>
          </a:p>
          <a:p>
            <a:pPr lvl="1"/>
            <a:r>
              <a:rPr lang="ru-RU" dirty="0"/>
              <a:t>Только после этого узнали, что этот подход встречается во многих программах под названием «Стратегия»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и </a:t>
            </a:r>
            <a:r>
              <a:rPr lang="en-US" dirty="0" err="1"/>
              <a:t>решение</a:t>
            </a:r>
            <a:r>
              <a:rPr lang="en-US" dirty="0"/>
              <a:t>. </a:t>
            </a:r>
            <a:r>
              <a:rPr lang="en-US" dirty="0" err="1"/>
              <a:t>Потом</a:t>
            </a:r>
            <a:r>
              <a:rPr lang="en-US" dirty="0"/>
              <a:t> — </a:t>
            </a:r>
            <a:r>
              <a:rPr lang="en-US" dirty="0" err="1"/>
              <a:t>название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239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C231-EE6C-445F-A01A-75FE2173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решениям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имена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69BB6-83A6-3063-5498-71C0C8FED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60095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Что легче звучит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которому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делегируем</a:t>
            </a:r>
            <a:r>
              <a:rPr lang="en-US" dirty="0"/>
              <a:t> </a:t>
            </a:r>
            <a:r>
              <a:rPr lang="en-US" dirty="0" err="1"/>
              <a:t>изменяемую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поведения</a:t>
            </a:r>
            <a:r>
              <a:rPr lang="en-US" dirty="0"/>
              <a:t>, и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подменять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...</a:t>
            </a:r>
          </a:p>
          <a:p>
            <a:pPr lvl="1"/>
            <a:r>
              <a:rPr lang="ru-RU" dirty="0"/>
              <a:t>Здесь используется </a:t>
            </a:r>
            <a:r>
              <a:rPr lang="en-US" dirty="0"/>
              <a:t>Strategy</a:t>
            </a:r>
          </a:p>
          <a:p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паттерна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endParaRPr lang="en-US" dirty="0"/>
          </a:p>
          <a:p>
            <a:pPr lvl="1"/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назначение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ожидаемые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известные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.</a:t>
            </a:r>
          </a:p>
          <a:p>
            <a:r>
              <a:rPr lang="en-US" dirty="0" err="1"/>
              <a:t>Паттерны</a:t>
            </a:r>
            <a:r>
              <a:rPr lang="en-US" dirty="0"/>
              <a:t> </a:t>
            </a:r>
            <a:r>
              <a:rPr lang="en-US" dirty="0" err="1"/>
              <a:t>образуют</a:t>
            </a:r>
            <a:r>
              <a:rPr lang="en-US" dirty="0"/>
              <a:t>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словарь</a:t>
            </a:r>
            <a:r>
              <a:rPr lang="en-US" dirty="0"/>
              <a:t> </a:t>
            </a:r>
            <a:r>
              <a:rPr lang="en-US" dirty="0" err="1"/>
              <a:t>проектирования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7EF19AF-66DF-C168-4495-5CA22624AD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173" y="1825625"/>
            <a:ext cx="24476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45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247FD-0FDB-AF8C-2E21-DFAEF8B8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Паттерн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рецепт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E177F-FBEA-BF7F-3826-72CD4C1D5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807036" cy="4351338"/>
          </a:xfrm>
        </p:spPr>
        <p:txBody>
          <a:bodyPr>
            <a:normAutofit fontScale="92500" lnSpcReduction="20000"/>
          </a:bodyPr>
          <a:lstStyle/>
          <a:p>
            <a:r>
              <a:rPr lang="ru-RU" i="1" dirty="0"/>
              <a:t>«Когда у вас в руках микроскоп, все окружающие предметы начинают казаться гвоздями»</a:t>
            </a:r>
          </a:p>
          <a:p>
            <a:pPr marL="0" indent="0" algn="r">
              <a:buNone/>
            </a:pPr>
            <a:r>
              <a:rPr lang="ru-RU" dirty="0"/>
              <a:t>Отто Фон Бисмарк</a:t>
            </a:r>
            <a:endParaRPr lang="en-US" dirty="0"/>
          </a:p>
          <a:p>
            <a:r>
              <a:rPr lang="en-US" dirty="0" err="1"/>
              <a:t>Паттерн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</a:t>
            </a:r>
            <a:r>
              <a:rPr lang="en-US" dirty="0" err="1"/>
              <a:t>повторяющейся</a:t>
            </a:r>
            <a:r>
              <a:rPr lang="en-US" dirty="0"/>
              <a:t> </a:t>
            </a:r>
            <a:r>
              <a:rPr lang="en-US" dirty="0" err="1"/>
              <a:t>идеи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инструкция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Путь по которому будем идти в этом курсе</a:t>
            </a:r>
          </a:p>
          <a:p>
            <a:pPr lvl="1"/>
            <a:r>
              <a:rPr lang="ru-RU" dirty="0"/>
              <a:t>и</a:t>
            </a:r>
            <a:r>
              <a:rPr lang="en-US" dirty="0" err="1"/>
              <a:t>зменились</a:t>
            </a:r>
            <a:r>
              <a:rPr lang="en-US" dirty="0"/>
              <a:t> </a:t>
            </a:r>
            <a:r>
              <a:rPr lang="en-US" dirty="0" err="1"/>
              <a:t>требования</a:t>
            </a:r>
            <a:endParaRPr lang="ru-RU" dirty="0"/>
          </a:p>
          <a:p>
            <a:pPr lvl="1"/>
            <a:r>
              <a:rPr lang="en-US" dirty="0" err="1"/>
              <a:t>возникла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дизайна</a:t>
            </a:r>
            <a:endParaRPr lang="ru-RU" dirty="0"/>
          </a:p>
          <a:p>
            <a:pPr lvl="1"/>
            <a:r>
              <a:rPr lang="en-US" dirty="0" err="1"/>
              <a:t>рассматриваем</a:t>
            </a:r>
            <a:r>
              <a:rPr lang="en-US" dirty="0"/>
              <a:t> </a:t>
            </a:r>
            <a:r>
              <a:rPr lang="en-US" dirty="0" err="1"/>
              <a:t>варианты</a:t>
            </a:r>
            <a:endParaRPr lang="ru-RU" dirty="0"/>
          </a:p>
          <a:p>
            <a:pPr lvl="1"/>
            <a:r>
              <a:rPr lang="en-US" dirty="0" err="1"/>
              <a:t>сравниваем</a:t>
            </a:r>
            <a:r>
              <a:rPr lang="en-US" dirty="0"/>
              <a:t> </a:t>
            </a:r>
            <a:r>
              <a:rPr lang="en-US" dirty="0" err="1"/>
              <a:t>последствия</a:t>
            </a:r>
            <a:endParaRPr lang="ru-RU" dirty="0"/>
          </a:p>
          <a:p>
            <a:pPr lvl="1"/>
            <a:r>
              <a:rPr lang="en-US" dirty="0" err="1"/>
              <a:t>выбираем</a:t>
            </a:r>
            <a:r>
              <a:rPr lang="en-US" dirty="0"/>
              <a:t> </a:t>
            </a:r>
            <a:r>
              <a:rPr lang="en-US" dirty="0" err="1"/>
              <a:t>решение</a:t>
            </a:r>
            <a:endParaRPr lang="ru-RU" dirty="0"/>
          </a:p>
          <a:p>
            <a:pPr lvl="1"/>
            <a:r>
              <a:rPr lang="en-US" dirty="0" err="1"/>
              <a:t>узнаём</a:t>
            </a:r>
            <a:r>
              <a:rPr lang="en-US" dirty="0"/>
              <a:t> в </a:t>
            </a:r>
            <a:r>
              <a:rPr lang="en-US" dirty="0" err="1"/>
              <a:t>нём</a:t>
            </a:r>
            <a:r>
              <a:rPr lang="en-US" dirty="0"/>
              <a:t> </a:t>
            </a:r>
            <a:r>
              <a:rPr lang="en-US" dirty="0" err="1"/>
              <a:t>известный</a:t>
            </a:r>
            <a:r>
              <a:rPr lang="en-US" dirty="0"/>
              <a:t> </a:t>
            </a:r>
            <a:r>
              <a:rPr lang="en-US" dirty="0" err="1"/>
              <a:t>паттерн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0CA41E-9065-B966-CECB-1FF5290AE7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173" y="1825625"/>
            <a:ext cx="24476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02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6E67-974C-40CD-CF7F-02683CA1A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заниматься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41D90-0AD5-BCD9-025B-C6B6B14D16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66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6AA58-10EF-3A87-4915-40E08F1B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заниматься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курсе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B26179-94B0-CA5B-25DC-27407FFF2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«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написать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класс</a:t>
            </a:r>
            <a:r>
              <a:rPr lang="en-US" dirty="0"/>
              <a:t>?»</a:t>
            </a:r>
          </a:p>
          <a:p>
            <a:r>
              <a:rPr lang="en-US" dirty="0" err="1"/>
              <a:t>Но</a:t>
            </a:r>
            <a:r>
              <a:rPr lang="en-US" dirty="0"/>
              <a:t> и: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кого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меняться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провести</a:t>
            </a:r>
            <a:r>
              <a:rPr lang="en-US" dirty="0"/>
              <a:t> </a:t>
            </a:r>
            <a:r>
              <a:rPr lang="en-US" dirty="0" err="1"/>
              <a:t>границу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частями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усложняет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требование</a:t>
            </a:r>
            <a:r>
              <a:rPr lang="en-US" dirty="0"/>
              <a:t> </a:t>
            </a:r>
            <a:r>
              <a:rPr lang="en-US" dirty="0" err="1"/>
              <a:t>повлияет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существующий</a:t>
            </a:r>
            <a:r>
              <a:rPr lang="en-US" dirty="0"/>
              <a:t> </a:t>
            </a:r>
            <a:r>
              <a:rPr lang="en-US" dirty="0" err="1"/>
              <a:t>дизайн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проектировать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классы</a:t>
            </a:r>
            <a:r>
              <a:rPr lang="en-US" dirty="0"/>
              <a:t>, а </a:t>
            </a:r>
            <a:r>
              <a:rPr lang="en-US" dirty="0" err="1"/>
              <a:t>изменяемые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834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15420-7A7F-56A5-1181-7546A588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71BCB-24ED-F21B-0303-7AC2F9F19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</a:t>
            </a:r>
            <a:r>
              <a:rPr lang="en-US" dirty="0" err="1"/>
              <a:t>ель</a:t>
            </a:r>
            <a:r>
              <a:rPr lang="en-US" dirty="0"/>
              <a:t> </a:t>
            </a:r>
            <a:r>
              <a:rPr lang="en-US" dirty="0" err="1"/>
              <a:t>курса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</a:t>
            </a:r>
            <a:r>
              <a:rPr lang="en-US" dirty="0" err="1"/>
              <a:t>максимального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паттернов</a:t>
            </a:r>
            <a:r>
              <a:rPr lang="en-US" dirty="0"/>
              <a:t>.</a:t>
            </a:r>
          </a:p>
          <a:p>
            <a:r>
              <a:rPr lang="ru-RU" dirty="0"/>
              <a:t>Будем рассуждать у дизайне</a:t>
            </a:r>
          </a:p>
          <a:p>
            <a:pPr lvl="1"/>
            <a:r>
              <a:rPr lang="ru-RU" dirty="0"/>
              <a:t>Строить модель системы</a:t>
            </a:r>
          </a:p>
          <a:p>
            <a:pPr lvl="1"/>
            <a:r>
              <a:rPr lang="ru-RU" dirty="0"/>
              <a:t>Сравнивать различные варианты решений</a:t>
            </a:r>
          </a:p>
          <a:p>
            <a:pPr lvl="1"/>
            <a:r>
              <a:rPr lang="ru-RU" dirty="0"/>
              <a:t>Обосновывать выбор архитектуры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5050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07BA4F-A46D-DFE9-BFA3-09031741D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54F7E-0441-7DF3-0D70-F4047C29A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78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9932</Words>
  <Application>Microsoft Office PowerPoint</Application>
  <PresentationFormat>Widescreen</PresentationFormat>
  <Paragraphs>1214</Paragraphs>
  <Slides>66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Aptos Display</vt:lpstr>
      <vt:lpstr>Arial</vt:lpstr>
      <vt:lpstr>Consolas</vt:lpstr>
      <vt:lpstr>Office Theme</vt:lpstr>
      <vt:lpstr>Объектно-ориентированное проектирование</vt:lpstr>
      <vt:lpstr>От отдельного класса к системе объектов</vt:lpstr>
      <vt:lpstr>Хорошие классы ещё не означают хороший дизайн системы</vt:lpstr>
      <vt:lpstr>Меняется масштаб задачи</vt:lpstr>
      <vt:lpstr>Как изменения влияют на архитектуру?</vt:lpstr>
      <vt:lpstr>Как увидеть архитектуру программы</vt:lpstr>
      <vt:lpstr>Код показывает детали. Архитектуру нужно уметь видеть целиком</vt:lpstr>
      <vt:lpstr>Статический взгляд: из каких частей состоит система?</vt:lpstr>
      <vt:lpstr>Динамический взгляд: как объекты работают вместе</vt:lpstr>
      <vt:lpstr>Представление выбирают под задачу</vt:lpstr>
      <vt:lpstr>Графический редактор 1.0</vt:lpstr>
      <vt:lpstr>Графический редактор версии 1.0</vt:lpstr>
      <vt:lpstr>Фигуры имеют общий интерфейс</vt:lpstr>
      <vt:lpstr>Рисунок работает с фигурами полиморфно</vt:lpstr>
      <vt:lpstr>Хорошо ли спроектирована эта система?</vt:lpstr>
      <vt:lpstr>Первое изменение – новая фигура</vt:lpstr>
      <vt:lpstr>Новое требование: треугольник</vt:lpstr>
      <vt:lpstr>Добавляем Triangle</vt:lpstr>
      <vt:lpstr>Изменение осталось локальным</vt:lpstr>
      <vt:lpstr>Второе изменение: новый способ вывода</vt:lpstr>
      <vt:lpstr>Новое требование: экспорт в SVG</vt:lpstr>
      <vt:lpstr>Самое очевидное решение</vt:lpstr>
      <vt:lpstr>Насколько далеко распространилось изменение?</vt:lpstr>
      <vt:lpstr>Разные изменения затрагивают систему по-разному</vt:lpstr>
      <vt:lpstr>Добавить PDF</vt:lpstr>
      <vt:lpstr>Новое требование: экспорт в PDF</vt:lpstr>
      <vt:lpstr>Следуем уже выбранному решению</vt:lpstr>
      <vt:lpstr>Повторяется один и тот же сценарий изменений</vt:lpstr>
      <vt:lpstr>Что именно меняется в нашей системе?</vt:lpstr>
      <vt:lpstr>Что в системе меняется независимо?</vt:lpstr>
      <vt:lpstr>Посмотрим не на классы, а на изменения</vt:lpstr>
      <vt:lpstr>Две независимые причины изменений</vt:lpstr>
      <vt:lpstr>Текущая архитектура связывает две оси</vt:lpstr>
      <vt:lpstr>Что мы хотим изменить в архитектуре</vt:lpstr>
      <vt:lpstr>Разделяем фигуры и способы их вывода</vt:lpstr>
      <vt:lpstr>Что на самом деле нужно фигуре?</vt:lpstr>
      <vt:lpstr>Вводим абстракцию способа рисования</vt:lpstr>
      <vt:lpstr>Способы вывода становятся отдельными реализациями</vt:lpstr>
      <vt:lpstr>Теперь две части могут развиваться независимо</vt:lpstr>
      <vt:lpstr>Новое требование: фигура должна уметь менять свой тип</vt:lpstr>
      <vt:lpstr>Новое требование: изменить тип существующей фигуры</vt:lpstr>
      <vt:lpstr>Иерархия типов начинает нам мешать</vt:lpstr>
      <vt:lpstr>Отделяем фигуру от её геометрии</vt:lpstr>
      <vt:lpstr>Теперь изменение типа фигуры становится локальным</vt:lpstr>
      <vt:lpstr>Это решение – паттерн «Стратегия»</vt:lpstr>
      <vt:lpstr>Любая ли гибкость полезна?</vt:lpstr>
      <vt:lpstr>Может быть, сделаем заменяемым всё?</vt:lpstr>
      <vt:lpstr>Новое требование: выбор фигуры мышью</vt:lpstr>
      <vt:lpstr>Не всё различающееся поведение нужно отделять</vt:lpstr>
      <vt:lpstr>У гибкости есть цена</vt:lpstr>
      <vt:lpstr>Архитектура — это выбор того, какие изменения сделать дешёвыми</vt:lpstr>
      <vt:lpstr>Один редактор — разная цена изменений</vt:lpstr>
      <vt:lpstr>Сделать дешёвым всё не получится</vt:lpstr>
      <vt:lpstr>Архитектура – это выбор</vt:lpstr>
      <vt:lpstr>Почему нельзя спроектировать всё заранее?</vt:lpstr>
      <vt:lpstr>Зная будущее, легко критиковать прошлые решения</vt:lpstr>
      <vt:lpstr>Подготовиться ко всему — тоже плохая стратегия</vt:lpstr>
      <vt:lpstr>Проектируем не для неизвестного будущего, а для возможности измениться</vt:lpstr>
      <vt:lpstr>Паттерны: не цель, а словарь решений</vt:lpstr>
      <vt:lpstr>Мы уже встретили паттерн — хотя не начинали с него</vt:lpstr>
      <vt:lpstr>Зачем решениям нужны имена?</vt:lpstr>
      <vt:lpstr>Паттерн — не рецепт</vt:lpstr>
      <vt:lpstr>Чем будем заниматься в этом курсе</vt:lpstr>
      <vt:lpstr>Чем будем заниматься в этом курсе?</vt:lpstr>
      <vt:lpstr>Какой результат мы хотим получить?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26</cp:revision>
  <dcterms:created xsi:type="dcterms:W3CDTF">2026-09-02T15:40:08Z</dcterms:created>
  <dcterms:modified xsi:type="dcterms:W3CDTF">2026-09-03T17:35:22Z</dcterms:modified>
</cp:coreProperties>
</file>