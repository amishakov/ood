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332" r:id="rId2"/>
    <p:sldId id="258" r:id="rId3"/>
    <p:sldId id="333" r:id="rId4"/>
    <p:sldId id="261" r:id="rId5"/>
    <p:sldId id="287" r:id="rId6"/>
    <p:sldId id="288" r:id="rId7"/>
    <p:sldId id="298" r:id="rId8"/>
    <p:sldId id="334" r:id="rId9"/>
    <p:sldId id="303" r:id="rId10"/>
    <p:sldId id="335" r:id="rId11"/>
    <p:sldId id="264" r:id="rId12"/>
    <p:sldId id="336" r:id="rId13"/>
    <p:sldId id="337" r:id="rId14"/>
    <p:sldId id="338" r:id="rId15"/>
    <p:sldId id="339" r:id="rId16"/>
    <p:sldId id="340" r:id="rId17"/>
    <p:sldId id="341" r:id="rId18"/>
    <p:sldId id="343" r:id="rId19"/>
    <p:sldId id="342" r:id="rId20"/>
    <p:sldId id="265" r:id="rId21"/>
    <p:sldId id="292" r:id="rId22"/>
    <p:sldId id="344" r:id="rId23"/>
    <p:sldId id="345" r:id="rId24"/>
    <p:sldId id="346" r:id="rId25"/>
    <p:sldId id="347" r:id="rId26"/>
    <p:sldId id="323" r:id="rId27"/>
    <p:sldId id="348" r:id="rId28"/>
    <p:sldId id="349" r:id="rId29"/>
    <p:sldId id="350" r:id="rId30"/>
    <p:sldId id="272" r:id="rId31"/>
    <p:sldId id="351" r:id="rId32"/>
    <p:sldId id="353" r:id="rId33"/>
    <p:sldId id="354" r:id="rId34"/>
    <p:sldId id="355" r:id="rId35"/>
    <p:sldId id="356" r:id="rId36"/>
    <p:sldId id="352" r:id="rId37"/>
    <p:sldId id="279" r:id="rId38"/>
    <p:sldId id="322" r:id="rId39"/>
    <p:sldId id="357" r:id="rId40"/>
    <p:sldId id="358" r:id="rId41"/>
    <p:sldId id="359" r:id="rId42"/>
    <p:sldId id="360" r:id="rId43"/>
    <p:sldId id="361" r:id="rId44"/>
    <p:sldId id="362" r:id="rId45"/>
    <p:sldId id="286" r:id="rId46"/>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289DA28-C9C0-42FE-B6FA-C25EDA060E34}">
          <p14:sldIdLst>
            <p14:sldId id="332"/>
            <p14:sldId id="258"/>
            <p14:sldId id="333"/>
            <p14:sldId id="261"/>
            <p14:sldId id="287"/>
            <p14:sldId id="288"/>
            <p14:sldId id="298"/>
            <p14:sldId id="334"/>
            <p14:sldId id="303"/>
          </p14:sldIdLst>
        </p14:section>
        <p14:section name="Принцип открытости/закрытости" id="{0A30BD40-943A-4EA5-A01C-3BD3D65F1896}">
          <p14:sldIdLst>
            <p14:sldId id="335"/>
            <p14:sldId id="264"/>
            <p14:sldId id="336"/>
            <p14:sldId id="337"/>
            <p14:sldId id="338"/>
            <p14:sldId id="339"/>
            <p14:sldId id="340"/>
            <p14:sldId id="341"/>
            <p14:sldId id="343"/>
          </p14:sldIdLst>
        </p14:section>
        <p14:section name="LSP" id="{73E48A9F-CE5F-4A01-B89C-D685691315EF}">
          <p14:sldIdLst>
            <p14:sldId id="342"/>
            <p14:sldId id="265"/>
            <p14:sldId id="292"/>
            <p14:sldId id="344"/>
            <p14:sldId id="345"/>
            <p14:sldId id="346"/>
            <p14:sldId id="347"/>
            <p14:sldId id="323"/>
            <p14:sldId id="348"/>
            <p14:sldId id="349"/>
          </p14:sldIdLst>
        </p14:section>
        <p14:section name="Принцип разделения интерфейса" id="{32262183-C319-4765-A834-D404A9BCFBE1}">
          <p14:sldIdLst>
            <p14:sldId id="350"/>
            <p14:sldId id="272"/>
            <p14:sldId id="351"/>
            <p14:sldId id="353"/>
            <p14:sldId id="354"/>
            <p14:sldId id="355"/>
            <p14:sldId id="356"/>
          </p14:sldIdLst>
        </p14:section>
        <p14:section name="Принцип инверсии зависимостей" id="{35127A7D-12A8-469E-B46D-E2A144FAAA68}">
          <p14:sldIdLst>
            <p14:sldId id="352"/>
            <p14:sldId id="279"/>
            <p14:sldId id="322"/>
            <p14:sldId id="357"/>
            <p14:sldId id="358"/>
            <p14:sldId id="359"/>
            <p14:sldId id="360"/>
            <p14:sldId id="361"/>
            <p14:sldId id="362"/>
            <p14:sldId id="286"/>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Пользователь Windows" initials="ПW" lastIdx="154" clrIdx="0"/>
  <p:cmAuthor id="2" name="Алексей Малов" initials="АМ" lastIdx="2"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99" autoAdjust="0"/>
    <p:restoredTop sz="84746" autoAdjust="0"/>
  </p:normalViewPr>
  <p:slideViewPr>
    <p:cSldViewPr snapToGrid="0">
      <p:cViewPr varScale="1">
        <p:scale>
          <a:sx n="82" d="100"/>
          <a:sy n="82" d="100"/>
        </p:scale>
        <p:origin x="1674" y="300"/>
      </p:cViewPr>
      <p:guideLst>
        <p:guide orient="horz" pos="2160"/>
        <p:guide pos="3840"/>
      </p:guideLst>
    </p:cSldViewPr>
  </p:slideViewPr>
  <p:notesTextViewPr>
    <p:cViewPr>
      <p:scale>
        <a:sx n="100" d="100"/>
        <a:sy n="100" d="100"/>
      </p:scale>
      <p:origin x="0" y="0"/>
    </p:cViewPr>
  </p:notesTextViewPr>
  <p:sorterViewPr>
    <p:cViewPr>
      <p:scale>
        <a:sx n="100" d="100"/>
        <a:sy n="100" d="100"/>
      </p:scale>
      <p:origin x="0" y="-381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452FF6-3607-4C4E-A116-BCC07DF7B9AE}" type="datetimeFigureOut">
              <a:rPr lang="ru-RU" smtClean="0"/>
              <a:t>06.02.2026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F0A773-BC3A-474D-8036-883A816F0F99}" type="slidenum">
              <a:rPr lang="ru-RU" smtClean="0"/>
              <a:t>‹#›</a:t>
            </a:fld>
            <a:endParaRPr lang="ru-RU"/>
          </a:p>
        </p:txBody>
      </p:sp>
    </p:spTree>
    <p:extLst>
      <p:ext uri="{BB962C8B-B14F-4D97-AF65-F5344CB8AC3E}">
        <p14:creationId xmlns:p14="http://schemas.microsoft.com/office/powerpoint/2010/main" val="24160965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F0A773-BC3A-474D-8036-883A816F0F99}" type="slidenum">
              <a:rPr lang="ru-RU" smtClean="0"/>
              <a:t>1</a:t>
            </a:fld>
            <a:endParaRPr lang="ru-RU"/>
          </a:p>
        </p:txBody>
      </p:sp>
    </p:spTree>
    <p:extLst>
      <p:ext uri="{BB962C8B-B14F-4D97-AF65-F5344CB8AC3E}">
        <p14:creationId xmlns:p14="http://schemas.microsoft.com/office/powerpoint/2010/main" val="41569415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SOLID — это набор из пяти принципов объектно-ориентированного проектирования, которые предложил Роберт Мартин. Они не являются жёсткими правилами, но служат ориентиром, помогающим писать код, который легче поддерживать, развивать и тестировать.</a:t>
            </a:r>
          </a:p>
          <a:p>
            <a:endParaRPr lang="ru-RU" dirty="0"/>
          </a:p>
          <a:p>
            <a:r>
              <a:rPr lang="ru-RU" dirty="0"/>
              <a:t>Аббревиатура SOLID складывается из первых букв названий принципов.</a:t>
            </a:r>
          </a:p>
          <a:p>
            <a:r>
              <a:rPr lang="ru-RU" b="1" dirty="0"/>
              <a:t>S — Single </a:t>
            </a:r>
            <a:r>
              <a:rPr lang="ru-RU" b="1" dirty="0" err="1"/>
              <a:t>Responsibility</a:t>
            </a:r>
            <a:r>
              <a:rPr lang="ru-RU" b="1" dirty="0"/>
              <a:t>.</a:t>
            </a:r>
            <a:r>
              <a:rPr lang="ru-RU" dirty="0"/>
              <a:t> Принцип единственной ответственности. Он говорит, что у класса должна быть ровно одна причина для изменений. Если причин несколько, изменения в одной ответственности будут непредсказуемо влиять на другую.</a:t>
            </a:r>
          </a:p>
          <a:p>
            <a:r>
              <a:rPr lang="ru-RU" b="1" dirty="0"/>
              <a:t>O — Open/</a:t>
            </a:r>
            <a:r>
              <a:rPr lang="ru-RU" b="1" dirty="0" err="1"/>
              <a:t>Closed</a:t>
            </a:r>
            <a:r>
              <a:rPr lang="ru-RU" b="1" dirty="0"/>
              <a:t>.</a:t>
            </a:r>
            <a:r>
              <a:rPr lang="ru-RU" dirty="0"/>
              <a:t> Программная сущность должна быть открыта для расширения, но закрыта для модификации. То есть, добавлять новое поведение мы должны без изменения существующего кода.</a:t>
            </a:r>
          </a:p>
          <a:p>
            <a:r>
              <a:rPr lang="ru-RU" b="1" dirty="0"/>
              <a:t>L — </a:t>
            </a:r>
            <a:r>
              <a:rPr lang="ru-RU" b="1" dirty="0" err="1"/>
              <a:t>Liskov</a:t>
            </a:r>
            <a:r>
              <a:rPr lang="ru-RU" b="1" dirty="0"/>
              <a:t> </a:t>
            </a:r>
            <a:r>
              <a:rPr lang="ru-RU" b="1" dirty="0" err="1"/>
              <a:t>Substitution</a:t>
            </a:r>
            <a:r>
              <a:rPr lang="ru-RU" b="1" dirty="0"/>
              <a:t>.</a:t>
            </a:r>
            <a:r>
              <a:rPr lang="ru-RU" dirty="0"/>
              <a:t> Принцип подстановки Барбары Лисков. Подкласс должен полностью соответствовать ожиданиям базового класса — чтобы код, который работает с базовым типом, не ломался, даже если подставить туда производный.</a:t>
            </a:r>
          </a:p>
          <a:p>
            <a:r>
              <a:rPr lang="ru-RU" b="1" dirty="0"/>
              <a:t>I — Interface </a:t>
            </a:r>
            <a:r>
              <a:rPr lang="ru-RU" b="1" dirty="0" err="1"/>
              <a:t>Segregation</a:t>
            </a:r>
            <a:r>
              <a:rPr lang="ru-RU" b="1" dirty="0"/>
              <a:t>.</a:t>
            </a:r>
            <a:r>
              <a:rPr lang="ru-RU" dirty="0"/>
              <a:t> Интерфейс лучше разбивать на несколько маленьких, чем иметь один “толстый”, заставляющий клиенты зависеть от ненужных методов.</a:t>
            </a:r>
          </a:p>
          <a:p>
            <a:r>
              <a:rPr lang="ru-RU" b="1" dirty="0"/>
              <a:t>D — </a:t>
            </a:r>
            <a:r>
              <a:rPr lang="ru-RU" b="1" dirty="0" err="1"/>
              <a:t>Dependency</a:t>
            </a:r>
            <a:r>
              <a:rPr lang="ru-RU" b="1" dirty="0"/>
              <a:t> </a:t>
            </a:r>
            <a:r>
              <a:rPr lang="ru-RU" b="1" dirty="0" err="1"/>
              <a:t>Inversion</a:t>
            </a:r>
            <a:r>
              <a:rPr lang="ru-RU" b="1" dirty="0"/>
              <a:t>.</a:t>
            </a:r>
            <a:r>
              <a:rPr lang="ru-RU" dirty="0"/>
              <a:t> </a:t>
            </a:r>
            <a:r>
              <a:rPr lang="ru-RU" dirty="0" err="1"/>
              <a:t>Верхнеуровневый</a:t>
            </a:r>
            <a:r>
              <a:rPr lang="ru-RU" dirty="0"/>
              <a:t> код должен зависеть от абстракций, а не от деталей. Это позволяет менять конкретные реализации, не затрагивая бизнес-логику.</a:t>
            </a:r>
          </a:p>
          <a:p>
            <a:endParaRPr lang="ru-RU" dirty="0"/>
          </a:p>
          <a:p>
            <a:r>
              <a:rPr lang="ru-RU" i="1" dirty="0"/>
              <a:t>Эти принципы помогают уменьшить связность, улучшить гибкость архитектуры и сделать систему более устойчивой к изменениям. На следующих слайдах мы рассмотрим каждый принцип отдельно и увидим, как они работают на практике».</a:t>
            </a:r>
            <a:endParaRPr lang="ru-RU" dirty="0"/>
          </a:p>
          <a:p>
            <a:endParaRPr lang="ru-RU" dirty="0"/>
          </a:p>
        </p:txBody>
      </p:sp>
      <p:sp>
        <p:nvSpPr>
          <p:cNvPr id="4" name="Номер слайда 3"/>
          <p:cNvSpPr>
            <a:spLocks noGrp="1"/>
          </p:cNvSpPr>
          <p:nvPr>
            <p:ph type="sldNum" sz="quarter" idx="10"/>
          </p:nvPr>
        </p:nvSpPr>
        <p:spPr/>
        <p:txBody>
          <a:bodyPr/>
          <a:lstStyle/>
          <a:p>
            <a:fld id="{9BF0A773-BC3A-474D-8036-883A816F0F99}" type="slidenum">
              <a:rPr lang="ru-RU" smtClean="0"/>
              <a:t>2</a:t>
            </a:fld>
            <a:endParaRPr lang="ru-RU"/>
          </a:p>
        </p:txBody>
      </p:sp>
    </p:spTree>
    <p:extLst>
      <p:ext uri="{BB962C8B-B14F-4D97-AF65-F5344CB8AC3E}">
        <p14:creationId xmlns:p14="http://schemas.microsoft.com/office/powerpoint/2010/main" val="34431987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F0A773-BC3A-474D-8036-883A816F0F99}" type="slidenum">
              <a:rPr lang="ru-RU" smtClean="0"/>
              <a:t>3</a:t>
            </a:fld>
            <a:endParaRPr lang="ru-RU"/>
          </a:p>
        </p:txBody>
      </p:sp>
    </p:spTree>
    <p:extLst>
      <p:ext uri="{BB962C8B-B14F-4D97-AF65-F5344CB8AC3E}">
        <p14:creationId xmlns:p14="http://schemas.microsoft.com/office/powerpoint/2010/main" val="41483656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Начнём с самого первого и, возможно, самого важного принципа — принципа единственной ответственности. Его формулировка звучит так: класс должен иметь только одну причину для изменений.</a:t>
            </a:r>
          </a:p>
          <a:p>
            <a:r>
              <a:rPr lang="ru-RU" dirty="0"/>
              <a:t>Если говорить простыми словами — у класса должна быть </a:t>
            </a:r>
            <a:r>
              <a:rPr lang="ru-RU" b="1" dirty="0"/>
              <a:t>одна роль</a:t>
            </a:r>
            <a:r>
              <a:rPr lang="ru-RU" dirty="0"/>
              <a:t>, один источник требований, один “актор”, который диктует, что и как должно меняться.</a:t>
            </a:r>
          </a:p>
          <a:p>
            <a:r>
              <a:rPr lang="ru-RU" dirty="0"/>
              <a:t>Почему это важно? Представьте класс, который и читает файл, и валидирует данные, и преобразует их в объект, и </a:t>
            </a:r>
            <a:r>
              <a:rPr lang="ru-RU" dirty="0" err="1"/>
              <a:t>логирует</a:t>
            </a:r>
            <a:r>
              <a:rPr lang="ru-RU" dirty="0"/>
              <a:t> ошибки. Он вроде бы “про файл”, но влияет на него сразу четыре источника изменений: формат файла, правила валидации, структура доменного объекта и требования к логированию. Любое изменение в одном из аспектов может поломать работу другого, и класс становится хрупким.</a:t>
            </a:r>
          </a:p>
          <a:p>
            <a:endParaRPr lang="ru-RU" dirty="0"/>
          </a:p>
          <a:p>
            <a:r>
              <a:rPr lang="ru-RU" dirty="0"/>
              <a:t>SRP помогает избежать этого. Мы стремимся к тому, чтобы каждая часть системы имела ясную, изолированную ответственность. Тогда изменения в одной области не тянут за собой цепочку исправлений по всей системе.</a:t>
            </a:r>
          </a:p>
          <a:p>
            <a:r>
              <a:rPr lang="ru-RU" dirty="0"/>
              <a:t>Есть простой приём, который помогает понять, нарушается ли принцип. Попробуйте описать, что делает класс, одним предложением. Например: “Класс </a:t>
            </a:r>
            <a:r>
              <a:rPr lang="ru-RU" dirty="0" err="1"/>
              <a:t>Bitmap</a:t>
            </a:r>
            <a:r>
              <a:rPr lang="ru-RU" dirty="0"/>
              <a:t> хранит пиксели изображения”. Это просто и понятно — ответственность одна.</a:t>
            </a:r>
          </a:p>
          <a:p>
            <a:br>
              <a:rPr lang="ru-RU" dirty="0"/>
            </a:br>
            <a:r>
              <a:rPr lang="ru-RU" dirty="0"/>
              <a:t>А если у вас получается что-то вроде: “Класс </a:t>
            </a:r>
            <a:r>
              <a:rPr lang="ru-RU" dirty="0" err="1"/>
              <a:t>Bitmap</a:t>
            </a:r>
            <a:r>
              <a:rPr lang="ru-RU" dirty="0"/>
              <a:t> хранит пиксели, умеет сохранять их в файл и умеет рисовать линии” — вы уже чувствуете, что это три ответственности. И у каждой своя причина для изменений.</a:t>
            </a:r>
          </a:p>
          <a:p>
            <a:r>
              <a:rPr lang="ru-RU" dirty="0"/>
              <a:t>Именно поэтому SRP — основа для модульности, </a:t>
            </a:r>
            <a:r>
              <a:rPr lang="ru-RU" dirty="0" err="1"/>
              <a:t>переиспользуемости</a:t>
            </a:r>
            <a:r>
              <a:rPr lang="ru-RU" dirty="0"/>
              <a:t> и тестируемости. Если у класса одна ответственность, тестировать его проще, расширять проще и понимать проще.</a:t>
            </a:r>
          </a:p>
          <a:p>
            <a:endParaRPr lang="ru-RU" i="1" dirty="0"/>
          </a:p>
        </p:txBody>
      </p:sp>
      <p:sp>
        <p:nvSpPr>
          <p:cNvPr id="4" name="Номер слайда 3"/>
          <p:cNvSpPr>
            <a:spLocks noGrp="1"/>
          </p:cNvSpPr>
          <p:nvPr>
            <p:ph type="sldNum" sz="quarter" idx="10"/>
          </p:nvPr>
        </p:nvSpPr>
        <p:spPr/>
        <p:txBody>
          <a:bodyPr/>
          <a:lstStyle/>
          <a:p>
            <a:fld id="{A0B28B7E-B000-4596-AC62-77FFB0327B90}" type="slidenum">
              <a:rPr lang="ru-RU" smtClean="0"/>
              <a:t>4</a:t>
            </a:fld>
            <a:endParaRPr lang="ru-RU"/>
          </a:p>
        </p:txBody>
      </p:sp>
    </p:spTree>
    <p:extLst>
      <p:ext uri="{BB962C8B-B14F-4D97-AF65-F5344CB8AC3E}">
        <p14:creationId xmlns:p14="http://schemas.microsoft.com/office/powerpoint/2010/main" val="4328845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baseline="0" dirty="0"/>
              <a:t>Перед нами класс </a:t>
            </a:r>
            <a:r>
              <a:rPr lang="en-US" baseline="0" dirty="0"/>
              <a:t>Bitmap</a:t>
            </a:r>
            <a:r>
              <a:rPr lang="ru-RU" baseline="0" dirty="0"/>
              <a:t>, предоставляющий операции над растровым изображением</a:t>
            </a:r>
            <a:r>
              <a:rPr lang="en-US" baseline="0" dirty="0"/>
              <a:t>.</a:t>
            </a:r>
            <a:r>
              <a:rPr lang="ru-RU" baseline="0" dirty="0"/>
              <a:t> </a:t>
            </a: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ru-RU" baseline="0" dirty="0"/>
              <a:t>Помимо основной ответственности – хранения пикселей – в классе присутствуют сохранение в файл и рисование линии. Каждая из этих функций вносит дополнительную ответственность в класс </a:t>
            </a:r>
            <a:r>
              <a:rPr lang="en-US" baseline="0" dirty="0"/>
              <a:t>Bitmap</a:t>
            </a:r>
            <a:r>
              <a:rPr lang="ru-RU" baseline="0" dirty="0"/>
              <a:t>. Тем самым принцип нарушается.</a:t>
            </a:r>
          </a:p>
          <a:p>
            <a:r>
              <a:rPr lang="ru-RU" baseline="0" dirty="0"/>
              <a:t>Сформулируем ответственность класса в виде предложения: Класс </a:t>
            </a:r>
            <a:r>
              <a:rPr lang="en-US" baseline="0" dirty="0"/>
              <a:t>Bitmap</a:t>
            </a:r>
            <a:r>
              <a:rPr lang="ru-RU" baseline="0" dirty="0"/>
              <a:t> хранит в себе пиксели изображения, а также позволяет сохранить изображение в файл и нарисовать линию. Предложение получилось сложным, что может свидетельствовать о нарушении принципа.</a:t>
            </a:r>
          </a:p>
          <a:p>
            <a:endParaRPr lang="ru-RU" baseline="0" dirty="0"/>
          </a:p>
        </p:txBody>
      </p:sp>
      <p:sp>
        <p:nvSpPr>
          <p:cNvPr id="4" name="Номер слайда 3"/>
          <p:cNvSpPr>
            <a:spLocks noGrp="1"/>
          </p:cNvSpPr>
          <p:nvPr>
            <p:ph type="sldNum" sz="quarter" idx="10"/>
          </p:nvPr>
        </p:nvSpPr>
        <p:spPr/>
        <p:txBody>
          <a:bodyPr/>
          <a:lstStyle/>
          <a:p>
            <a:fld id="{9BF0A773-BC3A-474D-8036-883A816F0F99}" type="slidenum">
              <a:rPr lang="ru-RU" smtClean="0"/>
              <a:t>5</a:t>
            </a:fld>
            <a:endParaRPr lang="ru-RU"/>
          </a:p>
        </p:txBody>
      </p:sp>
    </p:spTree>
    <p:extLst>
      <p:ext uri="{BB962C8B-B14F-4D97-AF65-F5344CB8AC3E}">
        <p14:creationId xmlns:p14="http://schemas.microsoft.com/office/powerpoint/2010/main" val="32762075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Мы вынесли из класса </a:t>
            </a:r>
            <a:r>
              <a:rPr lang="ru-RU" b="1" dirty="0" err="1"/>
              <a:t>Bitmap</a:t>
            </a:r>
            <a:r>
              <a:rPr lang="ru-RU" dirty="0"/>
              <a:t> две дополнительные ответственности:</a:t>
            </a:r>
            <a:br>
              <a:rPr lang="ru-RU" dirty="0"/>
            </a:br>
            <a:r>
              <a:rPr lang="ru-RU" dirty="0"/>
              <a:t>— рисование примитивов</a:t>
            </a:r>
            <a:br>
              <a:rPr lang="ru-RU" dirty="0"/>
            </a:br>
            <a:r>
              <a:rPr lang="ru-RU" dirty="0"/>
              <a:t>— сохранение изображения в файл</a:t>
            </a:r>
          </a:p>
          <a:p>
            <a:r>
              <a:rPr lang="ru-RU" dirty="0"/>
              <a:t>В результате класс </a:t>
            </a:r>
            <a:r>
              <a:rPr lang="ru-RU" b="1" dirty="0" err="1"/>
              <a:t>Bitmap</a:t>
            </a:r>
            <a:r>
              <a:rPr lang="ru-RU" dirty="0"/>
              <a:t> теперь инкапсулирует </a:t>
            </a:r>
            <a:r>
              <a:rPr lang="ru-RU" i="1" dirty="0"/>
              <a:t>только хранение пикселей</a:t>
            </a:r>
            <a:r>
              <a:rPr lang="ru-RU" dirty="0"/>
              <a:t> и предоставляет методы доступа к ним.</a:t>
            </a:r>
          </a:p>
          <a:p>
            <a:r>
              <a:rPr lang="ru-RU" dirty="0"/>
              <a:t>Функции рисования перенесены в класс </a:t>
            </a:r>
            <a:r>
              <a:rPr lang="ru-RU" b="1" dirty="0" err="1"/>
              <a:t>BitmapGraphics</a:t>
            </a:r>
            <a:r>
              <a:rPr lang="ru-RU" dirty="0"/>
              <a:t>, который работает поверх переданного </a:t>
            </a:r>
            <a:r>
              <a:rPr lang="ru-RU" dirty="0" err="1"/>
              <a:t>Bitmap</a:t>
            </a:r>
            <a:r>
              <a:rPr lang="ru-RU" dirty="0"/>
              <a:t>.</a:t>
            </a:r>
            <a:br>
              <a:rPr lang="ru-RU" dirty="0"/>
            </a:br>
            <a:r>
              <a:rPr lang="ru-RU" dirty="0"/>
              <a:t>Сохранение изображения вынесено в класс </a:t>
            </a:r>
            <a:r>
              <a:rPr lang="ru-RU" b="1" dirty="0" err="1"/>
              <a:t>PngImageEncoder</a:t>
            </a:r>
            <a:r>
              <a:rPr lang="ru-RU" dirty="0"/>
              <a:t>, чей метод </a:t>
            </a:r>
            <a:r>
              <a:rPr lang="ru-RU" sz="1200" kern="1200" dirty="0" err="1">
                <a:solidFill>
                  <a:schemeClr val="tx1"/>
                </a:solidFill>
                <a:latin typeface="+mn-lt"/>
                <a:ea typeface="+mn-ea"/>
                <a:cs typeface="+mn-cs"/>
              </a:rPr>
              <a:t>SaveBitmap</a:t>
            </a:r>
            <a:r>
              <a:rPr lang="ru-RU" dirty="0"/>
              <a:t> принимает </a:t>
            </a:r>
            <a:r>
              <a:rPr lang="ru-RU" dirty="0" err="1"/>
              <a:t>Bitmap</a:t>
            </a:r>
            <a:r>
              <a:rPr lang="ru-RU" dirty="0"/>
              <a:t> и кодирует его в файл.</a:t>
            </a:r>
          </a:p>
          <a:p>
            <a:r>
              <a:rPr lang="ru-RU" b="1" dirty="0"/>
              <a:t>Чего мы добились</a:t>
            </a:r>
          </a:p>
          <a:p>
            <a:pPr marL="171450" indent="-171450">
              <a:buFont typeface="Arial" panose="020B0604020202020204" pitchFamily="34" charset="0"/>
              <a:buChar char="•"/>
            </a:pPr>
            <a:r>
              <a:rPr lang="ru-RU" b="1" dirty="0"/>
              <a:t>Изменение внутреннего представления пикселей не влияет</a:t>
            </a:r>
            <a:r>
              <a:rPr lang="ru-RU" dirty="0"/>
              <a:t> на код рисования и код сохранения.</a:t>
            </a:r>
          </a:p>
          <a:p>
            <a:pPr marL="171450" indent="-171450">
              <a:buFont typeface="Arial" panose="020B0604020202020204" pitchFamily="34" charset="0"/>
              <a:buChar char="•"/>
            </a:pPr>
            <a:r>
              <a:rPr lang="ru-RU" dirty="0"/>
              <a:t>Появилась возможность </a:t>
            </a:r>
            <a:r>
              <a:rPr lang="ru-RU" b="1" dirty="0"/>
              <a:t>добавлять новые форматы файлов</a:t>
            </a:r>
            <a:r>
              <a:rPr lang="ru-RU" dirty="0"/>
              <a:t>, создавая новые энкодеры без изменения существующих классов.</a:t>
            </a:r>
          </a:p>
          <a:p>
            <a:pPr marL="171450" indent="-171450">
              <a:buFont typeface="Arial" panose="020B0604020202020204" pitchFamily="34" charset="0"/>
              <a:buChar char="•"/>
            </a:pPr>
            <a:r>
              <a:rPr lang="ru-RU" dirty="0"/>
              <a:t>Ответственность класса </a:t>
            </a:r>
            <a:r>
              <a:rPr lang="ru-RU" dirty="0" err="1"/>
              <a:t>Bitmap</a:t>
            </a:r>
            <a:r>
              <a:rPr lang="ru-RU" dirty="0"/>
              <a:t> формулируется однозначно:</a:t>
            </a:r>
            <a:br>
              <a:rPr lang="ru-RU" dirty="0"/>
            </a:br>
            <a:r>
              <a:rPr lang="ru-RU" b="1" dirty="0"/>
              <a:t>«Класс </a:t>
            </a:r>
            <a:r>
              <a:rPr lang="ru-RU" b="1" dirty="0" err="1"/>
              <a:t>Bitmap</a:t>
            </a:r>
            <a:r>
              <a:rPr lang="ru-RU" b="1" dirty="0"/>
              <a:t> хранит пиксели изображения».</a:t>
            </a:r>
            <a:br>
              <a:rPr lang="ru-RU" dirty="0"/>
            </a:br>
            <a:r>
              <a:rPr lang="ru-RU" dirty="0"/>
              <a:t>Одно простое предложение ⇒ SRP соблюдён.</a:t>
            </a:r>
          </a:p>
          <a:p>
            <a:r>
              <a:rPr lang="ru-RU" b="1" dirty="0"/>
              <a:t>Недостатки</a:t>
            </a:r>
          </a:p>
          <a:p>
            <a:pPr marL="171450" indent="-171450">
              <a:buFont typeface="Arial" panose="020B0604020202020204" pitchFamily="34" charset="0"/>
              <a:buChar char="•"/>
            </a:pPr>
            <a:r>
              <a:rPr lang="ru-RU" b="1" dirty="0"/>
              <a:t>Ухудшается </a:t>
            </a:r>
            <a:r>
              <a:rPr lang="ru-RU" b="1" dirty="0" err="1"/>
              <a:t>discoverability</a:t>
            </a:r>
            <a:r>
              <a:rPr lang="ru-RU" b="1" dirty="0"/>
              <a:t>:</a:t>
            </a:r>
            <a:r>
              <a:rPr lang="ru-RU" dirty="0"/>
              <a:t> функции рисования и сохранения теперь нужно искать в отдельных компонентах.</a:t>
            </a:r>
          </a:p>
          <a:p>
            <a:pPr marL="171450" indent="-171450">
              <a:buFont typeface="Arial" panose="020B0604020202020204" pitchFamily="34" charset="0"/>
              <a:buChar char="•"/>
            </a:pPr>
            <a:r>
              <a:rPr lang="ru-RU" b="1" dirty="0"/>
              <a:t>Сохранение стало более многословным</a:t>
            </a:r>
            <a:r>
              <a:rPr lang="ru-RU" dirty="0"/>
              <a:t>, особенно если чаще всего используется один формат.</a:t>
            </a:r>
          </a:p>
        </p:txBody>
      </p:sp>
      <p:sp>
        <p:nvSpPr>
          <p:cNvPr id="4" name="Номер слайда 3"/>
          <p:cNvSpPr>
            <a:spLocks noGrp="1"/>
          </p:cNvSpPr>
          <p:nvPr>
            <p:ph type="sldNum" sz="quarter" idx="10"/>
          </p:nvPr>
        </p:nvSpPr>
        <p:spPr/>
        <p:txBody>
          <a:bodyPr/>
          <a:lstStyle/>
          <a:p>
            <a:fld id="{9BF0A773-BC3A-474D-8036-883A816F0F99}" type="slidenum">
              <a:rPr lang="ru-RU" smtClean="0"/>
              <a:t>6</a:t>
            </a:fld>
            <a:endParaRPr lang="ru-RU"/>
          </a:p>
        </p:txBody>
      </p:sp>
    </p:spTree>
    <p:extLst>
      <p:ext uri="{BB962C8B-B14F-4D97-AF65-F5344CB8AC3E}">
        <p14:creationId xmlns:p14="http://schemas.microsoft.com/office/powerpoint/2010/main" val="161290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baseline="0" dirty="0"/>
              <a:t>Сейчас мы видим, как меняется код сохранения и рисования после применения принципа единственной ответственности.</a:t>
            </a:r>
          </a:p>
          <a:p>
            <a:pPr marL="0" marR="0" indent="0" algn="l" defTabSz="914400" rtl="0" eaLnBrk="1" fontAlgn="auto" latinLnBrk="0" hangingPunct="1">
              <a:lnSpc>
                <a:spcPct val="100000"/>
              </a:lnSpc>
              <a:spcBef>
                <a:spcPts val="0"/>
              </a:spcBef>
              <a:spcAft>
                <a:spcPts val="0"/>
              </a:spcAft>
              <a:buClrTx/>
              <a:buSzTx/>
              <a:buFontTx/>
              <a:buNone/>
              <a:tabLst/>
              <a:defRPr/>
            </a:pPr>
            <a:r>
              <a:rPr lang="ru-RU" baseline="0" dirty="0"/>
              <a:t>Как мы видим, до начала использования принципа сохранение выполнялось в одну строку, а рисование – в две. Теперь же для сохранения требуется создать </a:t>
            </a:r>
            <a:r>
              <a:rPr lang="ru-RU" baseline="0" dirty="0" err="1"/>
              <a:t>энкодер</a:t>
            </a:r>
            <a:r>
              <a:rPr lang="ru-RU" baseline="0" dirty="0"/>
              <a:t>, а для рисования – объект графики; обе операции теперь занимают на одну строку кода больше. Для рисования это не является критичным, так как команд рисования обычно несколько. Для упрощения сохранения можно использовать функцию фасад, которая скроет создание </a:t>
            </a:r>
            <a:r>
              <a:rPr lang="ru-RU" baseline="0" dirty="0" err="1"/>
              <a:t>энкодера</a:t>
            </a:r>
            <a:r>
              <a:rPr lang="ru-RU" baseline="0" dirty="0"/>
              <a:t>.</a:t>
            </a:r>
          </a:p>
          <a:p>
            <a:pPr marL="0" marR="0" indent="0" algn="l" defTabSz="914400" rtl="0" eaLnBrk="1" fontAlgn="auto" latinLnBrk="0" hangingPunct="1">
              <a:lnSpc>
                <a:spcPct val="100000"/>
              </a:lnSpc>
              <a:spcBef>
                <a:spcPts val="0"/>
              </a:spcBef>
              <a:spcAft>
                <a:spcPts val="0"/>
              </a:spcAft>
              <a:buClrTx/>
              <a:buSzTx/>
              <a:buFontTx/>
              <a:buNone/>
              <a:tabLst/>
              <a:defRPr/>
            </a:pPr>
            <a:endParaRPr lang="ru-RU"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ru-RU" baseline="0" dirty="0"/>
              <a:t>Вывод: при использовании принципа код становится чуть более многословным. Однако это дает много плюсов: расширить функционал теперь легче (например, добавить рисование окружности); менять интерфейс и реализации </a:t>
            </a:r>
            <a:r>
              <a:rPr lang="en-US" baseline="0" dirty="0"/>
              <a:t>Bitmap </a:t>
            </a:r>
            <a:r>
              <a:rPr lang="ru-RU" baseline="0" dirty="0"/>
              <a:t>для этого не придется.</a:t>
            </a:r>
          </a:p>
        </p:txBody>
      </p:sp>
      <p:sp>
        <p:nvSpPr>
          <p:cNvPr id="4" name="Номер слайда 3"/>
          <p:cNvSpPr>
            <a:spLocks noGrp="1"/>
          </p:cNvSpPr>
          <p:nvPr>
            <p:ph type="sldNum" sz="quarter" idx="10"/>
          </p:nvPr>
        </p:nvSpPr>
        <p:spPr/>
        <p:txBody>
          <a:bodyPr/>
          <a:lstStyle/>
          <a:p>
            <a:fld id="{9BF0A773-BC3A-474D-8036-883A816F0F99}" type="slidenum">
              <a:rPr lang="ru-RU" smtClean="0"/>
              <a:t>7</a:t>
            </a:fld>
            <a:endParaRPr lang="ru-RU"/>
          </a:p>
        </p:txBody>
      </p:sp>
    </p:spTree>
    <p:extLst>
      <p:ext uri="{BB962C8B-B14F-4D97-AF65-F5344CB8AC3E}">
        <p14:creationId xmlns:p14="http://schemas.microsoft.com/office/powerpoint/2010/main" val="21079338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Давайте подведём итоги применения SRP.</a:t>
            </a:r>
            <a:br>
              <a:rPr lang="ru-RU" dirty="0"/>
            </a:br>
            <a:r>
              <a:rPr lang="ru-RU" dirty="0"/>
              <a:t>Прежде всего — достоинства.</a:t>
            </a:r>
          </a:p>
          <a:p>
            <a:endParaRPr lang="ru-RU" dirty="0"/>
          </a:p>
          <a:p>
            <a:r>
              <a:rPr lang="ru-RU" dirty="0"/>
              <a:t>Благодаря разделению ответственностей мы получаем классы, которые проще тестировать. Они меньше, чище и работают в одной чёткой области, поэтому их легко изолировать в тестах.</a:t>
            </a:r>
          </a:p>
          <a:p>
            <a:endParaRPr lang="ru-RU" dirty="0"/>
          </a:p>
          <a:p>
            <a:r>
              <a:rPr lang="ru-RU" dirty="0"/>
              <a:t>Второе — расширяемость. Чтобы добавить новый способ рисования или новый формат файла, нам теперь не нужно менять </a:t>
            </a:r>
            <a:r>
              <a:rPr lang="ru-RU" dirty="0" err="1"/>
              <a:t>Bitmap</a:t>
            </a:r>
            <a:r>
              <a:rPr lang="ru-RU" dirty="0"/>
              <a:t>. Мы просто создаём новый класс. Это уменьшает риски и делает архитектуру более стабильной.</a:t>
            </a:r>
          </a:p>
          <a:p>
            <a:endParaRPr lang="ru-RU" dirty="0"/>
          </a:p>
          <a:p>
            <a:r>
              <a:rPr lang="ru-RU" dirty="0"/>
              <a:t>Третье — повторное использование. Когда обязанности распределены, каждый класс становится более универсальным. Например, </a:t>
            </a:r>
            <a:r>
              <a:rPr lang="ru-RU" dirty="0" err="1"/>
              <a:t>BitmapGraphics</a:t>
            </a:r>
            <a:r>
              <a:rPr lang="ru-RU" dirty="0"/>
              <a:t> можно использовать с любым </a:t>
            </a:r>
            <a:r>
              <a:rPr lang="ru-RU" dirty="0" err="1"/>
              <a:t>Bitmap</a:t>
            </a:r>
            <a:r>
              <a:rPr lang="ru-RU" dirty="0"/>
              <a:t>, а энкодер — с любым набором пикселей.</a:t>
            </a:r>
          </a:p>
          <a:p>
            <a:endParaRPr lang="ru-RU" dirty="0"/>
          </a:p>
          <a:p>
            <a:r>
              <a:rPr lang="ru-RU" dirty="0"/>
              <a:t>И, наконец, уменьшается хрупкость. Если меняются требования к сохранению файла, это не затронет код работы с пикселями. И наоборот.</a:t>
            </a:r>
          </a:p>
          <a:p>
            <a:endParaRPr lang="en-US" dirty="0"/>
          </a:p>
        </p:txBody>
      </p:sp>
      <p:sp>
        <p:nvSpPr>
          <p:cNvPr id="4" name="Slide Number Placeholder 3"/>
          <p:cNvSpPr>
            <a:spLocks noGrp="1"/>
          </p:cNvSpPr>
          <p:nvPr>
            <p:ph type="sldNum" sz="quarter" idx="5"/>
          </p:nvPr>
        </p:nvSpPr>
        <p:spPr/>
        <p:txBody>
          <a:bodyPr/>
          <a:lstStyle/>
          <a:p>
            <a:fld id="{9BF0A773-BC3A-474D-8036-883A816F0F99}" type="slidenum">
              <a:rPr lang="ru-RU" smtClean="0"/>
              <a:t>8</a:t>
            </a:fld>
            <a:endParaRPr lang="ru-RU"/>
          </a:p>
        </p:txBody>
      </p:sp>
    </p:spTree>
    <p:extLst>
      <p:ext uri="{BB962C8B-B14F-4D97-AF65-F5344CB8AC3E}">
        <p14:creationId xmlns:p14="http://schemas.microsoft.com/office/powerpoint/2010/main" val="3801691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Но есть и недостатки. Применение SRP почти всегда увеличивает количество классов. Структура проекта становится более насыщенной, появляются дополнительные ссылки и зависимости.</a:t>
            </a:r>
          </a:p>
          <a:p>
            <a:endParaRPr lang="ru-RU" dirty="0"/>
          </a:p>
          <a:p>
            <a:r>
              <a:rPr lang="ru-RU" dirty="0"/>
              <a:t>Второй минус — </a:t>
            </a:r>
            <a:r>
              <a:rPr lang="ru-RU" dirty="0" err="1"/>
              <a:t>discoverability</a:t>
            </a:r>
            <a:r>
              <a:rPr lang="ru-RU" dirty="0"/>
              <a:t>. Пользователю библиотеки нужно понимать, что сохранение теперь не в </a:t>
            </a:r>
            <a:r>
              <a:rPr lang="ru-RU" dirty="0" err="1"/>
              <a:t>Bitmap</a:t>
            </a:r>
            <a:r>
              <a:rPr lang="ru-RU" dirty="0"/>
              <a:t>, а в отдельном энкодере, что рисование — не в </a:t>
            </a:r>
            <a:r>
              <a:rPr lang="ru-RU" dirty="0" err="1"/>
              <a:t>Bitmap</a:t>
            </a:r>
            <a:r>
              <a:rPr lang="ru-RU" dirty="0"/>
              <a:t>, а в </a:t>
            </a:r>
            <a:r>
              <a:rPr lang="ru-RU" dirty="0" err="1"/>
              <a:t>BitmapGraphics</a:t>
            </a:r>
            <a:r>
              <a:rPr lang="ru-RU" dirty="0"/>
              <a:t>.</a:t>
            </a:r>
          </a:p>
          <a:p>
            <a:endParaRPr lang="ru-RU" dirty="0"/>
          </a:p>
          <a:p>
            <a:r>
              <a:rPr lang="ru-RU" dirty="0"/>
              <a:t>И третий — код становится чуть более многословным. Вместо одного вызова иногда нужно создать объект-обёртку, передать зависимости, вызвать метод. В небольших проектах это может ощущаться как лишняя нагрузка.</a:t>
            </a:r>
          </a:p>
          <a:p>
            <a:endParaRPr lang="ru-RU" dirty="0"/>
          </a:p>
          <a:p>
            <a:r>
              <a:rPr lang="ru-RU" dirty="0"/>
              <a:t>Тем не менее, эти минусы — плата за архитектурную гибкость. В долгосрочной перспективе SRP почти всегда окупается, особенно в проектах, которые живут больше нескольких месяцев и требуют развития.</a:t>
            </a:r>
          </a:p>
          <a:p>
            <a:pPr marL="0" marR="0" indent="0" algn="l" defTabSz="914400" rtl="0" eaLnBrk="1" fontAlgn="auto" latinLnBrk="0" hangingPunct="1">
              <a:lnSpc>
                <a:spcPct val="100000"/>
              </a:lnSpc>
              <a:spcBef>
                <a:spcPts val="0"/>
              </a:spcBef>
              <a:spcAft>
                <a:spcPts val="0"/>
              </a:spcAft>
              <a:buClrTx/>
              <a:buSzTx/>
              <a:buFontTx/>
              <a:buNone/>
              <a:tabLst/>
              <a:defRPr/>
            </a:pPr>
            <a:endParaRPr lang="ru-RU" baseline="0" dirty="0"/>
          </a:p>
        </p:txBody>
      </p:sp>
      <p:sp>
        <p:nvSpPr>
          <p:cNvPr id="4" name="Номер слайда 3"/>
          <p:cNvSpPr>
            <a:spLocks noGrp="1"/>
          </p:cNvSpPr>
          <p:nvPr>
            <p:ph type="sldNum" sz="quarter" idx="10"/>
          </p:nvPr>
        </p:nvSpPr>
        <p:spPr/>
        <p:txBody>
          <a:bodyPr/>
          <a:lstStyle/>
          <a:p>
            <a:fld id="{9BF0A773-BC3A-474D-8036-883A816F0F99}" type="slidenum">
              <a:rPr lang="ru-RU" smtClean="0"/>
              <a:t>9</a:t>
            </a:fld>
            <a:endParaRPr lang="ru-RU"/>
          </a:p>
        </p:txBody>
      </p:sp>
    </p:spTree>
    <p:extLst>
      <p:ext uri="{BB962C8B-B14F-4D97-AF65-F5344CB8AC3E}">
        <p14:creationId xmlns:p14="http://schemas.microsoft.com/office/powerpoint/2010/main" val="17646490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F0A773-BC3A-474D-8036-883A816F0F99}" type="slidenum">
              <a:rPr lang="ru-RU" smtClean="0"/>
              <a:t>10</a:t>
            </a:fld>
            <a:endParaRPr lang="ru-RU"/>
          </a:p>
        </p:txBody>
      </p:sp>
    </p:spTree>
    <p:extLst>
      <p:ext uri="{BB962C8B-B14F-4D97-AF65-F5344CB8AC3E}">
        <p14:creationId xmlns:p14="http://schemas.microsoft.com/office/powerpoint/2010/main" val="35184514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Например, если у нас есть энкодер изображений, который умеет сохранять только PNG, и мы хотим добавить JPEG — по OCP мы создаём новый энкодер, а не лезем редактировать код старого. Это уменьшает хрупкость системы: вероятность что-то сломать в проверенном коде намного ниже.</a:t>
            </a:r>
          </a:p>
          <a:p>
            <a:endParaRPr lang="ru-RU" dirty="0"/>
          </a:p>
          <a:p>
            <a:r>
              <a:rPr lang="ru-RU" dirty="0"/>
              <a:t>Теперь давайте посмотрим, как можно достичь соблюдения OCP.</a:t>
            </a:r>
          </a:p>
          <a:p>
            <a:r>
              <a:rPr lang="ru-RU" dirty="0"/>
              <a:t>Первый инструмент — это </a:t>
            </a:r>
            <a:r>
              <a:rPr lang="ru-RU" b="1" dirty="0"/>
              <a:t>полиморфизм</a:t>
            </a:r>
            <a:r>
              <a:rPr lang="ru-RU" dirty="0"/>
              <a:t>. Мы выделяем абстракцию, описывающую поведение, а конкретные реализации помещаем в отдельные классы. Код, который пользуется абстракцией, больше не зависит от деталей реализации и может работать с чем угодно, что эту абстракцию реализует.</a:t>
            </a:r>
          </a:p>
          <a:p>
            <a:r>
              <a:rPr lang="ru-RU" dirty="0"/>
              <a:t>Второй подход — </a:t>
            </a:r>
            <a:r>
              <a:rPr lang="ru-RU" b="1" dirty="0"/>
              <a:t>композиция</a:t>
            </a:r>
            <a:r>
              <a:rPr lang="ru-RU" dirty="0"/>
              <a:t>. Вместо того чтобы менять класс изнутри, мы передаём внутрь компонент с нужным поведением. Хотим другое поведение — передаём другой компонент.</a:t>
            </a:r>
          </a:p>
          <a:p>
            <a:r>
              <a:rPr lang="ru-RU" dirty="0"/>
              <a:t>Третий механизм — </a:t>
            </a:r>
            <a:r>
              <a:rPr lang="ru-RU" b="1" dirty="0"/>
              <a:t>параметризация поведением</a:t>
            </a:r>
            <a:r>
              <a:rPr lang="ru-RU" dirty="0"/>
              <a:t>, как через интерфейсы, так и через функции или лямбда-выражения. Это особенно удобно, когда изменение касается небольшой части алгоритма.</a:t>
            </a:r>
          </a:p>
          <a:p>
            <a:r>
              <a:rPr lang="ru-RU" dirty="0"/>
              <a:t>В C++ у нас есть и более мощный инструмент — </a:t>
            </a:r>
            <a:r>
              <a:rPr lang="ru-RU" b="1" dirty="0"/>
              <a:t>шаблоны</a:t>
            </a:r>
            <a:r>
              <a:rPr lang="ru-RU" dirty="0"/>
              <a:t>. Шаблоны позволяют расширять поведение на этапе компиляции, не изменяя код существующего класса. Политики, CRTP, параметризация типами — всё это механизмы, которые отлично работают в рамках OCP.</a:t>
            </a:r>
          </a:p>
        </p:txBody>
      </p:sp>
      <p:sp>
        <p:nvSpPr>
          <p:cNvPr id="4" name="Номер слайда 3"/>
          <p:cNvSpPr>
            <a:spLocks noGrp="1"/>
          </p:cNvSpPr>
          <p:nvPr>
            <p:ph type="sldNum" sz="quarter" idx="10"/>
          </p:nvPr>
        </p:nvSpPr>
        <p:spPr/>
        <p:txBody>
          <a:bodyPr/>
          <a:lstStyle/>
          <a:p>
            <a:fld id="{9BF0A773-BC3A-474D-8036-883A816F0F99}" type="slidenum">
              <a:rPr lang="ru-RU" smtClean="0"/>
              <a:t>11</a:t>
            </a:fld>
            <a:endParaRPr lang="ru-RU"/>
          </a:p>
        </p:txBody>
      </p:sp>
    </p:spTree>
    <p:extLst>
      <p:ext uri="{BB962C8B-B14F-4D97-AF65-F5344CB8AC3E}">
        <p14:creationId xmlns:p14="http://schemas.microsoft.com/office/powerpoint/2010/main" val="265448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Стоит также отметить, что множество известных паттернов проектирования просто рождены из OCP.</a:t>
            </a:r>
          </a:p>
          <a:p>
            <a:br>
              <a:rPr lang="ru-RU" dirty="0"/>
            </a:br>
            <a:r>
              <a:rPr lang="ru-RU" dirty="0"/>
              <a:t>Strategy позволяет подменять алгоритм. </a:t>
            </a:r>
            <a:r>
              <a:rPr lang="ru-RU" dirty="0" err="1"/>
              <a:t>Decorator</a:t>
            </a:r>
            <a:r>
              <a:rPr lang="ru-RU" dirty="0"/>
              <a:t> — добавлять функциональность без изменения класса. </a:t>
            </a:r>
            <a:r>
              <a:rPr lang="ru-RU" dirty="0" err="1"/>
              <a:t>Template</a:t>
            </a:r>
            <a:r>
              <a:rPr lang="ru-RU" dirty="0"/>
              <a:t> </a:t>
            </a:r>
            <a:r>
              <a:rPr lang="ru-RU" dirty="0" err="1"/>
              <a:t>Method</a:t>
            </a:r>
            <a:r>
              <a:rPr lang="ru-RU" dirty="0"/>
              <a:t> — переопределять отдельные шаги алгоритма. Factory </a:t>
            </a:r>
            <a:r>
              <a:rPr lang="ru-RU" dirty="0" err="1"/>
              <a:t>Method</a:t>
            </a:r>
            <a:r>
              <a:rPr lang="ru-RU" dirty="0"/>
              <a:t> и </a:t>
            </a:r>
            <a:r>
              <a:rPr lang="ru-RU" dirty="0" err="1"/>
              <a:t>Abstract</a:t>
            </a:r>
            <a:r>
              <a:rPr lang="ru-RU" dirty="0"/>
              <a:t> Factory помогают создавать расширяемые семейства объектов.</a:t>
            </a:r>
          </a:p>
          <a:p>
            <a:endParaRPr lang="ru-RU" dirty="0"/>
          </a:p>
          <a:p>
            <a:r>
              <a:rPr lang="ru-RU" dirty="0"/>
              <a:t>То есть OCP — это не теория, это реальная основа для архитектур, которые выдерживают длительное развитие. Он позволяет добавлять новые возможности без страха сломать существующий код.</a:t>
            </a:r>
          </a:p>
          <a:p>
            <a:endParaRPr lang="ru-RU" dirty="0"/>
          </a:p>
        </p:txBody>
      </p:sp>
      <p:sp>
        <p:nvSpPr>
          <p:cNvPr id="4" name="Slide Number Placeholder 3"/>
          <p:cNvSpPr>
            <a:spLocks noGrp="1"/>
          </p:cNvSpPr>
          <p:nvPr>
            <p:ph type="sldNum" sz="quarter" idx="5"/>
          </p:nvPr>
        </p:nvSpPr>
        <p:spPr/>
        <p:txBody>
          <a:bodyPr/>
          <a:lstStyle/>
          <a:p>
            <a:fld id="{9BF0A773-BC3A-474D-8036-883A816F0F99}" type="slidenum">
              <a:rPr lang="ru-RU" smtClean="0"/>
              <a:t>12</a:t>
            </a:fld>
            <a:endParaRPr lang="ru-RU"/>
          </a:p>
        </p:txBody>
      </p:sp>
    </p:spTree>
    <p:extLst>
      <p:ext uri="{BB962C8B-B14F-4D97-AF65-F5344CB8AC3E}">
        <p14:creationId xmlns:p14="http://schemas.microsoft.com/office/powerpoint/2010/main" val="25834812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Рассмотрим простой и очень жизненный пример — логирование.</a:t>
            </a:r>
          </a:p>
          <a:p>
            <a:endParaRPr lang="ru-RU" dirty="0"/>
          </a:p>
          <a:p>
            <a:r>
              <a:rPr lang="ru-RU" dirty="0"/>
              <a:t>Вот у нас есть класс </a:t>
            </a:r>
            <a:r>
              <a:rPr lang="ru-RU" dirty="0" err="1"/>
              <a:t>Logger</a:t>
            </a:r>
            <a:r>
              <a:rPr lang="ru-RU" dirty="0"/>
              <a:t>, который пишет сообщения в файл. На первый взгляд всё отлично. Но что произойдёт, когда заинтересованные лица попросят:</a:t>
            </a:r>
            <a:br>
              <a:rPr lang="ru-RU" dirty="0"/>
            </a:br>
            <a:r>
              <a:rPr lang="ru-RU" dirty="0"/>
              <a:t>— а сделайте, пожалуйста, логирование ещё и в консоль;</a:t>
            </a:r>
            <a:br>
              <a:rPr lang="ru-RU" dirty="0"/>
            </a:br>
            <a:r>
              <a:rPr lang="ru-RU" dirty="0"/>
              <a:t>— и в </a:t>
            </a:r>
            <a:r>
              <a:rPr lang="ru-RU" dirty="0" err="1"/>
              <a:t>syslog</a:t>
            </a:r>
            <a:r>
              <a:rPr lang="ru-RU" dirty="0"/>
              <a:t>;</a:t>
            </a:r>
            <a:br>
              <a:rPr lang="ru-RU" dirty="0"/>
            </a:br>
            <a:r>
              <a:rPr lang="ru-RU" dirty="0"/>
              <a:t>— и отправку логов на удалённый сервер?</a:t>
            </a:r>
          </a:p>
          <a:p>
            <a:r>
              <a:rPr lang="ru-RU" dirty="0"/>
              <a:t>Если наш </a:t>
            </a:r>
            <a:r>
              <a:rPr lang="ru-RU" dirty="0" err="1"/>
              <a:t>Logger</a:t>
            </a:r>
            <a:r>
              <a:rPr lang="ru-RU" dirty="0"/>
              <a:t> жёстко привязан к записи в файл, как в изначальном примере, нам придётся каждый раз заходить внутрь класса и дописывать туда новые ветки, новые условия, новые варианты поведения. Это прямое нарушение принципа открытости/закрытости: мы </a:t>
            </a:r>
            <a:r>
              <a:rPr lang="ru-RU" b="1" dirty="0"/>
              <a:t>расширяем поведение только через изменение существующего кода</a:t>
            </a:r>
            <a:r>
              <a:rPr lang="ru-RU" dirty="0"/>
              <a:t>, что делает систему хрупкой.</a:t>
            </a:r>
          </a:p>
        </p:txBody>
      </p:sp>
      <p:sp>
        <p:nvSpPr>
          <p:cNvPr id="4" name="Slide Number Placeholder 3"/>
          <p:cNvSpPr>
            <a:spLocks noGrp="1"/>
          </p:cNvSpPr>
          <p:nvPr>
            <p:ph type="sldNum" sz="quarter" idx="5"/>
          </p:nvPr>
        </p:nvSpPr>
        <p:spPr/>
        <p:txBody>
          <a:bodyPr/>
          <a:lstStyle/>
          <a:p>
            <a:fld id="{9BF0A773-BC3A-474D-8036-883A816F0F99}" type="slidenum">
              <a:rPr lang="ru-RU" smtClean="0"/>
              <a:t>13</a:t>
            </a:fld>
            <a:endParaRPr lang="ru-RU"/>
          </a:p>
        </p:txBody>
      </p:sp>
    </p:spTree>
    <p:extLst>
      <p:ext uri="{BB962C8B-B14F-4D97-AF65-F5344CB8AC3E}">
        <p14:creationId xmlns:p14="http://schemas.microsoft.com/office/powerpoint/2010/main" val="11370923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Чтобы соблюсти OCP, мы выносим изменяемую часть — именно </a:t>
            </a:r>
            <a:r>
              <a:rPr lang="ru-RU" i="1" dirty="0"/>
              <a:t>куда</a:t>
            </a:r>
            <a:r>
              <a:rPr lang="ru-RU" dirty="0"/>
              <a:t> писать лог — в отдельную абстракцию. Мы вводим интерфейс </a:t>
            </a:r>
            <a:r>
              <a:rPr lang="ru-RU" dirty="0" err="1"/>
              <a:t>ILogSink</a:t>
            </a:r>
            <a:r>
              <a:rPr lang="ru-RU" dirty="0"/>
              <a:t>, который описывает лишь одну операцию: записать сообщение.</a:t>
            </a:r>
          </a:p>
          <a:p>
            <a:endParaRPr lang="ru-RU" dirty="0"/>
          </a:p>
          <a:p>
            <a:r>
              <a:rPr lang="ru-RU" dirty="0"/>
              <a:t>После этого класс </a:t>
            </a:r>
            <a:r>
              <a:rPr lang="ru-RU" dirty="0" err="1"/>
              <a:t>Logger</a:t>
            </a:r>
            <a:r>
              <a:rPr lang="ru-RU" dirty="0"/>
              <a:t> начинает зависеть не от конкретного файла, не от конкретного способа логирования, а от абстракции — от интерфейса. Теперь </a:t>
            </a:r>
            <a:r>
              <a:rPr lang="ru-RU" dirty="0" err="1"/>
              <a:t>Logger</a:t>
            </a:r>
            <a:r>
              <a:rPr lang="ru-RU" dirty="0"/>
              <a:t> вообще не интересует, </a:t>
            </a:r>
            <a:r>
              <a:rPr lang="ru-RU" i="1" dirty="0"/>
              <a:t>как</a:t>
            </a:r>
            <a:r>
              <a:rPr lang="ru-RU" dirty="0"/>
              <a:t> именно происходит запись. Он просто вызывает метод </a:t>
            </a:r>
            <a:r>
              <a:rPr lang="ru-RU" dirty="0" err="1"/>
              <a:t>Write</a:t>
            </a:r>
            <a:r>
              <a:rPr lang="ru-RU" dirty="0"/>
              <a:t>.</a:t>
            </a:r>
          </a:p>
          <a:p>
            <a:endParaRPr lang="ru-RU" dirty="0"/>
          </a:p>
          <a:p>
            <a:r>
              <a:rPr lang="ru-RU" dirty="0"/>
              <a:t>Хотим писать в файл — создаём </a:t>
            </a:r>
            <a:r>
              <a:rPr lang="ru-RU" dirty="0" err="1"/>
              <a:t>FileSink</a:t>
            </a:r>
            <a:r>
              <a:rPr lang="ru-RU" dirty="0"/>
              <a:t>.</a:t>
            </a:r>
            <a:br>
              <a:rPr lang="ru-RU" dirty="0"/>
            </a:br>
            <a:r>
              <a:rPr lang="ru-RU" dirty="0"/>
              <a:t>Хотим выводить в консоль — создаём </a:t>
            </a:r>
            <a:r>
              <a:rPr lang="ru-RU" dirty="0" err="1"/>
              <a:t>ConsoleSink</a:t>
            </a:r>
            <a:r>
              <a:rPr lang="ru-RU" dirty="0"/>
              <a:t>.</a:t>
            </a:r>
            <a:br>
              <a:rPr lang="ru-RU" dirty="0"/>
            </a:br>
            <a:r>
              <a:rPr lang="ru-RU" dirty="0"/>
              <a:t>Хотим </a:t>
            </a:r>
            <a:r>
              <a:rPr lang="ru-RU" dirty="0" err="1"/>
              <a:t>логировать</a:t>
            </a:r>
            <a:r>
              <a:rPr lang="ru-RU" dirty="0"/>
              <a:t> в </a:t>
            </a:r>
            <a:r>
              <a:rPr lang="ru-RU" dirty="0" err="1"/>
              <a:t>syslog</a:t>
            </a:r>
            <a:r>
              <a:rPr lang="ru-RU" dirty="0"/>
              <a:t> или отправлять логи в сеть — пишем новую реализацию.</a:t>
            </a:r>
          </a:p>
          <a:p>
            <a:r>
              <a:rPr lang="ru-RU" dirty="0"/>
              <a:t>И самое важное: </a:t>
            </a:r>
            <a:r>
              <a:rPr lang="ru-RU" b="1" dirty="0" err="1"/>
              <a:t>Logger</a:t>
            </a:r>
            <a:r>
              <a:rPr lang="ru-RU" b="1" dirty="0"/>
              <a:t> остаётся неизменным.</a:t>
            </a:r>
            <a:r>
              <a:rPr lang="ru-RU" dirty="0"/>
              <a:t> Мы расширяем поведение, не трогая уже существующий код.</a:t>
            </a:r>
          </a:p>
          <a:p>
            <a:r>
              <a:rPr lang="ru-RU" dirty="0"/>
              <a:t>Такой подход делает систему предсказуемой, тестируемой и легко расширяемой. Именно этого и добивается принцип OCP на практике: мы добавляем новое поведение, не ломая старое.</a:t>
            </a:r>
          </a:p>
          <a:p>
            <a:endParaRPr lang="en-US" dirty="0"/>
          </a:p>
        </p:txBody>
      </p:sp>
      <p:sp>
        <p:nvSpPr>
          <p:cNvPr id="4" name="Slide Number Placeholder 3"/>
          <p:cNvSpPr>
            <a:spLocks noGrp="1"/>
          </p:cNvSpPr>
          <p:nvPr>
            <p:ph type="sldNum" sz="quarter" idx="5"/>
          </p:nvPr>
        </p:nvSpPr>
        <p:spPr/>
        <p:txBody>
          <a:bodyPr/>
          <a:lstStyle/>
          <a:p>
            <a:fld id="{9BF0A773-BC3A-474D-8036-883A816F0F99}" type="slidenum">
              <a:rPr lang="ru-RU" smtClean="0"/>
              <a:t>14</a:t>
            </a:fld>
            <a:endParaRPr lang="ru-RU"/>
          </a:p>
        </p:txBody>
      </p:sp>
    </p:spTree>
    <p:extLst>
      <p:ext uri="{BB962C8B-B14F-4D97-AF65-F5344CB8AC3E}">
        <p14:creationId xmlns:p14="http://schemas.microsoft.com/office/powerpoint/2010/main" val="16177555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Рассмотрим пример, который очень хорошо демонстрирует принцип открытости/закрытости — форматирование значений отчёта.</a:t>
            </a:r>
          </a:p>
          <a:p>
            <a:endParaRPr lang="ru-RU" dirty="0"/>
          </a:p>
          <a:p>
            <a:r>
              <a:rPr lang="ru-RU" dirty="0"/>
              <a:t>Представьте, что у нас есть рендерер, который просто выводит последовательность чисел: это могут быть финансовые показатели, статистика, результаты измерений. Пока всё просто — мы выводим числа как есть.</a:t>
            </a:r>
          </a:p>
          <a:p>
            <a:endParaRPr lang="ru-RU" dirty="0"/>
          </a:p>
          <a:p>
            <a:r>
              <a:rPr lang="ru-RU" dirty="0"/>
              <a:t>Но в реальной жизни почти всегда возникает необходимость менять способ форматирования. Например:</a:t>
            </a:r>
            <a:br>
              <a:rPr lang="ru-RU" dirty="0"/>
            </a:br>
            <a:r>
              <a:rPr lang="ru-RU" dirty="0"/>
              <a:t>— кто-то хочет, чтобы большие числа группировались по разрядам: </a:t>
            </a:r>
            <a:r>
              <a:rPr lang="ru-RU" sz="1200" kern="1200" dirty="0">
                <a:solidFill>
                  <a:schemeClr val="tx1"/>
                </a:solidFill>
                <a:latin typeface="+mn-lt"/>
                <a:ea typeface="+mn-ea"/>
                <a:cs typeface="+mn-cs"/>
              </a:rPr>
              <a:t>1 234 567</a:t>
            </a:r>
            <a:r>
              <a:rPr lang="ru-RU" dirty="0"/>
              <a:t>;</a:t>
            </a:r>
            <a:br>
              <a:rPr lang="ru-RU" dirty="0"/>
            </a:br>
            <a:r>
              <a:rPr lang="ru-RU" dirty="0"/>
              <a:t>— кому-то нужен другой разделитель дробной части: запятая вместо точки;</a:t>
            </a:r>
            <a:br>
              <a:rPr lang="ru-RU" dirty="0"/>
            </a:br>
            <a:r>
              <a:rPr lang="ru-RU" dirty="0"/>
              <a:t>— финансовые отчёты должны добавлять символ валюты: </a:t>
            </a:r>
            <a:r>
              <a:rPr lang="ru-RU" sz="1200" kern="1200" dirty="0">
                <a:solidFill>
                  <a:schemeClr val="tx1"/>
                </a:solidFill>
                <a:latin typeface="+mn-lt"/>
                <a:ea typeface="+mn-ea"/>
                <a:cs typeface="+mn-cs"/>
              </a:rPr>
              <a:t>$123.45</a:t>
            </a:r>
            <a:r>
              <a:rPr lang="ru-RU" dirty="0"/>
              <a:t> или </a:t>
            </a:r>
            <a:r>
              <a:rPr lang="ru-RU" sz="1200" kern="1200" dirty="0">
                <a:solidFill>
                  <a:schemeClr val="tx1"/>
                </a:solidFill>
                <a:latin typeface="+mn-lt"/>
                <a:ea typeface="+mn-ea"/>
                <a:cs typeface="+mn-cs"/>
              </a:rPr>
              <a:t>123,45 ₽</a:t>
            </a:r>
            <a:r>
              <a:rPr lang="ru-RU" dirty="0"/>
              <a:t>;</a:t>
            </a:r>
            <a:br>
              <a:rPr lang="ru-RU" dirty="0"/>
            </a:br>
            <a:r>
              <a:rPr lang="ru-RU" dirty="0"/>
              <a:t>— отрицательные значения нужно отображать в скобках: </a:t>
            </a:r>
            <a:r>
              <a:rPr lang="ru-RU" sz="1200" kern="1200" dirty="0">
                <a:solidFill>
                  <a:schemeClr val="tx1"/>
                </a:solidFill>
                <a:latin typeface="+mn-lt"/>
                <a:ea typeface="+mn-ea"/>
                <a:cs typeface="+mn-cs"/>
              </a:rPr>
              <a:t>(123)</a:t>
            </a:r>
            <a:r>
              <a:rPr lang="ru-RU" dirty="0"/>
              <a:t> вместо </a:t>
            </a:r>
            <a:r>
              <a:rPr lang="ru-RU" sz="1200" kern="1200" dirty="0">
                <a:solidFill>
                  <a:schemeClr val="tx1"/>
                </a:solidFill>
                <a:latin typeface="+mn-lt"/>
                <a:ea typeface="+mn-ea"/>
                <a:cs typeface="+mn-cs"/>
              </a:rPr>
              <a:t>-123</a:t>
            </a:r>
            <a:r>
              <a:rPr lang="ru-RU" dirty="0"/>
              <a:t>.</a:t>
            </a:r>
          </a:p>
          <a:p>
            <a:r>
              <a:rPr lang="ru-RU" dirty="0"/>
              <a:t>Если всё это будет зашито прямо в класс </a:t>
            </a:r>
            <a:r>
              <a:rPr lang="ru-RU" dirty="0" err="1"/>
              <a:t>ReportRenderer</a:t>
            </a:r>
            <a:r>
              <a:rPr lang="ru-RU" dirty="0"/>
              <a:t>, он мгновенно превратится в "комбайн" из множества условий и переключателей. Каждый новый формат — это правка существующего кода, а значит прямое нарушение OCP.</a:t>
            </a:r>
          </a:p>
          <a:p>
            <a:endParaRPr lang="en-US" dirty="0"/>
          </a:p>
        </p:txBody>
      </p:sp>
      <p:sp>
        <p:nvSpPr>
          <p:cNvPr id="4" name="Slide Number Placeholder 3"/>
          <p:cNvSpPr>
            <a:spLocks noGrp="1"/>
          </p:cNvSpPr>
          <p:nvPr>
            <p:ph type="sldNum" sz="quarter" idx="5"/>
          </p:nvPr>
        </p:nvSpPr>
        <p:spPr/>
        <p:txBody>
          <a:bodyPr/>
          <a:lstStyle/>
          <a:p>
            <a:fld id="{9BF0A773-BC3A-474D-8036-883A816F0F99}" type="slidenum">
              <a:rPr lang="ru-RU" smtClean="0"/>
              <a:t>15</a:t>
            </a:fld>
            <a:endParaRPr lang="ru-RU"/>
          </a:p>
        </p:txBody>
      </p:sp>
    </p:spTree>
    <p:extLst>
      <p:ext uri="{BB962C8B-B14F-4D97-AF65-F5344CB8AC3E}">
        <p14:creationId xmlns:p14="http://schemas.microsoft.com/office/powerpoint/2010/main" val="4171185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Чтобы этого избежать, мы отделяем </a:t>
            </a:r>
            <a:r>
              <a:rPr lang="ru-RU" b="1" dirty="0"/>
              <a:t>изменяемое поведение</a:t>
            </a:r>
            <a:r>
              <a:rPr lang="ru-RU" dirty="0"/>
              <a:t> — то есть форматирование значения — в отдельную абстракцию: </a:t>
            </a:r>
            <a:r>
              <a:rPr lang="ru-RU" dirty="0" err="1"/>
              <a:t>IReportFormatter</a:t>
            </a:r>
            <a:r>
              <a:rPr lang="ru-RU" dirty="0"/>
              <a:t>.</a:t>
            </a:r>
          </a:p>
          <a:p>
            <a:endParaRPr lang="ru-RU" dirty="0"/>
          </a:p>
          <a:p>
            <a:r>
              <a:rPr lang="ru-RU" dirty="0"/>
              <a:t>Теперь рендерер использует только интерфейс и не знает, какое именно форматирование применяется. Хотим привычный "сырой" вывод — используем </a:t>
            </a:r>
            <a:r>
              <a:rPr lang="ru-RU" dirty="0" err="1"/>
              <a:t>TextFormatter</a:t>
            </a:r>
            <a:r>
              <a:rPr lang="ru-RU" dirty="0"/>
              <a:t>. </a:t>
            </a:r>
          </a:p>
          <a:p>
            <a:r>
              <a:rPr lang="ru-RU" dirty="0"/>
              <a:t>Хотим форматировать числа по правилам бухгалтерии — создаём </a:t>
            </a:r>
            <a:r>
              <a:rPr lang="ru-RU" dirty="0" err="1"/>
              <a:t>AccountingFormatter</a:t>
            </a:r>
            <a:r>
              <a:rPr lang="ru-RU" dirty="0"/>
              <a:t>. Нужна валюта — </a:t>
            </a:r>
            <a:r>
              <a:rPr lang="ru-RU" dirty="0" err="1"/>
              <a:t>CurrencyFormatter</a:t>
            </a:r>
            <a:r>
              <a:rPr lang="ru-RU" dirty="0"/>
              <a:t>. Иногда отделы хотят использовать европейскую </a:t>
            </a:r>
            <a:r>
              <a:rPr lang="ru-RU" dirty="0" err="1"/>
              <a:t>локаль</a:t>
            </a:r>
            <a:r>
              <a:rPr lang="ru-RU" dirty="0"/>
              <a:t> — делаем </a:t>
            </a:r>
            <a:r>
              <a:rPr lang="ru-RU" dirty="0" err="1"/>
              <a:t>EuroLocaleFormatter</a:t>
            </a:r>
            <a:r>
              <a:rPr lang="ru-RU" dirty="0"/>
              <a:t>.</a:t>
            </a:r>
          </a:p>
          <a:p>
            <a:endParaRPr lang="ru-RU" dirty="0"/>
          </a:p>
          <a:p>
            <a:r>
              <a:rPr lang="ru-RU" dirty="0"/>
              <a:t>И самое важное: в любом из этих случаев </a:t>
            </a:r>
            <a:r>
              <a:rPr lang="ru-RU" b="1" dirty="0" err="1"/>
              <a:t>ReportRenderer</a:t>
            </a:r>
            <a:r>
              <a:rPr lang="ru-RU" b="1" dirty="0"/>
              <a:t> остаётся неизменным</a:t>
            </a:r>
            <a:r>
              <a:rPr lang="ru-RU" dirty="0"/>
              <a:t>. </a:t>
            </a:r>
          </a:p>
          <a:p>
            <a:endParaRPr lang="ru-RU" dirty="0"/>
          </a:p>
          <a:p>
            <a:r>
              <a:rPr lang="ru-RU" dirty="0"/>
              <a:t>Мы расширяем систему новыми возможностями, </a:t>
            </a:r>
            <a:r>
              <a:rPr lang="ru-RU" i="1" dirty="0"/>
              <a:t>не трогая существующий код</a:t>
            </a:r>
            <a:r>
              <a:rPr lang="ru-RU" dirty="0"/>
              <a:t>.</a:t>
            </a:r>
          </a:p>
          <a:p>
            <a:endParaRPr lang="ru-RU" dirty="0"/>
          </a:p>
          <a:p>
            <a:r>
              <a:rPr lang="ru-RU" dirty="0"/>
              <a:t>Это и есть принцип открытости/закрытости в действии: изменяемая часть вынесена в отдельный компонент, и теперь любую логику форматирования можно добавлять отдельными классами. Так структура отчёта остаётся стабильной, а форматирование становится гибким и легко расширяемым.</a:t>
            </a:r>
          </a:p>
          <a:p>
            <a:endParaRPr lang="en-US" dirty="0"/>
          </a:p>
        </p:txBody>
      </p:sp>
      <p:sp>
        <p:nvSpPr>
          <p:cNvPr id="4" name="Slide Number Placeholder 3"/>
          <p:cNvSpPr>
            <a:spLocks noGrp="1"/>
          </p:cNvSpPr>
          <p:nvPr>
            <p:ph type="sldNum" sz="quarter" idx="5"/>
          </p:nvPr>
        </p:nvSpPr>
        <p:spPr/>
        <p:txBody>
          <a:bodyPr/>
          <a:lstStyle/>
          <a:p>
            <a:fld id="{9BF0A773-BC3A-474D-8036-883A816F0F99}" type="slidenum">
              <a:rPr lang="ru-RU" smtClean="0"/>
              <a:t>16</a:t>
            </a:fld>
            <a:endParaRPr lang="ru-RU"/>
          </a:p>
        </p:txBody>
      </p:sp>
    </p:spTree>
    <p:extLst>
      <p:ext uri="{BB962C8B-B14F-4D97-AF65-F5344CB8AC3E}">
        <p14:creationId xmlns:p14="http://schemas.microsoft.com/office/powerpoint/2010/main" val="7554394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Подведём итоги применения принципа открытости/закрытости.</a:t>
            </a:r>
          </a:p>
          <a:p>
            <a:endParaRPr lang="ru-RU" dirty="0"/>
          </a:p>
          <a:p>
            <a:r>
              <a:rPr lang="ru-RU" dirty="0"/>
              <a:t>Главная сила OCP в том, что он позволяет </a:t>
            </a:r>
            <a:r>
              <a:rPr lang="ru-RU" b="1" dirty="0"/>
              <a:t>минимизировать изменения существующего кода</a:t>
            </a:r>
            <a:r>
              <a:rPr lang="ru-RU" dirty="0"/>
              <a:t>. Если вам нужно добавить новую функциональность, вы делаете это за счёт создания новых классов, а не за счёт изменений старых. Такой подход делает систему значительно более стабильной: исправленный и протестированный код остаётся нетронутым, и мы снижаем риск регрессий.</a:t>
            </a:r>
          </a:p>
          <a:p>
            <a:endParaRPr lang="ru-RU" dirty="0"/>
          </a:p>
          <a:p>
            <a:r>
              <a:rPr lang="ru-RU" dirty="0"/>
              <a:t>Второй плюс — расширяемость. Когда архитектура построена вокруг абстракций и правильных зависимостей, нам легко добавлять новые поведения: новые </a:t>
            </a:r>
            <a:r>
              <a:rPr lang="ru-RU" dirty="0" err="1"/>
              <a:t>форматтеры</a:t>
            </a:r>
            <a:r>
              <a:rPr lang="ru-RU" dirty="0"/>
              <a:t>, новые адаптеры, новые стратегии, новые способы рендеринга отчётов. </a:t>
            </a:r>
          </a:p>
          <a:p>
            <a:r>
              <a:rPr lang="ru-RU" dirty="0"/>
              <a:t>Важный момент — существующие компоненты остаются неизменными.</a:t>
            </a:r>
          </a:p>
          <a:p>
            <a:endParaRPr lang="ru-RU" dirty="0"/>
          </a:p>
          <a:p>
            <a:r>
              <a:rPr lang="ru-RU" dirty="0"/>
              <a:t>Третий плюс — упрощение тестирования. Стабильные компоненты можно протестировать один раз, а все новые поведения добавляются в изолированных классах, что снижает сложность тестов.</a:t>
            </a:r>
          </a:p>
          <a:p>
            <a:endParaRPr lang="en-US" dirty="0"/>
          </a:p>
        </p:txBody>
      </p:sp>
      <p:sp>
        <p:nvSpPr>
          <p:cNvPr id="4" name="Slide Number Placeholder 3"/>
          <p:cNvSpPr>
            <a:spLocks noGrp="1"/>
          </p:cNvSpPr>
          <p:nvPr>
            <p:ph type="sldNum" sz="quarter" idx="5"/>
          </p:nvPr>
        </p:nvSpPr>
        <p:spPr/>
        <p:txBody>
          <a:bodyPr/>
          <a:lstStyle/>
          <a:p>
            <a:fld id="{9BF0A773-BC3A-474D-8036-883A816F0F99}" type="slidenum">
              <a:rPr lang="ru-RU" smtClean="0"/>
              <a:t>17</a:t>
            </a:fld>
            <a:endParaRPr lang="ru-RU"/>
          </a:p>
        </p:txBody>
      </p:sp>
    </p:spTree>
    <p:extLst>
      <p:ext uri="{BB962C8B-B14F-4D97-AF65-F5344CB8AC3E}">
        <p14:creationId xmlns:p14="http://schemas.microsoft.com/office/powerpoint/2010/main" val="17635253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Теперь про недостатки. За гибкость мы платим усложнением структуры. OCP приводит к появлению </a:t>
            </a:r>
            <a:r>
              <a:rPr lang="ru-RU" i="1" dirty="0"/>
              <a:t>большего количества абстракций, интерфейсов и классов</a:t>
            </a:r>
            <a:r>
              <a:rPr lang="ru-RU" dirty="0"/>
              <a:t>. Это нормально, но требует дисциплины в проекте.</a:t>
            </a:r>
          </a:p>
          <a:p>
            <a:endParaRPr lang="ru-RU" dirty="0"/>
          </a:p>
          <a:p>
            <a:r>
              <a:rPr lang="ru-RU" dirty="0"/>
              <a:t>Второй минус — ухудшение </a:t>
            </a:r>
            <a:r>
              <a:rPr lang="ru-RU" dirty="0" err="1"/>
              <a:t>discoverability</a:t>
            </a:r>
            <a:r>
              <a:rPr lang="ru-RU" dirty="0"/>
              <a:t>. Чтобы понять, как работает система, нужно пройтись по нескольким классам и абстракциям, а не по одному большому классу.</a:t>
            </a:r>
          </a:p>
          <a:p>
            <a:endParaRPr lang="ru-RU" dirty="0"/>
          </a:p>
          <a:p>
            <a:r>
              <a:rPr lang="ru-RU" dirty="0"/>
              <a:t>И, наконец, существует опасность </a:t>
            </a:r>
            <a:r>
              <a:rPr lang="ru-RU" b="1" dirty="0"/>
              <a:t>преждевременной абстракции</a:t>
            </a:r>
            <a:r>
              <a:rPr lang="ru-RU" dirty="0"/>
              <a:t>. Если принципом злоупотреблять, можно создать слишком сложную архитектуру для задач, которые не требуют такой гибкости.</a:t>
            </a:r>
          </a:p>
          <a:p>
            <a:endParaRPr lang="ru-RU" dirty="0"/>
          </a:p>
          <a:p>
            <a:r>
              <a:rPr lang="ru-RU" dirty="0"/>
              <a:t>Поэтому OCP — это не догма, а инструмент. Он приносит огромную пользу там, где изменения происходят часто или заранее известна вариативность поведения. В остальных случаях важно сохранять баланс и применять абстракции ровно там, где они действительно помогают.</a:t>
            </a:r>
          </a:p>
          <a:p>
            <a:endParaRPr lang="en-US" dirty="0"/>
          </a:p>
        </p:txBody>
      </p:sp>
      <p:sp>
        <p:nvSpPr>
          <p:cNvPr id="4" name="Slide Number Placeholder 3"/>
          <p:cNvSpPr>
            <a:spLocks noGrp="1"/>
          </p:cNvSpPr>
          <p:nvPr>
            <p:ph type="sldNum" sz="quarter" idx="5"/>
          </p:nvPr>
        </p:nvSpPr>
        <p:spPr/>
        <p:txBody>
          <a:bodyPr/>
          <a:lstStyle/>
          <a:p>
            <a:fld id="{9BF0A773-BC3A-474D-8036-883A816F0F99}" type="slidenum">
              <a:rPr lang="ru-RU" smtClean="0"/>
              <a:t>18</a:t>
            </a:fld>
            <a:endParaRPr lang="ru-RU"/>
          </a:p>
        </p:txBody>
      </p:sp>
    </p:spTree>
    <p:extLst>
      <p:ext uri="{BB962C8B-B14F-4D97-AF65-F5344CB8AC3E}">
        <p14:creationId xmlns:p14="http://schemas.microsoft.com/office/powerpoint/2010/main" val="32344323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BF0A773-BC3A-474D-8036-883A816F0F99}" type="slidenum">
              <a:rPr lang="ru-RU" smtClean="0"/>
              <a:t>19</a:t>
            </a:fld>
            <a:endParaRPr lang="ru-RU"/>
          </a:p>
        </p:txBody>
      </p:sp>
    </p:spTree>
    <p:extLst>
      <p:ext uri="{BB962C8B-B14F-4D97-AF65-F5344CB8AC3E}">
        <p14:creationId xmlns:p14="http://schemas.microsoft.com/office/powerpoint/2010/main" val="23801935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Следующий принцип — принцип подстановки Барбары Лисков, или LSP.</a:t>
            </a:r>
            <a:br>
              <a:rPr lang="ru-RU" dirty="0"/>
            </a:br>
            <a:r>
              <a:rPr lang="ru-RU" dirty="0"/>
              <a:t>Он звучит очень просто: любой объект подкласса должен корректно работать там, где ожидается объект базового класса.</a:t>
            </a:r>
          </a:p>
          <a:p>
            <a:r>
              <a:rPr lang="ru-RU" dirty="0"/>
              <a:t>На практике это значит, что если у нас есть функция, принимающая базовый тип, мы должны иметь возможность подставить туда любой наследник — и поведение функции не должно неожиданно измениться.</a:t>
            </a:r>
          </a:p>
          <a:p>
            <a:endParaRPr lang="ru-RU" dirty="0"/>
          </a:p>
          <a:p>
            <a:r>
              <a:rPr lang="ru-RU" dirty="0"/>
              <a:t>Почему это важно? Потому что наследование — это один из самых сильных инструментов расширяемости. Если подкласс нарушает ожидания, заложенные в базовом классе, код начинает вести себя непредсказуемо, хотя на уровне типов всё выглядит корректно. Это одна из самых опасных категорий ошибок: </a:t>
            </a:r>
            <a:r>
              <a:rPr lang="ru-RU" i="1" dirty="0"/>
              <a:t>ошибка не компилируется, но выбирается неверный путь исполнения</a:t>
            </a:r>
            <a:r>
              <a:rPr lang="ru-RU" dirty="0"/>
              <a:t>.</a:t>
            </a:r>
          </a:p>
          <a:p>
            <a:endParaRPr lang="ru-RU" dirty="0"/>
          </a:p>
          <a:p>
            <a:r>
              <a:rPr lang="ru-RU" dirty="0"/>
              <a:t>Барбара Лисков предложила формализованный способ понять, корректно ли устроено наследование: через анализ предусловий, постусловий и инвариантов.</a:t>
            </a:r>
          </a:p>
          <a:p>
            <a:endParaRPr lang="ru-RU" dirty="0"/>
          </a:p>
          <a:p>
            <a:r>
              <a:rPr lang="ru-RU" dirty="0"/>
              <a:t>— Подкласс </a:t>
            </a:r>
            <a:r>
              <a:rPr lang="ru-RU" b="1" dirty="0"/>
              <a:t>не должен усиливать предусловия</a:t>
            </a:r>
            <a:r>
              <a:rPr lang="ru-RU" dirty="0"/>
              <a:t>. То есть он должен принимать как минимум те же входные данные, что и базовый класс.</a:t>
            </a:r>
            <a:br>
              <a:rPr lang="ru-RU" dirty="0"/>
            </a:br>
            <a:r>
              <a:rPr lang="ru-RU" dirty="0"/>
              <a:t>— Он должен </a:t>
            </a:r>
            <a:r>
              <a:rPr lang="ru-RU" b="1" dirty="0"/>
              <a:t>усиливать или сохранять постусловия</a:t>
            </a:r>
            <a:r>
              <a:rPr lang="ru-RU" dirty="0"/>
              <a:t>: гарантии после выполнения метода не должны становиться слабее.</a:t>
            </a:r>
            <a:br>
              <a:rPr lang="ru-RU" dirty="0"/>
            </a:br>
            <a:r>
              <a:rPr lang="ru-RU" dirty="0"/>
              <a:t>— И он не должен нарушать инварианты — правила, которые всегда должны быть верны для базового типа</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Номер слайда 3"/>
          <p:cNvSpPr>
            <a:spLocks noGrp="1"/>
          </p:cNvSpPr>
          <p:nvPr>
            <p:ph type="sldNum" sz="quarter" idx="10"/>
          </p:nvPr>
        </p:nvSpPr>
        <p:spPr/>
        <p:txBody>
          <a:bodyPr/>
          <a:lstStyle/>
          <a:p>
            <a:fld id="{9BF0A773-BC3A-474D-8036-883A816F0F99}" type="slidenum">
              <a:rPr lang="ru-RU" smtClean="0"/>
              <a:t>20</a:t>
            </a:fld>
            <a:endParaRPr lang="ru-RU"/>
          </a:p>
        </p:txBody>
      </p:sp>
    </p:spTree>
    <p:extLst>
      <p:ext uri="{BB962C8B-B14F-4D97-AF65-F5344CB8AC3E}">
        <p14:creationId xmlns:p14="http://schemas.microsoft.com/office/powerpoint/2010/main" val="25076723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Классический пример нарушения LSP — </a:t>
            </a:r>
            <a:r>
              <a:rPr lang="ru-RU" dirty="0" err="1"/>
              <a:t>Rectangle</a:t>
            </a:r>
            <a:r>
              <a:rPr lang="ru-RU" dirty="0"/>
              <a:t> и Square. На уровне математики квадрат — частный случай прямоугольника. Но на уровне поведения — нет: квадрат требует, чтобы ширина и высота были равны, а прямоугольник — нет.</a:t>
            </a:r>
          </a:p>
          <a:p>
            <a:br>
              <a:rPr lang="ru-RU" dirty="0"/>
            </a:br>
            <a:r>
              <a:rPr lang="ru-RU" dirty="0"/>
              <a:t>Из-за этого квадрат неизбежно ломает ожидания любого кода, который работает с прямоугольником: если изменить ширину, квадрат внезапно меняет и высоту, что полностью меняет поведение программы. Это и есть нарушение LSP.</a:t>
            </a:r>
          </a:p>
          <a:p>
            <a:endParaRPr lang="ru-RU" dirty="0"/>
          </a:p>
          <a:p>
            <a:r>
              <a:rPr lang="ru-RU" dirty="0"/>
              <a:t>Важно понимать: LSP — это не про математику и не про классификацию сущностей. Это про поведение. Если поведение подкласса противоречит ожиданиям клиентов базового типа — наследование использовать нельзя.</a:t>
            </a:r>
          </a:p>
          <a:p>
            <a:r>
              <a:rPr lang="ru-RU" dirty="0"/>
              <a:t>Соблюдение LSP снижает количество скрытых, труднонаходимых ошибок, делает систему более предсказуемой и облегчает расширяемость. Это фундаментальный принцип правильного использования наследования.</a:t>
            </a:r>
          </a:p>
          <a:p>
            <a:endParaRPr lang="ru-RU" dirty="0"/>
          </a:p>
        </p:txBody>
      </p:sp>
      <p:sp>
        <p:nvSpPr>
          <p:cNvPr id="4" name="Номер слайда 3"/>
          <p:cNvSpPr>
            <a:spLocks noGrp="1"/>
          </p:cNvSpPr>
          <p:nvPr>
            <p:ph type="sldNum" sz="quarter" idx="10"/>
          </p:nvPr>
        </p:nvSpPr>
        <p:spPr/>
        <p:txBody>
          <a:bodyPr/>
          <a:lstStyle/>
          <a:p>
            <a:fld id="{9BF0A773-BC3A-474D-8036-883A816F0F99}" type="slidenum">
              <a:rPr lang="ru-RU" smtClean="0"/>
              <a:t>21</a:t>
            </a:fld>
            <a:endParaRPr lang="ru-RU"/>
          </a:p>
        </p:txBody>
      </p:sp>
    </p:spTree>
    <p:extLst>
      <p:ext uri="{BB962C8B-B14F-4D97-AF65-F5344CB8AC3E}">
        <p14:creationId xmlns:p14="http://schemas.microsoft.com/office/powerpoint/2010/main" val="14692287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F0A773-BC3A-474D-8036-883A816F0F99}" type="slidenum">
              <a:rPr lang="ru-RU" smtClean="0"/>
              <a:t>22</a:t>
            </a:fld>
            <a:endParaRPr lang="ru-RU"/>
          </a:p>
        </p:txBody>
      </p:sp>
    </p:spTree>
    <p:extLst>
      <p:ext uri="{BB962C8B-B14F-4D97-AF65-F5344CB8AC3E}">
        <p14:creationId xmlns:p14="http://schemas.microsoft.com/office/powerpoint/2010/main" val="8811615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F0A773-BC3A-474D-8036-883A816F0F99}" type="slidenum">
              <a:rPr lang="ru-RU" smtClean="0"/>
              <a:t>23</a:t>
            </a:fld>
            <a:endParaRPr lang="ru-RU"/>
          </a:p>
        </p:txBody>
      </p:sp>
    </p:spTree>
    <p:extLst>
      <p:ext uri="{BB962C8B-B14F-4D97-AF65-F5344CB8AC3E}">
        <p14:creationId xmlns:p14="http://schemas.microsoft.com/office/powerpoint/2010/main" val="25735804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BF0A773-BC3A-474D-8036-883A816F0F99}" type="slidenum">
              <a:rPr lang="ru-RU" smtClean="0"/>
              <a:t>24</a:t>
            </a:fld>
            <a:endParaRPr lang="ru-RU"/>
          </a:p>
        </p:txBody>
      </p:sp>
    </p:spTree>
    <p:extLst>
      <p:ext uri="{BB962C8B-B14F-4D97-AF65-F5344CB8AC3E}">
        <p14:creationId xmlns:p14="http://schemas.microsoft.com/office/powerpoint/2010/main" val="41676642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F0A773-BC3A-474D-8036-883A816F0F99}" type="slidenum">
              <a:rPr lang="ru-RU" smtClean="0"/>
              <a:t>25</a:t>
            </a:fld>
            <a:endParaRPr lang="ru-RU"/>
          </a:p>
        </p:txBody>
      </p:sp>
    </p:spTree>
    <p:extLst>
      <p:ext uri="{BB962C8B-B14F-4D97-AF65-F5344CB8AC3E}">
        <p14:creationId xmlns:p14="http://schemas.microsoft.com/office/powerpoint/2010/main" val="1749826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BF0A773-BC3A-474D-8036-883A816F0F99}" type="slidenum">
              <a:rPr lang="ru-RU" smtClean="0"/>
              <a:t>26</a:t>
            </a:fld>
            <a:endParaRPr lang="ru-RU"/>
          </a:p>
        </p:txBody>
      </p:sp>
    </p:spTree>
    <p:extLst>
      <p:ext uri="{BB962C8B-B14F-4D97-AF65-F5344CB8AC3E}">
        <p14:creationId xmlns:p14="http://schemas.microsoft.com/office/powerpoint/2010/main" val="367415960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Подведём итоги принципа подстановки Лисков.</a:t>
            </a:r>
          </a:p>
          <a:p>
            <a:r>
              <a:rPr lang="ru-RU" dirty="0"/>
              <a:t>Основное достоинство LSP — это предсказуемость поведения. Когда подклассы соблюдают контракт базового класса, мы можем безопасно использовать их в существующем коде. Это резко снижает количество скрытых, трудно обнаруживаемых ошибок. В частности, тех ошибок, которые проявляются только в </a:t>
            </a:r>
            <a:r>
              <a:rPr lang="ru-RU" dirty="0" err="1"/>
              <a:t>рантайме</a:t>
            </a:r>
            <a:r>
              <a:rPr lang="ru-RU" dirty="0"/>
              <a:t> — когда поведение вдруг оказывается не таким, как ожидалось.</a:t>
            </a:r>
          </a:p>
          <a:p>
            <a:endParaRPr lang="ru-RU" dirty="0"/>
          </a:p>
          <a:p>
            <a:r>
              <a:rPr lang="ru-RU" dirty="0"/>
              <a:t>Второе важное преимущество — это упрощённая расширяемость. Если мы уверены, что новые подклассы корректно реализуют контракт базового типа, значит они действительно взаимозаменяемы. Можно добавлять новое поведение, не переписывая старый код и не опасаясь нарушений.</a:t>
            </a:r>
          </a:p>
          <a:p>
            <a:endParaRPr lang="ru-RU" dirty="0"/>
          </a:p>
          <a:p>
            <a:r>
              <a:rPr lang="ru-RU" dirty="0"/>
              <a:t>Третье — это надёжность повторного использования. Когда интерфейсы и базовые классы спроектированы правильно, их действительно можно безопасно расширять. Наличие LSP делает архитектуру менее хрупкой и более устойчивой к изменениям.</a:t>
            </a:r>
          </a:p>
          <a:p>
            <a:endParaRPr lang="en-US" dirty="0"/>
          </a:p>
        </p:txBody>
      </p:sp>
      <p:sp>
        <p:nvSpPr>
          <p:cNvPr id="4" name="Slide Number Placeholder 3"/>
          <p:cNvSpPr>
            <a:spLocks noGrp="1"/>
          </p:cNvSpPr>
          <p:nvPr>
            <p:ph type="sldNum" sz="quarter" idx="5"/>
          </p:nvPr>
        </p:nvSpPr>
        <p:spPr/>
        <p:txBody>
          <a:bodyPr/>
          <a:lstStyle/>
          <a:p>
            <a:fld id="{9BF0A773-BC3A-474D-8036-883A816F0F99}" type="slidenum">
              <a:rPr lang="ru-RU" smtClean="0"/>
              <a:t>27</a:t>
            </a:fld>
            <a:endParaRPr lang="ru-RU"/>
          </a:p>
        </p:txBody>
      </p:sp>
    </p:spTree>
    <p:extLst>
      <p:ext uri="{BB962C8B-B14F-4D97-AF65-F5344CB8AC3E}">
        <p14:creationId xmlns:p14="http://schemas.microsoft.com/office/powerpoint/2010/main" val="225022797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Но, как и у любых принципов, у LSP есть свои трудности.</a:t>
            </a:r>
          </a:p>
          <a:p>
            <a:r>
              <a:rPr lang="ru-RU" dirty="0"/>
              <a:t>Первая — необходимость тщательно продумывать интерфейсы. Нужно понимать, какие инварианты и гарантии должен обеспечивать базовый тип, какие условия можно ослаблять, а какие — нет. Это требует определённой зрелости проектирования.</a:t>
            </a:r>
          </a:p>
          <a:p>
            <a:endParaRPr lang="ru-RU" dirty="0"/>
          </a:p>
          <a:p>
            <a:r>
              <a:rPr lang="ru-RU" dirty="0"/>
              <a:t>Вторая трудность — нарушения LSP часто неочевидны. Компилятор спокойно пропускает код, который технически корректен, но логически нарушает ожидания клиентов. То есть ошибка не в типах, а в поведении, а значит она проявляется только в </a:t>
            </a:r>
            <a:r>
              <a:rPr lang="ru-RU" dirty="0" err="1"/>
              <a:t>рантайме</a:t>
            </a:r>
            <a:r>
              <a:rPr lang="ru-RU" dirty="0"/>
              <a:t>.</a:t>
            </a:r>
          </a:p>
          <a:p>
            <a:endParaRPr lang="ru-RU" dirty="0"/>
          </a:p>
          <a:p>
            <a:r>
              <a:rPr lang="ru-RU" dirty="0"/>
              <a:t>И третье — неверно выбранная иерархия наследования приводит к серьёзным архитектурным проблемам. В какой-то момент становится понятно, что поведение подкласса не согласуется с базовым, и приходится переделывать модель. Иногда это значит отказаться от наследования вовсе и перейти на композицию.</a:t>
            </a:r>
          </a:p>
          <a:p>
            <a:endParaRPr lang="ru-RU" dirty="0"/>
          </a:p>
          <a:p>
            <a:r>
              <a:rPr lang="ru-RU" dirty="0"/>
              <a:t>Поэтому LSP — это не просто формальный принцип, а инструмент, который помогает выявлять неправильные абстракции. Если соблюдение LSP вызывает сложности — это признак, что в основе лежит неверная модель или неверное отношение наследования</a:t>
            </a:r>
          </a:p>
          <a:p>
            <a:endParaRPr lang="en-US" dirty="0"/>
          </a:p>
        </p:txBody>
      </p:sp>
      <p:sp>
        <p:nvSpPr>
          <p:cNvPr id="4" name="Slide Number Placeholder 3"/>
          <p:cNvSpPr>
            <a:spLocks noGrp="1"/>
          </p:cNvSpPr>
          <p:nvPr>
            <p:ph type="sldNum" sz="quarter" idx="5"/>
          </p:nvPr>
        </p:nvSpPr>
        <p:spPr/>
        <p:txBody>
          <a:bodyPr/>
          <a:lstStyle/>
          <a:p>
            <a:fld id="{9BF0A773-BC3A-474D-8036-883A816F0F99}" type="slidenum">
              <a:rPr lang="ru-RU" smtClean="0"/>
              <a:t>28</a:t>
            </a:fld>
            <a:endParaRPr lang="ru-RU"/>
          </a:p>
        </p:txBody>
      </p:sp>
    </p:spTree>
    <p:extLst>
      <p:ext uri="{BB962C8B-B14F-4D97-AF65-F5344CB8AC3E}">
        <p14:creationId xmlns:p14="http://schemas.microsoft.com/office/powerpoint/2010/main" val="54546138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F0A773-BC3A-474D-8036-883A816F0F99}" type="slidenum">
              <a:rPr lang="ru-RU" smtClean="0"/>
              <a:t>29</a:t>
            </a:fld>
            <a:endParaRPr lang="ru-RU"/>
          </a:p>
        </p:txBody>
      </p:sp>
    </p:spTree>
    <p:extLst>
      <p:ext uri="{BB962C8B-B14F-4D97-AF65-F5344CB8AC3E}">
        <p14:creationId xmlns:p14="http://schemas.microsoft.com/office/powerpoint/2010/main" val="15920952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Принцип разделения интерфейса — это принцип о том, что интерфейсы должны быть ровно настолько широкими, насколько это нужно клиенту. Формулируется он просто: клиенты не должны зависеть от методов, которые они не используют.</a:t>
            </a:r>
          </a:p>
          <a:p>
            <a:endParaRPr lang="ru-RU" dirty="0"/>
          </a:p>
          <a:p>
            <a:r>
              <a:rPr lang="ru-RU" dirty="0"/>
              <a:t>Почему это важно? Представьте интерфейс, который включает десять методов, а конкретный клиент использует только один или два. Оставшиеся восемь методов становятся для него лишними зависимостями. Если в интерфейс добавят новый метод, изменят сигнатуру старого или изменится контракт — клиенту, который никогда этот метод не вызывал, всё равно придётся реагировать на изменения. Это создаёт ненужную связанность и заставляет переносить изменения туда, где они не имеют никакого смысла.</a:t>
            </a:r>
          </a:p>
          <a:p>
            <a:endParaRPr lang="ru-RU" dirty="0"/>
          </a:p>
          <a:p>
            <a:r>
              <a:rPr lang="ru-RU" dirty="0"/>
              <a:t>Поэтому ISP говорит: интерфейс должен описывать </a:t>
            </a:r>
            <a:r>
              <a:rPr lang="ru-RU" b="1" dirty="0"/>
              <a:t>роль</a:t>
            </a:r>
            <a:r>
              <a:rPr lang="ru-RU" dirty="0"/>
              <a:t>, которую компонент выполняет для клиента, а не всё, что он в принципе умеет делать. Если разные клиенты используют разные наборы операций — значит, и интерфейсы должны быть разными.</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Номер слайда 3"/>
          <p:cNvSpPr>
            <a:spLocks noGrp="1"/>
          </p:cNvSpPr>
          <p:nvPr>
            <p:ph type="sldNum" sz="quarter" idx="10"/>
          </p:nvPr>
        </p:nvSpPr>
        <p:spPr/>
        <p:txBody>
          <a:bodyPr/>
          <a:lstStyle/>
          <a:p>
            <a:fld id="{9BF0A773-BC3A-474D-8036-883A816F0F99}" type="slidenum">
              <a:rPr lang="ru-RU" smtClean="0"/>
              <a:t>30</a:t>
            </a:fld>
            <a:endParaRPr lang="ru-RU"/>
          </a:p>
        </p:txBody>
      </p:sp>
    </p:spTree>
    <p:extLst>
      <p:ext uri="{BB962C8B-B14F-4D97-AF65-F5344CB8AC3E}">
        <p14:creationId xmlns:p14="http://schemas.microsoft.com/office/powerpoint/2010/main" val="219602766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На практике это означает несколько вещей.</a:t>
            </a:r>
          </a:p>
          <a:p>
            <a:r>
              <a:rPr lang="ru-RU" dirty="0"/>
              <a:t>Во-первых, не нужно тупо копировать все методы класса в интерфейс. Интерфейс — это не “обёртка вокруг класса”, это контракт для конкретного сценария использования.</a:t>
            </a:r>
          </a:p>
          <a:p>
            <a:endParaRPr lang="ru-RU" dirty="0"/>
          </a:p>
          <a:p>
            <a:r>
              <a:rPr lang="ru-RU" dirty="0"/>
              <a:t>Во-вторых, если у вас есть клиенты, которым нужны разные части функциональности, — интерфейс нужно разделять. Пусть каждый клиент получает ровно ту часть, которая ему действительно нужна. Это снижает связанность и делает код более гибким.</a:t>
            </a:r>
          </a:p>
          <a:p>
            <a:endParaRPr lang="ru-RU" dirty="0"/>
          </a:p>
          <a:p>
            <a:r>
              <a:rPr lang="ru-RU" dirty="0"/>
              <a:t>И, наконец, если исходный класс принадлежит библиотеке или изменить его невозможно, мы всё равно можем применить ISP — с помощью адаптера, который предоставляет узкий интерфейс и закрывает лишнюю функциональность.</a:t>
            </a:r>
          </a:p>
          <a:p>
            <a:endParaRPr lang="ru-RU" dirty="0"/>
          </a:p>
          <a:p>
            <a:r>
              <a:rPr lang="ru-RU" dirty="0"/>
              <a:t>В результате мы получаем систему, где изменения локализованы, клиенты зависимы только от того, что действительно используют, и нет лишних “цепных реакций” при обновлении интерфейсов. Это делает архитектуру гораздо более устойчивой и аккуратной.</a:t>
            </a:r>
          </a:p>
          <a:p>
            <a:endParaRPr lang="en-US" dirty="0"/>
          </a:p>
        </p:txBody>
      </p:sp>
      <p:sp>
        <p:nvSpPr>
          <p:cNvPr id="4" name="Slide Number Placeholder 3"/>
          <p:cNvSpPr>
            <a:spLocks noGrp="1"/>
          </p:cNvSpPr>
          <p:nvPr>
            <p:ph type="sldNum" sz="quarter" idx="5"/>
          </p:nvPr>
        </p:nvSpPr>
        <p:spPr/>
        <p:txBody>
          <a:bodyPr/>
          <a:lstStyle/>
          <a:p>
            <a:fld id="{9BF0A773-BC3A-474D-8036-883A816F0F99}" type="slidenum">
              <a:rPr lang="ru-RU" smtClean="0"/>
              <a:t>31</a:t>
            </a:fld>
            <a:endParaRPr lang="ru-RU"/>
          </a:p>
        </p:txBody>
      </p:sp>
    </p:spTree>
    <p:extLst>
      <p:ext uri="{BB962C8B-B14F-4D97-AF65-F5344CB8AC3E}">
        <p14:creationId xmlns:p14="http://schemas.microsoft.com/office/powerpoint/2010/main" val="147081661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1" dirty="0"/>
              <a:t>В чём проблемы:</a:t>
            </a:r>
          </a:p>
          <a:p>
            <a:r>
              <a:rPr lang="ru-RU" b="1" dirty="0"/>
              <a:t>Нарушен ISP</a:t>
            </a:r>
            <a:r>
              <a:rPr lang="ru-RU" dirty="0"/>
              <a:t>: клиент </a:t>
            </a:r>
            <a:r>
              <a:rPr lang="ru-RU" sz="1200" kern="1200" dirty="0" err="1">
                <a:solidFill>
                  <a:schemeClr val="tx1"/>
                </a:solidFill>
                <a:latin typeface="+mn-lt"/>
                <a:ea typeface="+mn-ea"/>
                <a:cs typeface="+mn-cs"/>
              </a:rPr>
              <a:t>PrintReport</a:t>
            </a:r>
            <a:r>
              <a:rPr lang="ru-RU" dirty="0"/>
              <a:t> зависит от интерфейса, в котором есть </a:t>
            </a:r>
            <a:r>
              <a:rPr lang="ru-RU" sz="1200" kern="1200" dirty="0" err="1">
                <a:solidFill>
                  <a:schemeClr val="tx1"/>
                </a:solidFill>
                <a:latin typeface="+mn-lt"/>
                <a:ea typeface="+mn-ea"/>
                <a:cs typeface="+mn-cs"/>
              </a:rPr>
              <a:t>Scan</a:t>
            </a:r>
            <a:r>
              <a:rPr lang="ru-RU" dirty="0"/>
              <a:t> и </a:t>
            </a:r>
            <a:r>
              <a:rPr lang="ru-RU" sz="1200" kern="1200" dirty="0" err="1">
                <a:solidFill>
                  <a:schemeClr val="tx1"/>
                </a:solidFill>
                <a:latin typeface="+mn-lt"/>
                <a:ea typeface="+mn-ea"/>
                <a:cs typeface="+mn-cs"/>
              </a:rPr>
              <a:t>Fax</a:t>
            </a:r>
            <a:r>
              <a:rPr lang="ru-RU" dirty="0"/>
              <a:t>, хотя он их никогда не использует.</a:t>
            </a:r>
          </a:p>
          <a:p>
            <a:r>
              <a:rPr lang="ru-RU" b="1" dirty="0"/>
              <a:t>Ложные обязанности</a:t>
            </a:r>
            <a:r>
              <a:rPr lang="ru-RU" dirty="0"/>
              <a:t>: </a:t>
            </a:r>
            <a:r>
              <a:rPr lang="ru-RU" sz="1200" kern="1200" dirty="0" err="1">
                <a:solidFill>
                  <a:schemeClr val="tx1"/>
                </a:solidFill>
                <a:latin typeface="+mn-lt"/>
                <a:ea typeface="+mn-ea"/>
                <a:cs typeface="+mn-cs"/>
              </a:rPr>
              <a:t>SimplePrinter</a:t>
            </a:r>
            <a:r>
              <a:rPr lang="ru-RU" dirty="0"/>
              <a:t> вынужден «поддерживать» методы, которых у него по сути нет (пустые реализации, исключения и т.п.).</a:t>
            </a:r>
          </a:p>
          <a:p>
            <a:r>
              <a:rPr lang="ru-RU" b="1" dirty="0"/>
              <a:t>Хрупкость</a:t>
            </a:r>
            <a:r>
              <a:rPr lang="ru-RU" dirty="0"/>
              <a:t>: если мы изменим сигнатуру </a:t>
            </a:r>
            <a:r>
              <a:rPr lang="ru-RU" sz="1200" kern="1200" dirty="0" err="1">
                <a:solidFill>
                  <a:schemeClr val="tx1"/>
                </a:solidFill>
                <a:latin typeface="+mn-lt"/>
                <a:ea typeface="+mn-ea"/>
                <a:cs typeface="+mn-cs"/>
              </a:rPr>
              <a:t>Scan</a:t>
            </a:r>
            <a:r>
              <a:rPr lang="ru-RU" dirty="0"/>
              <a:t> или добавим новый метод в интерфейс, придётся править все реализации, даже те, которые ничего не сканируют и не </a:t>
            </a:r>
            <a:r>
              <a:rPr lang="ru-RU" dirty="0" err="1"/>
              <a:t>факсят</a:t>
            </a:r>
            <a:r>
              <a:rPr lang="ru-RU" dirty="0"/>
              <a:t>.</a:t>
            </a:r>
          </a:p>
          <a:p>
            <a:r>
              <a:rPr lang="ru-RU" b="1" dirty="0"/>
              <a:t>Тестируемость</a:t>
            </a:r>
            <a:r>
              <a:rPr lang="ru-RU" dirty="0"/>
              <a:t>: тесты на </a:t>
            </a:r>
            <a:r>
              <a:rPr lang="ru-RU" sz="1200" kern="1200" dirty="0" err="1">
                <a:solidFill>
                  <a:schemeClr val="tx1"/>
                </a:solidFill>
                <a:latin typeface="+mn-lt"/>
                <a:ea typeface="+mn-ea"/>
                <a:cs typeface="+mn-cs"/>
              </a:rPr>
              <a:t>SimplePrinter</a:t>
            </a:r>
            <a:r>
              <a:rPr lang="ru-RU" dirty="0"/>
              <a:t> формально должны проверять ещё и то, что </a:t>
            </a:r>
            <a:r>
              <a:rPr lang="ru-RU" sz="1200" kern="1200" dirty="0" err="1">
                <a:solidFill>
                  <a:schemeClr val="tx1"/>
                </a:solidFill>
                <a:latin typeface="+mn-lt"/>
                <a:ea typeface="+mn-ea"/>
                <a:cs typeface="+mn-cs"/>
              </a:rPr>
              <a:t>Scan</a:t>
            </a:r>
            <a:r>
              <a:rPr lang="ru-RU" dirty="0"/>
              <a:t> и </a:t>
            </a:r>
            <a:r>
              <a:rPr lang="ru-RU" sz="1200" kern="1200" dirty="0" err="1">
                <a:solidFill>
                  <a:schemeClr val="tx1"/>
                </a:solidFill>
                <a:latin typeface="+mn-lt"/>
                <a:ea typeface="+mn-ea"/>
                <a:cs typeface="+mn-cs"/>
              </a:rPr>
              <a:t>Fax</a:t>
            </a:r>
            <a:r>
              <a:rPr lang="ru-RU" dirty="0"/>
              <a:t> не работают — хотя бизнесу это вообще не нужно.</a:t>
            </a:r>
          </a:p>
          <a:p>
            <a:endParaRPr lang="en-US" dirty="0"/>
          </a:p>
        </p:txBody>
      </p:sp>
      <p:sp>
        <p:nvSpPr>
          <p:cNvPr id="4" name="Slide Number Placeholder 3"/>
          <p:cNvSpPr>
            <a:spLocks noGrp="1"/>
          </p:cNvSpPr>
          <p:nvPr>
            <p:ph type="sldNum" sz="quarter" idx="5"/>
          </p:nvPr>
        </p:nvSpPr>
        <p:spPr/>
        <p:txBody>
          <a:bodyPr/>
          <a:lstStyle/>
          <a:p>
            <a:fld id="{9BF0A773-BC3A-474D-8036-883A816F0F99}" type="slidenum">
              <a:rPr lang="ru-RU" smtClean="0"/>
              <a:t>32</a:t>
            </a:fld>
            <a:endParaRPr lang="ru-RU"/>
          </a:p>
        </p:txBody>
      </p:sp>
    </p:spTree>
    <p:extLst>
      <p:ext uri="{BB962C8B-B14F-4D97-AF65-F5344CB8AC3E}">
        <p14:creationId xmlns:p14="http://schemas.microsoft.com/office/powerpoint/2010/main" val="181616412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1" dirty="0"/>
              <a:t>Что изменилось:</a:t>
            </a:r>
          </a:p>
          <a:p>
            <a:r>
              <a:rPr lang="ru-RU" sz="1200" kern="1200" dirty="0" err="1">
                <a:solidFill>
                  <a:schemeClr val="tx1"/>
                </a:solidFill>
                <a:latin typeface="+mn-lt"/>
                <a:ea typeface="+mn-ea"/>
                <a:cs typeface="+mn-cs"/>
              </a:rPr>
              <a:t>PrintReport</a:t>
            </a:r>
            <a:r>
              <a:rPr lang="ru-RU" dirty="0"/>
              <a:t> больше </a:t>
            </a:r>
            <a:r>
              <a:rPr lang="ru-RU" b="1" dirty="0"/>
              <a:t>не зависит</a:t>
            </a:r>
            <a:r>
              <a:rPr lang="ru-RU" dirty="0"/>
              <a:t> ни от </a:t>
            </a:r>
            <a:r>
              <a:rPr lang="ru-RU" sz="1200" kern="1200" dirty="0" err="1">
                <a:solidFill>
                  <a:schemeClr val="tx1"/>
                </a:solidFill>
                <a:latin typeface="+mn-lt"/>
                <a:ea typeface="+mn-ea"/>
                <a:cs typeface="+mn-cs"/>
              </a:rPr>
              <a:t>Scan</a:t>
            </a:r>
            <a:r>
              <a:rPr lang="ru-RU" dirty="0"/>
              <a:t>, ни от </a:t>
            </a:r>
            <a:r>
              <a:rPr lang="ru-RU" sz="1200" kern="1200" dirty="0" err="1">
                <a:solidFill>
                  <a:schemeClr val="tx1"/>
                </a:solidFill>
                <a:latin typeface="+mn-lt"/>
                <a:ea typeface="+mn-ea"/>
                <a:cs typeface="+mn-cs"/>
              </a:rPr>
              <a:t>Fax</a:t>
            </a:r>
            <a:r>
              <a:rPr lang="ru-RU" dirty="0"/>
              <a:t> — только от </a:t>
            </a:r>
            <a:r>
              <a:rPr lang="ru-RU" sz="1200" kern="1200" dirty="0" err="1">
                <a:solidFill>
                  <a:schemeClr val="tx1"/>
                </a:solidFill>
                <a:latin typeface="+mn-lt"/>
                <a:ea typeface="+mn-ea"/>
                <a:cs typeface="+mn-cs"/>
              </a:rPr>
              <a:t>IPrinter</a:t>
            </a:r>
            <a:r>
              <a:rPr lang="ru-RU" dirty="0"/>
              <a:t>.</a:t>
            </a:r>
          </a:p>
          <a:p>
            <a:r>
              <a:rPr lang="ru-RU" sz="1200" kern="1200" dirty="0" err="1">
                <a:solidFill>
                  <a:schemeClr val="tx1"/>
                </a:solidFill>
                <a:latin typeface="+mn-lt"/>
                <a:ea typeface="+mn-ea"/>
                <a:cs typeface="+mn-cs"/>
              </a:rPr>
              <a:t>SimplePrinter</a:t>
            </a:r>
            <a:r>
              <a:rPr lang="ru-RU" dirty="0"/>
              <a:t> реализует ровно одну роль — </a:t>
            </a:r>
            <a:r>
              <a:rPr lang="ru-RU" b="1" dirty="0"/>
              <a:t>печать</a:t>
            </a:r>
            <a:r>
              <a:rPr lang="ru-RU" dirty="0"/>
              <a:t>. Никаких «заглушек» и «не поддерживается».</a:t>
            </a:r>
          </a:p>
          <a:p>
            <a:r>
              <a:rPr lang="ru-RU" dirty="0"/>
              <a:t>Добавление нового метода, скажем, к </a:t>
            </a:r>
            <a:r>
              <a:rPr lang="ru-RU" sz="1200" kern="1200" dirty="0" err="1">
                <a:solidFill>
                  <a:schemeClr val="tx1"/>
                </a:solidFill>
                <a:latin typeface="+mn-lt"/>
                <a:ea typeface="+mn-ea"/>
                <a:cs typeface="+mn-cs"/>
              </a:rPr>
              <a:t>IFax</a:t>
            </a:r>
            <a:r>
              <a:rPr lang="ru-RU" dirty="0"/>
              <a:t>, </a:t>
            </a:r>
            <a:r>
              <a:rPr lang="ru-RU" b="1" dirty="0"/>
              <a:t>не ломает код</a:t>
            </a:r>
            <a:r>
              <a:rPr lang="ru-RU" dirty="0"/>
              <a:t>, который работает только с </a:t>
            </a:r>
            <a:r>
              <a:rPr lang="ru-RU" sz="1200" kern="1200" dirty="0" err="1">
                <a:solidFill>
                  <a:schemeClr val="tx1"/>
                </a:solidFill>
                <a:latin typeface="+mn-lt"/>
                <a:ea typeface="+mn-ea"/>
                <a:cs typeface="+mn-cs"/>
              </a:rPr>
              <a:t>IPrinter</a:t>
            </a:r>
            <a:r>
              <a:rPr lang="ru-RU" dirty="0"/>
              <a:t> или </a:t>
            </a:r>
            <a:r>
              <a:rPr lang="ru-RU" sz="1200" kern="1200" dirty="0" err="1">
                <a:solidFill>
                  <a:schemeClr val="tx1"/>
                </a:solidFill>
                <a:latin typeface="+mn-lt"/>
                <a:ea typeface="+mn-ea"/>
                <a:cs typeface="+mn-cs"/>
              </a:rPr>
              <a:t>IScanner</a:t>
            </a:r>
            <a:r>
              <a:rPr lang="ru-RU" dirty="0"/>
              <a:t>.</a:t>
            </a:r>
          </a:p>
          <a:p>
            <a:r>
              <a:rPr lang="ru-RU" dirty="0"/>
              <a:t>Интерфейсы стали </a:t>
            </a:r>
            <a:r>
              <a:rPr lang="ru-RU" b="1" dirty="0"/>
              <a:t>меньше и специфичнее</a:t>
            </a:r>
            <a:r>
              <a:rPr lang="ru-RU" dirty="0"/>
              <a:t>, их проще реализовывать и тестировать.</a:t>
            </a:r>
          </a:p>
          <a:p>
            <a:endParaRPr lang="en-US" dirty="0"/>
          </a:p>
        </p:txBody>
      </p:sp>
      <p:sp>
        <p:nvSpPr>
          <p:cNvPr id="4" name="Slide Number Placeholder 3"/>
          <p:cNvSpPr>
            <a:spLocks noGrp="1"/>
          </p:cNvSpPr>
          <p:nvPr>
            <p:ph type="sldNum" sz="quarter" idx="5"/>
          </p:nvPr>
        </p:nvSpPr>
        <p:spPr/>
        <p:txBody>
          <a:bodyPr/>
          <a:lstStyle/>
          <a:p>
            <a:fld id="{9BF0A773-BC3A-474D-8036-883A816F0F99}" type="slidenum">
              <a:rPr lang="ru-RU" smtClean="0"/>
              <a:t>33</a:t>
            </a:fld>
            <a:endParaRPr lang="ru-RU"/>
          </a:p>
        </p:txBody>
      </p:sp>
    </p:spTree>
    <p:extLst>
      <p:ext uri="{BB962C8B-B14F-4D97-AF65-F5344CB8AC3E}">
        <p14:creationId xmlns:p14="http://schemas.microsoft.com/office/powerpoint/2010/main" val="367682220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Подведём итог принципу разделения интерфейса.</a:t>
            </a:r>
          </a:p>
          <a:p>
            <a:endParaRPr lang="ru-RU" dirty="0"/>
          </a:p>
          <a:p>
            <a:r>
              <a:rPr lang="ru-RU" dirty="0"/>
              <a:t>Его главное достоинство — снижение связности. Клиенты больше не зависят от методов, которые им не нужны. Это означает, что если в интерфейсе изменился какой-то метод, то клиенты, которые его не используют, вообще не почувствуют изменения. И это серьёзно уменьшает количество каскадных правок по коду.</a:t>
            </a:r>
          </a:p>
          <a:p>
            <a:endParaRPr lang="ru-RU" dirty="0"/>
          </a:p>
          <a:p>
            <a:r>
              <a:rPr lang="ru-RU" dirty="0"/>
              <a:t>Второе преимущество — упрощение реализации. Когда интерфейсы узкие и специализированные, реализовать их намного проще. Не нужно создавать заглушки для методов, которыми устройство или компонент в принципе не обладает. Каждая реализация содержит ровно те методы, которые ей нужны.</a:t>
            </a:r>
          </a:p>
          <a:p>
            <a:endParaRPr lang="ru-RU" dirty="0"/>
          </a:p>
          <a:p>
            <a:r>
              <a:rPr lang="ru-RU" dirty="0"/>
              <a:t>Третье — повышенная гибкость архитектуры. Наличие небольших интерфейсов позволяет свободнее комбинировать компоненты в разных сценариях, подменять реализации на тестовые, изолировать части системы.</a:t>
            </a:r>
          </a:p>
          <a:p>
            <a:endParaRPr lang="en-US" dirty="0"/>
          </a:p>
        </p:txBody>
      </p:sp>
      <p:sp>
        <p:nvSpPr>
          <p:cNvPr id="4" name="Slide Number Placeholder 3"/>
          <p:cNvSpPr>
            <a:spLocks noGrp="1"/>
          </p:cNvSpPr>
          <p:nvPr>
            <p:ph type="sldNum" sz="quarter" idx="5"/>
          </p:nvPr>
        </p:nvSpPr>
        <p:spPr/>
        <p:txBody>
          <a:bodyPr/>
          <a:lstStyle/>
          <a:p>
            <a:fld id="{9BF0A773-BC3A-474D-8036-883A816F0F99}" type="slidenum">
              <a:rPr lang="ru-RU" smtClean="0"/>
              <a:t>34</a:t>
            </a:fld>
            <a:endParaRPr lang="ru-RU"/>
          </a:p>
        </p:txBody>
      </p:sp>
    </p:spTree>
    <p:extLst>
      <p:ext uri="{BB962C8B-B14F-4D97-AF65-F5344CB8AC3E}">
        <p14:creationId xmlns:p14="http://schemas.microsoft.com/office/powerpoint/2010/main" val="21534011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Но у ISP есть и недостатки.</a:t>
            </a:r>
          </a:p>
          <a:p>
            <a:r>
              <a:rPr lang="ru-RU" dirty="0"/>
              <a:t>Первый — неизбежное увеличение количества интерфейсов. Вместо одного большого интерфейса появляются несколько маленьких. Это усложняет архитектуру и может сделать структуру проекта более раздробленной.</a:t>
            </a:r>
          </a:p>
          <a:p>
            <a:endParaRPr lang="ru-RU" dirty="0"/>
          </a:p>
          <a:p>
            <a:r>
              <a:rPr lang="ru-RU" dirty="0"/>
              <a:t>Второй — усложнение навигации. Разработчику нужно понимать, какой интерфейс относится к какой роли. Иногда для новичка это может быть неочевидно, особенно если интерфейсов много.</a:t>
            </a:r>
          </a:p>
          <a:p>
            <a:endParaRPr lang="ru-RU" dirty="0"/>
          </a:p>
          <a:p>
            <a:r>
              <a:rPr lang="ru-RU" dirty="0"/>
              <a:t>И третий момент — важность дисциплины. Разделить интерфейсы нужно правильно: по ролям, по сценариям использования. Слишком мелкие интерфейсы дают путаницу, слишком крупные — снова нарушают ISP. Здесь важно чувствовать баланс.</a:t>
            </a:r>
          </a:p>
          <a:p>
            <a:endParaRPr lang="ru-RU" dirty="0"/>
          </a:p>
          <a:p>
            <a:r>
              <a:rPr lang="ru-RU" dirty="0"/>
              <a:t>В целом, ISP — мощный инструмент снижения связности, но его важно применять осознанно, в тех местах системы, где он действительно даёт выигрыш.</a:t>
            </a:r>
          </a:p>
          <a:p>
            <a:endParaRPr lang="en-US" dirty="0"/>
          </a:p>
        </p:txBody>
      </p:sp>
      <p:sp>
        <p:nvSpPr>
          <p:cNvPr id="4" name="Slide Number Placeholder 3"/>
          <p:cNvSpPr>
            <a:spLocks noGrp="1"/>
          </p:cNvSpPr>
          <p:nvPr>
            <p:ph type="sldNum" sz="quarter" idx="5"/>
          </p:nvPr>
        </p:nvSpPr>
        <p:spPr/>
        <p:txBody>
          <a:bodyPr/>
          <a:lstStyle/>
          <a:p>
            <a:fld id="{9BF0A773-BC3A-474D-8036-883A816F0F99}" type="slidenum">
              <a:rPr lang="ru-RU" smtClean="0"/>
              <a:t>35</a:t>
            </a:fld>
            <a:endParaRPr lang="ru-RU"/>
          </a:p>
        </p:txBody>
      </p:sp>
    </p:spTree>
    <p:extLst>
      <p:ext uri="{BB962C8B-B14F-4D97-AF65-F5344CB8AC3E}">
        <p14:creationId xmlns:p14="http://schemas.microsoft.com/office/powerpoint/2010/main" val="139463201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F0A773-BC3A-474D-8036-883A816F0F99}" type="slidenum">
              <a:rPr lang="ru-RU" smtClean="0"/>
              <a:t>36</a:t>
            </a:fld>
            <a:endParaRPr lang="ru-RU"/>
          </a:p>
        </p:txBody>
      </p:sp>
    </p:spTree>
    <p:extLst>
      <p:ext uri="{BB962C8B-B14F-4D97-AF65-F5344CB8AC3E}">
        <p14:creationId xmlns:p14="http://schemas.microsoft.com/office/powerpoint/2010/main" val="349295964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Принцип инверсии зависимостей — один из самых архитектурно важных принципов SOLID. Он говорит, что </a:t>
            </a:r>
            <a:r>
              <a:rPr lang="ru-RU" dirty="0" err="1"/>
              <a:t>верхнеуровневый</a:t>
            </a:r>
            <a:r>
              <a:rPr lang="ru-RU" dirty="0"/>
              <a:t> код, который реализует бизнес-правила, не должен зависеть от деталей реализации — таких как базы данных, UI, сетевые библиотеки, файловая система.</a:t>
            </a:r>
          </a:p>
          <a:p>
            <a:endParaRPr lang="ru-RU" dirty="0"/>
          </a:p>
          <a:p>
            <a:r>
              <a:rPr lang="ru-RU" dirty="0"/>
              <a:t>Почему? Потому что именно детали меняются чаще всего. Сегодня мы сохраняем данные в </a:t>
            </a:r>
            <a:r>
              <a:rPr lang="ru-RU" dirty="0" err="1"/>
              <a:t>SQLite</a:t>
            </a:r>
            <a:r>
              <a:rPr lang="ru-RU" dirty="0"/>
              <a:t>, завтра — в </a:t>
            </a:r>
            <a:r>
              <a:rPr lang="ru-RU" dirty="0" err="1"/>
              <a:t>PostgreSQL</a:t>
            </a:r>
            <a:r>
              <a:rPr lang="ru-RU" dirty="0"/>
              <a:t>, а послезавтра — в облако. Если бизнес-логика напрямую зависит от конкретной библиотеки или API, любое изменение инфраструктуры заставит нас переписывать верхний уровень системы. Это делает архитектуру хрупкой.</a:t>
            </a:r>
          </a:p>
          <a:p>
            <a:endParaRPr lang="ru-RU" dirty="0"/>
          </a:p>
          <a:p>
            <a:r>
              <a:rPr lang="ru-RU" dirty="0"/>
              <a:t>DIP предлагает решение: </a:t>
            </a:r>
            <a:r>
              <a:rPr lang="ru-RU" b="1" dirty="0"/>
              <a:t>пусть высокоуровневый код зависит от абстракций</a:t>
            </a:r>
            <a:r>
              <a:rPr lang="ru-RU" dirty="0"/>
              <a:t> — интерфейсов, определяющих нужное поведение. А уже конкретные реализации этих интерфейсов подключаются извне — через внедрение зависимостей, фабрики, конфигурацию приложения.</a:t>
            </a:r>
          </a:p>
          <a:p>
            <a:endParaRPr lang="ru-RU" dirty="0"/>
          </a:p>
          <a:p>
            <a:r>
              <a:rPr lang="ru-RU" dirty="0"/>
              <a:t>В такой архитектуре бизнес-логика становится стабильной: она не знает, из какой базы приходят данные, какой именно UI их показывает, или в какой формат сохраняется файл. Она работает только с абстракциями.</a:t>
            </a:r>
          </a:p>
          <a:p>
            <a:endParaRPr lang="ru-RU" dirty="0"/>
          </a:p>
          <a:p>
            <a:r>
              <a:rPr lang="ru-RU" dirty="0"/>
              <a:t>Это сильно упрощает тестирование — мы можем подставлять фейковые или мок-реализации. Это упрощает сопровождение — меняется инфраструктура, а верхний уровень не трогаем. И это упрощает расширяемость — можно писать новые реализации интерфейсов, не меняя существующий код.</a:t>
            </a:r>
          </a:p>
          <a:p>
            <a:endParaRPr lang="ru-RU" dirty="0"/>
          </a:p>
          <a:p>
            <a:r>
              <a:rPr lang="ru-RU" dirty="0"/>
              <a:t>Таким образом, принцип инверсии зависимостей делает архитектуру гибкой, устойчивой и удобной для долгосрочного развития. Он лежит в основе большинства современных архитектурных подходов — от </a:t>
            </a:r>
            <a:r>
              <a:rPr lang="ru-RU" dirty="0" err="1"/>
              <a:t>Clean</a:t>
            </a:r>
            <a:r>
              <a:rPr lang="ru-RU" dirty="0"/>
              <a:t> Architecture до </a:t>
            </a:r>
            <a:r>
              <a:rPr lang="ru-RU" dirty="0" err="1"/>
              <a:t>Hexagonal</a:t>
            </a:r>
            <a:r>
              <a:rPr lang="ru-RU" dirty="0"/>
              <a:t> Architecture.</a:t>
            </a:r>
          </a:p>
          <a:p>
            <a:pPr marL="0" marR="0" indent="0" algn="l" defTabSz="914400" rtl="0" eaLnBrk="1" fontAlgn="auto" latinLnBrk="0" hangingPunct="1">
              <a:lnSpc>
                <a:spcPct val="100000"/>
              </a:lnSpc>
              <a:spcBef>
                <a:spcPts val="0"/>
              </a:spcBef>
              <a:spcAft>
                <a:spcPts val="0"/>
              </a:spcAft>
              <a:buClrTx/>
              <a:buSzTx/>
              <a:buFontTx/>
              <a:buNone/>
              <a:tabLst/>
              <a:defRPr/>
            </a:pPr>
            <a:endParaRPr lang="ru-RU" dirty="0"/>
          </a:p>
        </p:txBody>
      </p:sp>
      <p:sp>
        <p:nvSpPr>
          <p:cNvPr id="4" name="Номер слайда 3"/>
          <p:cNvSpPr>
            <a:spLocks noGrp="1"/>
          </p:cNvSpPr>
          <p:nvPr>
            <p:ph type="sldNum" sz="quarter" idx="10"/>
          </p:nvPr>
        </p:nvSpPr>
        <p:spPr/>
        <p:txBody>
          <a:bodyPr/>
          <a:lstStyle/>
          <a:p>
            <a:fld id="{9BF0A773-BC3A-474D-8036-883A816F0F99}" type="slidenum">
              <a:rPr lang="ru-RU" smtClean="0"/>
              <a:t>37</a:t>
            </a:fld>
            <a:endParaRPr lang="ru-RU"/>
          </a:p>
        </p:txBody>
      </p:sp>
    </p:spTree>
    <p:extLst>
      <p:ext uri="{BB962C8B-B14F-4D97-AF65-F5344CB8AC3E}">
        <p14:creationId xmlns:p14="http://schemas.microsoft.com/office/powerpoint/2010/main" val="321062132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Когда мы говорим о принципе инверсии зависимостей, важно понять ещё одну ключевую идею — идею стабильных абстракций.</a:t>
            </a:r>
          </a:p>
          <a:p>
            <a:endParaRPr lang="ru-RU" dirty="0"/>
          </a:p>
          <a:p>
            <a:r>
              <a:rPr lang="ru-RU" dirty="0"/>
              <a:t>В любой системе есть части, которые меняются часто, и части, которые должны оставаться стабильными. Обычно бизнес-правила, доменная модель, взаимодействие между компонентами — это то, что мы хотим защитить от частых изменений. А вот инфраструктура — файлы, базы данных, сетевые протоколы, UI, библиотеки — меняются куда чаще.</a:t>
            </a:r>
          </a:p>
          <a:p>
            <a:endParaRPr lang="ru-RU" dirty="0"/>
          </a:p>
          <a:p>
            <a:r>
              <a:rPr lang="ru-RU" dirty="0"/>
              <a:t>DIP говорит: пусть нестабильные части зависят от стабильных. То есть не бизнес-логика должна зависеть от конкретного драйвера базы данных, а наоборот — драйвер должен адаптироваться к абстрактному интерфейсу, который определяет бизнес-логика.</a:t>
            </a:r>
          </a:p>
          <a:p>
            <a:endParaRPr lang="ru-RU" dirty="0"/>
          </a:p>
          <a:p>
            <a:r>
              <a:rPr lang="ru-RU" dirty="0"/>
              <a:t>Абстракции — интерфейсы, контракты, порты — должны быть максимально стабильными. Мы продумываем их так, чтобы они отражали бизнес-требования, а не ограничения инфраструктуры. При этом реализации, которые адаптируются под конкретные технологии, могут меняться сколько угодно — это никак не повлияет на верхние уровни системы.</a:t>
            </a:r>
          </a:p>
          <a:p>
            <a:endParaRPr lang="ru-RU" dirty="0"/>
          </a:p>
          <a:p>
            <a:r>
              <a:rPr lang="ru-RU" dirty="0"/>
              <a:t>Именно поэтому мы не наследуем изменчивые конкретные классы и не переопределяем их методы. В этом случае мы жёстко привязываемся к детали реализации, которая завтра может измениться. Вместо этого мы наследуемся от абстракций или работаем через интерфейсы.</a:t>
            </a:r>
          </a:p>
          <a:p>
            <a:endParaRPr lang="ru-RU" dirty="0"/>
          </a:p>
          <a:p>
            <a:r>
              <a:rPr lang="ru-RU" dirty="0"/>
              <a:t>Создание объектов также должно быть вынесено в фабрики, в композиционный корень или в DI-контейнер. Это позволяет высокоуровневому коду вообще не знать, какой конкретный класс используется — он видит только абстракцию.</a:t>
            </a:r>
          </a:p>
          <a:p>
            <a:endParaRPr lang="ru-RU" dirty="0"/>
          </a:p>
          <a:p>
            <a:r>
              <a:rPr lang="ru-RU" dirty="0"/>
              <a:t>В итоге мы получаем архитектуру, в которой изменения изолированы. Инфраструктуру можно менять без страха сломать бизнес-логику, а сама система становится намного более предсказуемой и устойчивой к эволюции</a:t>
            </a:r>
          </a:p>
        </p:txBody>
      </p:sp>
      <p:sp>
        <p:nvSpPr>
          <p:cNvPr id="4" name="Slide Number Placeholder 3"/>
          <p:cNvSpPr>
            <a:spLocks noGrp="1"/>
          </p:cNvSpPr>
          <p:nvPr>
            <p:ph type="sldNum" sz="quarter" idx="5"/>
          </p:nvPr>
        </p:nvSpPr>
        <p:spPr/>
        <p:txBody>
          <a:bodyPr/>
          <a:lstStyle/>
          <a:p>
            <a:fld id="{9BF0A773-BC3A-474D-8036-883A816F0F99}" type="slidenum">
              <a:rPr lang="ru-RU" smtClean="0"/>
              <a:t>38</a:t>
            </a:fld>
            <a:endParaRPr lang="ru-RU"/>
          </a:p>
        </p:txBody>
      </p:sp>
    </p:spTree>
    <p:extLst>
      <p:ext uri="{BB962C8B-B14F-4D97-AF65-F5344CB8AC3E}">
        <p14:creationId xmlns:p14="http://schemas.microsoft.com/office/powerpoint/2010/main" val="3219233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Представим, что в системе есть </a:t>
            </a:r>
            <a:r>
              <a:rPr lang="ru-RU" dirty="0" err="1"/>
              <a:t>use</a:t>
            </a:r>
            <a:r>
              <a:rPr lang="ru-RU" dirty="0"/>
              <a:t> </a:t>
            </a:r>
            <a:r>
              <a:rPr lang="ru-RU" dirty="0" err="1"/>
              <a:t>case</a:t>
            </a:r>
            <a:r>
              <a:rPr lang="ru-RU" dirty="0"/>
              <a:t> для добавления пользователя:</a:t>
            </a:r>
          </a:p>
          <a:p>
            <a:r>
              <a:rPr lang="ru-RU" b="1" dirty="0"/>
              <a:t>Что здесь плохо:</a:t>
            </a:r>
          </a:p>
          <a:p>
            <a:r>
              <a:rPr lang="ru-RU" sz="1200" kern="1200" dirty="0" err="1">
                <a:solidFill>
                  <a:schemeClr val="tx1"/>
                </a:solidFill>
                <a:latin typeface="+mn-lt"/>
                <a:ea typeface="+mn-ea"/>
                <a:cs typeface="+mn-cs"/>
              </a:rPr>
              <a:t>AddUserUseCase</a:t>
            </a:r>
            <a:r>
              <a:rPr lang="ru-RU" dirty="0"/>
              <a:t> </a:t>
            </a:r>
            <a:r>
              <a:rPr lang="ru-RU" b="1" dirty="0"/>
              <a:t>жёстко зависит от конкретного класса</a:t>
            </a:r>
            <a:r>
              <a:rPr lang="ru-RU" dirty="0"/>
              <a:t> </a:t>
            </a:r>
            <a:r>
              <a:rPr lang="ru-RU" sz="1200" kern="1200" dirty="0" err="1">
                <a:solidFill>
                  <a:schemeClr val="tx1"/>
                </a:solidFill>
                <a:latin typeface="+mn-lt"/>
                <a:ea typeface="+mn-ea"/>
                <a:cs typeface="+mn-cs"/>
              </a:rPr>
              <a:t>SqlUserRepository</a:t>
            </a:r>
            <a:r>
              <a:rPr lang="ru-RU" dirty="0"/>
              <a:t>.</a:t>
            </a:r>
            <a:br>
              <a:rPr lang="ru-RU" dirty="0"/>
            </a:br>
            <a:r>
              <a:rPr lang="ru-RU" dirty="0"/>
              <a:t>Если мы решим перейти с SQL на </a:t>
            </a:r>
            <a:r>
              <a:rPr lang="ru-RU" dirty="0" err="1"/>
              <a:t>MongoDB</a:t>
            </a:r>
            <a:r>
              <a:rPr lang="ru-RU" dirty="0"/>
              <a:t>, файл, сервис, REST-API или </a:t>
            </a:r>
            <a:r>
              <a:rPr lang="ru-RU" dirty="0" err="1"/>
              <a:t>in-memory</a:t>
            </a:r>
            <a:r>
              <a:rPr lang="ru-RU" dirty="0"/>
              <a:t> </a:t>
            </a:r>
            <a:r>
              <a:rPr lang="ru-RU" dirty="0" err="1"/>
              <a:t>storage</a:t>
            </a:r>
            <a:r>
              <a:rPr lang="ru-RU" dirty="0"/>
              <a:t> — придётся менять код </a:t>
            </a:r>
            <a:r>
              <a:rPr lang="ru-RU" dirty="0" err="1"/>
              <a:t>use</a:t>
            </a:r>
            <a:r>
              <a:rPr lang="ru-RU" dirty="0"/>
              <a:t> </a:t>
            </a:r>
            <a:r>
              <a:rPr lang="ru-RU" dirty="0" err="1"/>
              <a:t>case</a:t>
            </a:r>
            <a:r>
              <a:rPr lang="ru-RU" dirty="0"/>
              <a:t>.</a:t>
            </a:r>
          </a:p>
          <a:p>
            <a:r>
              <a:rPr lang="ru-RU" dirty="0"/>
              <a:t>Репозиторий требует </a:t>
            </a:r>
            <a:r>
              <a:rPr lang="ru-RU" sz="1200" kern="1200" dirty="0">
                <a:solidFill>
                  <a:schemeClr val="tx1"/>
                </a:solidFill>
                <a:latin typeface="+mn-lt"/>
                <a:ea typeface="+mn-ea"/>
                <a:cs typeface="+mn-cs"/>
              </a:rPr>
              <a:t>Connect()</a:t>
            </a:r>
            <a:r>
              <a:rPr lang="ru-RU" dirty="0"/>
              <a:t>, а </a:t>
            </a:r>
            <a:r>
              <a:rPr lang="ru-RU" dirty="0" err="1"/>
              <a:t>use</a:t>
            </a:r>
            <a:r>
              <a:rPr lang="ru-RU" dirty="0"/>
              <a:t> </a:t>
            </a:r>
            <a:r>
              <a:rPr lang="ru-RU" dirty="0" err="1"/>
              <a:t>case</a:t>
            </a:r>
            <a:r>
              <a:rPr lang="ru-RU" dirty="0"/>
              <a:t> вынужден знать, </a:t>
            </a:r>
            <a:r>
              <a:rPr lang="ru-RU" b="1" dirty="0"/>
              <a:t>как конкретно работает SQL-библиотека</a:t>
            </a:r>
            <a:r>
              <a:rPr lang="ru-RU" dirty="0"/>
              <a:t>.</a:t>
            </a:r>
          </a:p>
          <a:p>
            <a:r>
              <a:rPr lang="ru-RU" dirty="0"/>
              <a:t>Код почти невозможно протестировать без реальной БД → низкая тестируемость.</a:t>
            </a:r>
          </a:p>
          <a:p>
            <a:r>
              <a:rPr lang="ru-RU" dirty="0" err="1"/>
              <a:t>Верхнеуровневая</a:t>
            </a:r>
            <a:r>
              <a:rPr lang="ru-RU" dirty="0"/>
              <a:t> бизнес-логика становится </a:t>
            </a:r>
            <a:r>
              <a:rPr lang="ru-RU" b="1" dirty="0"/>
              <a:t>хрупкой</a:t>
            </a:r>
            <a:r>
              <a:rPr lang="ru-RU" dirty="0"/>
              <a:t>, поскольку зависит от нестабильной инфраструктуры.</a:t>
            </a:r>
          </a:p>
          <a:p>
            <a:r>
              <a:rPr lang="ru-RU" dirty="0"/>
              <a:t>Это прямое нарушение принципа: </a:t>
            </a:r>
            <a:r>
              <a:rPr lang="ru-RU" b="1" dirty="0"/>
              <a:t>нестабильная инфраструктура не должна влиять на стабильные абстракции и бизнес-логику</a:t>
            </a:r>
            <a:r>
              <a:rPr lang="ru-RU" dirty="0"/>
              <a:t>.</a:t>
            </a:r>
          </a:p>
          <a:p>
            <a:endParaRPr lang="en-US" dirty="0"/>
          </a:p>
        </p:txBody>
      </p:sp>
      <p:sp>
        <p:nvSpPr>
          <p:cNvPr id="4" name="Slide Number Placeholder 3"/>
          <p:cNvSpPr>
            <a:spLocks noGrp="1"/>
          </p:cNvSpPr>
          <p:nvPr>
            <p:ph type="sldNum" sz="quarter" idx="5"/>
          </p:nvPr>
        </p:nvSpPr>
        <p:spPr/>
        <p:txBody>
          <a:bodyPr/>
          <a:lstStyle/>
          <a:p>
            <a:fld id="{9BF0A773-BC3A-474D-8036-883A816F0F99}" type="slidenum">
              <a:rPr lang="ru-RU" smtClean="0"/>
              <a:t>39</a:t>
            </a:fld>
            <a:endParaRPr lang="ru-RU"/>
          </a:p>
        </p:txBody>
      </p:sp>
    </p:spTree>
    <p:extLst>
      <p:ext uri="{BB962C8B-B14F-4D97-AF65-F5344CB8AC3E}">
        <p14:creationId xmlns:p14="http://schemas.microsoft.com/office/powerpoint/2010/main" val="417990218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0" dirty="0"/>
              <a:t>Почему это соблюдение принципа «Стабильные абстракции»</a:t>
            </a:r>
          </a:p>
          <a:p>
            <a:r>
              <a:rPr lang="ru-RU" b="0" dirty="0"/>
              <a:t>В новой версии:</a:t>
            </a:r>
          </a:p>
          <a:p>
            <a:r>
              <a:rPr lang="ru-RU" b="0" dirty="0" err="1"/>
              <a:t>Use</a:t>
            </a:r>
            <a:r>
              <a:rPr lang="ru-RU" b="0" dirty="0"/>
              <a:t> </a:t>
            </a:r>
            <a:r>
              <a:rPr lang="ru-RU" b="0" dirty="0" err="1"/>
              <a:t>case</a:t>
            </a:r>
            <a:r>
              <a:rPr lang="ru-RU" b="0" dirty="0"/>
              <a:t> зависит от стабильной абстракции </a:t>
            </a:r>
            <a:r>
              <a:rPr lang="ru-RU" sz="1200" b="0" kern="1200" dirty="0" err="1">
                <a:solidFill>
                  <a:schemeClr val="tx1"/>
                </a:solidFill>
                <a:latin typeface="+mn-lt"/>
                <a:ea typeface="+mn-ea"/>
                <a:cs typeface="+mn-cs"/>
              </a:rPr>
              <a:t>IUserRepository</a:t>
            </a:r>
            <a:r>
              <a:rPr lang="ru-RU" b="0" dirty="0"/>
              <a:t>.</a:t>
            </a:r>
          </a:p>
          <a:p>
            <a:r>
              <a:rPr lang="ru-RU" b="0" dirty="0"/>
              <a:t>Реализация (</a:t>
            </a:r>
            <a:r>
              <a:rPr lang="ru-RU" sz="1200" b="0" kern="1200" dirty="0" err="1">
                <a:solidFill>
                  <a:schemeClr val="tx1"/>
                </a:solidFill>
                <a:latin typeface="+mn-lt"/>
                <a:ea typeface="+mn-ea"/>
                <a:cs typeface="+mn-cs"/>
              </a:rPr>
              <a:t>SqlUserRepository</a:t>
            </a:r>
            <a:r>
              <a:rPr lang="ru-RU" b="0" dirty="0"/>
              <a:t>) зависит от абстракции, а не наоборот.</a:t>
            </a:r>
          </a:p>
          <a:p>
            <a:r>
              <a:rPr lang="ru-RU" b="0" dirty="0"/>
              <a:t>Изменчивые детали (SQL, драйверы, формат хранения) изолированы.</a:t>
            </a:r>
          </a:p>
          <a:p>
            <a:endParaRPr lang="ru-RU" b="0" dirty="0"/>
          </a:p>
          <a:p>
            <a:r>
              <a:rPr lang="ru-RU" b="0" dirty="0"/>
              <a:t>Бизнес-логика не знает:</a:t>
            </a:r>
          </a:p>
          <a:p>
            <a:pPr marL="171450" lvl="0" indent="-171450">
              <a:buFont typeface="Arial" panose="020B0604020202020204" pitchFamily="34" charset="0"/>
              <a:buChar char="•"/>
            </a:pPr>
            <a:r>
              <a:rPr lang="ru-RU" b="0" dirty="0"/>
              <a:t>какая база используется,</a:t>
            </a:r>
          </a:p>
          <a:p>
            <a:pPr marL="171450" lvl="0" indent="-171450">
              <a:buFont typeface="Arial" panose="020B0604020202020204" pitchFamily="34" charset="0"/>
              <a:buChar char="•"/>
            </a:pPr>
            <a:r>
              <a:rPr lang="ru-RU" b="0" dirty="0"/>
              <a:t>как происходит подключение,</a:t>
            </a:r>
          </a:p>
          <a:p>
            <a:pPr marL="171450" lvl="0" indent="-171450">
              <a:buFont typeface="Arial" panose="020B0604020202020204" pitchFamily="34" charset="0"/>
              <a:buChar char="•"/>
            </a:pPr>
            <a:r>
              <a:rPr lang="ru-RU" b="0" dirty="0"/>
              <a:t>в каком формате хранятся данные.</a:t>
            </a:r>
          </a:p>
          <a:p>
            <a:pPr marL="171450" lvl="0" indent="-171450">
              <a:buFont typeface="Arial" panose="020B0604020202020204" pitchFamily="34" charset="0"/>
              <a:buChar char="•"/>
            </a:pPr>
            <a:endParaRPr lang="ru-RU" b="0" dirty="0"/>
          </a:p>
          <a:p>
            <a:r>
              <a:rPr lang="ru-RU" b="0" dirty="0"/>
              <a:t>И самое главное:</a:t>
            </a:r>
          </a:p>
          <a:p>
            <a:pPr marL="171450" indent="-171450">
              <a:buFont typeface="Arial" panose="020B0604020202020204" pitchFamily="34" charset="0"/>
              <a:buChar char="•"/>
            </a:pPr>
            <a:r>
              <a:rPr lang="ru-RU" b="0" dirty="0"/>
              <a:t>Добавление новой реализации не требует менять существующий код.</a:t>
            </a:r>
          </a:p>
          <a:p>
            <a:pPr marL="171450" indent="-171450">
              <a:buFont typeface="Arial" panose="020B0604020202020204" pitchFamily="34" charset="0"/>
              <a:buChar char="•"/>
            </a:pPr>
            <a:r>
              <a:rPr lang="ru-RU" b="0" dirty="0"/>
              <a:t>Бизнес-логика тестируется без инфраструктуры.</a:t>
            </a:r>
          </a:p>
          <a:p>
            <a:pPr marL="171450" indent="-171450">
              <a:buFont typeface="Arial" panose="020B0604020202020204" pitchFamily="34" charset="0"/>
              <a:buChar char="•"/>
            </a:pPr>
            <a:r>
              <a:rPr lang="ru-RU" b="0" dirty="0"/>
              <a:t>Инфраструктуры можно менять хоть каждый день — </a:t>
            </a:r>
            <a:r>
              <a:rPr lang="ru-RU" b="0" dirty="0" err="1"/>
              <a:t>use</a:t>
            </a:r>
            <a:r>
              <a:rPr lang="ru-RU" b="0" dirty="0"/>
              <a:t> </a:t>
            </a:r>
            <a:r>
              <a:rPr lang="ru-RU" b="0" dirty="0" err="1"/>
              <a:t>case</a:t>
            </a:r>
            <a:r>
              <a:rPr lang="ru-RU" b="0" dirty="0"/>
              <a:t> не заметит.</a:t>
            </a:r>
          </a:p>
          <a:p>
            <a:endParaRPr lang="en-US" b="0" dirty="0"/>
          </a:p>
        </p:txBody>
      </p:sp>
      <p:sp>
        <p:nvSpPr>
          <p:cNvPr id="4" name="Slide Number Placeholder 3"/>
          <p:cNvSpPr>
            <a:spLocks noGrp="1"/>
          </p:cNvSpPr>
          <p:nvPr>
            <p:ph type="sldNum" sz="quarter" idx="5"/>
          </p:nvPr>
        </p:nvSpPr>
        <p:spPr/>
        <p:txBody>
          <a:bodyPr/>
          <a:lstStyle/>
          <a:p>
            <a:fld id="{9BF0A773-BC3A-474D-8036-883A816F0F99}" type="slidenum">
              <a:rPr lang="ru-RU" smtClean="0"/>
              <a:t>40</a:t>
            </a:fld>
            <a:endParaRPr lang="ru-RU"/>
          </a:p>
        </p:txBody>
      </p:sp>
    </p:spTree>
    <p:extLst>
      <p:ext uri="{BB962C8B-B14F-4D97-AF65-F5344CB8AC3E}">
        <p14:creationId xmlns:p14="http://schemas.microsoft.com/office/powerpoint/2010/main" val="406401429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Принцип инверсии зависимостей — один из тех принципов, которые действительно меняют архитектуру системы. Давайте посмотрим на его достоинства и трудности.</a:t>
            </a:r>
          </a:p>
          <a:p>
            <a:endParaRPr lang="ru-RU" dirty="0"/>
          </a:p>
          <a:p>
            <a:r>
              <a:rPr lang="ru-RU" dirty="0"/>
              <a:t>Главное достоинство DIP — он делает систему значительно менее хрупкой. Бизнес-логика перестаёт зависеть от инфраструктуры: от конкретной базы данных, пользовательского интерфейса, библиотеки логирования или сетевого протокола. Эти вещи меняются чаще всего, и DIP позволяет защитить верхний уровень от их нестабильности.</a:t>
            </a:r>
          </a:p>
          <a:p>
            <a:endParaRPr lang="ru-RU" dirty="0"/>
          </a:p>
          <a:p>
            <a:r>
              <a:rPr lang="ru-RU" dirty="0"/>
              <a:t>Второе важное преимущество — тестируемость. Когда верхний уровень зависит от абстракций, мы можем подменять реализации простыми </a:t>
            </a:r>
            <a:r>
              <a:rPr lang="ru-RU" dirty="0" err="1"/>
              <a:t>mock</a:t>
            </a:r>
            <a:r>
              <a:rPr lang="ru-RU" dirty="0"/>
              <a:t>- или </a:t>
            </a:r>
            <a:r>
              <a:rPr lang="ru-RU" dirty="0" err="1"/>
              <a:t>fake</a:t>
            </a:r>
            <a:r>
              <a:rPr lang="ru-RU" dirty="0"/>
              <a:t>-объектами. Так мы можем тестировать бизнес-логику изолированно, без настройки окружения, </a:t>
            </a:r>
            <a:r>
              <a:rPr lang="ru-RU" dirty="0" err="1"/>
              <a:t>мокая</a:t>
            </a:r>
            <a:r>
              <a:rPr lang="ru-RU" dirty="0"/>
              <a:t> базу, сеть или файловую систему.</a:t>
            </a:r>
          </a:p>
          <a:p>
            <a:endParaRPr lang="ru-RU" dirty="0"/>
          </a:p>
          <a:p>
            <a:r>
              <a:rPr lang="ru-RU" dirty="0"/>
              <a:t>Третье — лёгкость замены технологий. Если завтра у нас вместо SQL появится </a:t>
            </a:r>
            <a:r>
              <a:rPr lang="ru-RU" dirty="0" err="1"/>
              <a:t>NoSQL</a:t>
            </a:r>
            <a:r>
              <a:rPr lang="ru-RU" dirty="0"/>
              <a:t>, или мы захотим отправлять данные не в файл, а в облако — мы просто реализуем новый адаптер. Верхний уровень при этом вообще не трогаем. Это огромный выигрыш в долгосрочных проектах.</a:t>
            </a:r>
          </a:p>
          <a:p>
            <a:endParaRPr lang="en-US" dirty="0"/>
          </a:p>
        </p:txBody>
      </p:sp>
      <p:sp>
        <p:nvSpPr>
          <p:cNvPr id="4" name="Slide Number Placeholder 3"/>
          <p:cNvSpPr>
            <a:spLocks noGrp="1"/>
          </p:cNvSpPr>
          <p:nvPr>
            <p:ph type="sldNum" sz="quarter" idx="5"/>
          </p:nvPr>
        </p:nvSpPr>
        <p:spPr/>
        <p:txBody>
          <a:bodyPr/>
          <a:lstStyle/>
          <a:p>
            <a:fld id="{9BF0A773-BC3A-474D-8036-883A816F0F99}" type="slidenum">
              <a:rPr lang="ru-RU" smtClean="0"/>
              <a:t>41</a:t>
            </a:fld>
            <a:endParaRPr lang="ru-RU"/>
          </a:p>
        </p:txBody>
      </p:sp>
    </p:spTree>
    <p:extLst>
      <p:ext uri="{BB962C8B-B14F-4D97-AF65-F5344CB8AC3E}">
        <p14:creationId xmlns:p14="http://schemas.microsoft.com/office/powerpoint/2010/main" val="86520671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Но у DIP есть и свои недостатки.</a:t>
            </a:r>
          </a:p>
          <a:p>
            <a:r>
              <a:rPr lang="ru-RU" dirty="0"/>
              <a:t>Во-первых, он добавляет уровни абстракций. Интерфейсов становится больше, архитектура — сложнее. Это нормальная цена за гибкость, но к ней нужно быть готовым.</a:t>
            </a:r>
          </a:p>
          <a:p>
            <a:endParaRPr lang="ru-RU" dirty="0"/>
          </a:p>
          <a:p>
            <a:r>
              <a:rPr lang="ru-RU" dirty="0"/>
              <a:t>Во-вторых, появляется проблема создания объектов. Когда верхний уровень не знает о конкретных реализациях, их нужно где-то связывать: в композиционном корне, через фабрики или DI-контейнер. Это требует дисциплины и архитектурных решений.</a:t>
            </a:r>
          </a:p>
          <a:p>
            <a:endParaRPr lang="ru-RU" dirty="0"/>
          </a:p>
          <a:p>
            <a:r>
              <a:rPr lang="ru-RU" dirty="0"/>
              <a:t>В-третьих, DIP не всегда нужен. Для простых </a:t>
            </a:r>
            <a:r>
              <a:rPr lang="ru-RU" dirty="0" err="1"/>
              <a:t>однофайловых</a:t>
            </a:r>
            <a:r>
              <a:rPr lang="ru-RU" dirty="0"/>
              <a:t> утилит или маленьких скриптов строгие абстракции могут оказаться избыточными. DIP имеет смысл там, где ожидается развитие системы или заменяемость частей.</a:t>
            </a:r>
          </a:p>
          <a:p>
            <a:endParaRPr lang="ru-RU" dirty="0"/>
          </a:p>
          <a:p>
            <a:r>
              <a:rPr lang="ru-RU" dirty="0"/>
              <a:t>И наконец, соблюдение DIP требует правильного выделения интерфейсов. Если абстракции выделены неправильно, их становится слишком много или они слишком широкие — архитектура начинает путаться.</a:t>
            </a:r>
          </a:p>
          <a:p>
            <a:endParaRPr lang="ru-RU" dirty="0"/>
          </a:p>
          <a:p>
            <a:r>
              <a:rPr lang="ru-RU" dirty="0"/>
              <a:t>Поэтому DIP — это мощный инструмент, но применять его нужно осознанно. В правильно спроектированную систему он привносит гибкость, устойчивость и долгосрочную надёжность.</a:t>
            </a:r>
          </a:p>
          <a:p>
            <a:endParaRPr lang="en-US" dirty="0"/>
          </a:p>
        </p:txBody>
      </p:sp>
      <p:sp>
        <p:nvSpPr>
          <p:cNvPr id="4" name="Slide Number Placeholder 3"/>
          <p:cNvSpPr>
            <a:spLocks noGrp="1"/>
          </p:cNvSpPr>
          <p:nvPr>
            <p:ph type="sldNum" sz="quarter" idx="5"/>
          </p:nvPr>
        </p:nvSpPr>
        <p:spPr/>
        <p:txBody>
          <a:bodyPr/>
          <a:lstStyle/>
          <a:p>
            <a:fld id="{9BF0A773-BC3A-474D-8036-883A816F0F99}" type="slidenum">
              <a:rPr lang="ru-RU" smtClean="0"/>
              <a:t>42</a:t>
            </a:fld>
            <a:endParaRPr lang="ru-RU"/>
          </a:p>
        </p:txBody>
      </p:sp>
    </p:spTree>
    <p:extLst>
      <p:ext uri="{BB962C8B-B14F-4D97-AF65-F5344CB8AC3E}">
        <p14:creationId xmlns:p14="http://schemas.microsoft.com/office/powerpoint/2010/main" val="74645538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Итак, подведём итоги. Принципы SOLID — это не набор жёстких правил, а инструменты, которые помогают нам снижать связность, улучшать читаемость и предсказуемость кода, повышать тестируемость и упрощать развитие проекта.</a:t>
            </a:r>
          </a:p>
          <a:p>
            <a:endParaRPr lang="ru-RU" dirty="0"/>
          </a:p>
          <a:p>
            <a:r>
              <a:rPr lang="ru-RU" dirty="0"/>
              <a:t>Они позволяют нам проектировать систему так, чтобы новые требования вносили минимум изменений, чтобы мы могли безопасно добавлять функциональность и меньше боялись непредсказуемых побочных эффектов.</a:t>
            </a:r>
          </a:p>
          <a:p>
            <a:endParaRPr lang="en-US" dirty="0"/>
          </a:p>
        </p:txBody>
      </p:sp>
      <p:sp>
        <p:nvSpPr>
          <p:cNvPr id="4" name="Slide Number Placeholder 3"/>
          <p:cNvSpPr>
            <a:spLocks noGrp="1"/>
          </p:cNvSpPr>
          <p:nvPr>
            <p:ph type="sldNum" sz="quarter" idx="5"/>
          </p:nvPr>
        </p:nvSpPr>
        <p:spPr/>
        <p:txBody>
          <a:bodyPr/>
          <a:lstStyle/>
          <a:p>
            <a:fld id="{9BF0A773-BC3A-474D-8036-883A816F0F99}" type="slidenum">
              <a:rPr lang="ru-RU" smtClean="0"/>
              <a:t>43</a:t>
            </a:fld>
            <a:endParaRPr lang="ru-RU"/>
          </a:p>
        </p:txBody>
      </p:sp>
    </p:spTree>
    <p:extLst>
      <p:ext uri="{BB962C8B-B14F-4D97-AF65-F5344CB8AC3E}">
        <p14:creationId xmlns:p14="http://schemas.microsoft.com/office/powerpoint/2010/main" val="389169183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Однако очень важно понимать, что SOLID — это не религия. Не нужно применять принципы фанатично и везде. Иногда простой монолитный класс решает задачу лучше, чем десяток абстракций. Иногда SRP или DIP не дают практической выгоды.</a:t>
            </a:r>
          </a:p>
          <a:p>
            <a:endParaRPr lang="ru-RU" dirty="0"/>
          </a:p>
          <a:p>
            <a:r>
              <a:rPr lang="ru-RU" dirty="0"/>
              <a:t>Принципы имеют смысл тогда, когда они делают код проще и устойчивее.</a:t>
            </a:r>
          </a:p>
          <a:p>
            <a:r>
              <a:rPr lang="ru-RU" dirty="0"/>
              <a:t>В конечном итоге цель у нас одна — создавать системы, которые легко понимать, удобно развивать и безопасно изменять. Если SOLID помогает в этом — применяйте. Если мешает — ищите баланс.</a:t>
            </a:r>
          </a:p>
          <a:p>
            <a:endParaRPr lang="ru-RU" dirty="0"/>
          </a:p>
          <a:p>
            <a:r>
              <a:rPr lang="ru-RU" dirty="0"/>
              <a:t>Принципы — это инструменты, а не кандалы. И важно не просто знать их, но и понимать, когда и зачем их использовать.</a:t>
            </a:r>
          </a:p>
          <a:p>
            <a:endParaRPr lang="en-US" dirty="0"/>
          </a:p>
        </p:txBody>
      </p:sp>
      <p:sp>
        <p:nvSpPr>
          <p:cNvPr id="4" name="Slide Number Placeholder 3"/>
          <p:cNvSpPr>
            <a:spLocks noGrp="1"/>
          </p:cNvSpPr>
          <p:nvPr>
            <p:ph type="sldNum" sz="quarter" idx="5"/>
          </p:nvPr>
        </p:nvSpPr>
        <p:spPr/>
        <p:txBody>
          <a:bodyPr/>
          <a:lstStyle/>
          <a:p>
            <a:fld id="{9BF0A773-BC3A-474D-8036-883A816F0F99}" type="slidenum">
              <a:rPr lang="ru-RU" smtClean="0"/>
              <a:t>44</a:t>
            </a:fld>
            <a:endParaRPr lang="ru-RU"/>
          </a:p>
        </p:txBody>
      </p:sp>
    </p:spTree>
    <p:extLst>
      <p:ext uri="{BB962C8B-B14F-4D97-AF65-F5344CB8AC3E}">
        <p14:creationId xmlns:p14="http://schemas.microsoft.com/office/powerpoint/2010/main" val="35529089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A0B28B7E-B000-4596-AC62-77FFB0327B90}" type="slidenum">
              <a:rPr lang="ru-RU" smtClean="0"/>
              <a:t>45</a:t>
            </a:fld>
            <a:endParaRPr lang="ru-RU"/>
          </a:p>
        </p:txBody>
      </p:sp>
    </p:spTree>
    <p:extLst>
      <p:ext uri="{BB962C8B-B14F-4D97-AF65-F5344CB8AC3E}">
        <p14:creationId xmlns:p14="http://schemas.microsoft.com/office/powerpoint/2010/main" val="9454033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p:cNvSpPr>
            <a:spLocks noGrp="1"/>
          </p:cNvSpPr>
          <p:nvPr>
            <p:ph type="dt" sz="half" idx="10"/>
          </p:nvPr>
        </p:nvSpPr>
        <p:spPr/>
        <p:txBody>
          <a:bodyPr/>
          <a:lstStyle/>
          <a:p>
            <a:fld id="{955B8494-3BC4-476A-8180-C7D531D1BDE9}" type="datetime1">
              <a:rPr lang="ru-RU" smtClean="0"/>
              <a:t>06.02.2026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CF8E6F4D-2E97-47CB-8591-066566E4FE4D}" type="slidenum">
              <a:rPr lang="ru-RU" smtClean="0"/>
              <a:t>‹#›</a:t>
            </a:fld>
            <a:endParaRPr lang="ru-RU"/>
          </a:p>
        </p:txBody>
      </p:sp>
    </p:spTree>
    <p:extLst>
      <p:ext uri="{BB962C8B-B14F-4D97-AF65-F5344CB8AC3E}">
        <p14:creationId xmlns:p14="http://schemas.microsoft.com/office/powerpoint/2010/main" val="22183935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3EADD36C-E1EE-433A-85C1-8AB557831B59}" type="datetime1">
              <a:rPr lang="ru-RU" smtClean="0"/>
              <a:t>06.02.2026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CF8E6F4D-2E97-47CB-8591-066566E4FE4D}" type="slidenum">
              <a:rPr lang="ru-RU" smtClean="0"/>
              <a:t>‹#›</a:t>
            </a:fld>
            <a:endParaRPr lang="ru-RU"/>
          </a:p>
        </p:txBody>
      </p:sp>
    </p:spTree>
    <p:extLst>
      <p:ext uri="{BB962C8B-B14F-4D97-AF65-F5344CB8AC3E}">
        <p14:creationId xmlns:p14="http://schemas.microsoft.com/office/powerpoint/2010/main" val="27638370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F1E52A6F-751B-4577-A656-6A26D16D5D73}" type="datetime1">
              <a:rPr lang="ru-RU" smtClean="0"/>
              <a:t>06.02.2026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CF8E6F4D-2E97-47CB-8591-066566E4FE4D}" type="slidenum">
              <a:rPr lang="ru-RU" smtClean="0"/>
              <a:t>‹#›</a:t>
            </a:fld>
            <a:endParaRPr lang="ru-RU"/>
          </a:p>
        </p:txBody>
      </p:sp>
    </p:spTree>
    <p:extLst>
      <p:ext uri="{BB962C8B-B14F-4D97-AF65-F5344CB8AC3E}">
        <p14:creationId xmlns:p14="http://schemas.microsoft.com/office/powerpoint/2010/main" val="16374378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89C84D38-0A16-4A00-84F3-995FB60A1A24}" type="datetime1">
              <a:rPr lang="ru-RU" smtClean="0"/>
              <a:t>06.02.2026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CF8E6F4D-2E97-47CB-8591-066566E4FE4D}" type="slidenum">
              <a:rPr lang="ru-RU" smtClean="0"/>
              <a:t>‹#›</a:t>
            </a:fld>
            <a:endParaRPr lang="ru-RU"/>
          </a:p>
        </p:txBody>
      </p:sp>
    </p:spTree>
    <p:extLst>
      <p:ext uri="{BB962C8B-B14F-4D97-AF65-F5344CB8AC3E}">
        <p14:creationId xmlns:p14="http://schemas.microsoft.com/office/powerpoint/2010/main" val="34085727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B111A698-E52A-4D93-9D0B-B26B973770CA}" type="datetime1">
              <a:rPr lang="ru-RU" smtClean="0"/>
              <a:t>06.02.2026</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a:xfrm>
            <a:off x="9325303" y="6345839"/>
            <a:ext cx="2743200" cy="365125"/>
          </a:xfrm>
        </p:spPr>
        <p:txBody>
          <a:bodyPr/>
          <a:lstStyle/>
          <a:p>
            <a:fld id="{CF8E6F4D-2E97-47CB-8591-066566E4FE4D}" type="slidenum">
              <a:rPr lang="ru-RU" smtClean="0"/>
              <a:t>‹#›</a:t>
            </a:fld>
            <a:endParaRPr lang="ru-RU"/>
          </a:p>
        </p:txBody>
      </p:sp>
    </p:spTree>
    <p:extLst>
      <p:ext uri="{BB962C8B-B14F-4D97-AF65-F5344CB8AC3E}">
        <p14:creationId xmlns:p14="http://schemas.microsoft.com/office/powerpoint/2010/main" val="2776133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C0BCB9B2-13AF-492A-A8D5-A78E42E45C90}" type="datetime1">
              <a:rPr lang="ru-RU" smtClean="0"/>
              <a:t>06.02.2026</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CF8E6F4D-2E97-47CB-8591-066566E4FE4D}" type="slidenum">
              <a:rPr lang="ru-RU" smtClean="0"/>
              <a:t>‹#›</a:t>
            </a:fld>
            <a:endParaRPr lang="ru-RU"/>
          </a:p>
        </p:txBody>
      </p:sp>
    </p:spTree>
    <p:extLst>
      <p:ext uri="{BB962C8B-B14F-4D97-AF65-F5344CB8AC3E}">
        <p14:creationId xmlns:p14="http://schemas.microsoft.com/office/powerpoint/2010/main" val="2822980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368E88DF-F7A1-4621-9321-DD92F290BCA2}" type="datetime1">
              <a:rPr lang="ru-RU" smtClean="0"/>
              <a:t>06.02.2026</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CF8E6F4D-2E97-47CB-8591-066566E4FE4D}" type="slidenum">
              <a:rPr lang="ru-RU" smtClean="0"/>
              <a:t>‹#›</a:t>
            </a:fld>
            <a:endParaRPr lang="ru-RU"/>
          </a:p>
        </p:txBody>
      </p:sp>
    </p:spTree>
    <p:extLst>
      <p:ext uri="{BB962C8B-B14F-4D97-AF65-F5344CB8AC3E}">
        <p14:creationId xmlns:p14="http://schemas.microsoft.com/office/powerpoint/2010/main" val="28888385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B178670F-7223-45BA-8607-F009D6E07C98}" type="datetime1">
              <a:rPr lang="ru-RU" smtClean="0"/>
              <a:t>06.02.2026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CF8E6F4D-2E97-47CB-8591-066566E4FE4D}" type="slidenum">
              <a:rPr lang="ru-RU" smtClean="0"/>
              <a:t>‹#›</a:t>
            </a:fld>
            <a:endParaRPr lang="ru-RU"/>
          </a:p>
        </p:txBody>
      </p:sp>
    </p:spTree>
    <p:extLst>
      <p:ext uri="{BB962C8B-B14F-4D97-AF65-F5344CB8AC3E}">
        <p14:creationId xmlns:p14="http://schemas.microsoft.com/office/powerpoint/2010/main" val="2134138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0E94A463-41EE-4B69-9D4D-FCEF376903A8}" type="datetime1">
              <a:rPr lang="ru-RU" smtClean="0"/>
              <a:t>06.02.2026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CF8E6F4D-2E97-47CB-8591-066566E4FE4D}" type="slidenum">
              <a:rPr lang="ru-RU" smtClean="0"/>
              <a:t>‹#›</a:t>
            </a:fld>
            <a:endParaRPr lang="ru-RU"/>
          </a:p>
        </p:txBody>
      </p:sp>
    </p:spTree>
    <p:extLst>
      <p:ext uri="{BB962C8B-B14F-4D97-AF65-F5344CB8AC3E}">
        <p14:creationId xmlns:p14="http://schemas.microsoft.com/office/powerpoint/2010/main" val="15816340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896BD083-5DC9-4DDD-99DA-87E972459BE3}" type="datetime1">
              <a:rPr lang="ru-RU" smtClean="0"/>
              <a:t>06.02.2026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CF8E6F4D-2E97-47CB-8591-066566E4FE4D}" type="slidenum">
              <a:rPr lang="ru-RU" smtClean="0"/>
              <a:t>‹#›</a:t>
            </a:fld>
            <a:endParaRPr lang="ru-RU"/>
          </a:p>
        </p:txBody>
      </p:sp>
    </p:spTree>
    <p:extLst>
      <p:ext uri="{BB962C8B-B14F-4D97-AF65-F5344CB8AC3E}">
        <p14:creationId xmlns:p14="http://schemas.microsoft.com/office/powerpoint/2010/main" val="20799942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B6EA1591-1064-4C12-A3F3-9E222C1602E4}" type="datetime1">
              <a:rPr lang="ru-RU" smtClean="0"/>
              <a:t>06.02.2026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CF8E6F4D-2E97-47CB-8591-066566E4FE4D}" type="slidenum">
              <a:rPr lang="ru-RU" smtClean="0"/>
              <a:t>‹#›</a:t>
            </a:fld>
            <a:endParaRPr lang="ru-RU"/>
          </a:p>
        </p:txBody>
      </p:sp>
    </p:spTree>
    <p:extLst>
      <p:ext uri="{BB962C8B-B14F-4D97-AF65-F5344CB8AC3E}">
        <p14:creationId xmlns:p14="http://schemas.microsoft.com/office/powerpoint/2010/main" val="2480006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98E17F-A256-4882-B4AC-587C535C0026}" type="datetime1">
              <a:rPr lang="ru-RU" smtClean="0"/>
              <a:t>06.02.2026</a:t>
            </a:fld>
            <a:endParaRPr lang="ru-RU"/>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8E6F4D-2E97-47CB-8591-066566E4FE4D}" type="slidenum">
              <a:rPr lang="ru-RU" smtClean="0"/>
              <a:t>‹#›</a:t>
            </a:fld>
            <a:endParaRPr lang="ru-RU"/>
          </a:p>
        </p:txBody>
      </p:sp>
    </p:spTree>
    <p:extLst>
      <p:ext uri="{BB962C8B-B14F-4D97-AF65-F5344CB8AC3E}">
        <p14:creationId xmlns:p14="http://schemas.microsoft.com/office/powerpoint/2010/main" val="23945359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oAutofit/>
          </a:bodyPr>
          <a:lstStyle/>
          <a:p>
            <a:r>
              <a:rPr lang="ru-RU" dirty="0"/>
              <a:t>Принципы </a:t>
            </a:r>
            <a:r>
              <a:rPr lang="en-US" dirty="0"/>
              <a:t>SOLID</a:t>
            </a:r>
            <a:endParaRPr lang="ru-RU" dirty="0"/>
          </a:p>
        </p:txBody>
      </p:sp>
      <p:sp>
        <p:nvSpPr>
          <p:cNvPr id="4" name="Subtitle 3">
            <a:extLst>
              <a:ext uri="{FF2B5EF4-FFF2-40B4-BE49-F238E27FC236}">
                <a16:creationId xmlns:a16="http://schemas.microsoft.com/office/drawing/2014/main" id="{77B9ACAF-7CBA-FA9F-7039-3AFC498CFA9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3930507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Что такое принципы </a:t>
            </a:r>
            <a:r>
              <a:rPr lang="en-US" dirty="0"/>
              <a:t>S.O.L.I.D.?</a:t>
            </a:r>
            <a:endParaRPr lang="ru-RU" dirty="0"/>
          </a:p>
        </p:txBody>
      </p:sp>
      <p:sp>
        <p:nvSpPr>
          <p:cNvPr id="3" name="Объект 2"/>
          <p:cNvSpPr>
            <a:spLocks noGrp="1"/>
          </p:cNvSpPr>
          <p:nvPr>
            <p:ph idx="1"/>
          </p:nvPr>
        </p:nvSpPr>
        <p:spPr/>
        <p:txBody>
          <a:bodyPr>
            <a:normAutofit fontScale="92500" lnSpcReduction="10000"/>
          </a:bodyPr>
          <a:lstStyle/>
          <a:p>
            <a:r>
              <a:rPr lang="ru-RU" dirty="0"/>
              <a:t>SOLID — это набор из пяти принципов проектирования, сформулированных Робертом Мартином. Они помогают создавать код, который проще сопровождать, расширять и тестировать.</a:t>
            </a:r>
          </a:p>
          <a:p>
            <a:pPr lvl="1"/>
            <a:r>
              <a:rPr lang="ru-RU" dirty="0"/>
              <a:t>S — Single </a:t>
            </a:r>
            <a:r>
              <a:rPr lang="ru-RU" dirty="0" err="1"/>
              <a:t>Responsibility</a:t>
            </a:r>
            <a:r>
              <a:rPr lang="ru-RU" dirty="0"/>
              <a:t> </a:t>
            </a:r>
            <a:r>
              <a:rPr lang="ru-RU" dirty="0" err="1"/>
              <a:t>Principle</a:t>
            </a:r>
            <a:r>
              <a:rPr lang="ru-RU" dirty="0"/>
              <a:t> (SRP). Один класс — одна причина для изменений.</a:t>
            </a:r>
          </a:p>
          <a:p>
            <a:pPr lvl="1"/>
            <a:r>
              <a:rPr lang="ru-RU" dirty="0"/>
              <a:t>O — Open/</a:t>
            </a:r>
            <a:r>
              <a:rPr lang="ru-RU" dirty="0" err="1"/>
              <a:t>Closed</a:t>
            </a:r>
            <a:r>
              <a:rPr lang="ru-RU" dirty="0"/>
              <a:t> </a:t>
            </a:r>
            <a:r>
              <a:rPr lang="ru-RU" dirty="0" err="1"/>
              <a:t>Principle</a:t>
            </a:r>
            <a:r>
              <a:rPr lang="ru-RU" dirty="0"/>
              <a:t> (OCP). Открыт для расширения, закрыт для изменения.</a:t>
            </a:r>
          </a:p>
          <a:p>
            <a:pPr lvl="1"/>
            <a:r>
              <a:rPr lang="ru-RU" dirty="0"/>
              <a:t>L — </a:t>
            </a:r>
            <a:r>
              <a:rPr lang="ru-RU" dirty="0" err="1"/>
              <a:t>Liskov</a:t>
            </a:r>
            <a:r>
              <a:rPr lang="ru-RU" dirty="0"/>
              <a:t> </a:t>
            </a:r>
            <a:r>
              <a:rPr lang="ru-RU" dirty="0" err="1"/>
              <a:t>Substitution</a:t>
            </a:r>
            <a:r>
              <a:rPr lang="ru-RU" dirty="0"/>
              <a:t> </a:t>
            </a:r>
            <a:r>
              <a:rPr lang="ru-RU" dirty="0" err="1"/>
              <a:t>Principle</a:t>
            </a:r>
            <a:r>
              <a:rPr lang="ru-RU" dirty="0"/>
              <a:t> (LSP). Подклассы не нарушают ожиданий базового класса.</a:t>
            </a:r>
          </a:p>
          <a:p>
            <a:pPr lvl="1"/>
            <a:r>
              <a:rPr lang="ru-RU" dirty="0"/>
              <a:t>I — Interface </a:t>
            </a:r>
            <a:r>
              <a:rPr lang="ru-RU" dirty="0" err="1"/>
              <a:t>Segregation</a:t>
            </a:r>
            <a:r>
              <a:rPr lang="ru-RU" dirty="0"/>
              <a:t> </a:t>
            </a:r>
            <a:r>
              <a:rPr lang="ru-RU" dirty="0" err="1"/>
              <a:t>Principle</a:t>
            </a:r>
            <a:r>
              <a:rPr lang="ru-RU" dirty="0"/>
              <a:t> (ISP). Интерфейсы должны быть узкими и специфичными.</a:t>
            </a:r>
          </a:p>
          <a:p>
            <a:pPr lvl="1"/>
            <a:r>
              <a:rPr lang="ru-RU" dirty="0"/>
              <a:t>D — </a:t>
            </a:r>
            <a:r>
              <a:rPr lang="ru-RU" dirty="0" err="1"/>
              <a:t>Dependency</a:t>
            </a:r>
            <a:r>
              <a:rPr lang="ru-RU" dirty="0"/>
              <a:t> </a:t>
            </a:r>
            <a:r>
              <a:rPr lang="ru-RU" dirty="0" err="1"/>
              <a:t>Inversion</a:t>
            </a:r>
            <a:r>
              <a:rPr lang="ru-RU" dirty="0"/>
              <a:t> </a:t>
            </a:r>
            <a:r>
              <a:rPr lang="ru-RU" dirty="0" err="1"/>
              <a:t>Principle</a:t>
            </a:r>
            <a:r>
              <a:rPr lang="ru-RU" dirty="0"/>
              <a:t> (DIP). Зависимости направлены на абстракции, а не на реализации.</a:t>
            </a:r>
          </a:p>
        </p:txBody>
      </p:sp>
      <p:sp>
        <p:nvSpPr>
          <p:cNvPr id="4" name="Номер слайда 3"/>
          <p:cNvSpPr>
            <a:spLocks noGrp="1"/>
          </p:cNvSpPr>
          <p:nvPr>
            <p:ph type="sldNum" sz="quarter" idx="12"/>
          </p:nvPr>
        </p:nvSpPr>
        <p:spPr/>
        <p:txBody>
          <a:bodyPr/>
          <a:lstStyle/>
          <a:p>
            <a:fld id="{CF8E6F4D-2E97-47CB-8591-066566E4FE4D}" type="slidenum">
              <a:rPr lang="ru-RU" smtClean="0"/>
              <a:t>2</a:t>
            </a:fld>
            <a:endParaRPr lang="ru-RU"/>
          </a:p>
        </p:txBody>
      </p:sp>
    </p:spTree>
    <p:extLst>
      <p:ext uri="{BB962C8B-B14F-4D97-AF65-F5344CB8AC3E}">
        <p14:creationId xmlns:p14="http://schemas.microsoft.com/office/powerpoint/2010/main" val="33558407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A3858DC-273D-E75C-CD2C-70B8E8F57ED8}"/>
              </a:ext>
            </a:extLst>
          </p:cNvPr>
          <p:cNvSpPr>
            <a:spLocks noGrp="1"/>
          </p:cNvSpPr>
          <p:nvPr>
            <p:ph type="title"/>
          </p:nvPr>
        </p:nvSpPr>
        <p:spPr/>
        <p:txBody>
          <a:bodyPr/>
          <a:lstStyle/>
          <a:p>
            <a:r>
              <a:rPr lang="ru-RU" dirty="0"/>
              <a:t>Принцип единственной ответственности</a:t>
            </a:r>
            <a:endParaRPr lang="en-US" dirty="0"/>
          </a:p>
        </p:txBody>
      </p:sp>
      <p:sp>
        <p:nvSpPr>
          <p:cNvPr id="6" name="Text Placeholder 5">
            <a:extLst>
              <a:ext uri="{FF2B5EF4-FFF2-40B4-BE49-F238E27FC236}">
                <a16:creationId xmlns:a16="http://schemas.microsoft.com/office/drawing/2014/main" id="{EE897A33-05CC-847A-44B2-1BA847C5360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1E0805E-8871-EB0C-747B-A296C2F9FA45}"/>
              </a:ext>
            </a:extLst>
          </p:cNvPr>
          <p:cNvSpPr>
            <a:spLocks noGrp="1"/>
          </p:cNvSpPr>
          <p:nvPr>
            <p:ph type="sldNum" sz="quarter" idx="12"/>
          </p:nvPr>
        </p:nvSpPr>
        <p:spPr/>
        <p:txBody>
          <a:bodyPr/>
          <a:lstStyle/>
          <a:p>
            <a:fld id="{CF8E6F4D-2E97-47CB-8591-066566E4FE4D}" type="slidenum">
              <a:rPr lang="ru-RU" smtClean="0"/>
              <a:t>3</a:t>
            </a:fld>
            <a:endParaRPr lang="ru-RU"/>
          </a:p>
        </p:txBody>
      </p:sp>
    </p:spTree>
    <p:extLst>
      <p:ext uri="{BB962C8B-B14F-4D97-AF65-F5344CB8AC3E}">
        <p14:creationId xmlns:p14="http://schemas.microsoft.com/office/powerpoint/2010/main" val="20512713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p:cNvSpPr>
            <a:spLocks noGrp="1"/>
          </p:cNvSpPr>
          <p:nvPr>
            <p:ph type="title"/>
          </p:nvPr>
        </p:nvSpPr>
        <p:spPr/>
        <p:txBody>
          <a:bodyPr/>
          <a:lstStyle/>
          <a:p>
            <a:r>
              <a:rPr lang="ru-RU" dirty="0"/>
              <a:t>Принцип единственной ответственности</a:t>
            </a:r>
          </a:p>
        </p:txBody>
      </p:sp>
      <p:sp>
        <p:nvSpPr>
          <p:cNvPr id="3" name="Объект 2"/>
          <p:cNvSpPr>
            <a:spLocks noGrp="1"/>
          </p:cNvSpPr>
          <p:nvPr>
            <p:ph idx="1"/>
          </p:nvPr>
        </p:nvSpPr>
        <p:spPr/>
        <p:txBody>
          <a:bodyPr>
            <a:normAutofit/>
          </a:bodyPr>
          <a:lstStyle/>
          <a:p>
            <a:r>
              <a:rPr lang="ru-RU" dirty="0"/>
              <a:t>Класс или модуль должен иметь только одну причину для изменений.</a:t>
            </a:r>
          </a:p>
          <a:p>
            <a:pPr lvl="1"/>
            <a:r>
              <a:rPr lang="ru-RU" dirty="0"/>
              <a:t>Каждый компонент отвечает только за одну зону ответственности.</a:t>
            </a:r>
          </a:p>
          <a:p>
            <a:pPr lvl="1"/>
            <a:r>
              <a:rPr lang="ru-RU" dirty="0"/>
              <a:t>Изменения в одной роли/источнике требований не должны влиять на другие части класса.</a:t>
            </a:r>
          </a:p>
          <a:p>
            <a:pPr lvl="1"/>
            <a:r>
              <a:rPr lang="ru-RU" dirty="0"/>
              <a:t>Если обязанностей несколько — класс неизбежно становится хрупким.</a:t>
            </a:r>
          </a:p>
          <a:p>
            <a:r>
              <a:rPr lang="ru-RU" dirty="0"/>
              <a:t>Практический тест SRP</a:t>
            </a:r>
          </a:p>
          <a:p>
            <a:pPr lvl="1"/>
            <a:r>
              <a:rPr lang="ru-RU" dirty="0"/>
              <a:t>Попробуйте описать назначение класса одним простым предложением. Если предложение распадается на две части — вероятно, принцип нарушен.</a:t>
            </a:r>
          </a:p>
        </p:txBody>
      </p:sp>
      <p:sp>
        <p:nvSpPr>
          <p:cNvPr id="2" name="Номер слайда 1"/>
          <p:cNvSpPr>
            <a:spLocks noGrp="1"/>
          </p:cNvSpPr>
          <p:nvPr>
            <p:ph type="sldNum" sz="quarter" idx="12"/>
          </p:nvPr>
        </p:nvSpPr>
        <p:spPr/>
        <p:txBody>
          <a:bodyPr/>
          <a:lstStyle/>
          <a:p>
            <a:fld id="{101F0F8D-F427-43AD-B726-FB6E0A046F58}" type="slidenum">
              <a:rPr lang="ru-RU" smtClean="0"/>
              <a:t>4</a:t>
            </a:fld>
            <a:endParaRPr lang="ru-RU"/>
          </a:p>
        </p:txBody>
      </p:sp>
    </p:spTree>
    <p:extLst>
      <p:ext uri="{BB962C8B-B14F-4D97-AF65-F5344CB8AC3E}">
        <p14:creationId xmlns:p14="http://schemas.microsoft.com/office/powerpoint/2010/main" val="2534546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p:cNvPicPr>
            <a:picLocks noChangeAspect="1"/>
          </p:cNvPicPr>
          <p:nvPr/>
        </p:nvPicPr>
        <p:blipFill>
          <a:blip r:embed="rId3"/>
          <a:stretch>
            <a:fillRect/>
          </a:stretch>
        </p:blipFill>
        <p:spPr>
          <a:xfrm>
            <a:off x="2585421" y="659543"/>
            <a:ext cx="7021158" cy="5538914"/>
          </a:xfrm>
          <a:prstGeom prst="rect">
            <a:avLst/>
          </a:prstGeom>
        </p:spPr>
      </p:pic>
      <p:sp>
        <p:nvSpPr>
          <p:cNvPr id="4" name="Номер слайда 3"/>
          <p:cNvSpPr>
            <a:spLocks noGrp="1"/>
          </p:cNvSpPr>
          <p:nvPr>
            <p:ph type="sldNum" sz="quarter" idx="12"/>
          </p:nvPr>
        </p:nvSpPr>
        <p:spPr/>
        <p:txBody>
          <a:bodyPr/>
          <a:lstStyle/>
          <a:p>
            <a:fld id="{CF8E6F4D-2E97-47CB-8591-066566E4FE4D}" type="slidenum">
              <a:rPr lang="ru-RU" smtClean="0"/>
              <a:t>5</a:t>
            </a:fld>
            <a:endParaRPr lang="ru-RU"/>
          </a:p>
        </p:txBody>
      </p:sp>
      <p:sp>
        <p:nvSpPr>
          <p:cNvPr id="7" name="Прямоугольник 6"/>
          <p:cNvSpPr/>
          <p:nvPr/>
        </p:nvSpPr>
        <p:spPr>
          <a:xfrm>
            <a:off x="3205778" y="4733365"/>
            <a:ext cx="6056555" cy="120485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847124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C3BA24A-38D4-7093-45DC-69448AA0AAB5}"/>
              </a:ext>
            </a:extLst>
          </p:cNvPr>
          <p:cNvSpPr>
            <a:spLocks noGrp="1"/>
          </p:cNvSpPr>
          <p:nvPr>
            <p:ph type="title"/>
          </p:nvPr>
        </p:nvSpPr>
        <p:spPr/>
        <p:txBody>
          <a:bodyPr/>
          <a:lstStyle/>
          <a:p>
            <a:r>
              <a:rPr lang="ru-RU" dirty="0"/>
              <a:t>Применяем </a:t>
            </a:r>
            <a:r>
              <a:rPr lang="en-US" dirty="0"/>
              <a:t>SRP</a:t>
            </a:r>
          </a:p>
        </p:txBody>
      </p:sp>
      <p:sp>
        <p:nvSpPr>
          <p:cNvPr id="2" name="Номер слайда 1"/>
          <p:cNvSpPr>
            <a:spLocks noGrp="1"/>
          </p:cNvSpPr>
          <p:nvPr>
            <p:ph type="sldNum" sz="quarter" idx="12"/>
          </p:nvPr>
        </p:nvSpPr>
        <p:spPr/>
        <p:txBody>
          <a:bodyPr/>
          <a:lstStyle/>
          <a:p>
            <a:fld id="{CF8E6F4D-2E97-47CB-8591-066566E4FE4D}" type="slidenum">
              <a:rPr lang="ru-RU" smtClean="0"/>
              <a:t>6</a:t>
            </a:fld>
            <a:endParaRPr lang="ru-RU"/>
          </a:p>
        </p:txBody>
      </p:sp>
      <p:pic>
        <p:nvPicPr>
          <p:cNvPr id="102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p:blipFill>
        <p:spPr bwMode="auto">
          <a:xfrm>
            <a:off x="2795080" y="1780596"/>
            <a:ext cx="6601840" cy="48234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36595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бъект 3"/>
          <p:cNvSpPr>
            <a:spLocks noGrp="1"/>
          </p:cNvSpPr>
          <p:nvPr>
            <p:ph idx="1"/>
          </p:nvPr>
        </p:nvSpPr>
        <p:spPr>
          <a:xfrm>
            <a:off x="838200" y="333488"/>
            <a:ext cx="10515600" cy="6033620"/>
          </a:xfrm>
        </p:spPr>
        <p:txBody>
          <a:bodyPr>
            <a:normAutofit fontScale="92500" lnSpcReduction="20000"/>
          </a:bodyPr>
          <a:lstStyle/>
          <a:p>
            <a:pPr marL="0" indent="0">
              <a:buNone/>
            </a:pPr>
            <a:r>
              <a:rPr lang="en-US" dirty="0">
                <a:solidFill>
                  <a:srgbClr val="2B91AF"/>
                </a:solidFill>
                <a:latin typeface="Consolas" panose="020B0609020204030204" pitchFamily="49" charset="0"/>
              </a:rPr>
              <a:t>Bitmap</a:t>
            </a:r>
            <a:r>
              <a:rPr lang="en-US" dirty="0">
                <a:solidFill>
                  <a:srgbClr val="000000"/>
                </a:solidFill>
                <a:latin typeface="Consolas" panose="020B0609020204030204" pitchFamily="49" charset="0"/>
              </a:rPr>
              <a:t> bitmap(320, 240);</a:t>
            </a:r>
          </a:p>
          <a:p>
            <a:pPr marL="0" indent="0">
              <a:buNone/>
            </a:pPr>
            <a:r>
              <a:rPr lang="en-US" dirty="0" err="1">
                <a:solidFill>
                  <a:srgbClr val="000000"/>
                </a:solidFill>
                <a:latin typeface="Consolas" panose="020B0609020204030204" pitchFamily="49" charset="0"/>
              </a:rPr>
              <a:t>bitmap.DrawLine</a:t>
            </a:r>
            <a:r>
              <a:rPr lang="en-US" dirty="0">
                <a:solidFill>
                  <a:srgbClr val="000000"/>
                </a:solidFill>
                <a:latin typeface="Consolas" panose="020B0609020204030204" pitchFamily="49" charset="0"/>
              </a:rPr>
              <a:t>(</a:t>
            </a:r>
            <a:r>
              <a:rPr lang="en-US" dirty="0" err="1">
                <a:solidFill>
                  <a:srgbClr val="2B91AF"/>
                </a:solidFill>
                <a:latin typeface="Consolas" panose="020B0609020204030204" pitchFamily="49" charset="0"/>
              </a:rPr>
              <a:t>Pos</a:t>
            </a:r>
            <a:r>
              <a:rPr lang="en-US" dirty="0">
                <a:solidFill>
                  <a:srgbClr val="000000"/>
                </a:solidFill>
                <a:latin typeface="Consolas" panose="020B0609020204030204" pitchFamily="49" charset="0"/>
              </a:rPr>
              <a:t>(10, 10), </a:t>
            </a:r>
            <a:r>
              <a:rPr lang="en-US" dirty="0" err="1">
                <a:solidFill>
                  <a:srgbClr val="2B91AF"/>
                </a:solidFill>
                <a:latin typeface="Consolas" panose="020B0609020204030204" pitchFamily="49" charset="0"/>
              </a:rPr>
              <a:t>Pos</a:t>
            </a:r>
            <a:r>
              <a:rPr lang="en-US" dirty="0">
                <a:solidFill>
                  <a:srgbClr val="000000"/>
                </a:solidFill>
                <a:latin typeface="Consolas" panose="020B0609020204030204" pitchFamily="49" charset="0"/>
              </a:rPr>
              <a:t>(310, 230));</a:t>
            </a:r>
          </a:p>
          <a:p>
            <a:pPr marL="0" indent="0">
              <a:buNone/>
            </a:pPr>
            <a:r>
              <a:rPr lang="en-US" dirty="0" err="1">
                <a:solidFill>
                  <a:srgbClr val="000000"/>
                </a:solidFill>
                <a:latin typeface="Consolas" panose="020B0609020204030204" pitchFamily="49" charset="0"/>
              </a:rPr>
              <a:t>bitmap.DrawLine</a:t>
            </a:r>
            <a:r>
              <a:rPr lang="en-US" dirty="0">
                <a:solidFill>
                  <a:srgbClr val="000000"/>
                </a:solidFill>
                <a:latin typeface="Consolas" panose="020B0609020204030204" pitchFamily="49" charset="0"/>
              </a:rPr>
              <a:t>(</a:t>
            </a:r>
            <a:r>
              <a:rPr lang="en-US" dirty="0" err="1">
                <a:solidFill>
                  <a:srgbClr val="2B91AF"/>
                </a:solidFill>
                <a:latin typeface="Consolas" panose="020B0609020204030204" pitchFamily="49" charset="0"/>
              </a:rPr>
              <a:t>Pos</a:t>
            </a:r>
            <a:r>
              <a:rPr lang="en-US" dirty="0">
                <a:solidFill>
                  <a:srgbClr val="000000"/>
                </a:solidFill>
                <a:latin typeface="Consolas" panose="020B0609020204030204" pitchFamily="49" charset="0"/>
              </a:rPr>
              <a:t>(10, 230), </a:t>
            </a:r>
            <a:r>
              <a:rPr lang="en-US" dirty="0" err="1">
                <a:solidFill>
                  <a:srgbClr val="2B91AF"/>
                </a:solidFill>
                <a:latin typeface="Consolas" panose="020B0609020204030204" pitchFamily="49" charset="0"/>
              </a:rPr>
              <a:t>Pos</a:t>
            </a:r>
            <a:r>
              <a:rPr lang="en-US" dirty="0">
                <a:solidFill>
                  <a:srgbClr val="000000"/>
                </a:solidFill>
                <a:latin typeface="Consolas" panose="020B0609020204030204" pitchFamily="49" charset="0"/>
              </a:rPr>
              <a:t>(310, 10));</a:t>
            </a:r>
          </a:p>
          <a:p>
            <a:pPr marL="0" indent="0">
              <a:buNone/>
            </a:pPr>
            <a:r>
              <a:rPr lang="en-US" dirty="0" err="1">
                <a:solidFill>
                  <a:srgbClr val="000000"/>
                </a:solidFill>
                <a:latin typeface="Consolas" panose="020B0609020204030204" pitchFamily="49" charset="0"/>
              </a:rPr>
              <a:t>bitmap.Save</a:t>
            </a:r>
            <a:r>
              <a:rPr lang="en-US" dirty="0">
                <a:solidFill>
                  <a:srgbClr val="000000"/>
                </a:solidFill>
                <a:latin typeface="Consolas" panose="020B0609020204030204" pitchFamily="49" charset="0"/>
              </a:rPr>
              <a:t>(</a:t>
            </a:r>
            <a:r>
              <a:rPr lang="en-US" dirty="0">
                <a:solidFill>
                  <a:srgbClr val="A31515"/>
                </a:solidFill>
                <a:latin typeface="Consolas" panose="020B0609020204030204" pitchFamily="49" charset="0"/>
              </a:rPr>
              <a:t>"image.png"</a:t>
            </a:r>
            <a:r>
              <a:rPr lang="en-US" dirty="0">
                <a:solidFill>
                  <a:srgbClr val="000000"/>
                </a:solidFill>
                <a:latin typeface="Consolas" panose="020B0609020204030204" pitchFamily="49" charset="0"/>
              </a:rPr>
              <a:t>);</a:t>
            </a:r>
          </a:p>
          <a:p>
            <a:pPr marL="0" indent="0">
              <a:buNone/>
            </a:pPr>
            <a:endParaRPr lang="en-US" dirty="0">
              <a:solidFill>
                <a:srgbClr val="000000"/>
              </a:solidFill>
              <a:latin typeface="Consolas" panose="020B0609020204030204" pitchFamily="49" charset="0"/>
            </a:endParaRPr>
          </a:p>
          <a:p>
            <a:pPr marL="0" indent="0">
              <a:buNone/>
            </a:pPr>
            <a:r>
              <a:rPr lang="en-US" dirty="0">
                <a:solidFill>
                  <a:srgbClr val="2B91AF"/>
                </a:solidFill>
                <a:latin typeface="Consolas" panose="020B0609020204030204" pitchFamily="49" charset="0"/>
              </a:rPr>
              <a:t>Bitmap</a:t>
            </a:r>
            <a:r>
              <a:rPr lang="en-US" dirty="0">
                <a:solidFill>
                  <a:srgbClr val="000000"/>
                </a:solidFill>
                <a:latin typeface="Consolas" panose="020B0609020204030204" pitchFamily="49" charset="0"/>
              </a:rPr>
              <a:t> bitmap(320, 240);</a:t>
            </a:r>
          </a:p>
          <a:p>
            <a:pPr marL="0" indent="0">
              <a:buNone/>
            </a:pPr>
            <a:endParaRPr lang="ru-RU" dirty="0">
              <a:solidFill>
                <a:srgbClr val="000000"/>
              </a:solidFill>
              <a:latin typeface="Consolas" panose="020B0609020204030204" pitchFamily="49" charset="0"/>
            </a:endParaRPr>
          </a:p>
          <a:p>
            <a:pPr marL="0" indent="0">
              <a:buNone/>
            </a:pPr>
            <a:r>
              <a:rPr lang="en-US" dirty="0" err="1">
                <a:solidFill>
                  <a:srgbClr val="2B91AF"/>
                </a:solidFill>
                <a:latin typeface="Consolas" panose="020B0609020204030204" pitchFamily="49" charset="0"/>
              </a:rPr>
              <a:t>BitmapGraphics</a:t>
            </a:r>
            <a:r>
              <a:rPr lang="en-US" dirty="0">
                <a:solidFill>
                  <a:srgbClr val="000000"/>
                </a:solidFill>
                <a:latin typeface="Consolas" panose="020B0609020204030204" pitchFamily="49" charset="0"/>
              </a:rPr>
              <a:t> graphics(bitmap);</a:t>
            </a:r>
          </a:p>
          <a:p>
            <a:pPr marL="0" indent="0">
              <a:buNone/>
            </a:pPr>
            <a:r>
              <a:rPr lang="en-US" dirty="0" err="1">
                <a:solidFill>
                  <a:srgbClr val="000000"/>
                </a:solidFill>
                <a:latin typeface="Consolas" panose="020B0609020204030204" pitchFamily="49" charset="0"/>
              </a:rPr>
              <a:t>graphics.DrawLine</a:t>
            </a:r>
            <a:r>
              <a:rPr lang="en-US" dirty="0">
                <a:solidFill>
                  <a:srgbClr val="000000"/>
                </a:solidFill>
                <a:latin typeface="Consolas" panose="020B0609020204030204" pitchFamily="49" charset="0"/>
              </a:rPr>
              <a:t>(</a:t>
            </a:r>
            <a:r>
              <a:rPr lang="en-US" dirty="0" err="1">
                <a:solidFill>
                  <a:srgbClr val="2B91AF"/>
                </a:solidFill>
                <a:latin typeface="Consolas" panose="020B0609020204030204" pitchFamily="49" charset="0"/>
              </a:rPr>
              <a:t>Pos</a:t>
            </a:r>
            <a:r>
              <a:rPr lang="en-US" dirty="0">
                <a:solidFill>
                  <a:srgbClr val="000000"/>
                </a:solidFill>
                <a:latin typeface="Consolas" panose="020B0609020204030204" pitchFamily="49" charset="0"/>
              </a:rPr>
              <a:t>(10, 10), </a:t>
            </a:r>
            <a:r>
              <a:rPr lang="en-US" dirty="0" err="1">
                <a:solidFill>
                  <a:srgbClr val="2B91AF"/>
                </a:solidFill>
                <a:latin typeface="Consolas" panose="020B0609020204030204" pitchFamily="49" charset="0"/>
              </a:rPr>
              <a:t>Pos</a:t>
            </a:r>
            <a:r>
              <a:rPr lang="en-US" dirty="0">
                <a:solidFill>
                  <a:srgbClr val="000000"/>
                </a:solidFill>
                <a:latin typeface="Consolas" panose="020B0609020204030204" pitchFamily="49" charset="0"/>
              </a:rPr>
              <a:t>(310, 230));</a:t>
            </a:r>
          </a:p>
          <a:p>
            <a:pPr marL="0" indent="0">
              <a:buNone/>
            </a:pPr>
            <a:r>
              <a:rPr lang="en-US" dirty="0" err="1">
                <a:solidFill>
                  <a:srgbClr val="000000"/>
                </a:solidFill>
                <a:latin typeface="Consolas" panose="020B0609020204030204" pitchFamily="49" charset="0"/>
              </a:rPr>
              <a:t>graphics.DrawLine</a:t>
            </a:r>
            <a:r>
              <a:rPr lang="en-US" dirty="0">
                <a:solidFill>
                  <a:srgbClr val="000000"/>
                </a:solidFill>
                <a:latin typeface="Consolas" panose="020B0609020204030204" pitchFamily="49" charset="0"/>
              </a:rPr>
              <a:t>(</a:t>
            </a:r>
            <a:r>
              <a:rPr lang="en-US" dirty="0" err="1">
                <a:solidFill>
                  <a:srgbClr val="2B91AF"/>
                </a:solidFill>
                <a:latin typeface="Consolas" panose="020B0609020204030204" pitchFamily="49" charset="0"/>
              </a:rPr>
              <a:t>Pos</a:t>
            </a:r>
            <a:r>
              <a:rPr lang="en-US" dirty="0">
                <a:solidFill>
                  <a:srgbClr val="000000"/>
                </a:solidFill>
                <a:latin typeface="Consolas" panose="020B0609020204030204" pitchFamily="49" charset="0"/>
              </a:rPr>
              <a:t>(10, 230), </a:t>
            </a:r>
            <a:r>
              <a:rPr lang="en-US" dirty="0" err="1">
                <a:solidFill>
                  <a:srgbClr val="2B91AF"/>
                </a:solidFill>
                <a:latin typeface="Consolas" panose="020B0609020204030204" pitchFamily="49" charset="0"/>
              </a:rPr>
              <a:t>Pos</a:t>
            </a:r>
            <a:r>
              <a:rPr lang="en-US" dirty="0">
                <a:solidFill>
                  <a:srgbClr val="000000"/>
                </a:solidFill>
                <a:latin typeface="Consolas" panose="020B0609020204030204" pitchFamily="49" charset="0"/>
              </a:rPr>
              <a:t>(310, 10));</a:t>
            </a:r>
          </a:p>
          <a:p>
            <a:pPr marL="0" indent="0">
              <a:buNone/>
            </a:pPr>
            <a:endParaRPr lang="ru-RU" dirty="0">
              <a:solidFill>
                <a:srgbClr val="000000"/>
              </a:solidFill>
              <a:latin typeface="Consolas" panose="020B0609020204030204" pitchFamily="49" charset="0"/>
            </a:endParaRPr>
          </a:p>
          <a:p>
            <a:pPr marL="0" indent="0">
              <a:buNone/>
            </a:pPr>
            <a:r>
              <a:rPr lang="en-US" dirty="0" err="1">
                <a:solidFill>
                  <a:srgbClr val="2B91AF"/>
                </a:solidFill>
                <a:latin typeface="Consolas" panose="020B0609020204030204" pitchFamily="49" charset="0"/>
              </a:rPr>
              <a:t>PngImageEncoder</a:t>
            </a:r>
            <a:r>
              <a:rPr lang="en-US" dirty="0">
                <a:solidFill>
                  <a:srgbClr val="000000"/>
                </a:solidFill>
                <a:latin typeface="Consolas" panose="020B0609020204030204" pitchFamily="49" charset="0"/>
              </a:rPr>
              <a:t> encoder;</a:t>
            </a:r>
            <a:endParaRPr lang="ru-RU" dirty="0">
              <a:solidFill>
                <a:srgbClr val="000000"/>
              </a:solidFill>
              <a:latin typeface="Consolas" panose="020B0609020204030204" pitchFamily="49" charset="0"/>
            </a:endParaRPr>
          </a:p>
          <a:p>
            <a:pPr marL="0" indent="0">
              <a:buNone/>
            </a:pPr>
            <a:r>
              <a:rPr lang="en-US" dirty="0" err="1">
                <a:solidFill>
                  <a:srgbClr val="000000"/>
                </a:solidFill>
                <a:latin typeface="Consolas" panose="020B0609020204030204" pitchFamily="49" charset="0"/>
              </a:rPr>
              <a:t>encoder.SetOptions</a:t>
            </a:r>
            <a:r>
              <a:rPr lang="en-US" dirty="0">
                <a:solidFill>
                  <a:srgbClr val="000000"/>
                </a:solidFill>
                <a:latin typeface="Consolas" panose="020B0609020204030204" pitchFamily="49" charset="0"/>
              </a:rPr>
              <a:t>(…);</a:t>
            </a:r>
          </a:p>
          <a:p>
            <a:pPr marL="0" indent="0">
              <a:buNone/>
            </a:pPr>
            <a:r>
              <a:rPr lang="en-US" dirty="0" err="1">
                <a:solidFill>
                  <a:srgbClr val="000000"/>
                </a:solidFill>
                <a:latin typeface="Consolas" panose="020B0609020204030204" pitchFamily="49" charset="0"/>
              </a:rPr>
              <a:t>encoder.SaveBitmap</a:t>
            </a:r>
            <a:r>
              <a:rPr lang="en-US" dirty="0">
                <a:solidFill>
                  <a:srgbClr val="000000"/>
                </a:solidFill>
                <a:latin typeface="Consolas" panose="020B0609020204030204" pitchFamily="49" charset="0"/>
              </a:rPr>
              <a:t>(bitmap, </a:t>
            </a:r>
            <a:r>
              <a:rPr lang="en-US" dirty="0">
                <a:solidFill>
                  <a:srgbClr val="A31515"/>
                </a:solidFill>
                <a:latin typeface="Consolas" panose="020B0609020204030204" pitchFamily="49" charset="0"/>
              </a:rPr>
              <a:t>"image.png"</a:t>
            </a:r>
            <a:r>
              <a:rPr lang="en-US" dirty="0">
                <a:solidFill>
                  <a:srgbClr val="000000"/>
                </a:solidFill>
                <a:latin typeface="Consolas" panose="020B0609020204030204" pitchFamily="49" charset="0"/>
              </a:rPr>
              <a:t>);</a:t>
            </a:r>
          </a:p>
        </p:txBody>
      </p:sp>
      <p:sp>
        <p:nvSpPr>
          <p:cNvPr id="2" name="Номер слайда 1"/>
          <p:cNvSpPr>
            <a:spLocks noGrp="1"/>
          </p:cNvSpPr>
          <p:nvPr>
            <p:ph type="sldNum" sz="quarter" idx="12"/>
          </p:nvPr>
        </p:nvSpPr>
        <p:spPr/>
        <p:txBody>
          <a:bodyPr/>
          <a:lstStyle/>
          <a:p>
            <a:fld id="{CF8E6F4D-2E97-47CB-8591-066566E4FE4D}" type="slidenum">
              <a:rPr lang="ru-RU" smtClean="0"/>
              <a:t>7</a:t>
            </a:fld>
            <a:endParaRPr lang="ru-RU"/>
          </a:p>
        </p:txBody>
      </p:sp>
      <p:cxnSp>
        <p:nvCxnSpPr>
          <p:cNvPr id="6" name="Прямая соединительная линия 5"/>
          <p:cNvCxnSpPr/>
          <p:nvPr/>
        </p:nvCxnSpPr>
        <p:spPr>
          <a:xfrm>
            <a:off x="0" y="2280623"/>
            <a:ext cx="12192000" cy="1155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9821730" y="135863"/>
            <a:ext cx="2154757" cy="830997"/>
          </a:xfrm>
          <a:prstGeom prst="rect">
            <a:avLst/>
          </a:prstGeom>
          <a:noFill/>
        </p:spPr>
        <p:txBody>
          <a:bodyPr wrap="none" rtlCol="0">
            <a:spAutoFit/>
          </a:bodyPr>
          <a:lstStyle/>
          <a:p>
            <a:r>
              <a:rPr lang="ru-RU" sz="4800" dirty="0">
                <a:solidFill>
                  <a:schemeClr val="bg1">
                    <a:lumMod val="65000"/>
                  </a:schemeClr>
                </a:solidFill>
              </a:rPr>
              <a:t>Без </a:t>
            </a:r>
            <a:r>
              <a:rPr lang="en-US" sz="4800" dirty="0">
                <a:solidFill>
                  <a:schemeClr val="bg1">
                    <a:lumMod val="65000"/>
                  </a:schemeClr>
                </a:solidFill>
              </a:rPr>
              <a:t>SRP</a:t>
            </a:r>
            <a:endParaRPr lang="ru-RU" sz="4800" dirty="0">
              <a:solidFill>
                <a:schemeClr val="bg1">
                  <a:lumMod val="65000"/>
                </a:schemeClr>
              </a:solidFill>
            </a:endParaRPr>
          </a:p>
        </p:txBody>
      </p:sp>
      <p:sp>
        <p:nvSpPr>
          <p:cNvPr id="11" name="TextBox 10"/>
          <p:cNvSpPr txBox="1"/>
          <p:nvPr/>
        </p:nvSpPr>
        <p:spPr>
          <a:xfrm>
            <a:off x="10389193" y="2505911"/>
            <a:ext cx="1587294" cy="830997"/>
          </a:xfrm>
          <a:prstGeom prst="rect">
            <a:avLst/>
          </a:prstGeom>
          <a:noFill/>
        </p:spPr>
        <p:txBody>
          <a:bodyPr wrap="none" rtlCol="0">
            <a:spAutoFit/>
          </a:bodyPr>
          <a:lstStyle/>
          <a:p>
            <a:r>
              <a:rPr lang="ru-RU" sz="4800" dirty="0">
                <a:solidFill>
                  <a:schemeClr val="bg1">
                    <a:lumMod val="65000"/>
                  </a:schemeClr>
                </a:solidFill>
              </a:rPr>
              <a:t>С </a:t>
            </a:r>
            <a:r>
              <a:rPr lang="en-US" sz="4800" dirty="0">
                <a:solidFill>
                  <a:schemeClr val="bg1">
                    <a:lumMod val="65000"/>
                  </a:schemeClr>
                </a:solidFill>
              </a:rPr>
              <a:t>SRP</a:t>
            </a:r>
            <a:endParaRPr lang="ru-RU" sz="4800" dirty="0">
              <a:solidFill>
                <a:schemeClr val="bg1">
                  <a:lumMod val="65000"/>
                </a:schemeClr>
              </a:solidFill>
            </a:endParaRPr>
          </a:p>
        </p:txBody>
      </p:sp>
    </p:spTree>
    <p:extLst>
      <p:ext uri="{BB962C8B-B14F-4D97-AF65-F5344CB8AC3E}">
        <p14:creationId xmlns:p14="http://schemas.microsoft.com/office/powerpoint/2010/main" val="3110993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animEffect transition="in" filter="fade">
                                      <p:cBhvr>
                                        <p:cTn id="7" dur="500"/>
                                        <p:tgtEl>
                                          <p:spTgt spid="4">
                                            <p:txEl>
                                              <p:pRg st="5" end="5"/>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7" end="7"/>
                                            </p:txEl>
                                          </p:spTgt>
                                        </p:tgtEl>
                                        <p:attrNameLst>
                                          <p:attrName>style.visibility</p:attrName>
                                        </p:attrNameLst>
                                      </p:cBhvr>
                                      <p:to>
                                        <p:strVal val="visible"/>
                                      </p:to>
                                    </p:set>
                                    <p:animEffect transition="in" filter="fade">
                                      <p:cBhvr>
                                        <p:cTn id="10" dur="500"/>
                                        <p:tgtEl>
                                          <p:spTgt spid="4">
                                            <p:txEl>
                                              <p:pRg st="7" end="7"/>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8" end="8"/>
                                            </p:txEl>
                                          </p:spTgt>
                                        </p:tgtEl>
                                        <p:attrNameLst>
                                          <p:attrName>style.visibility</p:attrName>
                                        </p:attrNameLst>
                                      </p:cBhvr>
                                      <p:to>
                                        <p:strVal val="visible"/>
                                      </p:to>
                                    </p:set>
                                    <p:animEffect transition="in" filter="fade">
                                      <p:cBhvr>
                                        <p:cTn id="13" dur="500"/>
                                        <p:tgtEl>
                                          <p:spTgt spid="4">
                                            <p:txEl>
                                              <p:pRg st="8" end="8"/>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
                                            <p:txEl>
                                              <p:pRg st="9" end="9"/>
                                            </p:txEl>
                                          </p:spTgt>
                                        </p:tgtEl>
                                        <p:attrNameLst>
                                          <p:attrName>style.visibility</p:attrName>
                                        </p:attrNameLst>
                                      </p:cBhvr>
                                      <p:to>
                                        <p:strVal val="visible"/>
                                      </p:to>
                                    </p:set>
                                    <p:animEffect transition="in" filter="fade">
                                      <p:cBhvr>
                                        <p:cTn id="16" dur="500"/>
                                        <p:tgtEl>
                                          <p:spTgt spid="4">
                                            <p:txEl>
                                              <p:pRg st="9" end="9"/>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4">
                                            <p:txEl>
                                              <p:pRg st="11" end="11"/>
                                            </p:txEl>
                                          </p:spTgt>
                                        </p:tgtEl>
                                        <p:attrNameLst>
                                          <p:attrName>style.visibility</p:attrName>
                                        </p:attrNameLst>
                                      </p:cBhvr>
                                      <p:to>
                                        <p:strVal val="visible"/>
                                      </p:to>
                                    </p:set>
                                    <p:animEffect transition="in" filter="fade">
                                      <p:cBhvr>
                                        <p:cTn id="19" dur="500"/>
                                        <p:tgtEl>
                                          <p:spTgt spid="4">
                                            <p:txEl>
                                              <p:pRg st="11" end="11"/>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4">
                                            <p:txEl>
                                              <p:pRg st="12" end="12"/>
                                            </p:txEl>
                                          </p:spTgt>
                                        </p:tgtEl>
                                        <p:attrNameLst>
                                          <p:attrName>style.visibility</p:attrName>
                                        </p:attrNameLst>
                                      </p:cBhvr>
                                      <p:to>
                                        <p:strVal val="visible"/>
                                      </p:to>
                                    </p:set>
                                    <p:animEffect transition="in" filter="fade">
                                      <p:cBhvr>
                                        <p:cTn id="22" dur="500"/>
                                        <p:tgtEl>
                                          <p:spTgt spid="4">
                                            <p:txEl>
                                              <p:pRg st="12" end="12"/>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4">
                                            <p:txEl>
                                              <p:pRg st="13" end="13"/>
                                            </p:txEl>
                                          </p:spTgt>
                                        </p:tgtEl>
                                        <p:attrNameLst>
                                          <p:attrName>style.visibility</p:attrName>
                                        </p:attrNameLst>
                                      </p:cBhvr>
                                      <p:to>
                                        <p:strVal val="visible"/>
                                      </p:to>
                                    </p:set>
                                    <p:animEffect transition="in" filter="fade">
                                      <p:cBhvr>
                                        <p:cTn id="25" dur="500"/>
                                        <p:tgtEl>
                                          <p:spTgt spid="4">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9E2F3-D6DC-B3C8-DD94-1881BC27A127}"/>
              </a:ext>
            </a:extLst>
          </p:cNvPr>
          <p:cNvSpPr>
            <a:spLocks noGrp="1"/>
          </p:cNvSpPr>
          <p:nvPr>
            <p:ph type="title"/>
          </p:nvPr>
        </p:nvSpPr>
        <p:spPr/>
        <p:txBody>
          <a:bodyPr/>
          <a:lstStyle/>
          <a:p>
            <a:r>
              <a:rPr lang="ru-RU" dirty="0"/>
              <a:t>Достоинства</a:t>
            </a:r>
            <a:endParaRPr lang="en-US" dirty="0"/>
          </a:p>
        </p:txBody>
      </p:sp>
      <p:sp>
        <p:nvSpPr>
          <p:cNvPr id="3" name="Content Placeholder 2">
            <a:extLst>
              <a:ext uri="{FF2B5EF4-FFF2-40B4-BE49-F238E27FC236}">
                <a16:creationId xmlns:a16="http://schemas.microsoft.com/office/drawing/2014/main" id="{DC95DBD2-35D1-2C07-C626-B19DCCA638BE}"/>
              </a:ext>
            </a:extLst>
          </p:cNvPr>
          <p:cNvSpPr>
            <a:spLocks noGrp="1"/>
          </p:cNvSpPr>
          <p:nvPr>
            <p:ph idx="1"/>
          </p:nvPr>
        </p:nvSpPr>
        <p:spPr/>
        <p:txBody>
          <a:bodyPr/>
          <a:lstStyle/>
          <a:p>
            <a:r>
              <a:rPr lang="ru-RU" b="1" dirty="0"/>
              <a:t>Проще тестировать</a:t>
            </a:r>
            <a:r>
              <a:rPr lang="ru-RU" dirty="0"/>
              <a:t> — каждая ответственность изолирована в своём классе.</a:t>
            </a:r>
          </a:p>
          <a:p>
            <a:r>
              <a:rPr lang="ru-RU" b="1" dirty="0"/>
              <a:t>Повышается расширяемость</a:t>
            </a:r>
            <a:r>
              <a:rPr lang="ru-RU" dirty="0"/>
              <a:t> — новые функции добавляются без изменения существующих классов.</a:t>
            </a:r>
          </a:p>
          <a:p>
            <a:r>
              <a:rPr lang="ru-RU" b="1" dirty="0"/>
              <a:t>Лучше повторное использование</a:t>
            </a:r>
            <a:r>
              <a:rPr lang="ru-RU" dirty="0"/>
              <a:t> — компоненты становятся более универсальными и независимыми.</a:t>
            </a:r>
          </a:p>
          <a:p>
            <a:r>
              <a:rPr lang="ru-RU" b="1" dirty="0"/>
              <a:t>Меньше хрупкости</a:t>
            </a:r>
            <a:r>
              <a:rPr lang="ru-RU" dirty="0"/>
              <a:t> — изменения затрагивают только тот класс, чью ответственность они касаются.</a:t>
            </a:r>
          </a:p>
          <a:p>
            <a:endParaRPr lang="en-US" dirty="0"/>
          </a:p>
        </p:txBody>
      </p:sp>
      <p:sp>
        <p:nvSpPr>
          <p:cNvPr id="4" name="Slide Number Placeholder 3">
            <a:extLst>
              <a:ext uri="{FF2B5EF4-FFF2-40B4-BE49-F238E27FC236}">
                <a16:creationId xmlns:a16="http://schemas.microsoft.com/office/drawing/2014/main" id="{82ED2CE6-6483-773C-8BDD-055C4D5B9205}"/>
              </a:ext>
            </a:extLst>
          </p:cNvPr>
          <p:cNvSpPr>
            <a:spLocks noGrp="1"/>
          </p:cNvSpPr>
          <p:nvPr>
            <p:ph type="sldNum" sz="quarter" idx="12"/>
          </p:nvPr>
        </p:nvSpPr>
        <p:spPr/>
        <p:txBody>
          <a:bodyPr/>
          <a:lstStyle/>
          <a:p>
            <a:fld id="{CF8E6F4D-2E97-47CB-8591-066566E4FE4D}" type="slidenum">
              <a:rPr lang="ru-RU" smtClean="0"/>
              <a:t>8</a:t>
            </a:fld>
            <a:endParaRPr lang="ru-RU"/>
          </a:p>
        </p:txBody>
      </p:sp>
    </p:spTree>
    <p:extLst>
      <p:ext uri="{BB962C8B-B14F-4D97-AF65-F5344CB8AC3E}">
        <p14:creationId xmlns:p14="http://schemas.microsoft.com/office/powerpoint/2010/main" val="34806689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p:cNvSpPr>
            <a:spLocks noGrp="1"/>
          </p:cNvSpPr>
          <p:nvPr>
            <p:ph type="title"/>
          </p:nvPr>
        </p:nvSpPr>
        <p:spPr/>
        <p:txBody>
          <a:bodyPr/>
          <a:lstStyle/>
          <a:p>
            <a:r>
              <a:rPr lang="ru-RU" dirty="0"/>
              <a:t>Недостатки</a:t>
            </a:r>
          </a:p>
        </p:txBody>
      </p:sp>
      <p:sp>
        <p:nvSpPr>
          <p:cNvPr id="3" name="Объект 2"/>
          <p:cNvSpPr>
            <a:spLocks noGrp="1"/>
          </p:cNvSpPr>
          <p:nvPr>
            <p:ph idx="1"/>
          </p:nvPr>
        </p:nvSpPr>
        <p:spPr/>
        <p:txBody>
          <a:bodyPr/>
          <a:lstStyle/>
          <a:p>
            <a:r>
              <a:rPr lang="ru-RU" b="1" dirty="0"/>
              <a:t>Больше классов и связей между ними</a:t>
            </a:r>
            <a:r>
              <a:rPr lang="ru-RU" dirty="0"/>
              <a:t> — структура проекта усложняется.</a:t>
            </a:r>
          </a:p>
          <a:p>
            <a:r>
              <a:rPr lang="ru-RU" b="1" dirty="0"/>
              <a:t>Хуже </a:t>
            </a:r>
            <a:r>
              <a:rPr lang="ru-RU" b="1" dirty="0" err="1"/>
              <a:t>discoverability</a:t>
            </a:r>
            <a:r>
              <a:rPr lang="ru-RU" dirty="0"/>
              <a:t> — нужный функционал может быть разбросан по нескольким компонентам.</a:t>
            </a:r>
          </a:p>
          <a:p>
            <a:r>
              <a:rPr lang="ru-RU" b="1" dirty="0"/>
              <a:t>Код становится чуть более многословным</a:t>
            </a:r>
            <a:r>
              <a:rPr lang="ru-RU" dirty="0"/>
              <a:t> — приходится создавать дополнительные объекты и вызывать больше методов.</a:t>
            </a:r>
          </a:p>
        </p:txBody>
      </p:sp>
      <p:sp>
        <p:nvSpPr>
          <p:cNvPr id="4" name="Номер слайда 3"/>
          <p:cNvSpPr>
            <a:spLocks noGrp="1"/>
          </p:cNvSpPr>
          <p:nvPr>
            <p:ph type="sldNum" sz="quarter" idx="12"/>
          </p:nvPr>
        </p:nvSpPr>
        <p:spPr/>
        <p:txBody>
          <a:bodyPr/>
          <a:lstStyle/>
          <a:p>
            <a:fld id="{CF8E6F4D-2E97-47CB-8591-066566E4FE4D}" type="slidenum">
              <a:rPr lang="ru-RU" smtClean="0"/>
              <a:t>9</a:t>
            </a:fld>
            <a:endParaRPr lang="ru-RU" dirty="0"/>
          </a:p>
        </p:txBody>
      </p:sp>
    </p:spTree>
    <p:extLst>
      <p:ext uri="{BB962C8B-B14F-4D97-AF65-F5344CB8AC3E}">
        <p14:creationId xmlns:p14="http://schemas.microsoft.com/office/powerpoint/2010/main" val="1043400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C96E22E-D872-8272-3610-72FD586AA79D}"/>
              </a:ext>
            </a:extLst>
          </p:cNvPr>
          <p:cNvSpPr>
            <a:spLocks noGrp="1"/>
          </p:cNvSpPr>
          <p:nvPr>
            <p:ph type="title"/>
          </p:nvPr>
        </p:nvSpPr>
        <p:spPr/>
        <p:txBody>
          <a:bodyPr/>
          <a:lstStyle/>
          <a:p>
            <a:r>
              <a:rPr lang="ru-RU" dirty="0"/>
              <a:t>Принцип открытости-закрытости</a:t>
            </a:r>
            <a:endParaRPr lang="en-US" dirty="0"/>
          </a:p>
        </p:txBody>
      </p:sp>
      <p:sp>
        <p:nvSpPr>
          <p:cNvPr id="6" name="Text Placeholder 5">
            <a:extLst>
              <a:ext uri="{FF2B5EF4-FFF2-40B4-BE49-F238E27FC236}">
                <a16:creationId xmlns:a16="http://schemas.microsoft.com/office/drawing/2014/main" id="{49FDBED5-291A-F8E1-A689-0463AF559FC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33A7376-BE26-F319-B7C7-80935CE1405B}"/>
              </a:ext>
            </a:extLst>
          </p:cNvPr>
          <p:cNvSpPr>
            <a:spLocks noGrp="1"/>
          </p:cNvSpPr>
          <p:nvPr>
            <p:ph type="sldNum" sz="quarter" idx="12"/>
          </p:nvPr>
        </p:nvSpPr>
        <p:spPr/>
        <p:txBody>
          <a:bodyPr/>
          <a:lstStyle/>
          <a:p>
            <a:fld id="{CF8E6F4D-2E97-47CB-8591-066566E4FE4D}" type="slidenum">
              <a:rPr lang="ru-RU" smtClean="0"/>
              <a:t>10</a:t>
            </a:fld>
            <a:endParaRPr lang="ru-RU"/>
          </a:p>
        </p:txBody>
      </p:sp>
    </p:spTree>
    <p:extLst>
      <p:ext uri="{BB962C8B-B14F-4D97-AF65-F5344CB8AC3E}">
        <p14:creationId xmlns:p14="http://schemas.microsoft.com/office/powerpoint/2010/main" val="350252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Принцип открытости/закрытости</a:t>
            </a:r>
          </a:p>
        </p:txBody>
      </p:sp>
      <p:sp>
        <p:nvSpPr>
          <p:cNvPr id="3" name="Объект 2"/>
          <p:cNvSpPr>
            <a:spLocks noGrp="1"/>
          </p:cNvSpPr>
          <p:nvPr>
            <p:ph idx="1"/>
          </p:nvPr>
        </p:nvSpPr>
        <p:spPr/>
        <p:txBody>
          <a:bodyPr>
            <a:normAutofit/>
          </a:bodyPr>
          <a:lstStyle/>
          <a:p>
            <a:r>
              <a:rPr lang="ru-RU" b="1" dirty="0"/>
              <a:t>Программные сущности должны быть:</a:t>
            </a:r>
            <a:endParaRPr lang="ru-RU" dirty="0"/>
          </a:p>
          <a:p>
            <a:pPr lvl="1"/>
            <a:r>
              <a:rPr lang="ru-RU" dirty="0"/>
              <a:t>Открыты для расширения — можно добавлять новое поведение.</a:t>
            </a:r>
          </a:p>
          <a:p>
            <a:pPr lvl="1"/>
            <a:r>
              <a:rPr lang="ru-RU" dirty="0"/>
              <a:t>Закрыты для изменения — существующий код не нужно править.</a:t>
            </a:r>
          </a:p>
          <a:p>
            <a:r>
              <a:rPr lang="ru-RU" b="1" dirty="0"/>
              <a:t>Как этого достичь</a:t>
            </a:r>
          </a:p>
          <a:p>
            <a:pPr lvl="1"/>
            <a:r>
              <a:rPr lang="ru-RU" dirty="0"/>
              <a:t>Использовать полиморфизм и работу через интерфейсы/абстрактные классы.</a:t>
            </a:r>
          </a:p>
          <a:p>
            <a:pPr lvl="1"/>
            <a:r>
              <a:rPr lang="ru-RU" dirty="0"/>
              <a:t>Выделять изменяемое поведение в компоненты, которые можно заменить или расширить.</a:t>
            </a:r>
          </a:p>
          <a:p>
            <a:pPr lvl="1"/>
            <a:r>
              <a:rPr lang="ru-RU" dirty="0"/>
              <a:t>Подключать новое поведение через композицию/агрегацию/зависимость, а не через изменение исходного класса.</a:t>
            </a:r>
          </a:p>
        </p:txBody>
      </p:sp>
      <p:sp>
        <p:nvSpPr>
          <p:cNvPr id="4" name="Номер слайда 3"/>
          <p:cNvSpPr>
            <a:spLocks noGrp="1"/>
          </p:cNvSpPr>
          <p:nvPr>
            <p:ph type="sldNum" sz="quarter" idx="12"/>
          </p:nvPr>
        </p:nvSpPr>
        <p:spPr/>
        <p:txBody>
          <a:bodyPr/>
          <a:lstStyle/>
          <a:p>
            <a:fld id="{CF8E6F4D-2E97-47CB-8591-066566E4FE4D}" type="slidenum">
              <a:rPr lang="ru-RU" smtClean="0"/>
              <a:t>11</a:t>
            </a:fld>
            <a:endParaRPr lang="ru-RU"/>
          </a:p>
        </p:txBody>
      </p:sp>
    </p:spTree>
    <p:extLst>
      <p:ext uri="{BB962C8B-B14F-4D97-AF65-F5344CB8AC3E}">
        <p14:creationId xmlns:p14="http://schemas.microsoft.com/office/powerpoint/2010/main" val="992335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F2758-A517-63B4-C4BD-6F93A7FBFA2A}"/>
              </a:ext>
            </a:extLst>
          </p:cNvPr>
          <p:cNvSpPr>
            <a:spLocks noGrp="1"/>
          </p:cNvSpPr>
          <p:nvPr>
            <p:ph type="title"/>
          </p:nvPr>
        </p:nvSpPr>
        <p:spPr/>
        <p:txBody>
          <a:bodyPr/>
          <a:lstStyle/>
          <a:p>
            <a:r>
              <a:rPr lang="ru-RU" dirty="0"/>
              <a:t>Паттерны проектирования, помогающие соблюсти эти принципы</a:t>
            </a:r>
            <a:endParaRPr lang="en-US" dirty="0"/>
          </a:p>
        </p:txBody>
      </p:sp>
      <p:sp>
        <p:nvSpPr>
          <p:cNvPr id="3" name="Content Placeholder 2">
            <a:extLst>
              <a:ext uri="{FF2B5EF4-FFF2-40B4-BE49-F238E27FC236}">
                <a16:creationId xmlns:a16="http://schemas.microsoft.com/office/drawing/2014/main" id="{AD738B51-6598-6B2A-CDFF-E974CC295569}"/>
              </a:ext>
            </a:extLst>
          </p:cNvPr>
          <p:cNvSpPr>
            <a:spLocks noGrp="1"/>
          </p:cNvSpPr>
          <p:nvPr>
            <p:ph idx="1"/>
          </p:nvPr>
        </p:nvSpPr>
        <p:spPr/>
        <p:txBody>
          <a:bodyPr>
            <a:normAutofit fontScale="92500"/>
          </a:bodyPr>
          <a:lstStyle/>
          <a:p>
            <a:r>
              <a:rPr lang="ru-RU" b="1" dirty="0"/>
              <a:t>Порождающие</a:t>
            </a:r>
          </a:p>
          <a:p>
            <a:pPr lvl="1"/>
            <a:r>
              <a:rPr lang="ru-RU" b="1" dirty="0"/>
              <a:t>Factory </a:t>
            </a:r>
            <a:r>
              <a:rPr lang="ru-RU" b="1" dirty="0" err="1"/>
              <a:t>Method</a:t>
            </a:r>
            <a:r>
              <a:rPr lang="ru-RU" dirty="0"/>
              <a:t> — позволяет создавать объекты через расширяемые фабрики.</a:t>
            </a:r>
          </a:p>
          <a:p>
            <a:pPr lvl="1"/>
            <a:r>
              <a:rPr lang="ru-RU" b="1" dirty="0" err="1"/>
              <a:t>Abstract</a:t>
            </a:r>
            <a:r>
              <a:rPr lang="ru-RU" b="1" dirty="0"/>
              <a:t> Factory</a:t>
            </a:r>
            <a:r>
              <a:rPr lang="ru-RU" dirty="0"/>
              <a:t> — изолирует создание семейств объектов.</a:t>
            </a:r>
          </a:p>
          <a:p>
            <a:r>
              <a:rPr lang="ru-RU" b="1" dirty="0"/>
              <a:t>Структурные</a:t>
            </a:r>
          </a:p>
          <a:p>
            <a:pPr lvl="1"/>
            <a:r>
              <a:rPr lang="ru-RU" b="1" dirty="0" err="1"/>
              <a:t>Decorator</a:t>
            </a:r>
            <a:r>
              <a:rPr lang="ru-RU" dirty="0"/>
              <a:t> — добавляет функциональность без изменения базового класса.</a:t>
            </a:r>
          </a:p>
          <a:p>
            <a:pPr lvl="1"/>
            <a:r>
              <a:rPr lang="ru-RU" b="1" dirty="0" err="1"/>
              <a:t>Adapter</a:t>
            </a:r>
            <a:r>
              <a:rPr lang="ru-RU" dirty="0"/>
              <a:t> — позволяет расширять поведение, не переписывая исходные классы.</a:t>
            </a:r>
          </a:p>
          <a:p>
            <a:r>
              <a:rPr lang="ru-RU" b="1" dirty="0"/>
              <a:t>Поведенческие</a:t>
            </a:r>
          </a:p>
          <a:p>
            <a:pPr lvl="1"/>
            <a:r>
              <a:rPr lang="ru-RU" b="1" dirty="0"/>
              <a:t>Strategy</a:t>
            </a:r>
            <a:r>
              <a:rPr lang="ru-RU" dirty="0"/>
              <a:t> — переносит изменяемое поведение в отдельные классы.</a:t>
            </a:r>
          </a:p>
          <a:p>
            <a:pPr lvl="1"/>
            <a:r>
              <a:rPr lang="ru-RU" b="1" dirty="0" err="1"/>
              <a:t>Template</a:t>
            </a:r>
            <a:r>
              <a:rPr lang="ru-RU" b="1" dirty="0"/>
              <a:t> </a:t>
            </a:r>
            <a:r>
              <a:rPr lang="ru-RU" b="1" dirty="0" err="1"/>
              <a:t>Method</a:t>
            </a:r>
            <a:r>
              <a:rPr lang="ru-RU" dirty="0"/>
              <a:t> — позволяет менять шаги алгоритма через наследование, не меняя сам алгоритм.</a:t>
            </a:r>
          </a:p>
          <a:p>
            <a:pPr lvl="1"/>
            <a:r>
              <a:rPr lang="ru-RU" b="1" dirty="0"/>
              <a:t>Observer</a:t>
            </a:r>
            <a:r>
              <a:rPr lang="ru-RU" dirty="0"/>
              <a:t> — расширяет реакции на события без изменения субъекта.</a:t>
            </a:r>
          </a:p>
          <a:p>
            <a:endParaRPr lang="en-US" dirty="0"/>
          </a:p>
        </p:txBody>
      </p:sp>
      <p:sp>
        <p:nvSpPr>
          <p:cNvPr id="4" name="Slide Number Placeholder 3">
            <a:extLst>
              <a:ext uri="{FF2B5EF4-FFF2-40B4-BE49-F238E27FC236}">
                <a16:creationId xmlns:a16="http://schemas.microsoft.com/office/drawing/2014/main" id="{A9ED81A4-7579-93D0-CC9E-2250AD858ADD}"/>
              </a:ext>
            </a:extLst>
          </p:cNvPr>
          <p:cNvSpPr>
            <a:spLocks noGrp="1"/>
          </p:cNvSpPr>
          <p:nvPr>
            <p:ph type="sldNum" sz="quarter" idx="12"/>
          </p:nvPr>
        </p:nvSpPr>
        <p:spPr/>
        <p:txBody>
          <a:bodyPr/>
          <a:lstStyle/>
          <a:p>
            <a:fld id="{CF8E6F4D-2E97-47CB-8591-066566E4FE4D}" type="slidenum">
              <a:rPr lang="ru-RU" smtClean="0"/>
              <a:t>12</a:t>
            </a:fld>
            <a:endParaRPr lang="ru-RU"/>
          </a:p>
        </p:txBody>
      </p:sp>
    </p:spTree>
    <p:extLst>
      <p:ext uri="{BB962C8B-B14F-4D97-AF65-F5344CB8AC3E}">
        <p14:creationId xmlns:p14="http://schemas.microsoft.com/office/powerpoint/2010/main" val="1572503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500"/>
                                        <p:tgtEl>
                                          <p:spTgt spid="3">
                                            <p:txEl>
                                              <p:pRg st="8" end="8"/>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
                                            <p:txEl>
                                              <p:pRg st="9" end="9"/>
                                            </p:txEl>
                                          </p:spTgt>
                                        </p:tgtEl>
                                        <p:attrNameLst>
                                          <p:attrName>style.visibility</p:attrName>
                                        </p:attrNameLst>
                                      </p:cBhvr>
                                      <p:to>
                                        <p:strVal val="visible"/>
                                      </p:to>
                                    </p:set>
                                    <p:animEffect transition="in" filter="fade">
                                      <p:cBhvr>
                                        <p:cTn id="38"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A21781-45A9-6521-4596-6172DBABF8FF}"/>
              </a:ext>
            </a:extLst>
          </p:cNvPr>
          <p:cNvSpPr>
            <a:spLocks noGrp="1"/>
          </p:cNvSpPr>
          <p:nvPr>
            <p:ph type="title"/>
          </p:nvPr>
        </p:nvSpPr>
        <p:spPr/>
        <p:txBody>
          <a:bodyPr/>
          <a:lstStyle/>
          <a:p>
            <a:r>
              <a:rPr lang="ru-RU" dirty="0"/>
              <a:t>Пример нарушения </a:t>
            </a:r>
            <a:r>
              <a:rPr lang="en-US" dirty="0"/>
              <a:t>OCP</a:t>
            </a:r>
          </a:p>
        </p:txBody>
      </p:sp>
      <p:sp>
        <p:nvSpPr>
          <p:cNvPr id="4" name="Slide Number Placeholder 3">
            <a:extLst>
              <a:ext uri="{FF2B5EF4-FFF2-40B4-BE49-F238E27FC236}">
                <a16:creationId xmlns:a16="http://schemas.microsoft.com/office/drawing/2014/main" id="{485C76E5-BAC1-075C-D957-FC37F98642C6}"/>
              </a:ext>
            </a:extLst>
          </p:cNvPr>
          <p:cNvSpPr>
            <a:spLocks noGrp="1"/>
          </p:cNvSpPr>
          <p:nvPr>
            <p:ph type="sldNum" sz="quarter" idx="12"/>
          </p:nvPr>
        </p:nvSpPr>
        <p:spPr/>
        <p:txBody>
          <a:bodyPr/>
          <a:lstStyle/>
          <a:p>
            <a:fld id="{CF8E6F4D-2E97-47CB-8591-066566E4FE4D}" type="slidenum">
              <a:rPr lang="ru-RU" smtClean="0"/>
              <a:t>13</a:t>
            </a:fld>
            <a:endParaRPr lang="ru-RU"/>
          </a:p>
        </p:txBody>
      </p:sp>
      <p:sp>
        <p:nvSpPr>
          <p:cNvPr id="7" name="TextBox 6">
            <a:extLst>
              <a:ext uri="{FF2B5EF4-FFF2-40B4-BE49-F238E27FC236}">
                <a16:creationId xmlns:a16="http://schemas.microsoft.com/office/drawing/2014/main" id="{71304A72-FD73-ADA7-FD42-0AC6C0BAD58A}"/>
              </a:ext>
            </a:extLst>
          </p:cNvPr>
          <p:cNvSpPr txBox="1"/>
          <p:nvPr/>
        </p:nvSpPr>
        <p:spPr>
          <a:xfrm>
            <a:off x="820366" y="1690688"/>
            <a:ext cx="9161834" cy="2031325"/>
          </a:xfrm>
          <a:prstGeom prst="rect">
            <a:avLst/>
          </a:prstGeom>
          <a:noFill/>
        </p:spPr>
        <p:txBody>
          <a:bodyPr wrap="square">
            <a:spAutoFit/>
          </a:bodyPr>
          <a:lstStyle/>
          <a:p>
            <a:pPr>
              <a:buNone/>
            </a:pPr>
            <a:r>
              <a:rPr lang="en-US" b="0" dirty="0">
                <a:solidFill>
                  <a:srgbClr val="0000FF"/>
                </a:solidFill>
                <a:effectLst/>
                <a:latin typeface="Consolas" panose="020B0609020204030204" pitchFamily="49" charset="0"/>
              </a:rPr>
              <a:t>class</a:t>
            </a:r>
            <a:r>
              <a:rPr lang="en-US" b="0" dirty="0">
                <a:solidFill>
                  <a:srgbClr val="000000"/>
                </a:solidFill>
                <a:effectLst/>
                <a:latin typeface="Consolas" panose="020B0609020204030204" pitchFamily="49" charset="0"/>
              </a:rPr>
              <a:t> </a:t>
            </a:r>
            <a:r>
              <a:rPr lang="en-US" b="0" dirty="0">
                <a:solidFill>
                  <a:srgbClr val="2B91AF"/>
                </a:solidFill>
                <a:effectLst/>
                <a:latin typeface="Consolas" panose="020B0609020204030204" pitchFamily="49" charset="0"/>
              </a:rPr>
              <a:t>Logger</a:t>
            </a:r>
            <a:r>
              <a:rPr lang="en-US" b="0" dirty="0">
                <a:solidFill>
                  <a:srgbClr val="000000"/>
                </a:solidFill>
                <a:effectLst/>
                <a:latin typeface="Consolas" panose="020B0609020204030204" pitchFamily="49" charset="0"/>
              </a:rPr>
              <a:t> {</a:t>
            </a:r>
          </a:p>
          <a:p>
            <a:pPr>
              <a:buNone/>
            </a:pPr>
            <a:r>
              <a:rPr lang="en-US" b="0" dirty="0">
                <a:solidFill>
                  <a:srgbClr val="0000FF"/>
                </a:solidFill>
                <a:effectLst/>
                <a:latin typeface="Consolas" panose="020B0609020204030204" pitchFamily="49" charset="0"/>
              </a:rPr>
              <a:t>public:</a:t>
            </a:r>
            <a:endParaRPr lang="en-US" b="0" dirty="0">
              <a:solidFill>
                <a:srgbClr val="000000"/>
              </a:solidFill>
              <a:effectLst/>
              <a:latin typeface="Consolas" panose="020B0609020204030204" pitchFamily="49" charset="0"/>
            </a:endParaRP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void</a:t>
            </a:r>
            <a:r>
              <a:rPr lang="en-US" b="0" dirty="0">
                <a:solidFill>
                  <a:srgbClr val="000000"/>
                </a:solidFill>
                <a:effectLst/>
                <a:latin typeface="Consolas" panose="020B0609020204030204" pitchFamily="49" charset="0"/>
              </a:rPr>
              <a:t> </a:t>
            </a:r>
            <a:r>
              <a:rPr lang="en-US" b="0" dirty="0">
                <a:solidFill>
                  <a:srgbClr val="74531F"/>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std::</a:t>
            </a:r>
            <a:r>
              <a:rPr lang="en-US" b="0" dirty="0">
                <a:solidFill>
                  <a:srgbClr val="2B91AF"/>
                </a:solidFill>
                <a:effectLst/>
                <a:latin typeface="Consolas" panose="020B0609020204030204" pitchFamily="49" charset="0"/>
              </a:rPr>
              <a:t>string</a:t>
            </a:r>
            <a:r>
              <a:rPr lang="en-US" b="0" dirty="0">
                <a:solidFill>
                  <a:srgbClr val="000000"/>
                </a:solidFill>
                <a:effectLst/>
                <a:latin typeface="Consolas" panose="020B0609020204030204" pitchFamily="49" charset="0"/>
              </a:rPr>
              <a:t>&amp; </a:t>
            </a:r>
            <a:r>
              <a:rPr lang="en-US" b="0" dirty="0">
                <a:solidFill>
                  <a:srgbClr val="808080"/>
                </a:solidFill>
                <a:effectLst/>
                <a:latin typeface="Consolas" panose="020B0609020204030204" pitchFamily="49" charset="0"/>
              </a:rPr>
              <a:t>msg</a:t>
            </a:r>
            <a:r>
              <a:rPr lang="en-US" b="0" dirty="0">
                <a:solidFill>
                  <a:srgbClr val="000000"/>
                </a:solidFill>
                <a:effectLst/>
                <a:latin typeface="Consolas" panose="020B0609020204030204" pitchFamily="49" charset="0"/>
              </a:rPr>
              <a:t>) {</a:t>
            </a:r>
          </a:p>
          <a:p>
            <a:pPr>
              <a:buNone/>
            </a:pPr>
            <a:r>
              <a:rPr lang="en-US" b="0" dirty="0">
                <a:solidFill>
                  <a:srgbClr val="000000"/>
                </a:solidFill>
                <a:effectLst/>
                <a:latin typeface="Consolas" panose="020B0609020204030204" pitchFamily="49" charset="0"/>
              </a:rPr>
              <a:t>        std::</a:t>
            </a:r>
            <a:r>
              <a:rPr lang="en-US" b="0" dirty="0" err="1">
                <a:solidFill>
                  <a:srgbClr val="000000"/>
                </a:solidFill>
                <a:effectLst/>
                <a:latin typeface="Consolas" panose="020B0609020204030204" pitchFamily="49" charset="0"/>
              </a:rPr>
              <a:t>ofstream</a:t>
            </a:r>
            <a:r>
              <a:rPr lang="en-US" b="0" dirty="0">
                <a:solidFill>
                  <a:srgbClr val="000000"/>
                </a:solidFill>
                <a:effectLst/>
                <a:latin typeface="Consolas" panose="020B0609020204030204" pitchFamily="49" charset="0"/>
              </a:rPr>
              <a:t> </a:t>
            </a:r>
            <a:r>
              <a:rPr lang="en-US" b="0" dirty="0">
                <a:solidFill>
                  <a:srgbClr val="74531F"/>
                </a:solidFill>
                <a:effectLst/>
                <a:latin typeface="Consolas" panose="020B0609020204030204" pitchFamily="49" charset="0"/>
              </a:rPr>
              <a:t>file</a:t>
            </a:r>
            <a:r>
              <a:rPr lang="en-US" b="0" dirty="0">
                <a:solidFill>
                  <a:srgbClr val="000000"/>
                </a:solidFill>
                <a:effectLst/>
                <a:latin typeface="Consolas" panose="020B0609020204030204" pitchFamily="49" charset="0"/>
              </a:rPr>
              <a:t>(</a:t>
            </a:r>
            <a:r>
              <a:rPr lang="en-US" b="0" dirty="0">
                <a:solidFill>
                  <a:srgbClr val="E21F1F"/>
                </a:solidFill>
                <a:effectLst/>
                <a:latin typeface="Consolas" panose="020B0609020204030204" pitchFamily="49" charset="0"/>
              </a:rPr>
              <a:t>"</a:t>
            </a:r>
            <a:r>
              <a:rPr lang="en-US" b="0" dirty="0">
                <a:solidFill>
                  <a:srgbClr val="A31515"/>
                </a:solidFill>
                <a:effectLst/>
                <a:latin typeface="Consolas" panose="020B0609020204030204" pitchFamily="49" charset="0"/>
              </a:rPr>
              <a:t>log.txt</a:t>
            </a:r>
            <a:r>
              <a:rPr lang="en-US" b="0" dirty="0">
                <a:solidFill>
                  <a:srgbClr val="E21F1F"/>
                </a:solidFill>
                <a:effectLst/>
                <a:latin typeface="Consolas" panose="020B0609020204030204" pitchFamily="49" charset="0"/>
              </a:rPr>
              <a:t>"</a:t>
            </a:r>
            <a:r>
              <a:rPr lang="en-US" b="0" dirty="0">
                <a:solidFill>
                  <a:srgbClr val="000000"/>
                </a:solidFill>
                <a:effectLst/>
                <a:latin typeface="Consolas" panose="020B0609020204030204" pitchFamily="49" charset="0"/>
              </a:rPr>
              <a:t>, std::</a:t>
            </a:r>
            <a:r>
              <a:rPr lang="en-US" b="0" dirty="0" err="1">
                <a:solidFill>
                  <a:srgbClr val="000000"/>
                </a:solidFill>
                <a:effectLst/>
                <a:latin typeface="Consolas" panose="020B0609020204030204" pitchFamily="49" charset="0"/>
              </a:rPr>
              <a:t>ios</a:t>
            </a:r>
            <a:r>
              <a:rPr lang="en-US" b="0" dirty="0">
                <a:solidFill>
                  <a:srgbClr val="000000"/>
                </a:solidFill>
                <a:effectLst/>
                <a:latin typeface="Consolas" panose="020B0609020204030204" pitchFamily="49" charset="0"/>
              </a:rPr>
              <a:t>::app);</a:t>
            </a:r>
          </a:p>
          <a:p>
            <a:pPr>
              <a:buNone/>
            </a:pPr>
            <a:r>
              <a:rPr lang="en-US" b="0" dirty="0">
                <a:solidFill>
                  <a:srgbClr val="000000"/>
                </a:solidFill>
                <a:effectLst/>
                <a:latin typeface="Consolas" panose="020B0609020204030204" pitchFamily="49" charset="0"/>
              </a:rPr>
              <a:t>        file &lt;&lt; msg &lt;&lt; std::</a:t>
            </a:r>
            <a:r>
              <a:rPr lang="en-US" b="0" dirty="0" err="1">
                <a:solidFill>
                  <a:srgbClr val="000000"/>
                </a:solidFill>
                <a:effectLst/>
                <a:latin typeface="Consolas" panose="020B0609020204030204" pitchFamily="49" charset="0"/>
              </a:rPr>
              <a:t>endl</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p>
          <a:p>
            <a:pPr>
              <a:buNone/>
            </a:pPr>
            <a:r>
              <a:rPr lang="en-US"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2838285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37AAA-2DCE-7102-CB66-E7D255C3A871}"/>
              </a:ext>
            </a:extLst>
          </p:cNvPr>
          <p:cNvSpPr>
            <a:spLocks noGrp="1"/>
          </p:cNvSpPr>
          <p:nvPr>
            <p:ph type="title"/>
          </p:nvPr>
        </p:nvSpPr>
        <p:spPr/>
        <p:txBody>
          <a:bodyPr/>
          <a:lstStyle/>
          <a:p>
            <a:r>
              <a:rPr lang="ru-RU" dirty="0"/>
              <a:t>Применяем </a:t>
            </a:r>
            <a:r>
              <a:rPr lang="en-US" dirty="0"/>
              <a:t>OCP</a:t>
            </a:r>
          </a:p>
        </p:txBody>
      </p:sp>
      <p:sp>
        <p:nvSpPr>
          <p:cNvPr id="3" name="Slide Number Placeholder 2">
            <a:extLst>
              <a:ext uri="{FF2B5EF4-FFF2-40B4-BE49-F238E27FC236}">
                <a16:creationId xmlns:a16="http://schemas.microsoft.com/office/drawing/2014/main" id="{58C17115-370A-711F-ED36-3857886076A8}"/>
              </a:ext>
            </a:extLst>
          </p:cNvPr>
          <p:cNvSpPr>
            <a:spLocks noGrp="1"/>
          </p:cNvSpPr>
          <p:nvPr>
            <p:ph type="sldNum" sz="quarter" idx="12"/>
          </p:nvPr>
        </p:nvSpPr>
        <p:spPr/>
        <p:txBody>
          <a:bodyPr/>
          <a:lstStyle/>
          <a:p>
            <a:fld id="{CF8E6F4D-2E97-47CB-8591-066566E4FE4D}" type="slidenum">
              <a:rPr lang="ru-RU" smtClean="0"/>
              <a:t>14</a:t>
            </a:fld>
            <a:endParaRPr lang="ru-RU"/>
          </a:p>
        </p:txBody>
      </p:sp>
      <p:sp>
        <p:nvSpPr>
          <p:cNvPr id="5" name="TextBox 4">
            <a:extLst>
              <a:ext uri="{FF2B5EF4-FFF2-40B4-BE49-F238E27FC236}">
                <a16:creationId xmlns:a16="http://schemas.microsoft.com/office/drawing/2014/main" id="{94C10373-C3DD-9285-A93D-352356C55AEE}"/>
              </a:ext>
            </a:extLst>
          </p:cNvPr>
          <p:cNvSpPr txBox="1"/>
          <p:nvPr/>
        </p:nvSpPr>
        <p:spPr>
          <a:xfrm>
            <a:off x="0" y="1690688"/>
            <a:ext cx="6478621" cy="5078313"/>
          </a:xfrm>
          <a:prstGeom prst="rect">
            <a:avLst/>
          </a:prstGeom>
          <a:noFill/>
        </p:spPr>
        <p:txBody>
          <a:bodyPr wrap="square">
            <a:spAutoFit/>
          </a:bodyPr>
          <a:lstStyle/>
          <a:p>
            <a:pPr>
              <a:buNone/>
            </a:pPr>
            <a:r>
              <a:rPr lang="en-US" b="0" dirty="0">
                <a:solidFill>
                  <a:srgbClr val="0000FF"/>
                </a:solidFill>
                <a:effectLst/>
                <a:latin typeface="Consolas" panose="020B0609020204030204" pitchFamily="49" charset="0"/>
              </a:rPr>
              <a:t>class</a:t>
            </a:r>
            <a:r>
              <a:rPr lang="en-US" b="0" dirty="0">
                <a:solidFill>
                  <a:srgbClr val="000000"/>
                </a:solidFill>
                <a:effectLst/>
                <a:latin typeface="Consolas" panose="020B0609020204030204" pitchFamily="49" charset="0"/>
              </a:rPr>
              <a:t> </a:t>
            </a:r>
            <a:r>
              <a:rPr lang="en-US" b="0" dirty="0" err="1">
                <a:solidFill>
                  <a:srgbClr val="2B91AF"/>
                </a:solidFill>
                <a:effectLst/>
                <a:latin typeface="Consolas" panose="020B0609020204030204" pitchFamily="49" charset="0"/>
              </a:rPr>
              <a:t>ILogSink</a:t>
            </a:r>
            <a:r>
              <a:rPr lang="en-US" b="0" dirty="0">
                <a:solidFill>
                  <a:srgbClr val="000000"/>
                </a:solidFill>
                <a:effectLst/>
                <a:latin typeface="Consolas" panose="020B0609020204030204" pitchFamily="49" charset="0"/>
              </a:rPr>
              <a:t> {</a:t>
            </a:r>
          </a:p>
          <a:p>
            <a:pPr>
              <a:buNone/>
            </a:pPr>
            <a:r>
              <a:rPr lang="en-US" b="0" dirty="0">
                <a:solidFill>
                  <a:srgbClr val="0000FF"/>
                </a:solidFill>
                <a:effectLst/>
                <a:latin typeface="Consolas" panose="020B0609020204030204" pitchFamily="49" charset="0"/>
              </a:rPr>
              <a:t>public:</a:t>
            </a:r>
            <a:endParaRPr lang="en-US" b="0" dirty="0">
              <a:solidFill>
                <a:srgbClr val="000000"/>
              </a:solidFill>
              <a:effectLst/>
              <a:latin typeface="Consolas" panose="020B0609020204030204" pitchFamily="49" charset="0"/>
            </a:endParaRP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virtual</a:t>
            </a:r>
            <a:r>
              <a:rPr lang="en-US" b="0" dirty="0">
                <a:solidFill>
                  <a:srgbClr val="000000"/>
                </a:solidFill>
                <a:effectLst/>
                <a:latin typeface="Consolas" panose="020B0609020204030204" pitchFamily="49" charset="0"/>
              </a:rPr>
              <a:t> </a:t>
            </a:r>
            <a:r>
              <a:rPr lang="en-US" b="0" dirty="0">
                <a:solidFill>
                  <a:srgbClr val="74531F"/>
                </a:solidFill>
                <a:effectLst/>
                <a:latin typeface="Consolas" panose="020B0609020204030204" pitchFamily="49" charset="0"/>
              </a:rPr>
              <a:t>~</a:t>
            </a:r>
            <a:r>
              <a:rPr lang="en-US" b="0" dirty="0" err="1">
                <a:solidFill>
                  <a:srgbClr val="74531F"/>
                </a:solidFill>
                <a:effectLst/>
                <a:latin typeface="Consolas" panose="020B0609020204030204" pitchFamily="49" charset="0"/>
              </a:rPr>
              <a:t>ILogSink</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default</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virtual</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void</a:t>
            </a:r>
            <a:r>
              <a:rPr lang="en-US" b="0" dirty="0">
                <a:solidFill>
                  <a:srgbClr val="000000"/>
                </a:solidFill>
                <a:effectLst/>
                <a:latin typeface="Consolas" panose="020B0609020204030204" pitchFamily="49" charset="0"/>
              </a:rPr>
              <a:t> </a:t>
            </a:r>
            <a:r>
              <a:rPr lang="en-US" b="0" dirty="0">
                <a:solidFill>
                  <a:srgbClr val="74531F"/>
                </a:solidFill>
                <a:effectLst/>
                <a:latin typeface="Consolas" panose="020B0609020204030204" pitchFamily="49" charset="0"/>
              </a:rPr>
              <a:t>Write</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std::</a:t>
            </a:r>
            <a:r>
              <a:rPr lang="en-US" b="0" dirty="0">
                <a:solidFill>
                  <a:srgbClr val="2B91AF"/>
                </a:solidFill>
                <a:effectLst/>
                <a:latin typeface="Consolas" panose="020B0609020204030204" pitchFamily="49" charset="0"/>
              </a:rPr>
              <a:t>string</a:t>
            </a:r>
            <a:r>
              <a:rPr lang="en-US" b="0" dirty="0">
                <a:solidFill>
                  <a:srgbClr val="000000"/>
                </a:solidFill>
                <a:effectLst/>
                <a:latin typeface="Consolas" panose="020B0609020204030204" pitchFamily="49" charset="0"/>
              </a:rPr>
              <a:t>&amp; </a:t>
            </a:r>
            <a:r>
              <a:rPr lang="en-US" b="0" dirty="0">
                <a:solidFill>
                  <a:srgbClr val="808080"/>
                </a:solidFill>
                <a:effectLst/>
                <a:latin typeface="Consolas" panose="020B0609020204030204" pitchFamily="49" charset="0"/>
              </a:rPr>
              <a:t>msg</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a:t>
            </a:r>
          </a:p>
          <a:p>
            <a:pPr>
              <a:buNone/>
            </a:pPr>
            <a:r>
              <a:rPr lang="en-US" b="0" dirty="0">
                <a:solidFill>
                  <a:srgbClr val="0000FF"/>
                </a:solidFill>
                <a:effectLst/>
                <a:latin typeface="Consolas" panose="020B0609020204030204" pitchFamily="49" charset="0"/>
              </a:rPr>
              <a:t>class</a:t>
            </a:r>
            <a:r>
              <a:rPr lang="en-US" b="0" dirty="0">
                <a:solidFill>
                  <a:srgbClr val="000000"/>
                </a:solidFill>
                <a:effectLst/>
                <a:latin typeface="Consolas" panose="020B0609020204030204" pitchFamily="49" charset="0"/>
              </a:rPr>
              <a:t> </a:t>
            </a:r>
            <a:r>
              <a:rPr lang="en-US" b="0" dirty="0" err="1">
                <a:solidFill>
                  <a:srgbClr val="2B91AF"/>
                </a:solidFill>
                <a:effectLst/>
                <a:latin typeface="Consolas" panose="020B0609020204030204" pitchFamily="49" charset="0"/>
              </a:rPr>
              <a:t>FileSink</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public</a:t>
            </a:r>
            <a:r>
              <a:rPr lang="en-US" b="0" dirty="0">
                <a:solidFill>
                  <a:srgbClr val="000000"/>
                </a:solidFill>
                <a:effectLst/>
                <a:latin typeface="Consolas" panose="020B0609020204030204" pitchFamily="49" charset="0"/>
              </a:rPr>
              <a:t> </a:t>
            </a:r>
            <a:r>
              <a:rPr lang="en-US" b="0" dirty="0" err="1">
                <a:solidFill>
                  <a:srgbClr val="2B91AF"/>
                </a:solidFill>
                <a:effectLst/>
                <a:latin typeface="Consolas" panose="020B0609020204030204" pitchFamily="49" charset="0"/>
              </a:rPr>
              <a:t>ILogSink</a:t>
            </a:r>
            <a:r>
              <a:rPr lang="en-US" b="0" dirty="0">
                <a:solidFill>
                  <a:srgbClr val="000000"/>
                </a:solidFill>
                <a:effectLst/>
                <a:latin typeface="Consolas" panose="020B0609020204030204" pitchFamily="49" charset="0"/>
              </a:rPr>
              <a:t> {</a:t>
            </a:r>
          </a:p>
          <a:p>
            <a:pPr>
              <a:buNone/>
            </a:pPr>
            <a:r>
              <a:rPr lang="en-US" b="0" dirty="0">
                <a:solidFill>
                  <a:srgbClr val="0000FF"/>
                </a:solidFill>
                <a:effectLst/>
                <a:latin typeface="Consolas" panose="020B0609020204030204" pitchFamily="49" charset="0"/>
              </a:rPr>
              <a:t>public:</a:t>
            </a:r>
            <a:endParaRPr lang="en-US" b="0" dirty="0">
              <a:solidFill>
                <a:srgbClr val="000000"/>
              </a:solidFill>
              <a:effectLst/>
              <a:latin typeface="Consolas" panose="020B0609020204030204" pitchFamily="49" charset="0"/>
            </a:endParaRP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void</a:t>
            </a:r>
            <a:r>
              <a:rPr lang="en-US" b="0" dirty="0">
                <a:solidFill>
                  <a:srgbClr val="000000"/>
                </a:solidFill>
                <a:effectLst/>
                <a:latin typeface="Consolas" panose="020B0609020204030204" pitchFamily="49" charset="0"/>
              </a:rPr>
              <a:t> </a:t>
            </a:r>
            <a:r>
              <a:rPr lang="en-US" b="0" dirty="0">
                <a:solidFill>
                  <a:srgbClr val="74531F"/>
                </a:solidFill>
                <a:effectLst/>
                <a:latin typeface="Consolas" panose="020B0609020204030204" pitchFamily="49" charset="0"/>
              </a:rPr>
              <a:t>Write</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std::</a:t>
            </a:r>
            <a:r>
              <a:rPr lang="en-US" b="0" dirty="0">
                <a:solidFill>
                  <a:srgbClr val="2B91AF"/>
                </a:solidFill>
                <a:effectLst/>
                <a:latin typeface="Consolas" panose="020B0609020204030204" pitchFamily="49" charset="0"/>
              </a:rPr>
              <a:t>string</a:t>
            </a:r>
            <a:r>
              <a:rPr lang="en-US" b="0" dirty="0">
                <a:solidFill>
                  <a:srgbClr val="000000"/>
                </a:solidFill>
                <a:effectLst/>
                <a:latin typeface="Consolas" panose="020B0609020204030204" pitchFamily="49" charset="0"/>
              </a:rPr>
              <a:t>&amp; </a:t>
            </a:r>
            <a:r>
              <a:rPr lang="en-US" b="0" dirty="0">
                <a:solidFill>
                  <a:srgbClr val="808080"/>
                </a:solidFill>
                <a:effectLst/>
                <a:latin typeface="Consolas" panose="020B0609020204030204" pitchFamily="49" charset="0"/>
              </a:rPr>
              <a:t>msg</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override</a:t>
            </a:r>
            <a:r>
              <a:rPr lang="en-US" b="0" dirty="0">
                <a:solidFill>
                  <a:srgbClr val="000000"/>
                </a:solidFill>
                <a:effectLst/>
                <a:latin typeface="Consolas" panose="020B0609020204030204" pitchFamily="49" charset="0"/>
              </a:rPr>
              <a:t> {</a:t>
            </a:r>
          </a:p>
          <a:p>
            <a:pPr>
              <a:buNone/>
            </a:pPr>
            <a:r>
              <a:rPr lang="en-US" b="0" dirty="0">
                <a:solidFill>
                  <a:srgbClr val="000000"/>
                </a:solidFill>
                <a:effectLst/>
                <a:latin typeface="Consolas" panose="020B0609020204030204" pitchFamily="49" charset="0"/>
              </a:rPr>
              <a:t>    std::</a:t>
            </a:r>
            <a:r>
              <a:rPr lang="en-US" b="0" dirty="0" err="1">
                <a:solidFill>
                  <a:srgbClr val="000000"/>
                </a:solidFill>
                <a:effectLst/>
                <a:latin typeface="Consolas" panose="020B0609020204030204" pitchFamily="49" charset="0"/>
              </a:rPr>
              <a:t>ofstream</a:t>
            </a:r>
            <a:r>
              <a:rPr lang="en-US" b="0" dirty="0">
                <a:solidFill>
                  <a:srgbClr val="000000"/>
                </a:solidFill>
                <a:effectLst/>
                <a:latin typeface="Consolas" panose="020B0609020204030204" pitchFamily="49" charset="0"/>
              </a:rPr>
              <a:t> </a:t>
            </a:r>
            <a:r>
              <a:rPr lang="en-US" b="0" dirty="0">
                <a:solidFill>
                  <a:srgbClr val="1F377F"/>
                </a:solidFill>
                <a:effectLst/>
                <a:latin typeface="Consolas" panose="020B0609020204030204" pitchFamily="49" charset="0"/>
              </a:rPr>
              <a:t>file</a:t>
            </a:r>
            <a:r>
              <a:rPr lang="en-US" b="0" dirty="0">
                <a:solidFill>
                  <a:srgbClr val="000000"/>
                </a:solidFill>
                <a:effectLst/>
                <a:latin typeface="Consolas" panose="020B0609020204030204" pitchFamily="49" charset="0"/>
              </a:rPr>
              <a:t>(</a:t>
            </a:r>
            <a:r>
              <a:rPr lang="en-US" b="0" dirty="0">
                <a:solidFill>
                  <a:srgbClr val="E21F1F"/>
                </a:solidFill>
                <a:effectLst/>
                <a:latin typeface="Consolas" panose="020B0609020204030204" pitchFamily="49" charset="0"/>
              </a:rPr>
              <a:t>"</a:t>
            </a:r>
            <a:r>
              <a:rPr lang="en-US" b="0" dirty="0">
                <a:solidFill>
                  <a:srgbClr val="A31515"/>
                </a:solidFill>
                <a:effectLst/>
                <a:latin typeface="Consolas" panose="020B0609020204030204" pitchFamily="49" charset="0"/>
              </a:rPr>
              <a:t>log.txt</a:t>
            </a:r>
            <a:r>
              <a:rPr lang="en-US" b="0" dirty="0">
                <a:solidFill>
                  <a:srgbClr val="E21F1F"/>
                </a:solidFill>
                <a:effectLst/>
                <a:latin typeface="Consolas" panose="020B0609020204030204" pitchFamily="49" charset="0"/>
              </a:rPr>
              <a:t>"</a:t>
            </a:r>
            <a:r>
              <a:rPr lang="en-US" b="0" dirty="0">
                <a:solidFill>
                  <a:srgbClr val="000000"/>
                </a:solidFill>
                <a:effectLst/>
                <a:latin typeface="Consolas" panose="020B0609020204030204" pitchFamily="49" charset="0"/>
              </a:rPr>
              <a:t>, std::</a:t>
            </a:r>
            <a:r>
              <a:rPr lang="en-US" b="0" dirty="0" err="1">
                <a:solidFill>
                  <a:srgbClr val="000000"/>
                </a:solidFill>
                <a:effectLst/>
                <a:latin typeface="Consolas" panose="020B0609020204030204" pitchFamily="49" charset="0"/>
              </a:rPr>
              <a:t>ios</a:t>
            </a:r>
            <a:r>
              <a:rPr lang="en-US" b="0" dirty="0">
                <a:solidFill>
                  <a:srgbClr val="000000"/>
                </a:solidFill>
                <a:effectLst/>
                <a:latin typeface="Consolas" panose="020B0609020204030204" pitchFamily="49" charset="0"/>
              </a:rPr>
              <a:t>::app);</a:t>
            </a:r>
          </a:p>
          <a:p>
            <a:pPr>
              <a:buNone/>
            </a:pPr>
            <a:r>
              <a:rPr lang="en-US" b="0" dirty="0">
                <a:solidFill>
                  <a:srgbClr val="000000"/>
                </a:solidFill>
                <a:effectLst/>
                <a:latin typeface="Consolas" panose="020B0609020204030204" pitchFamily="49" charset="0"/>
              </a:rPr>
              <a:t>    </a:t>
            </a:r>
            <a:r>
              <a:rPr lang="en-US" b="0" dirty="0">
                <a:solidFill>
                  <a:srgbClr val="1F377F"/>
                </a:solidFill>
                <a:effectLst/>
                <a:latin typeface="Consolas" panose="020B0609020204030204" pitchFamily="49" charset="0"/>
              </a:rPr>
              <a:t>file</a:t>
            </a:r>
            <a:r>
              <a:rPr lang="en-US" b="0" dirty="0">
                <a:solidFill>
                  <a:srgbClr val="000000"/>
                </a:solidFill>
                <a:effectLst/>
                <a:latin typeface="Consolas" panose="020B0609020204030204" pitchFamily="49" charset="0"/>
              </a:rPr>
              <a:t> &lt;&lt; </a:t>
            </a:r>
            <a:r>
              <a:rPr lang="en-US" b="0" dirty="0">
                <a:solidFill>
                  <a:srgbClr val="808080"/>
                </a:solidFill>
                <a:effectLst/>
                <a:latin typeface="Consolas" panose="020B0609020204030204" pitchFamily="49" charset="0"/>
              </a:rPr>
              <a:t>msg</a:t>
            </a:r>
            <a:r>
              <a:rPr lang="en-US" b="0" dirty="0">
                <a:solidFill>
                  <a:srgbClr val="000000"/>
                </a:solidFill>
                <a:effectLst/>
                <a:latin typeface="Consolas" panose="020B0609020204030204" pitchFamily="49" charset="0"/>
              </a:rPr>
              <a:t> &lt;&lt; std::</a:t>
            </a:r>
            <a:r>
              <a:rPr lang="en-US" b="0" dirty="0" err="1">
                <a:solidFill>
                  <a:srgbClr val="000000"/>
                </a:solidFill>
                <a:effectLst/>
                <a:latin typeface="Consolas" panose="020B0609020204030204" pitchFamily="49" charset="0"/>
              </a:rPr>
              <a:t>endl</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p>
          <a:p>
            <a:pPr>
              <a:buNone/>
            </a:pPr>
            <a:r>
              <a:rPr lang="en-US" b="0" dirty="0">
                <a:solidFill>
                  <a:srgbClr val="000000"/>
                </a:solidFill>
                <a:effectLst/>
                <a:latin typeface="Consolas" panose="020B0609020204030204" pitchFamily="49" charset="0"/>
              </a:rPr>
              <a:t>};</a:t>
            </a:r>
          </a:p>
          <a:p>
            <a:pPr>
              <a:buNone/>
            </a:pPr>
            <a:r>
              <a:rPr lang="en-US" b="0" dirty="0">
                <a:solidFill>
                  <a:srgbClr val="0000FF"/>
                </a:solidFill>
                <a:effectLst/>
                <a:latin typeface="Consolas" panose="020B0609020204030204" pitchFamily="49" charset="0"/>
              </a:rPr>
              <a:t>class</a:t>
            </a:r>
            <a:r>
              <a:rPr lang="en-US" b="0" dirty="0">
                <a:solidFill>
                  <a:srgbClr val="000000"/>
                </a:solidFill>
                <a:effectLst/>
                <a:latin typeface="Consolas" panose="020B0609020204030204" pitchFamily="49" charset="0"/>
              </a:rPr>
              <a:t> </a:t>
            </a:r>
            <a:r>
              <a:rPr lang="en-US" b="0" dirty="0" err="1">
                <a:solidFill>
                  <a:srgbClr val="2B91AF"/>
                </a:solidFill>
                <a:effectLst/>
                <a:latin typeface="Consolas" panose="020B0609020204030204" pitchFamily="49" charset="0"/>
              </a:rPr>
              <a:t>ConsoleSink</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public</a:t>
            </a:r>
            <a:r>
              <a:rPr lang="en-US" b="0" dirty="0">
                <a:solidFill>
                  <a:srgbClr val="000000"/>
                </a:solidFill>
                <a:effectLst/>
                <a:latin typeface="Consolas" panose="020B0609020204030204" pitchFamily="49" charset="0"/>
              </a:rPr>
              <a:t> </a:t>
            </a:r>
            <a:r>
              <a:rPr lang="en-US" b="0" dirty="0" err="1">
                <a:solidFill>
                  <a:srgbClr val="2B91AF"/>
                </a:solidFill>
                <a:effectLst/>
                <a:latin typeface="Consolas" panose="020B0609020204030204" pitchFamily="49" charset="0"/>
              </a:rPr>
              <a:t>ILogSink</a:t>
            </a:r>
            <a:r>
              <a:rPr lang="en-US" b="0" dirty="0">
                <a:solidFill>
                  <a:srgbClr val="000000"/>
                </a:solidFill>
                <a:effectLst/>
                <a:latin typeface="Consolas" panose="020B0609020204030204" pitchFamily="49" charset="0"/>
              </a:rPr>
              <a:t> {</a:t>
            </a:r>
          </a:p>
          <a:p>
            <a:pPr>
              <a:buNone/>
            </a:pPr>
            <a:r>
              <a:rPr lang="en-US" b="0" dirty="0">
                <a:solidFill>
                  <a:srgbClr val="0000FF"/>
                </a:solidFill>
                <a:effectLst/>
                <a:latin typeface="Consolas" panose="020B0609020204030204" pitchFamily="49" charset="0"/>
              </a:rPr>
              <a:t>public:</a:t>
            </a:r>
            <a:endParaRPr lang="en-US" b="0" dirty="0">
              <a:solidFill>
                <a:srgbClr val="000000"/>
              </a:solidFill>
              <a:effectLst/>
              <a:latin typeface="Consolas" panose="020B0609020204030204" pitchFamily="49" charset="0"/>
            </a:endParaRP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void</a:t>
            </a:r>
            <a:r>
              <a:rPr lang="en-US" b="0" dirty="0">
                <a:solidFill>
                  <a:srgbClr val="000000"/>
                </a:solidFill>
                <a:effectLst/>
                <a:latin typeface="Consolas" panose="020B0609020204030204" pitchFamily="49" charset="0"/>
              </a:rPr>
              <a:t> </a:t>
            </a:r>
            <a:r>
              <a:rPr lang="en-US" b="0" dirty="0">
                <a:solidFill>
                  <a:srgbClr val="74531F"/>
                </a:solidFill>
                <a:effectLst/>
                <a:latin typeface="Consolas" panose="020B0609020204030204" pitchFamily="49" charset="0"/>
              </a:rPr>
              <a:t>Write</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std::</a:t>
            </a:r>
            <a:r>
              <a:rPr lang="en-US" b="0" dirty="0">
                <a:solidFill>
                  <a:srgbClr val="2B91AF"/>
                </a:solidFill>
                <a:effectLst/>
                <a:latin typeface="Consolas" panose="020B0609020204030204" pitchFamily="49" charset="0"/>
              </a:rPr>
              <a:t>string</a:t>
            </a:r>
            <a:r>
              <a:rPr lang="en-US" b="0" dirty="0">
                <a:solidFill>
                  <a:srgbClr val="000000"/>
                </a:solidFill>
                <a:effectLst/>
                <a:latin typeface="Consolas" panose="020B0609020204030204" pitchFamily="49" charset="0"/>
              </a:rPr>
              <a:t>&amp; </a:t>
            </a:r>
            <a:r>
              <a:rPr lang="en-US" b="0" dirty="0">
                <a:solidFill>
                  <a:srgbClr val="808080"/>
                </a:solidFill>
                <a:effectLst/>
                <a:latin typeface="Consolas" panose="020B0609020204030204" pitchFamily="49" charset="0"/>
              </a:rPr>
              <a:t>msg</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override</a:t>
            </a:r>
            <a:r>
              <a:rPr lang="en-US" b="0" dirty="0">
                <a:solidFill>
                  <a:srgbClr val="000000"/>
                </a:solidFill>
                <a:effectLst/>
                <a:latin typeface="Consolas" panose="020B0609020204030204" pitchFamily="49" charset="0"/>
              </a:rPr>
              <a:t> {</a:t>
            </a:r>
          </a:p>
          <a:p>
            <a:pPr>
              <a:buNone/>
            </a:pPr>
            <a:r>
              <a:rPr lang="en-US" b="0" dirty="0">
                <a:solidFill>
                  <a:srgbClr val="000000"/>
                </a:solidFill>
                <a:effectLst/>
                <a:latin typeface="Consolas" panose="020B0609020204030204" pitchFamily="49" charset="0"/>
              </a:rPr>
              <a:t>    std::</a:t>
            </a:r>
            <a:r>
              <a:rPr lang="en-US" b="0" dirty="0" err="1">
                <a:solidFill>
                  <a:srgbClr val="000000"/>
                </a:solidFill>
                <a:effectLst/>
                <a:latin typeface="Consolas" panose="020B0609020204030204" pitchFamily="49" charset="0"/>
              </a:rPr>
              <a:t>cout</a:t>
            </a:r>
            <a:r>
              <a:rPr lang="en-US" b="0" dirty="0">
                <a:solidFill>
                  <a:srgbClr val="000000"/>
                </a:solidFill>
                <a:effectLst/>
                <a:latin typeface="Consolas" panose="020B0609020204030204" pitchFamily="49" charset="0"/>
              </a:rPr>
              <a:t> &lt;&lt; </a:t>
            </a:r>
            <a:r>
              <a:rPr lang="en-US" b="0" dirty="0">
                <a:solidFill>
                  <a:srgbClr val="808080"/>
                </a:solidFill>
                <a:effectLst/>
                <a:latin typeface="Consolas" panose="020B0609020204030204" pitchFamily="49" charset="0"/>
              </a:rPr>
              <a:t>msg</a:t>
            </a:r>
            <a:r>
              <a:rPr lang="en-US" b="0" dirty="0">
                <a:solidFill>
                  <a:srgbClr val="000000"/>
                </a:solidFill>
                <a:effectLst/>
                <a:latin typeface="Consolas" panose="020B0609020204030204" pitchFamily="49" charset="0"/>
              </a:rPr>
              <a:t> &lt;&lt; std::</a:t>
            </a:r>
            <a:r>
              <a:rPr lang="en-US" b="0" dirty="0" err="1">
                <a:solidFill>
                  <a:srgbClr val="000000"/>
                </a:solidFill>
                <a:effectLst/>
                <a:latin typeface="Consolas" panose="020B0609020204030204" pitchFamily="49" charset="0"/>
              </a:rPr>
              <a:t>endl</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p>
          <a:p>
            <a:pPr>
              <a:buNone/>
            </a:pPr>
            <a:r>
              <a:rPr lang="en-US" b="0" dirty="0">
                <a:solidFill>
                  <a:srgbClr val="000000"/>
                </a:solidFill>
                <a:effectLst/>
                <a:latin typeface="Consolas" panose="020B0609020204030204" pitchFamily="49" charset="0"/>
              </a:rPr>
              <a:t>};</a:t>
            </a:r>
          </a:p>
        </p:txBody>
      </p:sp>
      <p:sp>
        <p:nvSpPr>
          <p:cNvPr id="7" name="TextBox 6">
            <a:extLst>
              <a:ext uri="{FF2B5EF4-FFF2-40B4-BE49-F238E27FC236}">
                <a16:creationId xmlns:a16="http://schemas.microsoft.com/office/drawing/2014/main" id="{F25BC17E-BC29-6F38-6D1C-1C9EE8A15911}"/>
              </a:ext>
            </a:extLst>
          </p:cNvPr>
          <p:cNvSpPr txBox="1"/>
          <p:nvPr/>
        </p:nvSpPr>
        <p:spPr>
          <a:xfrm>
            <a:off x="6478621" y="1899860"/>
            <a:ext cx="5713379" cy="3970318"/>
          </a:xfrm>
          <a:prstGeom prst="rect">
            <a:avLst/>
          </a:prstGeom>
          <a:noFill/>
        </p:spPr>
        <p:txBody>
          <a:bodyPr wrap="square">
            <a:spAutoFit/>
          </a:bodyPr>
          <a:lstStyle/>
          <a:p>
            <a:pPr>
              <a:buNone/>
            </a:pPr>
            <a:r>
              <a:rPr lang="en-US" b="0" dirty="0">
                <a:solidFill>
                  <a:srgbClr val="0000FF"/>
                </a:solidFill>
                <a:effectLst/>
                <a:latin typeface="Consolas" panose="020B0609020204030204" pitchFamily="49" charset="0"/>
              </a:rPr>
              <a:t>class</a:t>
            </a:r>
            <a:r>
              <a:rPr lang="en-US" b="0" dirty="0">
                <a:solidFill>
                  <a:srgbClr val="000000"/>
                </a:solidFill>
                <a:effectLst/>
                <a:latin typeface="Consolas" panose="020B0609020204030204" pitchFamily="49" charset="0"/>
              </a:rPr>
              <a:t> </a:t>
            </a:r>
            <a:r>
              <a:rPr lang="en-US" b="0" dirty="0">
                <a:solidFill>
                  <a:srgbClr val="2B91AF"/>
                </a:solidFill>
                <a:effectLst/>
                <a:latin typeface="Consolas" panose="020B0609020204030204" pitchFamily="49" charset="0"/>
              </a:rPr>
              <a:t>Logger</a:t>
            </a:r>
            <a:r>
              <a:rPr lang="en-US" b="0" dirty="0">
                <a:solidFill>
                  <a:srgbClr val="000000"/>
                </a:solidFill>
                <a:effectLst/>
                <a:latin typeface="Consolas" panose="020B0609020204030204" pitchFamily="49" charset="0"/>
              </a:rPr>
              <a:t> {</a:t>
            </a:r>
          </a:p>
          <a:p>
            <a:pPr>
              <a:buNone/>
            </a:pPr>
            <a:r>
              <a:rPr lang="en-US" b="0" dirty="0">
                <a:solidFill>
                  <a:srgbClr val="0000FF"/>
                </a:solidFill>
                <a:effectLst/>
                <a:latin typeface="Consolas" panose="020B0609020204030204" pitchFamily="49" charset="0"/>
              </a:rPr>
              <a:t>public:</a:t>
            </a:r>
            <a:endParaRPr lang="en-US" b="0" dirty="0">
              <a:solidFill>
                <a:srgbClr val="000000"/>
              </a:solidFill>
              <a:effectLst/>
              <a:latin typeface="Consolas" panose="020B0609020204030204" pitchFamily="49" charset="0"/>
            </a:endParaRPr>
          </a:p>
          <a:p>
            <a:pPr>
              <a:buNone/>
            </a:pPr>
            <a:r>
              <a:rPr lang="en-US" b="0" dirty="0">
                <a:solidFill>
                  <a:srgbClr val="000000"/>
                </a:solidFill>
                <a:effectLst/>
                <a:latin typeface="Consolas" panose="020B0609020204030204" pitchFamily="49" charset="0"/>
              </a:rPr>
              <a:t>  </a:t>
            </a:r>
            <a:r>
              <a:rPr lang="en-US" b="0" dirty="0">
                <a:solidFill>
                  <a:srgbClr val="2B91AF"/>
                </a:solidFill>
                <a:effectLst/>
                <a:latin typeface="Consolas" panose="020B0609020204030204" pitchFamily="49" charset="0"/>
              </a:rPr>
              <a:t>Logger</a:t>
            </a:r>
            <a:r>
              <a:rPr lang="en-US" b="0" dirty="0">
                <a:solidFill>
                  <a:srgbClr val="000000"/>
                </a:solidFill>
                <a:effectLst/>
                <a:latin typeface="Consolas" panose="020B0609020204030204" pitchFamily="49" charset="0"/>
              </a:rPr>
              <a:t>(std::</a:t>
            </a:r>
            <a:r>
              <a:rPr lang="en-US" b="0" dirty="0" err="1">
                <a:solidFill>
                  <a:srgbClr val="2B91AF"/>
                </a:solidFill>
                <a:effectLst/>
                <a:latin typeface="Consolas" panose="020B0609020204030204" pitchFamily="49" charset="0"/>
              </a:rPr>
              <a:t>unique_ptr</a:t>
            </a:r>
            <a:r>
              <a:rPr lang="en-US" b="0" dirty="0">
                <a:solidFill>
                  <a:srgbClr val="000000"/>
                </a:solidFill>
                <a:effectLst/>
                <a:latin typeface="Consolas" panose="020B0609020204030204" pitchFamily="49" charset="0"/>
              </a:rPr>
              <a:t>&lt;</a:t>
            </a:r>
            <a:r>
              <a:rPr lang="en-US" b="0" dirty="0" err="1">
                <a:solidFill>
                  <a:srgbClr val="2B91AF"/>
                </a:solidFill>
                <a:effectLst/>
                <a:latin typeface="Consolas" panose="020B0609020204030204" pitchFamily="49" charset="0"/>
              </a:rPr>
              <a:t>ILogSink</a:t>
            </a:r>
            <a:r>
              <a:rPr lang="en-US" b="0" dirty="0">
                <a:solidFill>
                  <a:srgbClr val="000000"/>
                </a:solidFill>
                <a:effectLst/>
                <a:latin typeface="Consolas" panose="020B0609020204030204" pitchFamily="49" charset="0"/>
              </a:rPr>
              <a:t>&gt; </a:t>
            </a:r>
            <a:r>
              <a:rPr lang="en-US" b="0" dirty="0">
                <a:solidFill>
                  <a:srgbClr val="808080"/>
                </a:solidFill>
                <a:effectLst/>
                <a:latin typeface="Consolas" panose="020B0609020204030204" pitchFamily="49" charset="0"/>
              </a:rPr>
              <a:t>sink</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 </a:t>
            </a:r>
            <a:r>
              <a:rPr lang="en-US" b="0" dirty="0" err="1">
                <a:solidFill>
                  <a:srgbClr val="74531F"/>
                </a:solidFill>
                <a:effectLst/>
                <a:latin typeface="Consolas" panose="020B0609020204030204" pitchFamily="49" charset="0"/>
              </a:rPr>
              <a:t>m_sink</a:t>
            </a:r>
            <a:r>
              <a:rPr lang="en-US" b="0" dirty="0">
                <a:solidFill>
                  <a:srgbClr val="000000"/>
                </a:solidFill>
                <a:effectLst/>
                <a:latin typeface="Consolas" panose="020B0609020204030204" pitchFamily="49" charset="0"/>
              </a:rPr>
              <a:t>(std::</a:t>
            </a:r>
            <a:r>
              <a:rPr lang="en-US" b="0" dirty="0">
                <a:solidFill>
                  <a:srgbClr val="74531F"/>
                </a:solidFill>
                <a:effectLst/>
                <a:latin typeface="Consolas" panose="020B0609020204030204" pitchFamily="49" charset="0"/>
              </a:rPr>
              <a:t>move</a:t>
            </a:r>
            <a:r>
              <a:rPr lang="en-US" b="0" dirty="0">
                <a:solidFill>
                  <a:srgbClr val="000000"/>
                </a:solidFill>
                <a:effectLst/>
                <a:latin typeface="Consolas" panose="020B0609020204030204" pitchFamily="49" charset="0"/>
              </a:rPr>
              <a:t>(sink)) {}</a:t>
            </a:r>
          </a:p>
          <a:p>
            <a:pPr>
              <a:buNone/>
            </a:pPr>
            <a:endParaRPr lang="en-US" b="0" dirty="0">
              <a:solidFill>
                <a:srgbClr val="000000"/>
              </a:solidFill>
              <a:effectLst/>
              <a:latin typeface="Consolas" panose="020B0609020204030204" pitchFamily="49" charset="0"/>
            </a:endParaRP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void</a:t>
            </a:r>
            <a:r>
              <a:rPr lang="en-US" b="0" dirty="0">
                <a:solidFill>
                  <a:srgbClr val="000000"/>
                </a:solidFill>
                <a:effectLst/>
                <a:latin typeface="Consolas" panose="020B0609020204030204" pitchFamily="49" charset="0"/>
              </a:rPr>
              <a:t> </a:t>
            </a:r>
            <a:r>
              <a:rPr lang="en-US" b="0" dirty="0">
                <a:solidFill>
                  <a:srgbClr val="74531F"/>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std::</a:t>
            </a:r>
            <a:r>
              <a:rPr lang="en-US" b="0" dirty="0">
                <a:solidFill>
                  <a:srgbClr val="2B91AF"/>
                </a:solidFill>
                <a:effectLst/>
                <a:latin typeface="Consolas" panose="020B0609020204030204" pitchFamily="49" charset="0"/>
              </a:rPr>
              <a:t>string</a:t>
            </a:r>
            <a:r>
              <a:rPr lang="en-US" b="0" dirty="0">
                <a:solidFill>
                  <a:srgbClr val="000000"/>
                </a:solidFill>
                <a:effectLst/>
                <a:latin typeface="Consolas" panose="020B0609020204030204" pitchFamily="49" charset="0"/>
              </a:rPr>
              <a:t>&amp; </a:t>
            </a:r>
            <a:r>
              <a:rPr lang="en-US" b="0" dirty="0">
                <a:solidFill>
                  <a:srgbClr val="808080"/>
                </a:solidFill>
                <a:effectLst/>
                <a:latin typeface="Consolas" panose="020B0609020204030204" pitchFamily="49" charset="0"/>
              </a:rPr>
              <a:t>msg</a:t>
            </a:r>
            <a:r>
              <a:rPr lang="en-US" b="0" dirty="0">
                <a:solidFill>
                  <a:srgbClr val="000000"/>
                </a:solidFill>
                <a:effectLst/>
                <a:latin typeface="Consolas" panose="020B0609020204030204" pitchFamily="49" charset="0"/>
              </a:rPr>
              <a:t>) {</a:t>
            </a:r>
          </a:p>
          <a:p>
            <a:pPr>
              <a:buNone/>
            </a:pP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m_</a:t>
            </a:r>
            <a:r>
              <a:rPr lang="en-US" b="0" dirty="0" err="1">
                <a:solidFill>
                  <a:srgbClr val="1F377F"/>
                </a:solidFill>
                <a:effectLst/>
                <a:latin typeface="Consolas" panose="020B0609020204030204" pitchFamily="49" charset="0"/>
              </a:rPr>
              <a:t>sink</a:t>
            </a:r>
            <a:r>
              <a:rPr lang="en-US" b="0" dirty="0">
                <a:solidFill>
                  <a:srgbClr val="000000"/>
                </a:solidFill>
                <a:effectLst/>
                <a:latin typeface="Consolas" panose="020B0609020204030204" pitchFamily="49" charset="0"/>
              </a:rPr>
              <a:t>-&gt;</a:t>
            </a:r>
            <a:r>
              <a:rPr lang="en-US" b="0" dirty="0">
                <a:solidFill>
                  <a:srgbClr val="74531F"/>
                </a:solidFill>
                <a:effectLst/>
                <a:latin typeface="Consolas" panose="020B0609020204030204" pitchFamily="49" charset="0"/>
              </a:rPr>
              <a:t>Write</a:t>
            </a:r>
            <a:r>
              <a:rPr lang="en-US" b="0" dirty="0">
                <a:solidFill>
                  <a:srgbClr val="000000"/>
                </a:solidFill>
                <a:effectLst/>
                <a:latin typeface="Consolas" panose="020B0609020204030204" pitchFamily="49" charset="0"/>
              </a:rPr>
              <a:t>(msg);</a:t>
            </a:r>
          </a:p>
          <a:p>
            <a:pPr>
              <a:buNone/>
            </a:pPr>
            <a:r>
              <a:rPr lang="en-US" b="0" dirty="0">
                <a:solidFill>
                  <a:srgbClr val="000000"/>
                </a:solidFill>
                <a:effectLst/>
                <a:latin typeface="Consolas" panose="020B0609020204030204" pitchFamily="49" charset="0"/>
              </a:rPr>
              <a:t>  }</a:t>
            </a:r>
          </a:p>
          <a:p>
            <a:pPr>
              <a:buNone/>
            </a:pPr>
            <a:endParaRPr lang="en-US" b="0" dirty="0">
              <a:solidFill>
                <a:srgbClr val="000000"/>
              </a:solidFill>
              <a:effectLst/>
              <a:latin typeface="Consolas" panose="020B0609020204030204" pitchFamily="49" charset="0"/>
            </a:endParaRPr>
          </a:p>
          <a:p>
            <a:pPr>
              <a:buNone/>
            </a:pPr>
            <a:r>
              <a:rPr lang="en-US" b="0" dirty="0">
                <a:solidFill>
                  <a:srgbClr val="0000FF"/>
                </a:solidFill>
                <a:effectLst/>
                <a:latin typeface="Consolas" panose="020B0609020204030204" pitchFamily="49" charset="0"/>
              </a:rPr>
              <a:t>private:</a:t>
            </a:r>
            <a:endParaRPr lang="en-US" b="0" dirty="0">
              <a:solidFill>
                <a:srgbClr val="000000"/>
              </a:solidFill>
              <a:effectLst/>
              <a:latin typeface="Consolas" panose="020B0609020204030204" pitchFamily="49" charset="0"/>
            </a:endParaRPr>
          </a:p>
          <a:p>
            <a:pPr>
              <a:buNone/>
            </a:pPr>
            <a:r>
              <a:rPr lang="en-US" b="0" dirty="0">
                <a:solidFill>
                  <a:srgbClr val="000000"/>
                </a:solidFill>
                <a:effectLst/>
                <a:latin typeface="Consolas" panose="020B0609020204030204" pitchFamily="49" charset="0"/>
              </a:rPr>
              <a:t>  std::</a:t>
            </a:r>
            <a:r>
              <a:rPr lang="en-US" b="0" dirty="0" err="1">
                <a:solidFill>
                  <a:srgbClr val="000000"/>
                </a:solidFill>
                <a:effectLst/>
                <a:latin typeface="Consolas" panose="020B0609020204030204" pitchFamily="49" charset="0"/>
              </a:rPr>
              <a:t>unique_ptr</a:t>
            </a:r>
            <a:r>
              <a:rPr lang="en-US" b="0" dirty="0">
                <a:solidFill>
                  <a:srgbClr val="000000"/>
                </a:solidFill>
                <a:effectLst/>
                <a:latin typeface="Consolas" panose="020B0609020204030204" pitchFamily="49" charset="0"/>
              </a:rPr>
              <a:t>&lt;</a:t>
            </a:r>
            <a:r>
              <a:rPr lang="en-US" b="0" dirty="0" err="1">
                <a:solidFill>
                  <a:srgbClr val="000000"/>
                </a:solidFill>
                <a:effectLst/>
                <a:latin typeface="Consolas" panose="020B0609020204030204" pitchFamily="49" charset="0"/>
              </a:rPr>
              <a:t>ILogSink</a:t>
            </a:r>
            <a:r>
              <a:rPr lang="en-US" b="0" dirty="0">
                <a:solidFill>
                  <a:srgbClr val="000000"/>
                </a:solidFill>
                <a:effectLst/>
                <a:latin typeface="Consolas" panose="020B0609020204030204" pitchFamily="49" charset="0"/>
              </a:rPr>
              <a:t>&gt; </a:t>
            </a:r>
            <a:r>
              <a:rPr lang="en-US" b="0" dirty="0" err="1">
                <a:solidFill>
                  <a:srgbClr val="000000"/>
                </a:solidFill>
                <a:effectLst/>
                <a:latin typeface="Consolas" panose="020B0609020204030204" pitchFamily="49" charset="0"/>
              </a:rPr>
              <a:t>m_sink</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a:t>
            </a:r>
          </a:p>
          <a:p>
            <a:pPr>
              <a:buNone/>
            </a:pPr>
            <a:br>
              <a:rPr lang="en-US" b="0" dirty="0">
                <a:solidFill>
                  <a:srgbClr val="000000"/>
                </a:solidFill>
                <a:effectLst/>
                <a:latin typeface="Consolas" panose="020B0609020204030204" pitchFamily="49" charset="0"/>
              </a:rPr>
            </a:br>
            <a:endParaRPr lang="en-US" dirty="0"/>
          </a:p>
        </p:txBody>
      </p:sp>
    </p:spTree>
    <p:extLst>
      <p:ext uri="{BB962C8B-B14F-4D97-AF65-F5344CB8AC3E}">
        <p14:creationId xmlns:p14="http://schemas.microsoft.com/office/powerpoint/2010/main" val="1493593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500"/>
                                        <p:tgtEl>
                                          <p:spTgt spid="5">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fade">
                                      <p:cBhvr>
                                        <p:cTn id="16" dur="500"/>
                                        <p:tgtEl>
                                          <p:spTgt spid="5">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Effect transition="in" filter="fade">
                                      <p:cBhvr>
                                        <p:cTn id="19" dur="500"/>
                                        <p:tgtEl>
                                          <p:spTgt spid="5">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5">
                                            <p:txEl>
                                              <p:pRg st="5" end="5"/>
                                            </p:txEl>
                                          </p:spTgt>
                                        </p:tgtEl>
                                        <p:attrNameLst>
                                          <p:attrName>style.visibility</p:attrName>
                                        </p:attrNameLst>
                                      </p:cBhvr>
                                      <p:to>
                                        <p:strVal val="visible"/>
                                      </p:to>
                                    </p:set>
                                    <p:animEffect transition="in" filter="fade">
                                      <p:cBhvr>
                                        <p:cTn id="24" dur="500"/>
                                        <p:tgtEl>
                                          <p:spTgt spid="5">
                                            <p:txEl>
                                              <p:pRg st="5" end="5"/>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Effect transition="in" filter="fade">
                                      <p:cBhvr>
                                        <p:cTn id="27" dur="500"/>
                                        <p:tgtEl>
                                          <p:spTgt spid="5">
                                            <p:txEl>
                                              <p:pRg st="6" end="6"/>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5">
                                            <p:txEl>
                                              <p:pRg st="7" end="7"/>
                                            </p:txEl>
                                          </p:spTgt>
                                        </p:tgtEl>
                                        <p:attrNameLst>
                                          <p:attrName>style.visibility</p:attrName>
                                        </p:attrNameLst>
                                      </p:cBhvr>
                                      <p:to>
                                        <p:strVal val="visible"/>
                                      </p:to>
                                    </p:set>
                                    <p:animEffect transition="in" filter="fade">
                                      <p:cBhvr>
                                        <p:cTn id="30" dur="500"/>
                                        <p:tgtEl>
                                          <p:spTgt spid="5">
                                            <p:txEl>
                                              <p:pRg st="7" end="7"/>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5">
                                            <p:txEl>
                                              <p:pRg st="8" end="8"/>
                                            </p:txEl>
                                          </p:spTgt>
                                        </p:tgtEl>
                                        <p:attrNameLst>
                                          <p:attrName>style.visibility</p:attrName>
                                        </p:attrNameLst>
                                      </p:cBhvr>
                                      <p:to>
                                        <p:strVal val="visible"/>
                                      </p:to>
                                    </p:set>
                                    <p:animEffect transition="in" filter="fade">
                                      <p:cBhvr>
                                        <p:cTn id="33" dur="500"/>
                                        <p:tgtEl>
                                          <p:spTgt spid="5">
                                            <p:txEl>
                                              <p:pRg st="8" end="8"/>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5">
                                            <p:txEl>
                                              <p:pRg st="9" end="9"/>
                                            </p:txEl>
                                          </p:spTgt>
                                        </p:tgtEl>
                                        <p:attrNameLst>
                                          <p:attrName>style.visibility</p:attrName>
                                        </p:attrNameLst>
                                      </p:cBhvr>
                                      <p:to>
                                        <p:strVal val="visible"/>
                                      </p:to>
                                    </p:set>
                                    <p:animEffect transition="in" filter="fade">
                                      <p:cBhvr>
                                        <p:cTn id="36" dur="500"/>
                                        <p:tgtEl>
                                          <p:spTgt spid="5">
                                            <p:txEl>
                                              <p:pRg st="9" end="9"/>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5">
                                            <p:txEl>
                                              <p:pRg st="10" end="10"/>
                                            </p:txEl>
                                          </p:spTgt>
                                        </p:tgtEl>
                                        <p:attrNameLst>
                                          <p:attrName>style.visibility</p:attrName>
                                        </p:attrNameLst>
                                      </p:cBhvr>
                                      <p:to>
                                        <p:strVal val="visible"/>
                                      </p:to>
                                    </p:set>
                                    <p:animEffect transition="in" filter="fade">
                                      <p:cBhvr>
                                        <p:cTn id="39" dur="500"/>
                                        <p:tgtEl>
                                          <p:spTgt spid="5">
                                            <p:txEl>
                                              <p:pRg st="10" end="10"/>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5">
                                            <p:txEl>
                                              <p:pRg st="11" end="11"/>
                                            </p:txEl>
                                          </p:spTgt>
                                        </p:tgtEl>
                                        <p:attrNameLst>
                                          <p:attrName>style.visibility</p:attrName>
                                        </p:attrNameLst>
                                      </p:cBhvr>
                                      <p:to>
                                        <p:strVal val="visible"/>
                                      </p:to>
                                    </p:set>
                                    <p:animEffect transition="in" filter="fade">
                                      <p:cBhvr>
                                        <p:cTn id="42" dur="500"/>
                                        <p:tgtEl>
                                          <p:spTgt spid="5">
                                            <p:txEl>
                                              <p:pRg st="11" end="1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
                                            <p:txEl>
                                              <p:pRg st="12" end="12"/>
                                            </p:txEl>
                                          </p:spTgt>
                                        </p:tgtEl>
                                        <p:attrNameLst>
                                          <p:attrName>style.visibility</p:attrName>
                                        </p:attrNameLst>
                                      </p:cBhvr>
                                      <p:to>
                                        <p:strVal val="visible"/>
                                      </p:to>
                                    </p:set>
                                    <p:animEffect transition="in" filter="fade">
                                      <p:cBhvr>
                                        <p:cTn id="47" dur="500"/>
                                        <p:tgtEl>
                                          <p:spTgt spid="5">
                                            <p:txEl>
                                              <p:pRg st="12" end="12"/>
                                            </p:txEl>
                                          </p:spTgt>
                                        </p:tgtEl>
                                      </p:cBhvr>
                                    </p:animEffect>
                                  </p:childTnLst>
                                </p:cTn>
                              </p:par>
                              <p:par>
                                <p:cTn id="48" presetID="10" presetClass="entr" presetSubtype="0" fill="hold" nodeType="withEffect">
                                  <p:stCondLst>
                                    <p:cond delay="0"/>
                                  </p:stCondLst>
                                  <p:childTnLst>
                                    <p:set>
                                      <p:cBhvr>
                                        <p:cTn id="49" dur="1" fill="hold">
                                          <p:stCondLst>
                                            <p:cond delay="0"/>
                                          </p:stCondLst>
                                        </p:cTn>
                                        <p:tgtEl>
                                          <p:spTgt spid="5">
                                            <p:txEl>
                                              <p:pRg st="13" end="13"/>
                                            </p:txEl>
                                          </p:spTgt>
                                        </p:tgtEl>
                                        <p:attrNameLst>
                                          <p:attrName>style.visibility</p:attrName>
                                        </p:attrNameLst>
                                      </p:cBhvr>
                                      <p:to>
                                        <p:strVal val="visible"/>
                                      </p:to>
                                    </p:set>
                                    <p:animEffect transition="in" filter="fade">
                                      <p:cBhvr>
                                        <p:cTn id="50" dur="500"/>
                                        <p:tgtEl>
                                          <p:spTgt spid="5">
                                            <p:txEl>
                                              <p:pRg st="13" end="13"/>
                                            </p:txEl>
                                          </p:spTgt>
                                        </p:tgtEl>
                                      </p:cBhvr>
                                    </p:animEffect>
                                  </p:childTnLst>
                                </p:cTn>
                              </p:par>
                              <p:par>
                                <p:cTn id="51" presetID="10" presetClass="entr" presetSubtype="0" fill="hold" nodeType="withEffect">
                                  <p:stCondLst>
                                    <p:cond delay="0"/>
                                  </p:stCondLst>
                                  <p:childTnLst>
                                    <p:set>
                                      <p:cBhvr>
                                        <p:cTn id="52" dur="1" fill="hold">
                                          <p:stCondLst>
                                            <p:cond delay="0"/>
                                          </p:stCondLst>
                                        </p:cTn>
                                        <p:tgtEl>
                                          <p:spTgt spid="5">
                                            <p:txEl>
                                              <p:pRg st="14" end="14"/>
                                            </p:txEl>
                                          </p:spTgt>
                                        </p:tgtEl>
                                        <p:attrNameLst>
                                          <p:attrName>style.visibility</p:attrName>
                                        </p:attrNameLst>
                                      </p:cBhvr>
                                      <p:to>
                                        <p:strVal val="visible"/>
                                      </p:to>
                                    </p:set>
                                    <p:animEffect transition="in" filter="fade">
                                      <p:cBhvr>
                                        <p:cTn id="53" dur="500"/>
                                        <p:tgtEl>
                                          <p:spTgt spid="5">
                                            <p:txEl>
                                              <p:pRg st="14" end="14"/>
                                            </p:txEl>
                                          </p:spTgt>
                                        </p:tgtEl>
                                      </p:cBhvr>
                                    </p:animEffect>
                                  </p:childTnLst>
                                </p:cTn>
                              </p:par>
                              <p:par>
                                <p:cTn id="54" presetID="10" presetClass="entr" presetSubtype="0" fill="hold" nodeType="withEffect">
                                  <p:stCondLst>
                                    <p:cond delay="0"/>
                                  </p:stCondLst>
                                  <p:childTnLst>
                                    <p:set>
                                      <p:cBhvr>
                                        <p:cTn id="55" dur="1" fill="hold">
                                          <p:stCondLst>
                                            <p:cond delay="0"/>
                                          </p:stCondLst>
                                        </p:cTn>
                                        <p:tgtEl>
                                          <p:spTgt spid="5">
                                            <p:txEl>
                                              <p:pRg st="15" end="15"/>
                                            </p:txEl>
                                          </p:spTgt>
                                        </p:tgtEl>
                                        <p:attrNameLst>
                                          <p:attrName>style.visibility</p:attrName>
                                        </p:attrNameLst>
                                      </p:cBhvr>
                                      <p:to>
                                        <p:strVal val="visible"/>
                                      </p:to>
                                    </p:set>
                                    <p:animEffect transition="in" filter="fade">
                                      <p:cBhvr>
                                        <p:cTn id="56" dur="500"/>
                                        <p:tgtEl>
                                          <p:spTgt spid="5">
                                            <p:txEl>
                                              <p:pRg st="15" end="15"/>
                                            </p:txEl>
                                          </p:spTgt>
                                        </p:tgtEl>
                                      </p:cBhvr>
                                    </p:animEffect>
                                  </p:childTnLst>
                                </p:cTn>
                              </p:par>
                              <p:par>
                                <p:cTn id="57" presetID="10" presetClass="entr" presetSubtype="0" fill="hold" nodeType="withEffect">
                                  <p:stCondLst>
                                    <p:cond delay="0"/>
                                  </p:stCondLst>
                                  <p:childTnLst>
                                    <p:set>
                                      <p:cBhvr>
                                        <p:cTn id="58" dur="1" fill="hold">
                                          <p:stCondLst>
                                            <p:cond delay="0"/>
                                          </p:stCondLst>
                                        </p:cTn>
                                        <p:tgtEl>
                                          <p:spTgt spid="5">
                                            <p:txEl>
                                              <p:pRg st="16" end="16"/>
                                            </p:txEl>
                                          </p:spTgt>
                                        </p:tgtEl>
                                        <p:attrNameLst>
                                          <p:attrName>style.visibility</p:attrName>
                                        </p:attrNameLst>
                                      </p:cBhvr>
                                      <p:to>
                                        <p:strVal val="visible"/>
                                      </p:to>
                                    </p:set>
                                    <p:animEffect transition="in" filter="fade">
                                      <p:cBhvr>
                                        <p:cTn id="59" dur="500"/>
                                        <p:tgtEl>
                                          <p:spTgt spid="5">
                                            <p:txEl>
                                              <p:pRg st="16" end="16"/>
                                            </p:txEl>
                                          </p:spTgt>
                                        </p:tgtEl>
                                      </p:cBhvr>
                                    </p:animEffect>
                                  </p:childTnLst>
                                </p:cTn>
                              </p:par>
                              <p:par>
                                <p:cTn id="60" presetID="10" presetClass="entr" presetSubtype="0" fill="hold" nodeType="withEffect">
                                  <p:stCondLst>
                                    <p:cond delay="0"/>
                                  </p:stCondLst>
                                  <p:childTnLst>
                                    <p:set>
                                      <p:cBhvr>
                                        <p:cTn id="61" dur="1" fill="hold">
                                          <p:stCondLst>
                                            <p:cond delay="0"/>
                                          </p:stCondLst>
                                        </p:cTn>
                                        <p:tgtEl>
                                          <p:spTgt spid="5">
                                            <p:txEl>
                                              <p:pRg st="17" end="17"/>
                                            </p:txEl>
                                          </p:spTgt>
                                        </p:tgtEl>
                                        <p:attrNameLst>
                                          <p:attrName>style.visibility</p:attrName>
                                        </p:attrNameLst>
                                      </p:cBhvr>
                                      <p:to>
                                        <p:strVal val="visible"/>
                                      </p:to>
                                    </p:set>
                                    <p:animEffect transition="in" filter="fade">
                                      <p:cBhvr>
                                        <p:cTn id="62" dur="500"/>
                                        <p:tgtEl>
                                          <p:spTgt spid="5">
                                            <p:txEl>
                                              <p:pRg st="17" end="17"/>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7">
                                            <p:txEl>
                                              <p:pRg st="0" end="0"/>
                                            </p:txEl>
                                          </p:spTgt>
                                        </p:tgtEl>
                                        <p:attrNameLst>
                                          <p:attrName>style.visibility</p:attrName>
                                        </p:attrNameLst>
                                      </p:cBhvr>
                                      <p:to>
                                        <p:strVal val="visible"/>
                                      </p:to>
                                    </p:set>
                                    <p:animEffect transition="in" filter="fade">
                                      <p:cBhvr>
                                        <p:cTn id="67" dur="500"/>
                                        <p:tgtEl>
                                          <p:spTgt spid="7">
                                            <p:txEl>
                                              <p:pRg st="0" end="0"/>
                                            </p:txEl>
                                          </p:spTgt>
                                        </p:tgtEl>
                                      </p:cBhvr>
                                    </p:animEffect>
                                  </p:childTnLst>
                                </p:cTn>
                              </p:par>
                              <p:par>
                                <p:cTn id="68" presetID="10" presetClass="entr" presetSubtype="0" fill="hold" nodeType="withEffect">
                                  <p:stCondLst>
                                    <p:cond delay="0"/>
                                  </p:stCondLst>
                                  <p:childTnLst>
                                    <p:set>
                                      <p:cBhvr>
                                        <p:cTn id="69" dur="1" fill="hold">
                                          <p:stCondLst>
                                            <p:cond delay="0"/>
                                          </p:stCondLst>
                                        </p:cTn>
                                        <p:tgtEl>
                                          <p:spTgt spid="7">
                                            <p:txEl>
                                              <p:pRg st="1" end="1"/>
                                            </p:txEl>
                                          </p:spTgt>
                                        </p:tgtEl>
                                        <p:attrNameLst>
                                          <p:attrName>style.visibility</p:attrName>
                                        </p:attrNameLst>
                                      </p:cBhvr>
                                      <p:to>
                                        <p:strVal val="visible"/>
                                      </p:to>
                                    </p:set>
                                    <p:animEffect transition="in" filter="fade">
                                      <p:cBhvr>
                                        <p:cTn id="70" dur="500"/>
                                        <p:tgtEl>
                                          <p:spTgt spid="7">
                                            <p:txEl>
                                              <p:pRg st="1" end="1"/>
                                            </p:txEl>
                                          </p:spTgt>
                                        </p:tgtEl>
                                      </p:cBhvr>
                                    </p:animEffect>
                                  </p:childTnLst>
                                </p:cTn>
                              </p:par>
                              <p:par>
                                <p:cTn id="71" presetID="10" presetClass="entr" presetSubtype="0" fill="hold" nodeType="withEffect">
                                  <p:stCondLst>
                                    <p:cond delay="0"/>
                                  </p:stCondLst>
                                  <p:childTnLst>
                                    <p:set>
                                      <p:cBhvr>
                                        <p:cTn id="72" dur="1" fill="hold">
                                          <p:stCondLst>
                                            <p:cond delay="0"/>
                                          </p:stCondLst>
                                        </p:cTn>
                                        <p:tgtEl>
                                          <p:spTgt spid="7">
                                            <p:txEl>
                                              <p:pRg st="2" end="2"/>
                                            </p:txEl>
                                          </p:spTgt>
                                        </p:tgtEl>
                                        <p:attrNameLst>
                                          <p:attrName>style.visibility</p:attrName>
                                        </p:attrNameLst>
                                      </p:cBhvr>
                                      <p:to>
                                        <p:strVal val="visible"/>
                                      </p:to>
                                    </p:set>
                                    <p:animEffect transition="in" filter="fade">
                                      <p:cBhvr>
                                        <p:cTn id="73" dur="500"/>
                                        <p:tgtEl>
                                          <p:spTgt spid="7">
                                            <p:txEl>
                                              <p:pRg st="2" end="2"/>
                                            </p:txEl>
                                          </p:spTgt>
                                        </p:tgtEl>
                                      </p:cBhvr>
                                    </p:animEffect>
                                  </p:childTnLst>
                                </p:cTn>
                              </p:par>
                              <p:par>
                                <p:cTn id="74" presetID="10" presetClass="entr" presetSubtype="0" fill="hold" nodeType="withEffect">
                                  <p:stCondLst>
                                    <p:cond delay="0"/>
                                  </p:stCondLst>
                                  <p:childTnLst>
                                    <p:set>
                                      <p:cBhvr>
                                        <p:cTn id="75" dur="1" fill="hold">
                                          <p:stCondLst>
                                            <p:cond delay="0"/>
                                          </p:stCondLst>
                                        </p:cTn>
                                        <p:tgtEl>
                                          <p:spTgt spid="7">
                                            <p:txEl>
                                              <p:pRg st="3" end="3"/>
                                            </p:txEl>
                                          </p:spTgt>
                                        </p:tgtEl>
                                        <p:attrNameLst>
                                          <p:attrName>style.visibility</p:attrName>
                                        </p:attrNameLst>
                                      </p:cBhvr>
                                      <p:to>
                                        <p:strVal val="visible"/>
                                      </p:to>
                                    </p:set>
                                    <p:animEffect transition="in" filter="fade">
                                      <p:cBhvr>
                                        <p:cTn id="76" dur="500"/>
                                        <p:tgtEl>
                                          <p:spTgt spid="7">
                                            <p:txEl>
                                              <p:pRg st="3" end="3"/>
                                            </p:txEl>
                                          </p:spTgt>
                                        </p:tgtEl>
                                      </p:cBhvr>
                                    </p:animEffect>
                                  </p:childTnLst>
                                </p:cTn>
                              </p:par>
                              <p:par>
                                <p:cTn id="77" presetID="10" presetClass="entr" presetSubtype="0" fill="hold" nodeType="withEffect">
                                  <p:stCondLst>
                                    <p:cond delay="0"/>
                                  </p:stCondLst>
                                  <p:childTnLst>
                                    <p:set>
                                      <p:cBhvr>
                                        <p:cTn id="78" dur="1" fill="hold">
                                          <p:stCondLst>
                                            <p:cond delay="0"/>
                                          </p:stCondLst>
                                        </p:cTn>
                                        <p:tgtEl>
                                          <p:spTgt spid="7">
                                            <p:txEl>
                                              <p:pRg st="5" end="5"/>
                                            </p:txEl>
                                          </p:spTgt>
                                        </p:tgtEl>
                                        <p:attrNameLst>
                                          <p:attrName>style.visibility</p:attrName>
                                        </p:attrNameLst>
                                      </p:cBhvr>
                                      <p:to>
                                        <p:strVal val="visible"/>
                                      </p:to>
                                    </p:set>
                                    <p:animEffect transition="in" filter="fade">
                                      <p:cBhvr>
                                        <p:cTn id="79" dur="500"/>
                                        <p:tgtEl>
                                          <p:spTgt spid="7">
                                            <p:txEl>
                                              <p:pRg st="5" end="5"/>
                                            </p:txEl>
                                          </p:spTgt>
                                        </p:tgtEl>
                                      </p:cBhvr>
                                    </p:animEffect>
                                  </p:childTnLst>
                                </p:cTn>
                              </p:par>
                              <p:par>
                                <p:cTn id="80" presetID="10" presetClass="entr" presetSubtype="0" fill="hold" nodeType="withEffect">
                                  <p:stCondLst>
                                    <p:cond delay="0"/>
                                  </p:stCondLst>
                                  <p:childTnLst>
                                    <p:set>
                                      <p:cBhvr>
                                        <p:cTn id="81" dur="1" fill="hold">
                                          <p:stCondLst>
                                            <p:cond delay="0"/>
                                          </p:stCondLst>
                                        </p:cTn>
                                        <p:tgtEl>
                                          <p:spTgt spid="7">
                                            <p:txEl>
                                              <p:pRg st="6" end="6"/>
                                            </p:txEl>
                                          </p:spTgt>
                                        </p:tgtEl>
                                        <p:attrNameLst>
                                          <p:attrName>style.visibility</p:attrName>
                                        </p:attrNameLst>
                                      </p:cBhvr>
                                      <p:to>
                                        <p:strVal val="visible"/>
                                      </p:to>
                                    </p:set>
                                    <p:animEffect transition="in" filter="fade">
                                      <p:cBhvr>
                                        <p:cTn id="82" dur="500"/>
                                        <p:tgtEl>
                                          <p:spTgt spid="7">
                                            <p:txEl>
                                              <p:pRg st="6" end="6"/>
                                            </p:txEl>
                                          </p:spTgt>
                                        </p:tgtEl>
                                      </p:cBhvr>
                                    </p:animEffect>
                                  </p:childTnLst>
                                </p:cTn>
                              </p:par>
                              <p:par>
                                <p:cTn id="83" presetID="10" presetClass="entr" presetSubtype="0" fill="hold" nodeType="withEffect">
                                  <p:stCondLst>
                                    <p:cond delay="0"/>
                                  </p:stCondLst>
                                  <p:childTnLst>
                                    <p:set>
                                      <p:cBhvr>
                                        <p:cTn id="84" dur="1" fill="hold">
                                          <p:stCondLst>
                                            <p:cond delay="0"/>
                                          </p:stCondLst>
                                        </p:cTn>
                                        <p:tgtEl>
                                          <p:spTgt spid="7">
                                            <p:txEl>
                                              <p:pRg st="7" end="7"/>
                                            </p:txEl>
                                          </p:spTgt>
                                        </p:tgtEl>
                                        <p:attrNameLst>
                                          <p:attrName>style.visibility</p:attrName>
                                        </p:attrNameLst>
                                      </p:cBhvr>
                                      <p:to>
                                        <p:strVal val="visible"/>
                                      </p:to>
                                    </p:set>
                                    <p:animEffect transition="in" filter="fade">
                                      <p:cBhvr>
                                        <p:cTn id="85" dur="500"/>
                                        <p:tgtEl>
                                          <p:spTgt spid="7">
                                            <p:txEl>
                                              <p:pRg st="7" end="7"/>
                                            </p:txEl>
                                          </p:spTgt>
                                        </p:tgtEl>
                                      </p:cBhvr>
                                    </p:animEffect>
                                  </p:childTnLst>
                                </p:cTn>
                              </p:par>
                              <p:par>
                                <p:cTn id="86" presetID="10" presetClass="entr" presetSubtype="0" fill="hold" nodeType="withEffect">
                                  <p:stCondLst>
                                    <p:cond delay="0"/>
                                  </p:stCondLst>
                                  <p:childTnLst>
                                    <p:set>
                                      <p:cBhvr>
                                        <p:cTn id="87" dur="1" fill="hold">
                                          <p:stCondLst>
                                            <p:cond delay="0"/>
                                          </p:stCondLst>
                                        </p:cTn>
                                        <p:tgtEl>
                                          <p:spTgt spid="7">
                                            <p:txEl>
                                              <p:pRg st="9" end="9"/>
                                            </p:txEl>
                                          </p:spTgt>
                                        </p:tgtEl>
                                        <p:attrNameLst>
                                          <p:attrName>style.visibility</p:attrName>
                                        </p:attrNameLst>
                                      </p:cBhvr>
                                      <p:to>
                                        <p:strVal val="visible"/>
                                      </p:to>
                                    </p:set>
                                    <p:animEffect transition="in" filter="fade">
                                      <p:cBhvr>
                                        <p:cTn id="88" dur="500"/>
                                        <p:tgtEl>
                                          <p:spTgt spid="7">
                                            <p:txEl>
                                              <p:pRg st="9" end="9"/>
                                            </p:txEl>
                                          </p:spTgt>
                                        </p:tgtEl>
                                      </p:cBhvr>
                                    </p:animEffect>
                                  </p:childTnLst>
                                </p:cTn>
                              </p:par>
                              <p:par>
                                <p:cTn id="89" presetID="10" presetClass="entr" presetSubtype="0" fill="hold" nodeType="withEffect">
                                  <p:stCondLst>
                                    <p:cond delay="0"/>
                                  </p:stCondLst>
                                  <p:childTnLst>
                                    <p:set>
                                      <p:cBhvr>
                                        <p:cTn id="90" dur="1" fill="hold">
                                          <p:stCondLst>
                                            <p:cond delay="0"/>
                                          </p:stCondLst>
                                        </p:cTn>
                                        <p:tgtEl>
                                          <p:spTgt spid="7">
                                            <p:txEl>
                                              <p:pRg st="10" end="10"/>
                                            </p:txEl>
                                          </p:spTgt>
                                        </p:tgtEl>
                                        <p:attrNameLst>
                                          <p:attrName>style.visibility</p:attrName>
                                        </p:attrNameLst>
                                      </p:cBhvr>
                                      <p:to>
                                        <p:strVal val="visible"/>
                                      </p:to>
                                    </p:set>
                                    <p:animEffect transition="in" filter="fade">
                                      <p:cBhvr>
                                        <p:cTn id="91" dur="500"/>
                                        <p:tgtEl>
                                          <p:spTgt spid="7">
                                            <p:txEl>
                                              <p:pRg st="10" end="10"/>
                                            </p:txEl>
                                          </p:spTgt>
                                        </p:tgtEl>
                                      </p:cBhvr>
                                    </p:animEffect>
                                  </p:childTnLst>
                                </p:cTn>
                              </p:par>
                              <p:par>
                                <p:cTn id="92" presetID="10" presetClass="entr" presetSubtype="0" fill="hold" nodeType="withEffect">
                                  <p:stCondLst>
                                    <p:cond delay="0"/>
                                  </p:stCondLst>
                                  <p:childTnLst>
                                    <p:set>
                                      <p:cBhvr>
                                        <p:cTn id="93" dur="1" fill="hold">
                                          <p:stCondLst>
                                            <p:cond delay="0"/>
                                          </p:stCondLst>
                                        </p:cTn>
                                        <p:tgtEl>
                                          <p:spTgt spid="7">
                                            <p:txEl>
                                              <p:pRg st="11" end="11"/>
                                            </p:txEl>
                                          </p:spTgt>
                                        </p:tgtEl>
                                        <p:attrNameLst>
                                          <p:attrName>style.visibility</p:attrName>
                                        </p:attrNameLst>
                                      </p:cBhvr>
                                      <p:to>
                                        <p:strVal val="visible"/>
                                      </p:to>
                                    </p:set>
                                    <p:animEffect transition="in" filter="fade">
                                      <p:cBhvr>
                                        <p:cTn id="94" dur="500"/>
                                        <p:tgtEl>
                                          <p:spTgt spid="7">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A9884-D518-D3D8-93DC-7E060416D057}"/>
              </a:ext>
            </a:extLst>
          </p:cNvPr>
          <p:cNvSpPr>
            <a:spLocks noGrp="1"/>
          </p:cNvSpPr>
          <p:nvPr>
            <p:ph type="title"/>
          </p:nvPr>
        </p:nvSpPr>
        <p:spPr/>
        <p:txBody>
          <a:bodyPr/>
          <a:lstStyle/>
          <a:p>
            <a:r>
              <a:rPr lang="ru-RU" dirty="0"/>
              <a:t>Рендеринг отчёта</a:t>
            </a:r>
            <a:endParaRPr lang="en-US" dirty="0"/>
          </a:p>
        </p:txBody>
      </p:sp>
      <p:sp>
        <p:nvSpPr>
          <p:cNvPr id="3" name="Slide Number Placeholder 2">
            <a:extLst>
              <a:ext uri="{FF2B5EF4-FFF2-40B4-BE49-F238E27FC236}">
                <a16:creationId xmlns:a16="http://schemas.microsoft.com/office/drawing/2014/main" id="{CBB058DA-6E6F-8776-E5ED-151B078568BB}"/>
              </a:ext>
            </a:extLst>
          </p:cNvPr>
          <p:cNvSpPr>
            <a:spLocks noGrp="1"/>
          </p:cNvSpPr>
          <p:nvPr>
            <p:ph type="sldNum" sz="quarter" idx="12"/>
          </p:nvPr>
        </p:nvSpPr>
        <p:spPr/>
        <p:txBody>
          <a:bodyPr/>
          <a:lstStyle/>
          <a:p>
            <a:fld id="{CF8E6F4D-2E97-47CB-8591-066566E4FE4D}" type="slidenum">
              <a:rPr lang="ru-RU" smtClean="0"/>
              <a:t>15</a:t>
            </a:fld>
            <a:endParaRPr lang="ru-RU"/>
          </a:p>
        </p:txBody>
      </p:sp>
      <p:sp>
        <p:nvSpPr>
          <p:cNvPr id="5" name="TextBox 4">
            <a:extLst>
              <a:ext uri="{FF2B5EF4-FFF2-40B4-BE49-F238E27FC236}">
                <a16:creationId xmlns:a16="http://schemas.microsoft.com/office/drawing/2014/main" id="{C6500DB0-B3FE-C501-57DE-9A76D7474296}"/>
              </a:ext>
            </a:extLst>
          </p:cNvPr>
          <p:cNvSpPr txBox="1"/>
          <p:nvPr/>
        </p:nvSpPr>
        <p:spPr>
          <a:xfrm>
            <a:off x="838200" y="1859339"/>
            <a:ext cx="10515599" cy="3139321"/>
          </a:xfrm>
          <a:prstGeom prst="rect">
            <a:avLst/>
          </a:prstGeom>
          <a:noFill/>
        </p:spPr>
        <p:txBody>
          <a:bodyPr wrap="square">
            <a:spAutoFit/>
          </a:bodyPr>
          <a:lstStyle/>
          <a:p>
            <a:pPr>
              <a:buNone/>
            </a:pPr>
            <a:r>
              <a:rPr lang="en-US" b="0" dirty="0">
                <a:solidFill>
                  <a:srgbClr val="0000FF"/>
                </a:solidFill>
                <a:effectLst/>
                <a:latin typeface="Consolas" panose="020B0609020204030204" pitchFamily="49" charset="0"/>
              </a:rPr>
              <a:t>struct</a:t>
            </a:r>
            <a:r>
              <a:rPr lang="en-US" b="0" dirty="0">
                <a:solidFill>
                  <a:srgbClr val="000000"/>
                </a:solidFill>
                <a:effectLst/>
                <a:latin typeface="Consolas" panose="020B0609020204030204" pitchFamily="49" charset="0"/>
              </a:rPr>
              <a:t> </a:t>
            </a:r>
            <a:r>
              <a:rPr lang="en-US" b="0" dirty="0" err="1">
                <a:solidFill>
                  <a:srgbClr val="2B91AF"/>
                </a:solidFill>
                <a:effectLst/>
                <a:latin typeface="Consolas" panose="020B0609020204030204" pitchFamily="49" charset="0"/>
              </a:rPr>
              <a:t>ReportData</a:t>
            </a:r>
            <a:r>
              <a:rPr lang="en-US" b="0" dirty="0">
                <a:solidFill>
                  <a:srgbClr val="000000"/>
                </a:solidFill>
                <a:effectLst/>
                <a:latin typeface="Consolas" panose="020B0609020204030204" pitchFamily="49" charset="0"/>
              </a:rPr>
              <a:t> {</a:t>
            </a:r>
          </a:p>
          <a:p>
            <a:pPr>
              <a:buNone/>
            </a:pPr>
            <a:r>
              <a:rPr lang="en-US" b="0" dirty="0">
                <a:solidFill>
                  <a:srgbClr val="000000"/>
                </a:solidFill>
                <a:effectLst/>
                <a:latin typeface="Consolas" panose="020B0609020204030204" pitchFamily="49" charset="0"/>
              </a:rPr>
              <a:t>    std::vector&lt;</a:t>
            </a:r>
            <a:r>
              <a:rPr lang="en-US" b="0" dirty="0">
                <a:solidFill>
                  <a:srgbClr val="0000FF"/>
                </a:solidFill>
                <a:effectLst/>
                <a:latin typeface="Consolas" panose="020B0609020204030204" pitchFamily="49" charset="0"/>
              </a:rPr>
              <a:t>double</a:t>
            </a:r>
            <a:r>
              <a:rPr lang="en-US" b="0" dirty="0">
                <a:solidFill>
                  <a:srgbClr val="000000"/>
                </a:solidFill>
                <a:effectLst/>
                <a:latin typeface="Consolas" panose="020B0609020204030204" pitchFamily="49" charset="0"/>
              </a:rPr>
              <a:t>&gt; values;</a:t>
            </a:r>
          </a:p>
          <a:p>
            <a:pPr>
              <a:buNone/>
            </a:pPr>
            <a:r>
              <a:rPr lang="en-US" b="0" dirty="0">
                <a:solidFill>
                  <a:srgbClr val="000000"/>
                </a:solidFill>
                <a:effectLst/>
                <a:latin typeface="Consolas" panose="020B0609020204030204" pitchFamily="49" charset="0"/>
              </a:rPr>
              <a:t>};</a:t>
            </a:r>
            <a:endParaRPr lang="ru-RU" b="0" dirty="0">
              <a:solidFill>
                <a:srgbClr val="000000"/>
              </a:solidFill>
              <a:effectLst/>
              <a:latin typeface="Consolas" panose="020B0609020204030204" pitchFamily="49" charset="0"/>
            </a:endParaRPr>
          </a:p>
          <a:p>
            <a:pPr>
              <a:buNone/>
            </a:pPr>
            <a:endParaRPr lang="en-US" b="0" dirty="0">
              <a:solidFill>
                <a:srgbClr val="000000"/>
              </a:solidFill>
              <a:effectLst/>
              <a:latin typeface="Consolas" panose="020B0609020204030204" pitchFamily="49" charset="0"/>
            </a:endParaRPr>
          </a:p>
          <a:p>
            <a:pPr>
              <a:buNone/>
            </a:pPr>
            <a:r>
              <a:rPr lang="en-US" b="0" dirty="0">
                <a:solidFill>
                  <a:srgbClr val="0000FF"/>
                </a:solidFill>
                <a:effectLst/>
                <a:latin typeface="Consolas" panose="020B0609020204030204" pitchFamily="49" charset="0"/>
              </a:rPr>
              <a:t>class</a:t>
            </a:r>
            <a:r>
              <a:rPr lang="en-US" b="0" dirty="0">
                <a:solidFill>
                  <a:srgbClr val="000000"/>
                </a:solidFill>
                <a:effectLst/>
                <a:latin typeface="Consolas" panose="020B0609020204030204" pitchFamily="49" charset="0"/>
              </a:rPr>
              <a:t> </a:t>
            </a:r>
            <a:r>
              <a:rPr lang="en-US" b="0" dirty="0" err="1">
                <a:solidFill>
                  <a:srgbClr val="2B91AF"/>
                </a:solidFill>
                <a:effectLst/>
                <a:latin typeface="Consolas" panose="020B0609020204030204" pitchFamily="49" charset="0"/>
              </a:rPr>
              <a:t>ReportRenderer</a:t>
            </a:r>
            <a:r>
              <a:rPr lang="en-US" b="0" dirty="0">
                <a:solidFill>
                  <a:srgbClr val="000000"/>
                </a:solidFill>
                <a:effectLst/>
                <a:latin typeface="Consolas" panose="020B0609020204030204" pitchFamily="49" charset="0"/>
              </a:rPr>
              <a:t> {</a:t>
            </a:r>
          </a:p>
          <a:p>
            <a:pPr>
              <a:buNone/>
            </a:pPr>
            <a:r>
              <a:rPr lang="en-US" b="0" dirty="0">
                <a:solidFill>
                  <a:srgbClr val="0000FF"/>
                </a:solidFill>
                <a:effectLst/>
                <a:latin typeface="Consolas" panose="020B0609020204030204" pitchFamily="49" charset="0"/>
              </a:rPr>
              <a:t>public:</a:t>
            </a:r>
            <a:endParaRPr lang="en-US" b="0" dirty="0">
              <a:solidFill>
                <a:srgbClr val="000000"/>
              </a:solidFill>
              <a:effectLst/>
              <a:latin typeface="Consolas" panose="020B0609020204030204" pitchFamily="49" charset="0"/>
            </a:endParaRP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void</a:t>
            </a:r>
            <a:r>
              <a:rPr lang="en-US" b="0" dirty="0">
                <a:solidFill>
                  <a:srgbClr val="000000"/>
                </a:solidFill>
                <a:effectLst/>
                <a:latin typeface="Consolas" panose="020B0609020204030204" pitchFamily="49" charset="0"/>
              </a:rPr>
              <a:t> </a:t>
            </a:r>
            <a:r>
              <a:rPr lang="en-US" b="0" dirty="0">
                <a:solidFill>
                  <a:srgbClr val="74531F"/>
                </a:solidFill>
                <a:effectLst/>
                <a:latin typeface="Consolas" panose="020B0609020204030204" pitchFamily="49" charset="0"/>
              </a:rPr>
              <a:t>Render</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2B91AF"/>
                </a:solidFill>
                <a:effectLst/>
                <a:latin typeface="Consolas" panose="020B0609020204030204" pitchFamily="49" charset="0"/>
              </a:rPr>
              <a:t>ReportData</a:t>
            </a:r>
            <a:r>
              <a:rPr lang="en-US" b="0" dirty="0">
                <a:solidFill>
                  <a:srgbClr val="000000"/>
                </a:solidFill>
                <a:effectLst/>
                <a:latin typeface="Consolas" panose="020B0609020204030204" pitchFamily="49" charset="0"/>
              </a:rPr>
              <a:t>&amp; </a:t>
            </a:r>
            <a:r>
              <a:rPr lang="en-US" b="0" dirty="0">
                <a:solidFill>
                  <a:srgbClr val="808080"/>
                </a:solidFill>
                <a:effectLst/>
                <a:latin typeface="Consolas" panose="020B0609020204030204" pitchFamily="49" charset="0"/>
              </a:rPr>
              <a:t>data</a:t>
            </a:r>
            <a:r>
              <a:rPr lang="en-US" b="0" dirty="0">
                <a:solidFill>
                  <a:srgbClr val="000000"/>
                </a:solidFill>
                <a:effectLst/>
                <a:latin typeface="Consolas" panose="020B0609020204030204" pitchFamily="49" charset="0"/>
              </a:rPr>
              <a:t>) {</a:t>
            </a:r>
          </a:p>
          <a:p>
            <a:pPr>
              <a:buNone/>
            </a:pPr>
            <a:r>
              <a:rPr lang="en-US" b="0" dirty="0">
                <a:solidFill>
                  <a:srgbClr val="000000"/>
                </a:solidFill>
                <a:effectLst/>
                <a:latin typeface="Consolas" panose="020B0609020204030204" pitchFamily="49" charset="0"/>
              </a:rPr>
              <a:t>        </a:t>
            </a:r>
            <a:r>
              <a:rPr lang="en-US" b="0" dirty="0">
                <a:solidFill>
                  <a:srgbClr val="8F08C4"/>
                </a:solidFill>
                <a:effectLst/>
                <a:latin typeface="Consolas" panose="020B0609020204030204" pitchFamily="49" charset="0"/>
              </a:rPr>
              <a:t>for</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double</a:t>
            </a:r>
            <a:r>
              <a:rPr lang="en-US" b="0" dirty="0">
                <a:solidFill>
                  <a:srgbClr val="000000"/>
                </a:solidFill>
                <a:effectLst/>
                <a:latin typeface="Consolas" panose="020B0609020204030204" pitchFamily="49" charset="0"/>
              </a:rPr>
              <a:t> </a:t>
            </a:r>
            <a:r>
              <a:rPr lang="en-US" b="0" dirty="0">
                <a:solidFill>
                  <a:srgbClr val="1F377F"/>
                </a:solidFill>
                <a:effectLst/>
                <a:latin typeface="Consolas" panose="020B0609020204030204" pitchFamily="49" charset="0"/>
              </a:rPr>
              <a:t>v</a:t>
            </a:r>
            <a:r>
              <a:rPr lang="en-US" b="0" dirty="0">
                <a:solidFill>
                  <a:srgbClr val="000000"/>
                </a:solidFill>
                <a:effectLst/>
                <a:latin typeface="Consolas" panose="020B0609020204030204" pitchFamily="49" charset="0"/>
              </a:rPr>
              <a:t> : </a:t>
            </a:r>
            <a:r>
              <a:rPr lang="en-US" b="0" dirty="0" err="1">
                <a:solidFill>
                  <a:srgbClr val="808080"/>
                </a:solidFill>
                <a:effectLst/>
                <a:latin typeface="Consolas" panose="020B0609020204030204" pitchFamily="49" charset="0"/>
              </a:rPr>
              <a:t>data</a:t>
            </a:r>
            <a:r>
              <a:rPr lang="en-US" b="0" dirty="0" err="1">
                <a:solidFill>
                  <a:srgbClr val="000000"/>
                </a:solidFill>
                <a:effectLst/>
                <a:latin typeface="Consolas" panose="020B0609020204030204" pitchFamily="49" charset="0"/>
              </a:rPr>
              <a:t>.values</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std::</a:t>
            </a:r>
            <a:r>
              <a:rPr lang="en-US" b="0" dirty="0" err="1">
                <a:solidFill>
                  <a:srgbClr val="000000"/>
                </a:solidFill>
                <a:effectLst/>
                <a:latin typeface="Consolas" panose="020B0609020204030204" pitchFamily="49" charset="0"/>
              </a:rPr>
              <a:t>cout</a:t>
            </a:r>
            <a:r>
              <a:rPr lang="en-US" b="0" dirty="0">
                <a:solidFill>
                  <a:srgbClr val="000000"/>
                </a:solidFill>
                <a:effectLst/>
                <a:latin typeface="Consolas" panose="020B0609020204030204" pitchFamily="49" charset="0"/>
              </a:rPr>
              <a:t> &lt;&lt; </a:t>
            </a:r>
            <a:r>
              <a:rPr lang="en-US" b="0" dirty="0">
                <a:solidFill>
                  <a:srgbClr val="1F377F"/>
                </a:solidFill>
                <a:effectLst/>
                <a:latin typeface="Consolas" panose="020B0609020204030204" pitchFamily="49" charset="0"/>
              </a:rPr>
              <a:t>v</a:t>
            </a:r>
            <a:r>
              <a:rPr lang="en-US" b="0" dirty="0">
                <a:solidFill>
                  <a:srgbClr val="000000"/>
                </a:solidFill>
                <a:effectLst/>
                <a:latin typeface="Consolas" panose="020B0609020204030204" pitchFamily="49" charset="0"/>
              </a:rPr>
              <a:t> &lt;&lt; std::</a:t>
            </a:r>
            <a:r>
              <a:rPr lang="en-US" b="0" dirty="0" err="1">
                <a:solidFill>
                  <a:srgbClr val="000000"/>
                </a:solidFill>
                <a:effectLst/>
                <a:latin typeface="Consolas" panose="020B0609020204030204" pitchFamily="49" charset="0"/>
              </a:rPr>
              <a:t>endl</a:t>
            </a:r>
            <a:r>
              <a:rPr lang="en-US" b="0" dirty="0">
                <a:solidFill>
                  <a:srgbClr val="000000"/>
                </a:solidFill>
                <a:effectLst/>
                <a:latin typeface="Consolas" panose="020B0609020204030204" pitchFamily="49" charset="0"/>
              </a:rPr>
              <a:t>;</a:t>
            </a:r>
            <a:r>
              <a:rPr lang="en-US" b="0" dirty="0">
                <a:solidFill>
                  <a:srgbClr val="008000"/>
                </a:solidFill>
                <a:effectLst/>
                <a:latin typeface="Consolas" panose="020B0609020204030204" pitchFamily="49" charset="0"/>
              </a:rPr>
              <a:t> // </a:t>
            </a:r>
            <a:r>
              <a:rPr lang="ru-RU" b="0" dirty="0">
                <a:solidFill>
                  <a:srgbClr val="008000"/>
                </a:solidFill>
                <a:effectLst/>
                <a:latin typeface="Consolas" panose="020B0609020204030204" pitchFamily="49" charset="0"/>
              </a:rPr>
              <a:t>текстовый вывод</a:t>
            </a:r>
            <a:endParaRPr lang="ru-RU" b="0" dirty="0">
              <a:solidFill>
                <a:srgbClr val="000000"/>
              </a:solidFill>
              <a:effectLst/>
              <a:latin typeface="Consolas" panose="020B0609020204030204" pitchFamily="49" charset="0"/>
            </a:endParaRPr>
          </a:p>
          <a:p>
            <a:pPr>
              <a:buNone/>
            </a:pPr>
            <a:r>
              <a:rPr lang="ru-RU" b="0" dirty="0">
                <a:solidFill>
                  <a:srgbClr val="000000"/>
                </a:solidFill>
                <a:effectLst/>
                <a:latin typeface="Consolas" panose="020B0609020204030204" pitchFamily="49" charset="0"/>
              </a:rPr>
              <a:t>    }</a:t>
            </a:r>
          </a:p>
          <a:p>
            <a:pPr>
              <a:buNone/>
            </a:pPr>
            <a:r>
              <a:rPr lang="ru-RU"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5672029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8C9BC-11D6-9DCA-015E-64AA99F45D7B}"/>
              </a:ext>
            </a:extLst>
          </p:cNvPr>
          <p:cNvSpPr>
            <a:spLocks noGrp="1"/>
          </p:cNvSpPr>
          <p:nvPr>
            <p:ph type="title"/>
          </p:nvPr>
        </p:nvSpPr>
        <p:spPr/>
        <p:txBody>
          <a:bodyPr/>
          <a:lstStyle/>
          <a:p>
            <a:r>
              <a:rPr lang="ru-RU" dirty="0"/>
              <a:t>Настраиваемый рендерер отчёта</a:t>
            </a:r>
            <a:endParaRPr lang="en-US" dirty="0"/>
          </a:p>
        </p:txBody>
      </p:sp>
      <p:sp>
        <p:nvSpPr>
          <p:cNvPr id="3" name="Slide Number Placeholder 2">
            <a:extLst>
              <a:ext uri="{FF2B5EF4-FFF2-40B4-BE49-F238E27FC236}">
                <a16:creationId xmlns:a16="http://schemas.microsoft.com/office/drawing/2014/main" id="{65A11204-8BC3-9211-1FCE-E703A1DEDB36}"/>
              </a:ext>
            </a:extLst>
          </p:cNvPr>
          <p:cNvSpPr>
            <a:spLocks noGrp="1"/>
          </p:cNvSpPr>
          <p:nvPr>
            <p:ph type="sldNum" sz="quarter" idx="12"/>
          </p:nvPr>
        </p:nvSpPr>
        <p:spPr/>
        <p:txBody>
          <a:bodyPr/>
          <a:lstStyle/>
          <a:p>
            <a:fld id="{CF8E6F4D-2E97-47CB-8591-066566E4FE4D}" type="slidenum">
              <a:rPr lang="ru-RU" smtClean="0"/>
              <a:t>16</a:t>
            </a:fld>
            <a:endParaRPr lang="ru-RU"/>
          </a:p>
        </p:txBody>
      </p:sp>
      <p:sp>
        <p:nvSpPr>
          <p:cNvPr id="5" name="TextBox 4">
            <a:extLst>
              <a:ext uri="{FF2B5EF4-FFF2-40B4-BE49-F238E27FC236}">
                <a16:creationId xmlns:a16="http://schemas.microsoft.com/office/drawing/2014/main" id="{30D2710F-1F27-7FAB-0D53-33117F9CAAE3}"/>
              </a:ext>
            </a:extLst>
          </p:cNvPr>
          <p:cNvSpPr txBox="1"/>
          <p:nvPr/>
        </p:nvSpPr>
        <p:spPr>
          <a:xfrm>
            <a:off x="0" y="1891691"/>
            <a:ext cx="6381345" cy="4770537"/>
          </a:xfrm>
          <a:prstGeom prst="rect">
            <a:avLst/>
          </a:prstGeom>
          <a:noFill/>
        </p:spPr>
        <p:txBody>
          <a:bodyPr wrap="square">
            <a:spAutoFit/>
          </a:bodyPr>
          <a:lstStyle/>
          <a:p>
            <a:pPr>
              <a:buNone/>
            </a:pPr>
            <a:r>
              <a:rPr lang="en-US" sz="1600" b="0" dirty="0">
                <a:solidFill>
                  <a:srgbClr val="0000FF"/>
                </a:solidFill>
                <a:effectLst/>
                <a:latin typeface="Consolas" panose="020B0609020204030204" pitchFamily="49" charset="0"/>
              </a:rPr>
              <a:t>class</a:t>
            </a:r>
            <a:r>
              <a:rPr lang="en-US" sz="1600" b="0" dirty="0">
                <a:solidFill>
                  <a:srgbClr val="000000"/>
                </a:solidFill>
                <a:effectLst/>
                <a:latin typeface="Consolas" panose="020B0609020204030204" pitchFamily="49" charset="0"/>
              </a:rPr>
              <a:t> </a:t>
            </a:r>
            <a:r>
              <a:rPr lang="en-US" sz="1600" b="0" dirty="0" err="1">
                <a:solidFill>
                  <a:srgbClr val="2B91AF"/>
                </a:solidFill>
                <a:effectLst/>
                <a:latin typeface="Consolas" panose="020B0609020204030204" pitchFamily="49" charset="0"/>
              </a:rPr>
              <a:t>IReportFormatter</a:t>
            </a:r>
            <a:r>
              <a:rPr lang="en-US" sz="1600" b="0" dirty="0">
                <a:solidFill>
                  <a:srgbClr val="000000"/>
                </a:solidFill>
                <a:effectLst/>
                <a:latin typeface="Consolas" panose="020B0609020204030204" pitchFamily="49" charset="0"/>
              </a:rPr>
              <a:t> {</a:t>
            </a:r>
          </a:p>
          <a:p>
            <a:pPr>
              <a:buNone/>
            </a:pPr>
            <a:r>
              <a:rPr lang="en-US" sz="1600" b="0" dirty="0">
                <a:solidFill>
                  <a:srgbClr val="0000FF"/>
                </a:solidFill>
                <a:effectLst/>
                <a:latin typeface="Consolas" panose="020B0609020204030204" pitchFamily="49" charset="0"/>
              </a:rPr>
              <a:t>public:</a:t>
            </a:r>
            <a:endParaRPr lang="en-US" sz="1600" b="0" dirty="0">
              <a:solidFill>
                <a:srgbClr val="000000"/>
              </a:solidFill>
              <a:effectLst/>
              <a:latin typeface="Consolas" panose="020B0609020204030204" pitchFamily="49" charset="0"/>
            </a:endParaRPr>
          </a:p>
          <a:p>
            <a:pPr>
              <a:buNone/>
            </a:pP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virtual</a:t>
            </a:r>
            <a:r>
              <a:rPr lang="en-US" sz="1600" b="0" dirty="0">
                <a:solidFill>
                  <a:srgbClr val="000000"/>
                </a:solidFill>
                <a:effectLst/>
                <a:latin typeface="Consolas" panose="020B0609020204030204" pitchFamily="49" charset="0"/>
              </a:rPr>
              <a:t> </a:t>
            </a:r>
            <a:r>
              <a:rPr lang="en-US" sz="1600" b="0" dirty="0">
                <a:solidFill>
                  <a:srgbClr val="74531F"/>
                </a:solidFill>
                <a:effectLst/>
                <a:latin typeface="Consolas" panose="020B0609020204030204" pitchFamily="49" charset="0"/>
              </a:rPr>
              <a:t>~</a:t>
            </a:r>
            <a:r>
              <a:rPr lang="en-US" sz="1600" b="0" dirty="0" err="1">
                <a:solidFill>
                  <a:srgbClr val="74531F"/>
                </a:solidFill>
                <a:effectLst/>
                <a:latin typeface="Consolas" panose="020B0609020204030204" pitchFamily="49" charset="0"/>
              </a:rPr>
              <a:t>IReportFormatter</a:t>
            </a:r>
            <a:r>
              <a:rPr lang="en-US" sz="1600" b="0" dirty="0">
                <a:solidFill>
                  <a:srgbClr val="000000"/>
                </a:solidFill>
                <a:effectLst/>
                <a:latin typeface="Consolas" panose="020B0609020204030204" pitchFamily="49" charset="0"/>
              </a:rPr>
              <a:t>() = </a:t>
            </a:r>
            <a:r>
              <a:rPr lang="en-US" sz="1600" b="0" dirty="0">
                <a:solidFill>
                  <a:srgbClr val="0000FF"/>
                </a:solidFill>
                <a:effectLst/>
                <a:latin typeface="Consolas" panose="020B0609020204030204" pitchFamily="49" charset="0"/>
              </a:rPr>
              <a:t>default</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virtual</a:t>
            </a:r>
            <a:r>
              <a:rPr lang="en-US" sz="1600" b="0" dirty="0">
                <a:solidFill>
                  <a:srgbClr val="000000"/>
                </a:solidFill>
                <a:effectLst/>
                <a:latin typeface="Consolas" panose="020B0609020204030204" pitchFamily="49" charset="0"/>
              </a:rPr>
              <a:t> std::</a:t>
            </a:r>
            <a:r>
              <a:rPr lang="en-US" sz="1600" b="0" dirty="0">
                <a:solidFill>
                  <a:srgbClr val="2B91AF"/>
                </a:solidFill>
                <a:effectLst/>
                <a:latin typeface="Consolas" panose="020B0609020204030204" pitchFamily="49" charset="0"/>
              </a:rPr>
              <a:t>string</a:t>
            </a:r>
            <a:r>
              <a:rPr lang="en-US" sz="1600" b="0" dirty="0">
                <a:solidFill>
                  <a:srgbClr val="000000"/>
                </a:solidFill>
                <a:effectLst/>
                <a:latin typeface="Consolas" panose="020B0609020204030204" pitchFamily="49" charset="0"/>
              </a:rPr>
              <a:t> </a:t>
            </a:r>
            <a:r>
              <a:rPr lang="en-US" sz="1600" b="0" dirty="0" err="1">
                <a:solidFill>
                  <a:srgbClr val="74531F"/>
                </a:solidFill>
                <a:effectLst/>
                <a:latin typeface="Consolas" panose="020B0609020204030204" pitchFamily="49" charset="0"/>
              </a:rPr>
              <a:t>FormatValue</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double</a:t>
            </a:r>
            <a:r>
              <a:rPr lang="en-US" sz="1600" b="0" dirty="0">
                <a:solidFill>
                  <a:srgbClr val="000000"/>
                </a:solidFill>
                <a:effectLst/>
                <a:latin typeface="Consolas" panose="020B0609020204030204" pitchFamily="49" charset="0"/>
              </a:rPr>
              <a:t> </a:t>
            </a:r>
            <a:r>
              <a:rPr lang="en-US" sz="1600" b="0" dirty="0">
                <a:solidFill>
                  <a:srgbClr val="808080"/>
                </a:solidFill>
                <a:effectLst/>
                <a:latin typeface="Consolas" panose="020B0609020204030204" pitchFamily="49" charset="0"/>
              </a:rPr>
              <a:t>v</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const</a:t>
            </a:r>
            <a:r>
              <a:rPr lang="en-US" sz="1600" b="0" dirty="0">
                <a:solidFill>
                  <a:srgbClr val="000000"/>
                </a:solidFill>
                <a:effectLst/>
                <a:latin typeface="Consolas" panose="020B0609020204030204" pitchFamily="49" charset="0"/>
              </a:rPr>
              <a:t> = </a:t>
            </a:r>
            <a:r>
              <a:rPr lang="en-US" sz="1600" b="0" dirty="0">
                <a:solidFill>
                  <a:srgbClr val="098658"/>
                </a:solidFill>
                <a:effectLst/>
                <a:latin typeface="Consolas" panose="020B0609020204030204" pitchFamily="49" charset="0"/>
              </a:rPr>
              <a:t>0</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a:t>
            </a:r>
          </a:p>
          <a:p>
            <a:pPr>
              <a:buNone/>
            </a:pPr>
            <a:endParaRPr lang="ru-RU" sz="1600" b="0" dirty="0">
              <a:solidFill>
                <a:srgbClr val="0000FF"/>
              </a:solidFill>
              <a:effectLst/>
              <a:latin typeface="Consolas" panose="020B0609020204030204" pitchFamily="49" charset="0"/>
            </a:endParaRPr>
          </a:p>
          <a:p>
            <a:pPr>
              <a:buNone/>
            </a:pPr>
            <a:r>
              <a:rPr lang="en-US" sz="1600" b="0" dirty="0">
                <a:solidFill>
                  <a:srgbClr val="0000FF"/>
                </a:solidFill>
                <a:effectLst/>
                <a:latin typeface="Consolas" panose="020B0609020204030204" pitchFamily="49" charset="0"/>
              </a:rPr>
              <a:t>class</a:t>
            </a:r>
            <a:r>
              <a:rPr lang="en-US" sz="1600" b="0" dirty="0">
                <a:solidFill>
                  <a:srgbClr val="000000"/>
                </a:solidFill>
                <a:effectLst/>
                <a:latin typeface="Consolas" panose="020B0609020204030204" pitchFamily="49" charset="0"/>
              </a:rPr>
              <a:t> </a:t>
            </a:r>
            <a:r>
              <a:rPr lang="en-US" sz="1600" b="0" dirty="0" err="1">
                <a:solidFill>
                  <a:srgbClr val="2B91AF"/>
                </a:solidFill>
                <a:effectLst/>
                <a:latin typeface="Consolas" panose="020B0609020204030204" pitchFamily="49" charset="0"/>
              </a:rPr>
              <a:t>TextFormatter</a:t>
            </a:r>
            <a:r>
              <a:rPr lang="en-US" sz="1600" b="0" dirty="0">
                <a:solidFill>
                  <a:srgbClr val="000000"/>
                </a:solidFill>
                <a:effectLst/>
                <a:latin typeface="Consolas" panose="020B0609020204030204" pitchFamily="49" charset="0"/>
              </a:rPr>
              <a:t> : </a:t>
            </a:r>
            <a:r>
              <a:rPr lang="en-US" sz="1600" b="0" dirty="0">
                <a:solidFill>
                  <a:srgbClr val="0000FF"/>
                </a:solidFill>
                <a:effectLst/>
                <a:latin typeface="Consolas" panose="020B0609020204030204" pitchFamily="49" charset="0"/>
              </a:rPr>
              <a:t>public</a:t>
            </a:r>
            <a:r>
              <a:rPr lang="en-US" sz="1600" b="0" dirty="0">
                <a:solidFill>
                  <a:srgbClr val="000000"/>
                </a:solidFill>
                <a:effectLst/>
                <a:latin typeface="Consolas" panose="020B0609020204030204" pitchFamily="49" charset="0"/>
              </a:rPr>
              <a:t> </a:t>
            </a:r>
            <a:r>
              <a:rPr lang="en-US" sz="1600" b="0" dirty="0" err="1">
                <a:solidFill>
                  <a:srgbClr val="2B91AF"/>
                </a:solidFill>
                <a:effectLst/>
                <a:latin typeface="Consolas" panose="020B0609020204030204" pitchFamily="49" charset="0"/>
              </a:rPr>
              <a:t>IReportFormatter</a:t>
            </a:r>
            <a:r>
              <a:rPr lang="en-US" sz="1600" b="0" dirty="0">
                <a:solidFill>
                  <a:srgbClr val="000000"/>
                </a:solidFill>
                <a:effectLst/>
                <a:latin typeface="Consolas" panose="020B0609020204030204" pitchFamily="49" charset="0"/>
              </a:rPr>
              <a:t> {</a:t>
            </a:r>
          </a:p>
          <a:p>
            <a:pPr>
              <a:buNone/>
            </a:pPr>
            <a:r>
              <a:rPr lang="en-US" sz="1600" b="0" dirty="0">
                <a:solidFill>
                  <a:srgbClr val="0000FF"/>
                </a:solidFill>
                <a:effectLst/>
                <a:latin typeface="Consolas" panose="020B0609020204030204" pitchFamily="49" charset="0"/>
              </a:rPr>
              <a:t>public:</a:t>
            </a:r>
            <a:endParaRPr lang="en-US" sz="1600" b="0" dirty="0">
              <a:solidFill>
                <a:srgbClr val="000000"/>
              </a:solidFill>
              <a:effectLst/>
              <a:latin typeface="Consolas" panose="020B0609020204030204" pitchFamily="49" charset="0"/>
            </a:endParaRPr>
          </a:p>
          <a:p>
            <a:pPr>
              <a:buNone/>
            </a:pPr>
            <a:r>
              <a:rPr lang="en-US" sz="1600" b="0" dirty="0">
                <a:solidFill>
                  <a:srgbClr val="000000"/>
                </a:solidFill>
                <a:effectLst/>
                <a:latin typeface="Consolas" panose="020B0609020204030204" pitchFamily="49" charset="0"/>
              </a:rPr>
              <a:t>  std::</a:t>
            </a:r>
            <a:r>
              <a:rPr lang="en-US" sz="1600" b="0" dirty="0">
                <a:solidFill>
                  <a:srgbClr val="2B91AF"/>
                </a:solidFill>
                <a:effectLst/>
                <a:latin typeface="Consolas" panose="020B0609020204030204" pitchFamily="49" charset="0"/>
              </a:rPr>
              <a:t>string</a:t>
            </a:r>
            <a:r>
              <a:rPr lang="en-US" sz="1600" b="0" dirty="0">
                <a:solidFill>
                  <a:srgbClr val="000000"/>
                </a:solidFill>
                <a:effectLst/>
                <a:latin typeface="Consolas" panose="020B0609020204030204" pitchFamily="49" charset="0"/>
              </a:rPr>
              <a:t> </a:t>
            </a:r>
            <a:r>
              <a:rPr lang="en-US" sz="1600" b="0" dirty="0" err="1">
                <a:solidFill>
                  <a:srgbClr val="74531F"/>
                </a:solidFill>
                <a:effectLst/>
                <a:latin typeface="Consolas" panose="020B0609020204030204" pitchFamily="49" charset="0"/>
              </a:rPr>
              <a:t>FormatValue</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double</a:t>
            </a:r>
            <a:r>
              <a:rPr lang="en-US" sz="1600" b="0" dirty="0">
                <a:solidFill>
                  <a:srgbClr val="000000"/>
                </a:solidFill>
                <a:effectLst/>
                <a:latin typeface="Consolas" panose="020B0609020204030204" pitchFamily="49" charset="0"/>
              </a:rPr>
              <a:t> </a:t>
            </a:r>
            <a:r>
              <a:rPr lang="en-US" sz="1600" b="0" dirty="0">
                <a:solidFill>
                  <a:srgbClr val="808080"/>
                </a:solidFill>
                <a:effectLst/>
                <a:latin typeface="Consolas" panose="020B0609020204030204" pitchFamily="49" charset="0"/>
              </a:rPr>
              <a:t>v</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const</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override</a:t>
            </a: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a:t>
            </a:r>
            <a:r>
              <a:rPr lang="en-US" sz="1600" b="0" dirty="0">
                <a:solidFill>
                  <a:srgbClr val="8F08C4"/>
                </a:solidFill>
                <a:effectLst/>
                <a:latin typeface="Consolas" panose="020B0609020204030204" pitchFamily="49" charset="0"/>
              </a:rPr>
              <a:t>return</a:t>
            </a:r>
            <a:r>
              <a:rPr lang="en-US" sz="1600" b="0" dirty="0">
                <a:solidFill>
                  <a:srgbClr val="000000"/>
                </a:solidFill>
                <a:effectLst/>
                <a:latin typeface="Consolas" panose="020B0609020204030204" pitchFamily="49" charset="0"/>
              </a:rPr>
              <a:t> std::</a:t>
            </a:r>
            <a:r>
              <a:rPr lang="en-US" sz="1600" b="0" dirty="0" err="1">
                <a:solidFill>
                  <a:srgbClr val="74531F"/>
                </a:solidFill>
                <a:effectLst/>
                <a:latin typeface="Consolas" panose="020B0609020204030204" pitchFamily="49" charset="0"/>
              </a:rPr>
              <a:t>to_string</a:t>
            </a:r>
            <a:r>
              <a:rPr lang="en-US" sz="1600" b="0" dirty="0">
                <a:solidFill>
                  <a:srgbClr val="000000"/>
                </a:solidFill>
                <a:effectLst/>
                <a:latin typeface="Consolas" panose="020B0609020204030204" pitchFamily="49" charset="0"/>
              </a:rPr>
              <a:t>(</a:t>
            </a:r>
            <a:r>
              <a:rPr lang="en-US" sz="1600" b="0" dirty="0">
                <a:solidFill>
                  <a:srgbClr val="808080"/>
                </a:solidFill>
                <a:effectLst/>
                <a:latin typeface="Consolas" panose="020B0609020204030204" pitchFamily="49" charset="0"/>
              </a:rPr>
              <a:t>v</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a:t>
            </a:r>
          </a:p>
          <a:p>
            <a:pPr>
              <a:buNone/>
            </a:pPr>
            <a:endParaRPr lang="ru-RU" sz="1600" b="0" dirty="0">
              <a:solidFill>
                <a:srgbClr val="0000FF"/>
              </a:solidFill>
              <a:effectLst/>
              <a:latin typeface="Consolas" panose="020B0609020204030204" pitchFamily="49" charset="0"/>
            </a:endParaRPr>
          </a:p>
          <a:p>
            <a:pPr>
              <a:buNone/>
            </a:pPr>
            <a:r>
              <a:rPr lang="en-US" sz="1600" b="0" dirty="0">
                <a:solidFill>
                  <a:srgbClr val="0000FF"/>
                </a:solidFill>
                <a:effectLst/>
                <a:latin typeface="Consolas" panose="020B0609020204030204" pitchFamily="49" charset="0"/>
              </a:rPr>
              <a:t>class</a:t>
            </a:r>
            <a:r>
              <a:rPr lang="en-US" sz="1600" b="0" dirty="0">
                <a:solidFill>
                  <a:srgbClr val="000000"/>
                </a:solidFill>
                <a:effectLst/>
                <a:latin typeface="Consolas" panose="020B0609020204030204" pitchFamily="49" charset="0"/>
              </a:rPr>
              <a:t> </a:t>
            </a:r>
            <a:r>
              <a:rPr lang="en-US" sz="1600" b="0" dirty="0" err="1">
                <a:solidFill>
                  <a:srgbClr val="2B91AF"/>
                </a:solidFill>
                <a:effectLst/>
                <a:latin typeface="Consolas" panose="020B0609020204030204" pitchFamily="49" charset="0"/>
              </a:rPr>
              <a:t>HtmlFormatter</a:t>
            </a:r>
            <a:r>
              <a:rPr lang="en-US" sz="1600" b="0" dirty="0">
                <a:solidFill>
                  <a:srgbClr val="000000"/>
                </a:solidFill>
                <a:effectLst/>
                <a:latin typeface="Consolas" panose="020B0609020204030204" pitchFamily="49" charset="0"/>
              </a:rPr>
              <a:t> : </a:t>
            </a:r>
            <a:r>
              <a:rPr lang="en-US" sz="1600" b="0" dirty="0">
                <a:solidFill>
                  <a:srgbClr val="0000FF"/>
                </a:solidFill>
                <a:effectLst/>
                <a:latin typeface="Consolas" panose="020B0609020204030204" pitchFamily="49" charset="0"/>
              </a:rPr>
              <a:t>public</a:t>
            </a:r>
            <a:r>
              <a:rPr lang="en-US" sz="1600" b="0" dirty="0">
                <a:solidFill>
                  <a:srgbClr val="000000"/>
                </a:solidFill>
                <a:effectLst/>
                <a:latin typeface="Consolas" panose="020B0609020204030204" pitchFamily="49" charset="0"/>
              </a:rPr>
              <a:t> </a:t>
            </a:r>
            <a:r>
              <a:rPr lang="en-US" sz="1600" b="0" dirty="0" err="1">
                <a:solidFill>
                  <a:srgbClr val="2B91AF"/>
                </a:solidFill>
                <a:effectLst/>
                <a:latin typeface="Consolas" panose="020B0609020204030204" pitchFamily="49" charset="0"/>
              </a:rPr>
              <a:t>IReportFormatter</a:t>
            </a:r>
            <a:r>
              <a:rPr lang="en-US" sz="1600" b="0" dirty="0">
                <a:solidFill>
                  <a:srgbClr val="000000"/>
                </a:solidFill>
                <a:effectLst/>
                <a:latin typeface="Consolas" panose="020B0609020204030204" pitchFamily="49" charset="0"/>
              </a:rPr>
              <a:t> {</a:t>
            </a:r>
          </a:p>
          <a:p>
            <a:pPr>
              <a:buNone/>
            </a:pPr>
            <a:r>
              <a:rPr lang="en-US" sz="1600" b="0" dirty="0">
                <a:solidFill>
                  <a:srgbClr val="0000FF"/>
                </a:solidFill>
                <a:effectLst/>
                <a:latin typeface="Consolas" panose="020B0609020204030204" pitchFamily="49" charset="0"/>
              </a:rPr>
              <a:t>public:</a:t>
            </a:r>
            <a:endParaRPr lang="en-US" sz="1600" b="0" dirty="0">
              <a:solidFill>
                <a:srgbClr val="000000"/>
              </a:solidFill>
              <a:effectLst/>
              <a:latin typeface="Consolas" panose="020B0609020204030204" pitchFamily="49" charset="0"/>
            </a:endParaRPr>
          </a:p>
          <a:p>
            <a:pPr>
              <a:buNone/>
            </a:pPr>
            <a:r>
              <a:rPr lang="en-US" sz="1600" b="0" dirty="0">
                <a:solidFill>
                  <a:srgbClr val="000000"/>
                </a:solidFill>
                <a:effectLst/>
                <a:latin typeface="Consolas" panose="020B0609020204030204" pitchFamily="49" charset="0"/>
              </a:rPr>
              <a:t>  std::</a:t>
            </a:r>
            <a:r>
              <a:rPr lang="en-US" sz="1600" b="0" dirty="0">
                <a:solidFill>
                  <a:srgbClr val="2B91AF"/>
                </a:solidFill>
                <a:effectLst/>
                <a:latin typeface="Consolas" panose="020B0609020204030204" pitchFamily="49" charset="0"/>
              </a:rPr>
              <a:t>string</a:t>
            </a:r>
            <a:r>
              <a:rPr lang="en-US" sz="1600" b="0" dirty="0">
                <a:solidFill>
                  <a:srgbClr val="000000"/>
                </a:solidFill>
                <a:effectLst/>
                <a:latin typeface="Consolas" panose="020B0609020204030204" pitchFamily="49" charset="0"/>
              </a:rPr>
              <a:t> </a:t>
            </a:r>
            <a:r>
              <a:rPr lang="en-US" sz="1600" b="0" dirty="0" err="1">
                <a:solidFill>
                  <a:srgbClr val="74531F"/>
                </a:solidFill>
                <a:effectLst/>
                <a:latin typeface="Consolas" panose="020B0609020204030204" pitchFamily="49" charset="0"/>
              </a:rPr>
              <a:t>FormatValue</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double</a:t>
            </a:r>
            <a:r>
              <a:rPr lang="en-US" sz="1600" b="0" dirty="0">
                <a:solidFill>
                  <a:srgbClr val="000000"/>
                </a:solidFill>
                <a:effectLst/>
                <a:latin typeface="Consolas" panose="020B0609020204030204" pitchFamily="49" charset="0"/>
              </a:rPr>
              <a:t> </a:t>
            </a:r>
            <a:r>
              <a:rPr lang="en-US" sz="1600" b="0" dirty="0">
                <a:solidFill>
                  <a:srgbClr val="808080"/>
                </a:solidFill>
                <a:effectLst/>
                <a:latin typeface="Consolas" panose="020B0609020204030204" pitchFamily="49" charset="0"/>
              </a:rPr>
              <a:t>v</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const</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override</a:t>
            </a: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a:t>
            </a:r>
            <a:r>
              <a:rPr lang="en-US" sz="1600" b="0" dirty="0">
                <a:solidFill>
                  <a:srgbClr val="8F08C4"/>
                </a:solidFill>
                <a:effectLst/>
                <a:latin typeface="Consolas" panose="020B0609020204030204" pitchFamily="49" charset="0"/>
              </a:rPr>
              <a:t>return</a:t>
            </a:r>
            <a:r>
              <a:rPr lang="en-US" sz="1600" b="0" dirty="0">
                <a:solidFill>
                  <a:srgbClr val="000000"/>
                </a:solidFill>
                <a:effectLst/>
                <a:latin typeface="Consolas" panose="020B0609020204030204" pitchFamily="49" charset="0"/>
              </a:rPr>
              <a:t> </a:t>
            </a:r>
            <a:r>
              <a:rPr lang="en-US" sz="1600" b="0" dirty="0">
                <a:solidFill>
                  <a:srgbClr val="E21F1F"/>
                </a:solidFill>
                <a:effectLst/>
                <a:latin typeface="Consolas" panose="020B0609020204030204" pitchFamily="49" charset="0"/>
              </a:rPr>
              <a:t>"</a:t>
            </a:r>
            <a:r>
              <a:rPr lang="en-US" sz="1600" b="0" dirty="0">
                <a:solidFill>
                  <a:srgbClr val="A31515"/>
                </a:solidFill>
                <a:effectLst/>
                <a:latin typeface="Consolas" panose="020B0609020204030204" pitchFamily="49" charset="0"/>
              </a:rPr>
              <a:t>&lt;p&gt;</a:t>
            </a:r>
            <a:r>
              <a:rPr lang="en-US" sz="1600" b="0" dirty="0">
                <a:solidFill>
                  <a:srgbClr val="E21F1F"/>
                </a:solidFill>
                <a:effectLst/>
                <a:latin typeface="Consolas" panose="020B0609020204030204" pitchFamily="49" charset="0"/>
              </a:rPr>
              <a:t>"</a:t>
            </a:r>
            <a:r>
              <a:rPr lang="en-US" sz="1600" b="0" dirty="0">
                <a:solidFill>
                  <a:srgbClr val="000000"/>
                </a:solidFill>
                <a:effectLst/>
                <a:latin typeface="Consolas" panose="020B0609020204030204" pitchFamily="49" charset="0"/>
              </a:rPr>
              <a:t> + std::</a:t>
            </a:r>
            <a:r>
              <a:rPr lang="en-US" sz="1600" b="0" dirty="0" err="1">
                <a:solidFill>
                  <a:srgbClr val="74531F"/>
                </a:solidFill>
                <a:effectLst/>
                <a:latin typeface="Consolas" panose="020B0609020204030204" pitchFamily="49" charset="0"/>
              </a:rPr>
              <a:t>to_string</a:t>
            </a:r>
            <a:r>
              <a:rPr lang="en-US" sz="1600" b="0" dirty="0">
                <a:solidFill>
                  <a:srgbClr val="000000"/>
                </a:solidFill>
                <a:effectLst/>
                <a:latin typeface="Consolas" panose="020B0609020204030204" pitchFamily="49" charset="0"/>
              </a:rPr>
              <a:t>(</a:t>
            </a:r>
            <a:r>
              <a:rPr lang="en-US" sz="1600" b="0" dirty="0">
                <a:solidFill>
                  <a:srgbClr val="808080"/>
                </a:solidFill>
                <a:effectLst/>
                <a:latin typeface="Consolas" panose="020B0609020204030204" pitchFamily="49" charset="0"/>
              </a:rPr>
              <a:t>v</a:t>
            </a:r>
            <a:r>
              <a:rPr lang="en-US" sz="1600" b="0" dirty="0">
                <a:solidFill>
                  <a:srgbClr val="000000"/>
                </a:solidFill>
                <a:effectLst/>
                <a:latin typeface="Consolas" panose="020B0609020204030204" pitchFamily="49" charset="0"/>
              </a:rPr>
              <a:t>) + </a:t>
            </a:r>
            <a:r>
              <a:rPr lang="en-US" sz="1600" b="0" dirty="0">
                <a:solidFill>
                  <a:srgbClr val="E21F1F"/>
                </a:solidFill>
                <a:effectLst/>
                <a:latin typeface="Consolas" panose="020B0609020204030204" pitchFamily="49" charset="0"/>
              </a:rPr>
              <a:t>"</a:t>
            </a:r>
            <a:r>
              <a:rPr lang="en-US" sz="1600" b="0" dirty="0">
                <a:solidFill>
                  <a:srgbClr val="A31515"/>
                </a:solidFill>
                <a:effectLst/>
                <a:latin typeface="Consolas" panose="020B0609020204030204" pitchFamily="49" charset="0"/>
              </a:rPr>
              <a:t>&lt;/p&gt;</a:t>
            </a:r>
            <a:r>
              <a:rPr lang="en-US" sz="1600" b="0" dirty="0">
                <a:solidFill>
                  <a:srgbClr val="E21F1F"/>
                </a:solidFill>
                <a:effectLst/>
                <a:latin typeface="Consolas" panose="020B0609020204030204" pitchFamily="49" charset="0"/>
              </a:rPr>
              <a:t>"</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a:t>
            </a:r>
          </a:p>
        </p:txBody>
      </p:sp>
      <p:sp>
        <p:nvSpPr>
          <p:cNvPr id="7" name="TextBox 6">
            <a:extLst>
              <a:ext uri="{FF2B5EF4-FFF2-40B4-BE49-F238E27FC236}">
                <a16:creationId xmlns:a16="http://schemas.microsoft.com/office/drawing/2014/main" id="{A9B00E9E-0F0F-82A2-A1A8-59ADEE35628E}"/>
              </a:ext>
            </a:extLst>
          </p:cNvPr>
          <p:cNvSpPr txBox="1"/>
          <p:nvPr/>
        </p:nvSpPr>
        <p:spPr>
          <a:xfrm>
            <a:off x="6634263" y="1899860"/>
            <a:ext cx="5557737" cy="3785652"/>
          </a:xfrm>
          <a:prstGeom prst="rect">
            <a:avLst/>
          </a:prstGeom>
          <a:noFill/>
        </p:spPr>
        <p:txBody>
          <a:bodyPr wrap="square">
            <a:spAutoFit/>
          </a:bodyPr>
          <a:lstStyle/>
          <a:p>
            <a:pPr>
              <a:buNone/>
            </a:pPr>
            <a:r>
              <a:rPr lang="en-US" sz="1600" b="0" dirty="0">
                <a:solidFill>
                  <a:srgbClr val="0000FF"/>
                </a:solidFill>
                <a:effectLst/>
                <a:latin typeface="Consolas" panose="020B0609020204030204" pitchFamily="49" charset="0"/>
              </a:rPr>
              <a:t>class</a:t>
            </a:r>
            <a:r>
              <a:rPr lang="en-US" sz="1600" b="0" dirty="0">
                <a:solidFill>
                  <a:srgbClr val="000000"/>
                </a:solidFill>
                <a:effectLst/>
                <a:latin typeface="Consolas" panose="020B0609020204030204" pitchFamily="49" charset="0"/>
              </a:rPr>
              <a:t> </a:t>
            </a:r>
            <a:r>
              <a:rPr lang="en-US" sz="1600" b="0" dirty="0" err="1">
                <a:solidFill>
                  <a:srgbClr val="2B91AF"/>
                </a:solidFill>
                <a:effectLst/>
                <a:latin typeface="Consolas" panose="020B0609020204030204" pitchFamily="49" charset="0"/>
              </a:rPr>
              <a:t>ReportRenderer</a:t>
            </a:r>
            <a:r>
              <a:rPr lang="en-US" sz="1600" b="0" dirty="0">
                <a:solidFill>
                  <a:srgbClr val="000000"/>
                </a:solidFill>
                <a:effectLst/>
                <a:latin typeface="Consolas" panose="020B0609020204030204" pitchFamily="49" charset="0"/>
              </a:rPr>
              <a:t> {</a:t>
            </a:r>
          </a:p>
          <a:p>
            <a:pPr>
              <a:buNone/>
            </a:pPr>
            <a:r>
              <a:rPr lang="en-US" sz="1600" b="0" dirty="0">
                <a:solidFill>
                  <a:srgbClr val="0000FF"/>
                </a:solidFill>
                <a:effectLst/>
                <a:latin typeface="Consolas" panose="020B0609020204030204" pitchFamily="49" charset="0"/>
              </a:rPr>
              <a:t>public:</a:t>
            </a:r>
            <a:endParaRPr lang="en-US" sz="1600" b="0" dirty="0">
              <a:solidFill>
                <a:srgbClr val="000000"/>
              </a:solidFill>
              <a:effectLst/>
              <a:latin typeface="Consolas" panose="020B0609020204030204" pitchFamily="49" charset="0"/>
            </a:endParaRPr>
          </a:p>
          <a:p>
            <a:pPr>
              <a:buNone/>
            </a:pPr>
            <a:r>
              <a:rPr lang="en-US" sz="1600" b="0" dirty="0">
                <a:solidFill>
                  <a:srgbClr val="000000"/>
                </a:solidFill>
                <a:effectLst/>
                <a:latin typeface="Consolas" panose="020B0609020204030204" pitchFamily="49" charset="0"/>
              </a:rPr>
              <a:t>  </a:t>
            </a:r>
            <a:r>
              <a:rPr lang="en-US" sz="1600" b="0" dirty="0" err="1">
                <a:solidFill>
                  <a:srgbClr val="74531F"/>
                </a:solidFill>
                <a:effectLst/>
                <a:latin typeface="Consolas" panose="020B0609020204030204" pitchFamily="49" charset="0"/>
              </a:rPr>
              <a:t>ReportRenderer</a:t>
            </a:r>
            <a:r>
              <a:rPr lang="en-US" sz="1600" b="0" dirty="0">
                <a:solidFill>
                  <a:srgbClr val="000000"/>
                </a:solidFill>
                <a:effectLst/>
                <a:latin typeface="Consolas" panose="020B0609020204030204" pitchFamily="49" charset="0"/>
              </a:rPr>
              <a:t>(</a:t>
            </a:r>
          </a:p>
          <a:p>
            <a:pPr>
              <a:buNone/>
            </a:pPr>
            <a:r>
              <a:rPr lang="en-US" sz="1600" dirty="0">
                <a:solidFill>
                  <a:srgbClr val="000000"/>
                </a:solidFill>
                <a:latin typeface="Consolas" panose="020B0609020204030204" pitchFamily="49" charset="0"/>
              </a:rPr>
              <a:t>    </a:t>
            </a:r>
            <a:r>
              <a:rPr lang="en-US" sz="1600" b="0" dirty="0">
                <a:solidFill>
                  <a:srgbClr val="0000FF"/>
                </a:solidFill>
                <a:effectLst/>
                <a:latin typeface="Consolas" panose="020B0609020204030204" pitchFamily="49" charset="0"/>
              </a:rPr>
              <a:t>const</a:t>
            </a:r>
            <a:r>
              <a:rPr lang="en-US" sz="1600" b="0" dirty="0">
                <a:solidFill>
                  <a:srgbClr val="000000"/>
                </a:solidFill>
                <a:effectLst/>
                <a:latin typeface="Consolas" panose="020B0609020204030204" pitchFamily="49" charset="0"/>
              </a:rPr>
              <a:t> </a:t>
            </a:r>
            <a:r>
              <a:rPr lang="en-US" sz="1600" b="0" dirty="0" err="1">
                <a:solidFill>
                  <a:srgbClr val="2B91AF"/>
                </a:solidFill>
                <a:effectLst/>
                <a:latin typeface="Consolas" panose="020B0609020204030204" pitchFamily="49" charset="0"/>
              </a:rPr>
              <a:t>IReportFormatter</a:t>
            </a:r>
            <a:r>
              <a:rPr lang="en-US" sz="1600" b="0" dirty="0">
                <a:solidFill>
                  <a:srgbClr val="000000"/>
                </a:solidFill>
                <a:effectLst/>
                <a:latin typeface="Consolas" panose="020B0609020204030204" pitchFamily="49" charset="0"/>
              </a:rPr>
              <a:t>&amp; </a:t>
            </a:r>
            <a:r>
              <a:rPr lang="en-US" sz="1600" b="0" dirty="0">
                <a:solidFill>
                  <a:srgbClr val="808080"/>
                </a:solidFill>
                <a:effectLst/>
                <a:latin typeface="Consolas" panose="020B0609020204030204" pitchFamily="49" charset="0"/>
              </a:rPr>
              <a:t>formatter</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 </a:t>
            </a:r>
            <a:r>
              <a:rPr lang="en-US" sz="1600" b="0" dirty="0" err="1">
                <a:solidFill>
                  <a:srgbClr val="000000"/>
                </a:solidFill>
                <a:effectLst/>
                <a:latin typeface="Consolas" panose="020B0609020204030204" pitchFamily="49" charset="0"/>
              </a:rPr>
              <a:t>m_formatter</a:t>
            </a:r>
            <a:r>
              <a:rPr lang="en-US" sz="1600" b="0" dirty="0">
                <a:solidFill>
                  <a:srgbClr val="000000"/>
                </a:solidFill>
                <a:effectLst/>
                <a:latin typeface="Consolas" panose="020B0609020204030204" pitchFamily="49" charset="0"/>
              </a:rPr>
              <a:t>(</a:t>
            </a:r>
            <a:r>
              <a:rPr lang="en-US" sz="1600" b="0" dirty="0">
                <a:solidFill>
                  <a:srgbClr val="808080"/>
                </a:solidFill>
                <a:effectLst/>
                <a:latin typeface="Consolas" panose="020B0609020204030204" pitchFamily="49" charset="0"/>
              </a:rPr>
              <a:t>formatter</a:t>
            </a:r>
            <a:r>
              <a:rPr lang="en-US" sz="1600" b="0" dirty="0">
                <a:solidFill>
                  <a:srgbClr val="000000"/>
                </a:solidFill>
                <a:effectLst/>
                <a:latin typeface="Consolas" panose="020B0609020204030204" pitchFamily="49" charset="0"/>
              </a:rPr>
              <a:t>) {}</a:t>
            </a:r>
          </a:p>
          <a:p>
            <a:pPr>
              <a:buNone/>
            </a:pPr>
            <a:endParaRPr lang="en-US" sz="1600" b="0" dirty="0">
              <a:solidFill>
                <a:srgbClr val="000000"/>
              </a:solidFill>
              <a:effectLst/>
              <a:latin typeface="Consolas" panose="020B0609020204030204" pitchFamily="49" charset="0"/>
            </a:endParaRPr>
          </a:p>
          <a:p>
            <a:pPr>
              <a:buNone/>
            </a:pP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void</a:t>
            </a:r>
            <a:r>
              <a:rPr lang="en-US" sz="1600" b="0" dirty="0">
                <a:solidFill>
                  <a:srgbClr val="000000"/>
                </a:solidFill>
                <a:effectLst/>
                <a:latin typeface="Consolas" panose="020B0609020204030204" pitchFamily="49" charset="0"/>
              </a:rPr>
              <a:t> </a:t>
            </a:r>
            <a:r>
              <a:rPr lang="en-US" sz="1600" b="0" dirty="0">
                <a:solidFill>
                  <a:srgbClr val="74531F"/>
                </a:solidFill>
                <a:effectLst/>
                <a:latin typeface="Consolas" panose="020B0609020204030204" pitchFamily="49" charset="0"/>
              </a:rPr>
              <a:t>Render</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const</a:t>
            </a:r>
            <a:r>
              <a:rPr lang="en-US" sz="1600" b="0" dirty="0">
                <a:solidFill>
                  <a:srgbClr val="000000"/>
                </a:solidFill>
                <a:effectLst/>
                <a:latin typeface="Consolas" panose="020B0609020204030204" pitchFamily="49" charset="0"/>
              </a:rPr>
              <a:t> </a:t>
            </a:r>
            <a:r>
              <a:rPr lang="en-US" sz="1600" b="0" dirty="0" err="1">
                <a:solidFill>
                  <a:srgbClr val="2B91AF"/>
                </a:solidFill>
                <a:effectLst/>
                <a:latin typeface="Consolas" panose="020B0609020204030204" pitchFamily="49" charset="0"/>
              </a:rPr>
              <a:t>ReportData</a:t>
            </a:r>
            <a:r>
              <a:rPr lang="en-US" sz="1600" b="0" dirty="0">
                <a:solidFill>
                  <a:srgbClr val="000000"/>
                </a:solidFill>
                <a:effectLst/>
                <a:latin typeface="Consolas" panose="020B0609020204030204" pitchFamily="49" charset="0"/>
              </a:rPr>
              <a:t>&amp; </a:t>
            </a:r>
            <a:r>
              <a:rPr lang="en-US" sz="1600" b="0" dirty="0">
                <a:solidFill>
                  <a:srgbClr val="808080"/>
                </a:solidFill>
                <a:effectLst/>
                <a:latin typeface="Consolas" panose="020B0609020204030204" pitchFamily="49" charset="0"/>
              </a:rPr>
              <a:t>data</a:t>
            </a: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a:t>
            </a:r>
            <a:r>
              <a:rPr lang="en-US" sz="1600" b="0" dirty="0">
                <a:solidFill>
                  <a:srgbClr val="8F08C4"/>
                </a:solidFill>
                <a:effectLst/>
                <a:latin typeface="Consolas" panose="020B0609020204030204" pitchFamily="49" charset="0"/>
              </a:rPr>
              <a:t>for</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double</a:t>
            </a:r>
            <a:r>
              <a:rPr lang="en-US" sz="1600" b="0" dirty="0">
                <a:solidFill>
                  <a:srgbClr val="000000"/>
                </a:solidFill>
                <a:effectLst/>
                <a:latin typeface="Consolas" panose="020B0609020204030204" pitchFamily="49" charset="0"/>
              </a:rPr>
              <a:t> </a:t>
            </a:r>
            <a:r>
              <a:rPr lang="en-US" sz="1600" b="0" dirty="0">
                <a:solidFill>
                  <a:srgbClr val="1F377F"/>
                </a:solidFill>
                <a:effectLst/>
                <a:latin typeface="Consolas" panose="020B0609020204030204" pitchFamily="49" charset="0"/>
              </a:rPr>
              <a:t>v</a:t>
            </a:r>
            <a:r>
              <a:rPr lang="en-US" sz="1600" b="0" dirty="0">
                <a:solidFill>
                  <a:srgbClr val="000000"/>
                </a:solidFill>
                <a:effectLst/>
                <a:latin typeface="Consolas" panose="020B0609020204030204" pitchFamily="49" charset="0"/>
              </a:rPr>
              <a:t> : </a:t>
            </a:r>
            <a:r>
              <a:rPr lang="en-US" sz="1600" b="0" dirty="0" err="1">
                <a:solidFill>
                  <a:srgbClr val="808080"/>
                </a:solidFill>
                <a:effectLst/>
                <a:latin typeface="Consolas" panose="020B0609020204030204" pitchFamily="49" charset="0"/>
              </a:rPr>
              <a:t>data</a:t>
            </a:r>
            <a:r>
              <a:rPr lang="en-US" sz="1600" b="0" dirty="0" err="1">
                <a:solidFill>
                  <a:srgbClr val="000000"/>
                </a:solidFill>
                <a:effectLst/>
                <a:latin typeface="Consolas" panose="020B0609020204030204" pitchFamily="49" charset="0"/>
              </a:rPr>
              <a:t>.values</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std::</a:t>
            </a:r>
            <a:r>
              <a:rPr lang="en-US" sz="1600" b="0" dirty="0" err="1">
                <a:solidFill>
                  <a:srgbClr val="000000"/>
                </a:solidFill>
                <a:effectLst/>
                <a:latin typeface="Consolas" panose="020B0609020204030204" pitchFamily="49" charset="0"/>
              </a:rPr>
              <a:t>cout</a:t>
            </a:r>
            <a:r>
              <a:rPr lang="en-US" sz="1600" b="0" dirty="0">
                <a:solidFill>
                  <a:srgbClr val="000000"/>
                </a:solidFill>
                <a:effectLst/>
                <a:latin typeface="Consolas" panose="020B0609020204030204" pitchFamily="49" charset="0"/>
              </a:rPr>
              <a:t> &lt;&lt; </a:t>
            </a:r>
            <a:r>
              <a:rPr lang="en-US" sz="1600" b="0" dirty="0" err="1">
                <a:solidFill>
                  <a:srgbClr val="000000"/>
                </a:solidFill>
                <a:effectLst/>
                <a:latin typeface="Consolas" panose="020B0609020204030204" pitchFamily="49" charset="0"/>
              </a:rPr>
              <a:t>m_formatter.</a:t>
            </a:r>
            <a:r>
              <a:rPr lang="en-US" sz="1600" b="0" dirty="0" err="1">
                <a:solidFill>
                  <a:srgbClr val="74531F"/>
                </a:solidFill>
                <a:effectLst/>
                <a:latin typeface="Consolas" panose="020B0609020204030204" pitchFamily="49" charset="0"/>
              </a:rPr>
              <a:t>FormatValue</a:t>
            </a:r>
            <a:r>
              <a:rPr lang="en-US" sz="1600" b="0" dirty="0">
                <a:solidFill>
                  <a:srgbClr val="000000"/>
                </a:solidFill>
                <a:effectLst/>
                <a:latin typeface="Consolas" panose="020B0609020204030204" pitchFamily="49" charset="0"/>
              </a:rPr>
              <a:t>(</a:t>
            </a:r>
            <a:r>
              <a:rPr lang="en-US" sz="1600" b="0" dirty="0">
                <a:solidFill>
                  <a:srgbClr val="1F377F"/>
                </a:solidFill>
                <a:effectLst/>
                <a:latin typeface="Consolas" panose="020B0609020204030204" pitchFamily="49" charset="0"/>
              </a:rPr>
              <a:t>v</a:t>
            </a:r>
            <a:r>
              <a:rPr lang="en-US" sz="1600" b="0" dirty="0">
                <a:solidFill>
                  <a:srgbClr val="000000"/>
                </a:solidFill>
                <a:effectLst/>
                <a:latin typeface="Consolas" panose="020B0609020204030204" pitchFamily="49" charset="0"/>
              </a:rPr>
              <a:t>)</a:t>
            </a:r>
          </a:p>
          <a:p>
            <a:pPr>
              <a:buNone/>
            </a:pPr>
            <a:r>
              <a:rPr lang="en-US" sz="1600" dirty="0">
                <a:solidFill>
                  <a:srgbClr val="000000"/>
                </a:solidFill>
                <a:latin typeface="Consolas" panose="020B0609020204030204" pitchFamily="49" charset="0"/>
              </a:rPr>
              <a:t>               </a:t>
            </a:r>
            <a:r>
              <a:rPr lang="en-US" sz="1600" b="0" dirty="0">
                <a:solidFill>
                  <a:srgbClr val="000000"/>
                </a:solidFill>
                <a:effectLst/>
                <a:latin typeface="Consolas" panose="020B0609020204030204" pitchFamily="49" charset="0"/>
              </a:rPr>
              <a:t> &lt;&lt; std::</a:t>
            </a:r>
            <a:r>
              <a:rPr lang="en-US" sz="1600" b="0" dirty="0" err="1">
                <a:solidFill>
                  <a:srgbClr val="000000"/>
                </a:solidFill>
                <a:effectLst/>
                <a:latin typeface="Consolas" panose="020B0609020204030204" pitchFamily="49" charset="0"/>
              </a:rPr>
              <a:t>endl</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p>
          <a:p>
            <a:pPr>
              <a:buNone/>
            </a:pPr>
            <a:endParaRPr lang="en-US" sz="1600" b="0" dirty="0">
              <a:solidFill>
                <a:srgbClr val="000000"/>
              </a:solidFill>
              <a:effectLst/>
              <a:latin typeface="Consolas" panose="020B0609020204030204" pitchFamily="49" charset="0"/>
            </a:endParaRPr>
          </a:p>
          <a:p>
            <a:pPr>
              <a:buNone/>
            </a:pPr>
            <a:r>
              <a:rPr lang="en-US" sz="1600" b="0" dirty="0">
                <a:solidFill>
                  <a:srgbClr val="0000FF"/>
                </a:solidFill>
                <a:effectLst/>
                <a:latin typeface="Consolas" panose="020B0609020204030204" pitchFamily="49" charset="0"/>
              </a:rPr>
              <a:t>private:</a:t>
            </a:r>
            <a:endParaRPr lang="en-US" sz="1600" b="0" dirty="0">
              <a:solidFill>
                <a:srgbClr val="000000"/>
              </a:solidFill>
              <a:effectLst/>
              <a:latin typeface="Consolas" panose="020B0609020204030204" pitchFamily="49" charset="0"/>
            </a:endParaRPr>
          </a:p>
          <a:p>
            <a:pPr>
              <a:buNone/>
            </a:pP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const</a:t>
            </a:r>
            <a:r>
              <a:rPr lang="en-US" sz="1600" b="0" dirty="0">
                <a:solidFill>
                  <a:srgbClr val="000000"/>
                </a:solidFill>
                <a:effectLst/>
                <a:latin typeface="Consolas" panose="020B0609020204030204" pitchFamily="49" charset="0"/>
              </a:rPr>
              <a:t> </a:t>
            </a:r>
            <a:r>
              <a:rPr lang="en-US" sz="1600" b="0" dirty="0" err="1">
                <a:solidFill>
                  <a:srgbClr val="2B91AF"/>
                </a:solidFill>
                <a:effectLst/>
                <a:latin typeface="Consolas" panose="020B0609020204030204" pitchFamily="49" charset="0"/>
              </a:rPr>
              <a:t>IReportFormatter</a:t>
            </a:r>
            <a:r>
              <a:rPr lang="en-US" sz="1600" b="0" dirty="0">
                <a:solidFill>
                  <a:srgbClr val="000000"/>
                </a:solidFill>
                <a:effectLst/>
                <a:latin typeface="Consolas" panose="020B0609020204030204" pitchFamily="49" charset="0"/>
              </a:rPr>
              <a:t>&amp; </a:t>
            </a:r>
            <a:r>
              <a:rPr lang="en-US" sz="1600" b="0" dirty="0" err="1">
                <a:solidFill>
                  <a:srgbClr val="000000"/>
                </a:solidFill>
                <a:effectLst/>
                <a:latin typeface="Consolas" panose="020B0609020204030204" pitchFamily="49" charset="0"/>
              </a:rPr>
              <a:t>m_formatter</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472907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500"/>
                                        <p:tgtEl>
                                          <p:spTgt spid="5">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fade">
                                      <p:cBhvr>
                                        <p:cTn id="16" dur="500"/>
                                        <p:tgtEl>
                                          <p:spTgt spid="5">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Effect transition="in" filter="fade">
                                      <p:cBhvr>
                                        <p:cTn id="19" dur="500"/>
                                        <p:tgtEl>
                                          <p:spTgt spid="5">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5">
                                            <p:txEl>
                                              <p:pRg st="6" end="6"/>
                                            </p:txEl>
                                          </p:spTgt>
                                        </p:tgtEl>
                                        <p:attrNameLst>
                                          <p:attrName>style.visibility</p:attrName>
                                        </p:attrNameLst>
                                      </p:cBhvr>
                                      <p:to>
                                        <p:strVal val="visible"/>
                                      </p:to>
                                    </p:set>
                                    <p:animEffect transition="in" filter="fade">
                                      <p:cBhvr>
                                        <p:cTn id="24" dur="500"/>
                                        <p:tgtEl>
                                          <p:spTgt spid="5">
                                            <p:txEl>
                                              <p:pRg st="6" end="6"/>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animEffect transition="in" filter="fade">
                                      <p:cBhvr>
                                        <p:cTn id="27" dur="500"/>
                                        <p:tgtEl>
                                          <p:spTgt spid="5">
                                            <p:txEl>
                                              <p:pRg st="7" end="7"/>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5">
                                            <p:txEl>
                                              <p:pRg st="8" end="8"/>
                                            </p:txEl>
                                          </p:spTgt>
                                        </p:tgtEl>
                                        <p:attrNameLst>
                                          <p:attrName>style.visibility</p:attrName>
                                        </p:attrNameLst>
                                      </p:cBhvr>
                                      <p:to>
                                        <p:strVal val="visible"/>
                                      </p:to>
                                    </p:set>
                                    <p:animEffect transition="in" filter="fade">
                                      <p:cBhvr>
                                        <p:cTn id="30" dur="500"/>
                                        <p:tgtEl>
                                          <p:spTgt spid="5">
                                            <p:txEl>
                                              <p:pRg st="8" end="8"/>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5">
                                            <p:txEl>
                                              <p:pRg st="9" end="9"/>
                                            </p:txEl>
                                          </p:spTgt>
                                        </p:tgtEl>
                                        <p:attrNameLst>
                                          <p:attrName>style.visibility</p:attrName>
                                        </p:attrNameLst>
                                      </p:cBhvr>
                                      <p:to>
                                        <p:strVal val="visible"/>
                                      </p:to>
                                    </p:set>
                                    <p:animEffect transition="in" filter="fade">
                                      <p:cBhvr>
                                        <p:cTn id="33" dur="500"/>
                                        <p:tgtEl>
                                          <p:spTgt spid="5">
                                            <p:txEl>
                                              <p:pRg st="9" end="9"/>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5">
                                            <p:txEl>
                                              <p:pRg st="10" end="10"/>
                                            </p:txEl>
                                          </p:spTgt>
                                        </p:tgtEl>
                                        <p:attrNameLst>
                                          <p:attrName>style.visibility</p:attrName>
                                        </p:attrNameLst>
                                      </p:cBhvr>
                                      <p:to>
                                        <p:strVal val="visible"/>
                                      </p:to>
                                    </p:set>
                                    <p:animEffect transition="in" filter="fade">
                                      <p:cBhvr>
                                        <p:cTn id="36" dur="500"/>
                                        <p:tgtEl>
                                          <p:spTgt spid="5">
                                            <p:txEl>
                                              <p:pRg st="10" end="10"/>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5">
                                            <p:txEl>
                                              <p:pRg st="11" end="11"/>
                                            </p:txEl>
                                          </p:spTgt>
                                        </p:tgtEl>
                                        <p:attrNameLst>
                                          <p:attrName>style.visibility</p:attrName>
                                        </p:attrNameLst>
                                      </p:cBhvr>
                                      <p:to>
                                        <p:strVal val="visible"/>
                                      </p:to>
                                    </p:set>
                                    <p:animEffect transition="in" filter="fade">
                                      <p:cBhvr>
                                        <p:cTn id="39" dur="500"/>
                                        <p:tgtEl>
                                          <p:spTgt spid="5">
                                            <p:txEl>
                                              <p:pRg st="11" end="11"/>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5">
                                            <p:txEl>
                                              <p:pRg st="13" end="13"/>
                                            </p:txEl>
                                          </p:spTgt>
                                        </p:tgtEl>
                                        <p:attrNameLst>
                                          <p:attrName>style.visibility</p:attrName>
                                        </p:attrNameLst>
                                      </p:cBhvr>
                                      <p:to>
                                        <p:strVal val="visible"/>
                                      </p:to>
                                    </p:set>
                                    <p:animEffect transition="in" filter="fade">
                                      <p:cBhvr>
                                        <p:cTn id="44" dur="500"/>
                                        <p:tgtEl>
                                          <p:spTgt spid="5">
                                            <p:txEl>
                                              <p:pRg st="13" end="13"/>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5">
                                            <p:txEl>
                                              <p:pRg st="14" end="14"/>
                                            </p:txEl>
                                          </p:spTgt>
                                        </p:tgtEl>
                                        <p:attrNameLst>
                                          <p:attrName>style.visibility</p:attrName>
                                        </p:attrNameLst>
                                      </p:cBhvr>
                                      <p:to>
                                        <p:strVal val="visible"/>
                                      </p:to>
                                    </p:set>
                                    <p:animEffect transition="in" filter="fade">
                                      <p:cBhvr>
                                        <p:cTn id="47" dur="500"/>
                                        <p:tgtEl>
                                          <p:spTgt spid="5">
                                            <p:txEl>
                                              <p:pRg st="14" end="14"/>
                                            </p:txEl>
                                          </p:spTgt>
                                        </p:tgtEl>
                                      </p:cBhvr>
                                    </p:animEffect>
                                  </p:childTnLst>
                                </p:cTn>
                              </p:par>
                              <p:par>
                                <p:cTn id="48" presetID="10" presetClass="entr" presetSubtype="0" fill="hold" nodeType="withEffect">
                                  <p:stCondLst>
                                    <p:cond delay="0"/>
                                  </p:stCondLst>
                                  <p:childTnLst>
                                    <p:set>
                                      <p:cBhvr>
                                        <p:cTn id="49" dur="1" fill="hold">
                                          <p:stCondLst>
                                            <p:cond delay="0"/>
                                          </p:stCondLst>
                                        </p:cTn>
                                        <p:tgtEl>
                                          <p:spTgt spid="5">
                                            <p:txEl>
                                              <p:pRg st="15" end="15"/>
                                            </p:txEl>
                                          </p:spTgt>
                                        </p:tgtEl>
                                        <p:attrNameLst>
                                          <p:attrName>style.visibility</p:attrName>
                                        </p:attrNameLst>
                                      </p:cBhvr>
                                      <p:to>
                                        <p:strVal val="visible"/>
                                      </p:to>
                                    </p:set>
                                    <p:animEffect transition="in" filter="fade">
                                      <p:cBhvr>
                                        <p:cTn id="50" dur="500"/>
                                        <p:tgtEl>
                                          <p:spTgt spid="5">
                                            <p:txEl>
                                              <p:pRg st="15" end="15"/>
                                            </p:txEl>
                                          </p:spTgt>
                                        </p:tgtEl>
                                      </p:cBhvr>
                                    </p:animEffect>
                                  </p:childTnLst>
                                </p:cTn>
                              </p:par>
                              <p:par>
                                <p:cTn id="51" presetID="10" presetClass="entr" presetSubtype="0" fill="hold" nodeType="withEffect">
                                  <p:stCondLst>
                                    <p:cond delay="0"/>
                                  </p:stCondLst>
                                  <p:childTnLst>
                                    <p:set>
                                      <p:cBhvr>
                                        <p:cTn id="52" dur="1" fill="hold">
                                          <p:stCondLst>
                                            <p:cond delay="0"/>
                                          </p:stCondLst>
                                        </p:cTn>
                                        <p:tgtEl>
                                          <p:spTgt spid="5">
                                            <p:txEl>
                                              <p:pRg st="16" end="16"/>
                                            </p:txEl>
                                          </p:spTgt>
                                        </p:tgtEl>
                                        <p:attrNameLst>
                                          <p:attrName>style.visibility</p:attrName>
                                        </p:attrNameLst>
                                      </p:cBhvr>
                                      <p:to>
                                        <p:strVal val="visible"/>
                                      </p:to>
                                    </p:set>
                                    <p:animEffect transition="in" filter="fade">
                                      <p:cBhvr>
                                        <p:cTn id="53" dur="500"/>
                                        <p:tgtEl>
                                          <p:spTgt spid="5">
                                            <p:txEl>
                                              <p:pRg st="16" end="16"/>
                                            </p:txEl>
                                          </p:spTgt>
                                        </p:tgtEl>
                                      </p:cBhvr>
                                    </p:animEffect>
                                  </p:childTnLst>
                                </p:cTn>
                              </p:par>
                              <p:par>
                                <p:cTn id="54" presetID="10" presetClass="entr" presetSubtype="0" fill="hold" nodeType="withEffect">
                                  <p:stCondLst>
                                    <p:cond delay="0"/>
                                  </p:stCondLst>
                                  <p:childTnLst>
                                    <p:set>
                                      <p:cBhvr>
                                        <p:cTn id="55" dur="1" fill="hold">
                                          <p:stCondLst>
                                            <p:cond delay="0"/>
                                          </p:stCondLst>
                                        </p:cTn>
                                        <p:tgtEl>
                                          <p:spTgt spid="5">
                                            <p:txEl>
                                              <p:pRg st="17" end="17"/>
                                            </p:txEl>
                                          </p:spTgt>
                                        </p:tgtEl>
                                        <p:attrNameLst>
                                          <p:attrName>style.visibility</p:attrName>
                                        </p:attrNameLst>
                                      </p:cBhvr>
                                      <p:to>
                                        <p:strVal val="visible"/>
                                      </p:to>
                                    </p:set>
                                    <p:animEffect transition="in" filter="fade">
                                      <p:cBhvr>
                                        <p:cTn id="56" dur="500"/>
                                        <p:tgtEl>
                                          <p:spTgt spid="5">
                                            <p:txEl>
                                              <p:pRg st="17" end="17"/>
                                            </p:txEl>
                                          </p:spTgt>
                                        </p:tgtEl>
                                      </p:cBhvr>
                                    </p:animEffect>
                                  </p:childTnLst>
                                </p:cTn>
                              </p:par>
                              <p:par>
                                <p:cTn id="57" presetID="10" presetClass="entr" presetSubtype="0" fill="hold" nodeType="withEffect">
                                  <p:stCondLst>
                                    <p:cond delay="0"/>
                                  </p:stCondLst>
                                  <p:childTnLst>
                                    <p:set>
                                      <p:cBhvr>
                                        <p:cTn id="58" dur="1" fill="hold">
                                          <p:stCondLst>
                                            <p:cond delay="0"/>
                                          </p:stCondLst>
                                        </p:cTn>
                                        <p:tgtEl>
                                          <p:spTgt spid="5">
                                            <p:txEl>
                                              <p:pRg st="18" end="18"/>
                                            </p:txEl>
                                          </p:spTgt>
                                        </p:tgtEl>
                                        <p:attrNameLst>
                                          <p:attrName>style.visibility</p:attrName>
                                        </p:attrNameLst>
                                      </p:cBhvr>
                                      <p:to>
                                        <p:strVal val="visible"/>
                                      </p:to>
                                    </p:set>
                                    <p:animEffect transition="in" filter="fade">
                                      <p:cBhvr>
                                        <p:cTn id="59" dur="500"/>
                                        <p:tgtEl>
                                          <p:spTgt spid="5">
                                            <p:txEl>
                                              <p:pRg st="18" end="18"/>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7"/>
                                        </p:tgtEl>
                                        <p:attrNameLst>
                                          <p:attrName>style.visibility</p:attrName>
                                        </p:attrNameLst>
                                      </p:cBhvr>
                                      <p:to>
                                        <p:strVal val="visible"/>
                                      </p:to>
                                    </p:set>
                                    <p:animEffect transition="in" filter="fade">
                                      <p:cBhvr>
                                        <p:cTn id="6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827AA5-46E6-197A-C353-75045F3F911F}"/>
              </a:ext>
            </a:extLst>
          </p:cNvPr>
          <p:cNvSpPr>
            <a:spLocks noGrp="1"/>
          </p:cNvSpPr>
          <p:nvPr>
            <p:ph type="title"/>
          </p:nvPr>
        </p:nvSpPr>
        <p:spPr/>
        <p:txBody>
          <a:bodyPr/>
          <a:lstStyle/>
          <a:p>
            <a:r>
              <a:rPr lang="ru-RU" dirty="0"/>
              <a:t>Достоинства</a:t>
            </a:r>
            <a:endParaRPr lang="en-US" dirty="0"/>
          </a:p>
        </p:txBody>
      </p:sp>
      <p:sp>
        <p:nvSpPr>
          <p:cNvPr id="5" name="Content Placeholder 4">
            <a:extLst>
              <a:ext uri="{FF2B5EF4-FFF2-40B4-BE49-F238E27FC236}">
                <a16:creationId xmlns:a16="http://schemas.microsoft.com/office/drawing/2014/main" id="{A5A09A7F-D09D-5665-443D-A3CD6147765C}"/>
              </a:ext>
            </a:extLst>
          </p:cNvPr>
          <p:cNvSpPr>
            <a:spLocks noGrp="1"/>
          </p:cNvSpPr>
          <p:nvPr>
            <p:ph idx="1"/>
          </p:nvPr>
        </p:nvSpPr>
        <p:spPr/>
        <p:txBody>
          <a:bodyPr/>
          <a:lstStyle/>
          <a:p>
            <a:r>
              <a:rPr lang="ru-RU" dirty="0"/>
              <a:t>Минимум изменений в существующем коде при появлении новых требований.</a:t>
            </a:r>
          </a:p>
          <a:p>
            <a:r>
              <a:rPr lang="ru-RU" dirty="0"/>
              <a:t>Улучшенная стабильность и предсказуемость системы.</a:t>
            </a:r>
          </a:p>
          <a:p>
            <a:r>
              <a:rPr lang="ru-RU" dirty="0"/>
              <a:t>Высокая расширяемость — новое поведение добавляется через новые компоненты.</a:t>
            </a:r>
          </a:p>
          <a:p>
            <a:r>
              <a:rPr lang="ru-RU" dirty="0"/>
              <a:t>Упрощается тестирование — старый код остаётся неизменным и уже протестирован.</a:t>
            </a:r>
          </a:p>
          <a:p>
            <a:endParaRPr lang="en-US" dirty="0"/>
          </a:p>
        </p:txBody>
      </p:sp>
      <p:sp>
        <p:nvSpPr>
          <p:cNvPr id="3" name="Slide Number Placeholder 2">
            <a:extLst>
              <a:ext uri="{FF2B5EF4-FFF2-40B4-BE49-F238E27FC236}">
                <a16:creationId xmlns:a16="http://schemas.microsoft.com/office/drawing/2014/main" id="{4D0D3366-E10F-A683-1DD4-804107F8F404}"/>
              </a:ext>
            </a:extLst>
          </p:cNvPr>
          <p:cNvSpPr>
            <a:spLocks noGrp="1"/>
          </p:cNvSpPr>
          <p:nvPr>
            <p:ph type="sldNum" sz="quarter" idx="12"/>
          </p:nvPr>
        </p:nvSpPr>
        <p:spPr/>
        <p:txBody>
          <a:bodyPr/>
          <a:lstStyle/>
          <a:p>
            <a:fld id="{CF8E6F4D-2E97-47CB-8591-066566E4FE4D}" type="slidenum">
              <a:rPr lang="ru-RU" smtClean="0"/>
              <a:t>17</a:t>
            </a:fld>
            <a:endParaRPr lang="ru-RU"/>
          </a:p>
        </p:txBody>
      </p:sp>
    </p:spTree>
    <p:extLst>
      <p:ext uri="{BB962C8B-B14F-4D97-AF65-F5344CB8AC3E}">
        <p14:creationId xmlns:p14="http://schemas.microsoft.com/office/powerpoint/2010/main" val="23000338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D021C-2249-F185-20EF-FB47EFDBDE30}"/>
              </a:ext>
            </a:extLst>
          </p:cNvPr>
          <p:cNvSpPr>
            <a:spLocks noGrp="1"/>
          </p:cNvSpPr>
          <p:nvPr>
            <p:ph type="title"/>
          </p:nvPr>
        </p:nvSpPr>
        <p:spPr/>
        <p:txBody>
          <a:bodyPr/>
          <a:lstStyle/>
          <a:p>
            <a:r>
              <a:rPr lang="ru-RU" dirty="0"/>
              <a:t>Недостатки</a:t>
            </a:r>
            <a:endParaRPr lang="en-US" dirty="0"/>
          </a:p>
        </p:txBody>
      </p:sp>
      <p:sp>
        <p:nvSpPr>
          <p:cNvPr id="3" name="Content Placeholder 2">
            <a:extLst>
              <a:ext uri="{FF2B5EF4-FFF2-40B4-BE49-F238E27FC236}">
                <a16:creationId xmlns:a16="http://schemas.microsoft.com/office/drawing/2014/main" id="{791AA320-977E-AD74-F537-D553A623EDB4}"/>
              </a:ext>
            </a:extLst>
          </p:cNvPr>
          <p:cNvSpPr>
            <a:spLocks noGrp="1"/>
          </p:cNvSpPr>
          <p:nvPr>
            <p:ph idx="1"/>
          </p:nvPr>
        </p:nvSpPr>
        <p:spPr/>
        <p:txBody>
          <a:bodyPr/>
          <a:lstStyle/>
          <a:p>
            <a:r>
              <a:rPr lang="ru-RU" dirty="0"/>
              <a:t>Рост количества абстракций и классов, усложнение структуры проекта.</a:t>
            </a:r>
          </a:p>
          <a:p>
            <a:r>
              <a:rPr lang="ru-RU" dirty="0"/>
              <a:t>Сложнее ориентироваться (</a:t>
            </a:r>
            <a:r>
              <a:rPr lang="ru-RU" dirty="0" err="1"/>
              <a:t>discoverability</a:t>
            </a:r>
            <a:r>
              <a:rPr lang="ru-RU" dirty="0"/>
              <a:t>) — приходится понимать архитектуру и ролевые компоненты.</a:t>
            </a:r>
          </a:p>
          <a:p>
            <a:r>
              <a:rPr lang="ru-RU" dirty="0"/>
              <a:t>Возможна избыточная абстракция, если OCP применяется преждевременно.</a:t>
            </a:r>
          </a:p>
        </p:txBody>
      </p:sp>
      <p:sp>
        <p:nvSpPr>
          <p:cNvPr id="4" name="Slide Number Placeholder 3">
            <a:extLst>
              <a:ext uri="{FF2B5EF4-FFF2-40B4-BE49-F238E27FC236}">
                <a16:creationId xmlns:a16="http://schemas.microsoft.com/office/drawing/2014/main" id="{28628FB5-3628-4EA4-0A51-E327883EF950}"/>
              </a:ext>
            </a:extLst>
          </p:cNvPr>
          <p:cNvSpPr>
            <a:spLocks noGrp="1"/>
          </p:cNvSpPr>
          <p:nvPr>
            <p:ph type="sldNum" sz="quarter" idx="12"/>
          </p:nvPr>
        </p:nvSpPr>
        <p:spPr/>
        <p:txBody>
          <a:bodyPr/>
          <a:lstStyle/>
          <a:p>
            <a:fld id="{CF8E6F4D-2E97-47CB-8591-066566E4FE4D}" type="slidenum">
              <a:rPr lang="ru-RU" smtClean="0"/>
              <a:t>18</a:t>
            </a:fld>
            <a:endParaRPr lang="ru-RU"/>
          </a:p>
        </p:txBody>
      </p:sp>
    </p:spTree>
    <p:extLst>
      <p:ext uri="{BB962C8B-B14F-4D97-AF65-F5344CB8AC3E}">
        <p14:creationId xmlns:p14="http://schemas.microsoft.com/office/powerpoint/2010/main" val="9718783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EA4617E-1963-B86C-7C4F-844AE5001ACB}"/>
              </a:ext>
            </a:extLst>
          </p:cNvPr>
          <p:cNvSpPr>
            <a:spLocks noGrp="1"/>
          </p:cNvSpPr>
          <p:nvPr>
            <p:ph type="title"/>
          </p:nvPr>
        </p:nvSpPr>
        <p:spPr/>
        <p:txBody>
          <a:bodyPr/>
          <a:lstStyle/>
          <a:p>
            <a:r>
              <a:rPr lang="ru-RU" dirty="0"/>
              <a:t>Принцип подстановки Лисков</a:t>
            </a:r>
            <a:endParaRPr lang="en-US" dirty="0"/>
          </a:p>
        </p:txBody>
      </p:sp>
      <p:sp>
        <p:nvSpPr>
          <p:cNvPr id="5" name="Text Placeholder 4">
            <a:extLst>
              <a:ext uri="{FF2B5EF4-FFF2-40B4-BE49-F238E27FC236}">
                <a16:creationId xmlns:a16="http://schemas.microsoft.com/office/drawing/2014/main" id="{40A0D974-FCBE-32E6-9989-6E9C0E2343D6}"/>
              </a:ext>
            </a:extLst>
          </p:cNvPr>
          <p:cNvSpPr>
            <a:spLocks noGrp="1"/>
          </p:cNvSpPr>
          <p:nvPr>
            <p:ph type="body" idx="1"/>
          </p:nvPr>
        </p:nvSpPr>
        <p:spPr/>
        <p:txBody>
          <a:bodyPr/>
          <a:lstStyle/>
          <a:p>
            <a:endParaRPr lang="en-US"/>
          </a:p>
        </p:txBody>
      </p:sp>
      <p:sp>
        <p:nvSpPr>
          <p:cNvPr id="3" name="Slide Number Placeholder 2">
            <a:extLst>
              <a:ext uri="{FF2B5EF4-FFF2-40B4-BE49-F238E27FC236}">
                <a16:creationId xmlns:a16="http://schemas.microsoft.com/office/drawing/2014/main" id="{9B49F376-96D0-4069-22C5-F5382346E9C5}"/>
              </a:ext>
            </a:extLst>
          </p:cNvPr>
          <p:cNvSpPr>
            <a:spLocks noGrp="1"/>
          </p:cNvSpPr>
          <p:nvPr>
            <p:ph type="sldNum" sz="quarter" idx="12"/>
          </p:nvPr>
        </p:nvSpPr>
        <p:spPr/>
        <p:txBody>
          <a:bodyPr/>
          <a:lstStyle/>
          <a:p>
            <a:fld id="{CF8E6F4D-2E97-47CB-8591-066566E4FE4D}" type="slidenum">
              <a:rPr lang="ru-RU" smtClean="0"/>
              <a:t>19</a:t>
            </a:fld>
            <a:endParaRPr lang="ru-RU"/>
          </a:p>
        </p:txBody>
      </p:sp>
    </p:spTree>
    <p:extLst>
      <p:ext uri="{BB962C8B-B14F-4D97-AF65-F5344CB8AC3E}">
        <p14:creationId xmlns:p14="http://schemas.microsoft.com/office/powerpoint/2010/main" val="21753434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Принцип подстановки Барбары Лисков</a:t>
            </a:r>
          </a:p>
        </p:txBody>
      </p:sp>
      <p:sp>
        <p:nvSpPr>
          <p:cNvPr id="3" name="Объект 2"/>
          <p:cNvSpPr>
            <a:spLocks noGrp="1"/>
          </p:cNvSpPr>
          <p:nvPr>
            <p:ph sz="half" idx="1"/>
          </p:nvPr>
        </p:nvSpPr>
        <p:spPr>
          <a:xfrm>
            <a:off x="838199" y="1825625"/>
            <a:ext cx="7772401" cy="4351338"/>
          </a:xfrm>
        </p:spPr>
        <p:txBody>
          <a:bodyPr>
            <a:normAutofit fontScale="85000" lnSpcReduction="20000"/>
          </a:bodyPr>
          <a:lstStyle/>
          <a:p>
            <a:r>
              <a:rPr lang="ru-RU" b="1" dirty="0"/>
              <a:t>Объекты подклассов должны быть взаимозаменяемы с объектами базового класса.</a:t>
            </a:r>
            <a:endParaRPr lang="ru-RU" dirty="0"/>
          </a:p>
          <a:p>
            <a:pPr lvl="1"/>
            <a:r>
              <a:rPr lang="ru-RU" dirty="0"/>
              <a:t>Код, использующий базовый тип, не должен «ломаться», если ему подставить производный тип.</a:t>
            </a:r>
          </a:p>
          <a:p>
            <a:r>
              <a:rPr lang="ru-RU" b="1" dirty="0"/>
              <a:t>Что разрешено</a:t>
            </a:r>
          </a:p>
          <a:p>
            <a:pPr lvl="1"/>
            <a:r>
              <a:rPr lang="ru-RU" dirty="0"/>
              <a:t>Расширять область допустимых входных значений.</a:t>
            </a:r>
          </a:p>
          <a:p>
            <a:pPr lvl="1"/>
            <a:r>
              <a:rPr lang="ru-RU" dirty="0"/>
              <a:t>Уменьшать требования к предусловиям.</a:t>
            </a:r>
          </a:p>
          <a:p>
            <a:pPr lvl="1"/>
            <a:r>
              <a:rPr lang="ru-RU" dirty="0"/>
              <a:t>Усиливать гарантии (постусловия).</a:t>
            </a:r>
          </a:p>
          <a:p>
            <a:pPr lvl="1"/>
            <a:r>
              <a:rPr lang="ru-RU" dirty="0"/>
              <a:t>Сохранять неизменные инварианты базового класса.</a:t>
            </a:r>
          </a:p>
          <a:p>
            <a:r>
              <a:rPr lang="ru-RU" b="1" dirty="0"/>
              <a:t>Что запрещено</a:t>
            </a:r>
          </a:p>
          <a:p>
            <a:pPr lvl="1"/>
            <a:r>
              <a:rPr lang="ru-RU" dirty="0"/>
              <a:t>Ужесточать предусловия.</a:t>
            </a:r>
          </a:p>
          <a:p>
            <a:pPr lvl="1"/>
            <a:r>
              <a:rPr lang="ru-RU" dirty="0"/>
              <a:t>Ослаблять постусловия.</a:t>
            </a:r>
          </a:p>
          <a:p>
            <a:pPr lvl="1"/>
            <a:r>
              <a:rPr lang="ru-RU" dirty="0"/>
              <a:t>Вводить новое поведение, нарушающее ожидания клиентов базового типа.</a:t>
            </a:r>
          </a:p>
        </p:txBody>
      </p:sp>
      <p:sp>
        <p:nvSpPr>
          <p:cNvPr id="4" name="Номер слайда 3"/>
          <p:cNvSpPr>
            <a:spLocks noGrp="1"/>
          </p:cNvSpPr>
          <p:nvPr>
            <p:ph type="sldNum" sz="quarter" idx="12"/>
          </p:nvPr>
        </p:nvSpPr>
        <p:spPr/>
        <p:txBody>
          <a:bodyPr/>
          <a:lstStyle/>
          <a:p>
            <a:fld id="{CF8E6F4D-2E97-47CB-8591-066566E4FE4D}" type="slidenum">
              <a:rPr lang="ru-RU" smtClean="0"/>
              <a:t>20</a:t>
            </a:fld>
            <a:endParaRPr lang="ru-RU"/>
          </a:p>
        </p:txBody>
      </p:sp>
      <p:pic>
        <p:nvPicPr>
          <p:cNvPr id="1026" name="Picture 2" descr="https://upload.wikimedia.org/wikipedia/commons/thumb/3/38/Barbara_Liskov_MIT_computer_scientist_2010.jpg/548px-Barbara_Liskov_MIT_computer_scientist_2010.jpg"/>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8875717" y="1690688"/>
            <a:ext cx="2935227" cy="41082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1683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500"/>
                                        <p:tgtEl>
                                          <p:spTgt spid="3">
                                            <p:txEl>
                                              <p:pRg st="8" end="8"/>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
                                            <p:txEl>
                                              <p:pRg st="9" end="9"/>
                                            </p:txEl>
                                          </p:spTgt>
                                        </p:tgtEl>
                                        <p:attrNameLst>
                                          <p:attrName>style.visibility</p:attrName>
                                        </p:attrNameLst>
                                      </p:cBhvr>
                                      <p:to>
                                        <p:strVal val="visible"/>
                                      </p:to>
                                    </p:set>
                                    <p:animEffect transition="in" filter="fade">
                                      <p:cBhvr>
                                        <p:cTn id="38" dur="500"/>
                                        <p:tgtEl>
                                          <p:spTgt spid="3">
                                            <p:txEl>
                                              <p:pRg st="9" end="9"/>
                                            </p:tx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animEffect transition="in" filter="fade">
                                      <p:cBhvr>
                                        <p:cTn id="41"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омер слайда 3"/>
          <p:cNvSpPr>
            <a:spLocks noGrp="1"/>
          </p:cNvSpPr>
          <p:nvPr>
            <p:ph type="sldNum" sz="quarter" idx="12"/>
          </p:nvPr>
        </p:nvSpPr>
        <p:spPr/>
        <p:txBody>
          <a:bodyPr/>
          <a:lstStyle/>
          <a:p>
            <a:fld id="{CF8E6F4D-2E97-47CB-8591-066566E4FE4D}" type="slidenum">
              <a:rPr lang="ru-RU" smtClean="0"/>
              <a:t>21</a:t>
            </a:fld>
            <a:endParaRPr lang="ru-RU"/>
          </a:p>
        </p:txBody>
      </p:sp>
      <p:pic>
        <p:nvPicPr>
          <p:cNvPr id="4102" name="Picture 6" descr="g:\Users\Vivid\Downloads\SOLID (1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1975" y="215863"/>
            <a:ext cx="11068050" cy="60779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35058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266E87-3B0A-0685-AC8E-2A780D531DF6}"/>
              </a:ext>
            </a:extLst>
          </p:cNvPr>
          <p:cNvSpPr>
            <a:spLocks noGrp="1"/>
          </p:cNvSpPr>
          <p:nvPr>
            <p:ph type="title"/>
          </p:nvPr>
        </p:nvSpPr>
        <p:spPr/>
        <p:txBody>
          <a:bodyPr/>
          <a:lstStyle/>
          <a:p>
            <a:r>
              <a:rPr lang="ru-RU" dirty="0"/>
              <a:t>Способ решения 1</a:t>
            </a:r>
            <a:endParaRPr lang="en-US" dirty="0"/>
          </a:p>
        </p:txBody>
      </p:sp>
      <p:sp>
        <p:nvSpPr>
          <p:cNvPr id="4" name="Content Placeholder 3">
            <a:extLst>
              <a:ext uri="{FF2B5EF4-FFF2-40B4-BE49-F238E27FC236}">
                <a16:creationId xmlns:a16="http://schemas.microsoft.com/office/drawing/2014/main" id="{CDD9C933-E048-D493-031E-F9D29DDA7D94}"/>
              </a:ext>
            </a:extLst>
          </p:cNvPr>
          <p:cNvSpPr>
            <a:spLocks noGrp="1"/>
          </p:cNvSpPr>
          <p:nvPr>
            <p:ph idx="1"/>
          </p:nvPr>
        </p:nvSpPr>
        <p:spPr>
          <a:xfrm>
            <a:off x="838200" y="1825625"/>
            <a:ext cx="6321357" cy="4351338"/>
          </a:xfrm>
        </p:spPr>
        <p:txBody>
          <a:bodyPr>
            <a:normAutofit fontScale="92500" lnSpcReduction="20000"/>
          </a:bodyPr>
          <a:lstStyle/>
          <a:p>
            <a:r>
              <a:rPr lang="ru-RU" dirty="0"/>
              <a:t>Главная идея: математическое отношение "квадрат — частный случай прямоугольника" не переносится на отношение "подкласс — базовый класс".</a:t>
            </a:r>
          </a:p>
          <a:p>
            <a:pPr lvl="1"/>
            <a:r>
              <a:rPr lang="ru-RU" dirty="0"/>
              <a:t>Поведение объектов различается, поэтому наследование — неверное средство.</a:t>
            </a:r>
          </a:p>
          <a:p>
            <a:r>
              <a:rPr lang="ru-RU" b="1" dirty="0"/>
              <a:t>Решение:</a:t>
            </a:r>
          </a:p>
          <a:p>
            <a:pPr lvl="1"/>
            <a:r>
              <a:rPr lang="ru-RU" dirty="0"/>
              <a:t>Создать два разных класса: </a:t>
            </a:r>
            <a:r>
              <a:rPr lang="ru-RU" dirty="0" err="1"/>
              <a:t>Rectangle</a:t>
            </a:r>
            <a:r>
              <a:rPr lang="ru-RU" dirty="0"/>
              <a:t> и Square.</a:t>
            </a:r>
          </a:p>
          <a:p>
            <a:pPr lvl="1"/>
            <a:r>
              <a:rPr lang="ru-RU" dirty="0"/>
              <a:t>Оба реализуют общее поведение через интерфейс, например </a:t>
            </a:r>
            <a:r>
              <a:rPr lang="ru-RU" dirty="0" err="1"/>
              <a:t>IShape</a:t>
            </a:r>
            <a:r>
              <a:rPr lang="ru-RU" dirty="0"/>
              <a:t>, если нужно.</a:t>
            </a:r>
          </a:p>
          <a:p>
            <a:r>
              <a:rPr lang="ru-RU" b="1" dirty="0"/>
              <a:t>Преимущество:</a:t>
            </a:r>
          </a:p>
          <a:p>
            <a:pPr lvl="1"/>
            <a:r>
              <a:rPr lang="ru-RU" dirty="0"/>
              <a:t>Вы больше не пытаетесь заставить один тип вести себя как другой → LSP соблюдён.</a:t>
            </a:r>
          </a:p>
          <a:p>
            <a:pPr lvl="1"/>
            <a:endParaRPr lang="ru-RU" dirty="0"/>
          </a:p>
        </p:txBody>
      </p:sp>
      <p:sp>
        <p:nvSpPr>
          <p:cNvPr id="2" name="Slide Number Placeholder 1">
            <a:extLst>
              <a:ext uri="{FF2B5EF4-FFF2-40B4-BE49-F238E27FC236}">
                <a16:creationId xmlns:a16="http://schemas.microsoft.com/office/drawing/2014/main" id="{8F9F5ACF-B2DE-709A-835D-7ECEA553225F}"/>
              </a:ext>
            </a:extLst>
          </p:cNvPr>
          <p:cNvSpPr>
            <a:spLocks noGrp="1"/>
          </p:cNvSpPr>
          <p:nvPr>
            <p:ph type="sldNum" sz="quarter" idx="12"/>
          </p:nvPr>
        </p:nvSpPr>
        <p:spPr/>
        <p:txBody>
          <a:bodyPr/>
          <a:lstStyle/>
          <a:p>
            <a:fld id="{CF8E6F4D-2E97-47CB-8591-066566E4FE4D}" type="slidenum">
              <a:rPr lang="ru-RU" smtClean="0"/>
              <a:t>22</a:t>
            </a:fld>
            <a:endParaRPr lang="ru-RU" dirty="0"/>
          </a:p>
        </p:txBody>
      </p:sp>
      <p:sp>
        <p:nvSpPr>
          <p:cNvPr id="6" name="TextBox 5">
            <a:extLst>
              <a:ext uri="{FF2B5EF4-FFF2-40B4-BE49-F238E27FC236}">
                <a16:creationId xmlns:a16="http://schemas.microsoft.com/office/drawing/2014/main" id="{0C5E01E7-2FF3-B204-9B6E-9C73F3D699C7}"/>
              </a:ext>
            </a:extLst>
          </p:cNvPr>
          <p:cNvSpPr txBox="1"/>
          <p:nvPr/>
        </p:nvSpPr>
        <p:spPr>
          <a:xfrm>
            <a:off x="7412476" y="1825625"/>
            <a:ext cx="4779523" cy="3693319"/>
          </a:xfrm>
          <a:prstGeom prst="rect">
            <a:avLst/>
          </a:prstGeom>
          <a:noFill/>
        </p:spPr>
        <p:txBody>
          <a:bodyPr wrap="square">
            <a:spAutoFit/>
          </a:bodyPr>
          <a:lstStyle/>
          <a:p>
            <a:pPr>
              <a:buNone/>
            </a:pPr>
            <a:r>
              <a:rPr lang="en-US" b="0" dirty="0">
                <a:solidFill>
                  <a:srgbClr val="0000FF"/>
                </a:solidFill>
                <a:effectLst/>
                <a:latin typeface="Consolas" panose="020B0609020204030204" pitchFamily="49" charset="0"/>
              </a:rPr>
              <a:t>class</a:t>
            </a:r>
            <a:r>
              <a:rPr lang="en-US" b="0" dirty="0">
                <a:solidFill>
                  <a:srgbClr val="000000"/>
                </a:solidFill>
                <a:effectLst/>
                <a:latin typeface="Consolas" panose="020B0609020204030204" pitchFamily="49" charset="0"/>
              </a:rPr>
              <a:t> </a:t>
            </a:r>
            <a:r>
              <a:rPr lang="en-US" b="0" dirty="0" err="1">
                <a:solidFill>
                  <a:srgbClr val="2B91AF"/>
                </a:solidFill>
                <a:effectLst/>
                <a:latin typeface="Consolas" panose="020B0609020204030204" pitchFamily="49" charset="0"/>
              </a:rPr>
              <a:t>IShape</a:t>
            </a:r>
            <a:r>
              <a:rPr lang="en-US" b="0" dirty="0">
                <a:solidFill>
                  <a:srgbClr val="000000"/>
                </a:solidFill>
                <a:effectLst/>
                <a:latin typeface="Consolas" panose="020B0609020204030204" pitchFamily="49" charset="0"/>
              </a:rPr>
              <a:t> {</a:t>
            </a:r>
          </a:p>
          <a:p>
            <a:pPr>
              <a:buNone/>
            </a:pPr>
            <a:r>
              <a:rPr lang="en-US" b="0" dirty="0">
                <a:solidFill>
                  <a:srgbClr val="0000FF"/>
                </a:solidFill>
                <a:effectLst/>
                <a:latin typeface="Consolas" panose="020B0609020204030204" pitchFamily="49" charset="0"/>
              </a:rPr>
              <a:t>public:</a:t>
            </a:r>
            <a:endParaRPr lang="en-US" b="0" dirty="0">
              <a:solidFill>
                <a:srgbClr val="000000"/>
              </a:solidFill>
              <a:effectLst/>
              <a:latin typeface="Consolas" panose="020B0609020204030204" pitchFamily="49" charset="0"/>
            </a:endParaRPr>
          </a:p>
          <a:p>
            <a:pPr>
              <a:buNone/>
            </a:pPr>
            <a:r>
              <a:rPr lang="ru-RU"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virtual</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double</a:t>
            </a:r>
            <a:r>
              <a:rPr lang="en-US" b="0" dirty="0">
                <a:solidFill>
                  <a:srgbClr val="000000"/>
                </a:solidFill>
                <a:effectLst/>
                <a:latin typeface="Consolas" panose="020B0609020204030204" pitchFamily="49" charset="0"/>
              </a:rPr>
              <a:t> </a:t>
            </a:r>
            <a:r>
              <a:rPr lang="en-US" b="0" dirty="0">
                <a:solidFill>
                  <a:srgbClr val="74531F"/>
                </a:solidFill>
                <a:effectLst/>
                <a:latin typeface="Consolas" panose="020B0609020204030204" pitchFamily="49" charset="0"/>
              </a:rPr>
              <a:t>Area</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a:t>
            </a:r>
          </a:p>
          <a:p>
            <a:pPr>
              <a:buNone/>
            </a:pPr>
            <a:r>
              <a:rPr lang="ru-RU"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virtual</a:t>
            </a:r>
            <a:r>
              <a:rPr lang="en-US" b="0" dirty="0">
                <a:solidFill>
                  <a:srgbClr val="000000"/>
                </a:solidFill>
                <a:effectLst/>
                <a:latin typeface="Consolas" panose="020B0609020204030204" pitchFamily="49" charset="0"/>
              </a:rPr>
              <a:t> </a:t>
            </a:r>
            <a:r>
              <a:rPr lang="en-US" b="0" dirty="0">
                <a:solidFill>
                  <a:srgbClr val="74531F"/>
                </a:solidFill>
                <a:effectLst/>
                <a:latin typeface="Consolas" panose="020B0609020204030204" pitchFamily="49" charset="0"/>
              </a:rPr>
              <a:t>~</a:t>
            </a:r>
            <a:r>
              <a:rPr lang="en-US" b="0" dirty="0" err="1">
                <a:solidFill>
                  <a:srgbClr val="74531F"/>
                </a:solidFill>
                <a:effectLst/>
                <a:latin typeface="Consolas" panose="020B0609020204030204" pitchFamily="49" charset="0"/>
              </a:rPr>
              <a:t>IShape</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default</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a:t>
            </a:r>
          </a:p>
          <a:p>
            <a:pPr>
              <a:buNone/>
            </a:pPr>
            <a:endParaRPr lang="en-US" b="0" dirty="0">
              <a:solidFill>
                <a:srgbClr val="000000"/>
              </a:solidFill>
              <a:effectLst/>
              <a:latin typeface="Consolas" panose="020B0609020204030204" pitchFamily="49" charset="0"/>
            </a:endParaRPr>
          </a:p>
          <a:p>
            <a:pPr>
              <a:buNone/>
            </a:pPr>
            <a:r>
              <a:rPr lang="en-US" b="0" dirty="0">
                <a:solidFill>
                  <a:srgbClr val="0000FF"/>
                </a:solidFill>
                <a:effectLst/>
                <a:latin typeface="Consolas" panose="020B0609020204030204" pitchFamily="49" charset="0"/>
              </a:rPr>
              <a:t>class</a:t>
            </a:r>
            <a:r>
              <a:rPr lang="en-US" b="0" dirty="0">
                <a:solidFill>
                  <a:srgbClr val="000000"/>
                </a:solidFill>
                <a:effectLst/>
                <a:latin typeface="Consolas" panose="020B0609020204030204" pitchFamily="49" charset="0"/>
              </a:rPr>
              <a:t> </a:t>
            </a:r>
            <a:r>
              <a:rPr lang="en-US" b="0" dirty="0">
                <a:solidFill>
                  <a:srgbClr val="2B91AF"/>
                </a:solidFill>
                <a:effectLst/>
                <a:latin typeface="Consolas" panose="020B0609020204030204" pitchFamily="49" charset="0"/>
              </a:rPr>
              <a:t>Rectangle</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public</a:t>
            </a:r>
            <a:r>
              <a:rPr lang="en-US" b="0" dirty="0">
                <a:solidFill>
                  <a:srgbClr val="000000"/>
                </a:solidFill>
                <a:effectLst/>
                <a:latin typeface="Consolas" panose="020B0609020204030204" pitchFamily="49" charset="0"/>
              </a:rPr>
              <a:t> </a:t>
            </a:r>
            <a:r>
              <a:rPr lang="en-US" b="0" dirty="0" err="1">
                <a:solidFill>
                  <a:srgbClr val="2B91AF"/>
                </a:solidFill>
                <a:effectLst/>
                <a:latin typeface="Consolas" panose="020B0609020204030204" pitchFamily="49" charset="0"/>
              </a:rPr>
              <a:t>IShape</a:t>
            </a:r>
            <a:r>
              <a:rPr lang="en-US" b="0" dirty="0">
                <a:solidFill>
                  <a:srgbClr val="000000"/>
                </a:solidFill>
                <a:effectLst/>
                <a:latin typeface="Consolas" panose="020B0609020204030204" pitchFamily="49" charset="0"/>
              </a:rPr>
              <a:t> {</a:t>
            </a:r>
          </a:p>
          <a:p>
            <a:pPr>
              <a:buNone/>
            </a:pPr>
            <a:r>
              <a:rPr lang="ru-RU" b="0" dirty="0">
                <a:solidFill>
                  <a:srgbClr val="008000"/>
                </a:solidFill>
                <a:effectLst/>
                <a:latin typeface="Consolas" panose="020B0609020204030204" pitchFamily="49" charset="0"/>
              </a:rPr>
              <a:t>  </a:t>
            </a:r>
            <a:r>
              <a:rPr lang="en-US" b="0" dirty="0">
                <a:solidFill>
                  <a:srgbClr val="008000"/>
                </a:solidFill>
                <a:effectLst/>
                <a:latin typeface="Consolas" panose="020B0609020204030204" pitchFamily="49" charset="0"/>
              </a:rPr>
              <a:t>// width, height</a:t>
            </a:r>
            <a:endParaRPr lang="en-US" b="0" dirty="0">
              <a:solidFill>
                <a:srgbClr val="000000"/>
              </a:solidFill>
              <a:effectLst/>
              <a:latin typeface="Consolas" panose="020B0609020204030204" pitchFamily="49" charset="0"/>
            </a:endParaRPr>
          </a:p>
          <a:p>
            <a:pPr>
              <a:buNone/>
            </a:pPr>
            <a:r>
              <a:rPr lang="en-US" b="0" dirty="0">
                <a:solidFill>
                  <a:srgbClr val="000000"/>
                </a:solidFill>
                <a:effectLst/>
                <a:latin typeface="Consolas" panose="020B0609020204030204" pitchFamily="49" charset="0"/>
              </a:rPr>
              <a:t>};</a:t>
            </a:r>
            <a:br>
              <a:rPr lang="en-US" b="0" dirty="0">
                <a:solidFill>
                  <a:srgbClr val="000000"/>
                </a:solidFill>
                <a:effectLst/>
                <a:latin typeface="Consolas" panose="020B0609020204030204" pitchFamily="49" charset="0"/>
              </a:rPr>
            </a:br>
            <a:endParaRPr lang="en-US" b="0" dirty="0">
              <a:solidFill>
                <a:srgbClr val="000000"/>
              </a:solidFill>
              <a:effectLst/>
              <a:latin typeface="Consolas" panose="020B0609020204030204" pitchFamily="49" charset="0"/>
            </a:endParaRPr>
          </a:p>
          <a:p>
            <a:pPr>
              <a:buNone/>
            </a:pPr>
            <a:r>
              <a:rPr lang="en-US" b="0" dirty="0">
                <a:solidFill>
                  <a:srgbClr val="0000FF"/>
                </a:solidFill>
                <a:effectLst/>
                <a:latin typeface="Consolas" panose="020B0609020204030204" pitchFamily="49" charset="0"/>
              </a:rPr>
              <a:t>class</a:t>
            </a:r>
            <a:r>
              <a:rPr lang="en-US" b="0" dirty="0">
                <a:solidFill>
                  <a:srgbClr val="000000"/>
                </a:solidFill>
                <a:effectLst/>
                <a:latin typeface="Consolas" panose="020B0609020204030204" pitchFamily="49" charset="0"/>
              </a:rPr>
              <a:t> </a:t>
            </a:r>
            <a:r>
              <a:rPr lang="en-US" b="0" dirty="0">
                <a:solidFill>
                  <a:srgbClr val="2B91AF"/>
                </a:solidFill>
                <a:effectLst/>
                <a:latin typeface="Consolas" panose="020B0609020204030204" pitchFamily="49" charset="0"/>
              </a:rPr>
              <a:t>Square</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public</a:t>
            </a:r>
            <a:r>
              <a:rPr lang="en-US" b="0" dirty="0">
                <a:solidFill>
                  <a:srgbClr val="000000"/>
                </a:solidFill>
                <a:effectLst/>
                <a:latin typeface="Consolas" panose="020B0609020204030204" pitchFamily="49" charset="0"/>
              </a:rPr>
              <a:t> </a:t>
            </a:r>
            <a:r>
              <a:rPr lang="en-US" b="0" dirty="0" err="1">
                <a:solidFill>
                  <a:srgbClr val="2B91AF"/>
                </a:solidFill>
                <a:effectLst/>
                <a:latin typeface="Consolas" panose="020B0609020204030204" pitchFamily="49" charset="0"/>
              </a:rPr>
              <a:t>IShape</a:t>
            </a:r>
            <a:r>
              <a:rPr lang="en-US" b="0" dirty="0">
                <a:solidFill>
                  <a:srgbClr val="000000"/>
                </a:solidFill>
                <a:effectLst/>
                <a:latin typeface="Consolas" panose="020B0609020204030204" pitchFamily="49" charset="0"/>
              </a:rPr>
              <a:t> {</a:t>
            </a:r>
          </a:p>
          <a:p>
            <a:pPr>
              <a:buNone/>
            </a:pPr>
            <a:r>
              <a:rPr lang="ru-RU" b="0" dirty="0">
                <a:solidFill>
                  <a:srgbClr val="008000"/>
                </a:solidFill>
                <a:effectLst/>
                <a:latin typeface="Consolas" panose="020B0609020204030204" pitchFamily="49" charset="0"/>
              </a:rPr>
              <a:t>  </a:t>
            </a:r>
            <a:r>
              <a:rPr lang="en-US" b="0" dirty="0">
                <a:solidFill>
                  <a:srgbClr val="008000"/>
                </a:solidFill>
                <a:effectLst/>
                <a:latin typeface="Consolas" panose="020B0609020204030204" pitchFamily="49" charset="0"/>
              </a:rPr>
              <a:t>// side</a:t>
            </a:r>
            <a:endParaRPr lang="en-US" b="0" dirty="0">
              <a:solidFill>
                <a:srgbClr val="000000"/>
              </a:solidFill>
              <a:effectLst/>
              <a:latin typeface="Consolas" panose="020B0609020204030204" pitchFamily="49" charset="0"/>
            </a:endParaRPr>
          </a:p>
          <a:p>
            <a:pPr>
              <a:buNone/>
            </a:pPr>
            <a:r>
              <a:rPr lang="en-US"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18388936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782C1-07EA-5ABE-5138-DF9B8525AA52}"/>
              </a:ext>
            </a:extLst>
          </p:cNvPr>
          <p:cNvSpPr>
            <a:spLocks noGrp="1"/>
          </p:cNvSpPr>
          <p:nvPr>
            <p:ph type="title"/>
          </p:nvPr>
        </p:nvSpPr>
        <p:spPr/>
        <p:txBody>
          <a:bodyPr/>
          <a:lstStyle/>
          <a:p>
            <a:r>
              <a:rPr lang="ru-RU" dirty="0"/>
              <a:t>Способ решения 2</a:t>
            </a:r>
            <a:endParaRPr lang="en-US" dirty="0"/>
          </a:p>
        </p:txBody>
      </p:sp>
      <p:sp>
        <p:nvSpPr>
          <p:cNvPr id="3" name="Content Placeholder 2">
            <a:extLst>
              <a:ext uri="{FF2B5EF4-FFF2-40B4-BE49-F238E27FC236}">
                <a16:creationId xmlns:a16="http://schemas.microsoft.com/office/drawing/2014/main" id="{A92C6F9B-4B7C-D6C0-1C39-13394F99FE43}"/>
              </a:ext>
            </a:extLst>
          </p:cNvPr>
          <p:cNvSpPr>
            <a:spLocks noGrp="1"/>
          </p:cNvSpPr>
          <p:nvPr>
            <p:ph idx="1"/>
          </p:nvPr>
        </p:nvSpPr>
        <p:spPr>
          <a:xfrm>
            <a:off x="838200" y="1825625"/>
            <a:ext cx="6691009" cy="4351338"/>
          </a:xfrm>
        </p:spPr>
        <p:txBody>
          <a:bodyPr/>
          <a:lstStyle/>
          <a:p>
            <a:r>
              <a:rPr lang="ru-RU" dirty="0"/>
              <a:t>Убрать сеттеры ширины/высоты и сделать объект неизменяемым</a:t>
            </a:r>
          </a:p>
          <a:p>
            <a:r>
              <a:rPr lang="ru-RU" dirty="0"/>
              <a:t>Проблема возникает из-за </a:t>
            </a:r>
            <a:r>
              <a:rPr lang="ru-RU" dirty="0" err="1"/>
              <a:t>мутабельности</a:t>
            </a:r>
            <a:r>
              <a:rPr lang="ru-RU" dirty="0"/>
              <a:t>: изменение ширины квадрата автоматически требует изменения высоты.</a:t>
            </a:r>
          </a:p>
          <a:p>
            <a:r>
              <a:rPr lang="ru-RU" b="1" dirty="0"/>
              <a:t>Решение:</a:t>
            </a:r>
          </a:p>
          <a:p>
            <a:pPr lvl="1"/>
            <a:r>
              <a:rPr lang="ru-RU" dirty="0"/>
              <a:t>Сделать </a:t>
            </a:r>
            <a:r>
              <a:rPr lang="ru-RU" dirty="0" err="1"/>
              <a:t>Rectangle</a:t>
            </a:r>
            <a:r>
              <a:rPr lang="ru-RU" dirty="0"/>
              <a:t> и Square </a:t>
            </a:r>
            <a:r>
              <a:rPr lang="ru-RU" b="1" dirty="0" err="1"/>
              <a:t>immutable</a:t>
            </a:r>
            <a:r>
              <a:rPr lang="ru-RU" dirty="0"/>
              <a:t>.</a:t>
            </a:r>
          </a:p>
          <a:p>
            <a:pPr lvl="1"/>
            <a:r>
              <a:rPr lang="ru-RU" dirty="0"/>
              <a:t>Изменения создают новый объект вместо изменения состояния существующего.</a:t>
            </a:r>
          </a:p>
        </p:txBody>
      </p:sp>
      <p:sp>
        <p:nvSpPr>
          <p:cNvPr id="4" name="Slide Number Placeholder 3">
            <a:extLst>
              <a:ext uri="{FF2B5EF4-FFF2-40B4-BE49-F238E27FC236}">
                <a16:creationId xmlns:a16="http://schemas.microsoft.com/office/drawing/2014/main" id="{205C6F56-DB14-B208-1DFC-D2C39A2C46F9}"/>
              </a:ext>
            </a:extLst>
          </p:cNvPr>
          <p:cNvSpPr>
            <a:spLocks noGrp="1"/>
          </p:cNvSpPr>
          <p:nvPr>
            <p:ph type="sldNum" sz="quarter" idx="12"/>
          </p:nvPr>
        </p:nvSpPr>
        <p:spPr/>
        <p:txBody>
          <a:bodyPr/>
          <a:lstStyle/>
          <a:p>
            <a:fld id="{CF8E6F4D-2E97-47CB-8591-066566E4FE4D}" type="slidenum">
              <a:rPr lang="ru-RU" smtClean="0"/>
              <a:t>23</a:t>
            </a:fld>
            <a:endParaRPr lang="ru-RU"/>
          </a:p>
        </p:txBody>
      </p:sp>
      <p:sp>
        <p:nvSpPr>
          <p:cNvPr id="6" name="TextBox 5">
            <a:extLst>
              <a:ext uri="{FF2B5EF4-FFF2-40B4-BE49-F238E27FC236}">
                <a16:creationId xmlns:a16="http://schemas.microsoft.com/office/drawing/2014/main" id="{6BAC8171-5A21-2165-2707-2684917601D4}"/>
              </a:ext>
            </a:extLst>
          </p:cNvPr>
          <p:cNvSpPr txBox="1"/>
          <p:nvPr/>
        </p:nvSpPr>
        <p:spPr>
          <a:xfrm>
            <a:off x="7368702" y="1825625"/>
            <a:ext cx="4823298" cy="3693319"/>
          </a:xfrm>
          <a:prstGeom prst="rect">
            <a:avLst/>
          </a:prstGeom>
          <a:noFill/>
        </p:spPr>
        <p:txBody>
          <a:bodyPr wrap="square">
            <a:spAutoFit/>
          </a:bodyPr>
          <a:lstStyle/>
          <a:p>
            <a:pPr>
              <a:buNone/>
            </a:pPr>
            <a:r>
              <a:rPr lang="en-US" b="0" dirty="0">
                <a:solidFill>
                  <a:srgbClr val="0000FF"/>
                </a:solidFill>
                <a:effectLst/>
                <a:latin typeface="Consolas" panose="020B0609020204030204" pitchFamily="49" charset="0"/>
              </a:rPr>
              <a:t>class</a:t>
            </a:r>
            <a:r>
              <a:rPr lang="en-US" b="0" dirty="0">
                <a:solidFill>
                  <a:srgbClr val="000000"/>
                </a:solidFill>
                <a:effectLst/>
                <a:latin typeface="Consolas" panose="020B0609020204030204" pitchFamily="49" charset="0"/>
              </a:rPr>
              <a:t> </a:t>
            </a:r>
            <a:r>
              <a:rPr lang="en-US" b="0" dirty="0">
                <a:solidFill>
                  <a:srgbClr val="2B91AF"/>
                </a:solidFill>
                <a:effectLst/>
                <a:latin typeface="Consolas" panose="020B0609020204030204" pitchFamily="49" charset="0"/>
              </a:rPr>
              <a:t>Rectangle</a:t>
            </a:r>
            <a:r>
              <a:rPr lang="en-US" b="0" dirty="0">
                <a:solidFill>
                  <a:srgbClr val="000000"/>
                </a:solidFill>
                <a:effectLst/>
                <a:latin typeface="Consolas" panose="020B0609020204030204" pitchFamily="49" charset="0"/>
              </a:rPr>
              <a:t> {</a:t>
            </a:r>
          </a:p>
          <a:p>
            <a:pPr>
              <a:buNone/>
            </a:pPr>
            <a:r>
              <a:rPr lang="en-US" b="0" dirty="0">
                <a:solidFill>
                  <a:srgbClr val="0000FF"/>
                </a:solidFill>
                <a:effectLst/>
                <a:latin typeface="Consolas" panose="020B0609020204030204" pitchFamily="49" charset="0"/>
              </a:rPr>
              <a:t>public:</a:t>
            </a:r>
            <a:endParaRPr lang="en-US" b="0" dirty="0">
              <a:solidFill>
                <a:srgbClr val="000000"/>
              </a:solidFill>
              <a:effectLst/>
              <a:latin typeface="Consolas" panose="020B0609020204030204" pitchFamily="49" charset="0"/>
            </a:endParaRPr>
          </a:p>
          <a:p>
            <a:pPr>
              <a:buNone/>
            </a:pPr>
            <a:r>
              <a:rPr lang="ru-RU" b="0" dirty="0">
                <a:solidFill>
                  <a:srgbClr val="000000"/>
                </a:solidFill>
                <a:effectLst/>
                <a:latin typeface="Consolas" panose="020B0609020204030204" pitchFamily="49" charset="0"/>
              </a:rPr>
              <a:t>  </a:t>
            </a:r>
            <a:r>
              <a:rPr lang="en-US" b="0" dirty="0">
                <a:solidFill>
                  <a:srgbClr val="74531F"/>
                </a:solidFill>
                <a:effectLst/>
                <a:latin typeface="Consolas" panose="020B0609020204030204" pitchFamily="49" charset="0"/>
              </a:rPr>
              <a:t>Rectangle</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a:t>
            </a:r>
            <a:r>
              <a:rPr lang="en-US" b="0" dirty="0">
                <a:solidFill>
                  <a:srgbClr val="808080"/>
                </a:solidFill>
                <a:effectLst/>
                <a:latin typeface="Consolas" panose="020B0609020204030204" pitchFamily="49" charset="0"/>
              </a:rPr>
              <a:t>w</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a:t>
            </a:r>
            <a:r>
              <a:rPr lang="en-US" b="0" dirty="0">
                <a:solidFill>
                  <a:srgbClr val="808080"/>
                </a:solidFill>
                <a:effectLst/>
                <a:latin typeface="Consolas" panose="020B0609020204030204" pitchFamily="49" charset="0"/>
              </a:rPr>
              <a:t>h</a:t>
            </a:r>
            <a:r>
              <a:rPr lang="en-US" b="0" dirty="0">
                <a:solidFill>
                  <a:srgbClr val="000000"/>
                </a:solidFill>
                <a:effectLst/>
                <a:latin typeface="Consolas" panose="020B0609020204030204" pitchFamily="49" charset="0"/>
              </a:rPr>
              <a:t>);</a:t>
            </a:r>
          </a:p>
          <a:p>
            <a:pPr>
              <a:buNone/>
            </a:pPr>
            <a:endParaRPr lang="en-US" b="0" dirty="0">
              <a:solidFill>
                <a:srgbClr val="000000"/>
              </a:solidFill>
              <a:effectLst/>
              <a:latin typeface="Consolas" panose="020B0609020204030204" pitchFamily="49" charset="0"/>
            </a:endParaRP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a:t>
            </a:r>
            <a:r>
              <a:rPr lang="en-US" b="0" dirty="0">
                <a:solidFill>
                  <a:srgbClr val="74531F"/>
                </a:solidFill>
                <a:effectLst/>
                <a:latin typeface="Consolas" panose="020B0609020204030204" pitchFamily="49" charset="0"/>
              </a:rPr>
              <a:t>Width</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a:t>
            </a:r>
            <a:r>
              <a:rPr lang="en-US" b="0" dirty="0">
                <a:solidFill>
                  <a:srgbClr val="74531F"/>
                </a:solidFill>
                <a:effectLst/>
                <a:latin typeface="Consolas" panose="020B0609020204030204" pitchFamily="49" charset="0"/>
              </a:rPr>
              <a:t>Height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a:t>
            </a:r>
            <a:br>
              <a:rPr lang="en-US" b="0" dirty="0">
                <a:solidFill>
                  <a:srgbClr val="000000"/>
                </a:solidFill>
                <a:effectLst/>
                <a:latin typeface="Consolas" panose="020B0609020204030204" pitchFamily="49" charset="0"/>
              </a:rPr>
            </a:br>
            <a:endParaRPr lang="en-US" b="0" dirty="0">
              <a:solidFill>
                <a:srgbClr val="000000"/>
              </a:solidFill>
              <a:effectLst/>
              <a:latin typeface="Consolas" panose="020B0609020204030204" pitchFamily="49" charset="0"/>
            </a:endParaRPr>
          </a:p>
          <a:p>
            <a:pPr>
              <a:buNone/>
            </a:pPr>
            <a:r>
              <a:rPr lang="en-US" b="0" dirty="0">
                <a:solidFill>
                  <a:srgbClr val="008000"/>
                </a:solidFill>
                <a:effectLst/>
                <a:latin typeface="Consolas" panose="020B0609020204030204" pitchFamily="49" charset="0"/>
              </a:rPr>
              <a:t>  // </a:t>
            </a:r>
            <a:r>
              <a:rPr lang="ru-RU" b="0" dirty="0">
                <a:solidFill>
                  <a:srgbClr val="008000"/>
                </a:solidFill>
                <a:effectLst/>
                <a:latin typeface="Consolas" panose="020B0609020204030204" pitchFamily="49" charset="0"/>
              </a:rPr>
              <a:t>возвращает новый объект</a:t>
            </a:r>
            <a:endParaRPr lang="ru-RU" b="0" dirty="0">
              <a:solidFill>
                <a:srgbClr val="000000"/>
              </a:solidFill>
              <a:effectLst/>
              <a:latin typeface="Consolas" panose="020B0609020204030204" pitchFamily="49" charset="0"/>
            </a:endParaRPr>
          </a:p>
          <a:p>
            <a:pPr>
              <a:buNone/>
            </a:pPr>
            <a:r>
              <a:rPr lang="ru-RU" b="0" dirty="0">
                <a:solidFill>
                  <a:srgbClr val="000000"/>
                </a:solidFill>
                <a:effectLst/>
                <a:latin typeface="Consolas" panose="020B0609020204030204" pitchFamily="49" charset="0"/>
              </a:rPr>
              <a:t>  </a:t>
            </a:r>
            <a:r>
              <a:rPr lang="en-US" b="0" dirty="0">
                <a:solidFill>
                  <a:srgbClr val="2B91AF"/>
                </a:solidFill>
                <a:effectLst/>
                <a:latin typeface="Consolas" panose="020B0609020204030204" pitchFamily="49" charset="0"/>
              </a:rPr>
              <a:t>Rectangle</a:t>
            </a:r>
            <a:r>
              <a:rPr lang="en-US" b="0" dirty="0">
                <a:solidFill>
                  <a:srgbClr val="000000"/>
                </a:solidFill>
                <a:effectLst/>
                <a:latin typeface="Consolas" panose="020B0609020204030204" pitchFamily="49" charset="0"/>
              </a:rPr>
              <a:t> </a:t>
            </a:r>
            <a:r>
              <a:rPr lang="en-US" b="0" dirty="0" err="1">
                <a:solidFill>
                  <a:srgbClr val="74531F"/>
                </a:solidFill>
                <a:effectLst/>
                <a:latin typeface="Consolas" panose="020B0609020204030204" pitchFamily="49" charset="0"/>
              </a:rPr>
              <a:t>WithWidth</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a:t>
            </a:r>
            <a:r>
              <a:rPr lang="en-US" b="0" dirty="0">
                <a:solidFill>
                  <a:srgbClr val="808080"/>
                </a:solidFill>
                <a:effectLst/>
                <a:latin typeface="Consolas" panose="020B0609020204030204" pitchFamily="49" charset="0"/>
              </a:rPr>
              <a:t>w</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a:solidFill>
                  <a:srgbClr val="2B91AF"/>
                </a:solidFill>
                <a:effectLst/>
                <a:latin typeface="Consolas" panose="020B0609020204030204" pitchFamily="49" charset="0"/>
              </a:rPr>
              <a:t>Rectangle</a:t>
            </a:r>
            <a:r>
              <a:rPr lang="en-US" b="0" dirty="0">
                <a:solidFill>
                  <a:srgbClr val="000000"/>
                </a:solidFill>
                <a:effectLst/>
                <a:latin typeface="Consolas" panose="020B0609020204030204" pitchFamily="49" charset="0"/>
              </a:rPr>
              <a:t> </a:t>
            </a:r>
            <a:r>
              <a:rPr lang="en-US" b="0" dirty="0" err="1">
                <a:solidFill>
                  <a:srgbClr val="74531F"/>
                </a:solidFill>
                <a:effectLst/>
                <a:latin typeface="Consolas" panose="020B0609020204030204" pitchFamily="49" charset="0"/>
              </a:rPr>
              <a:t>WithHeight</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a:t>
            </a:r>
            <a:r>
              <a:rPr lang="en-US" b="0" dirty="0">
                <a:solidFill>
                  <a:srgbClr val="808080"/>
                </a:solidFill>
                <a:effectLst/>
                <a:latin typeface="Consolas" panose="020B0609020204030204" pitchFamily="49" charset="0"/>
              </a:rPr>
              <a:t>h</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a:t>
            </a:r>
          </a:p>
          <a:p>
            <a:pPr>
              <a:buNone/>
            </a:pPr>
            <a:br>
              <a:rPr lang="en-US" b="0" dirty="0">
                <a:solidFill>
                  <a:srgbClr val="000000"/>
                </a:solidFill>
                <a:effectLst/>
                <a:latin typeface="Consolas" panose="020B0609020204030204" pitchFamily="49" charset="0"/>
              </a:rPr>
            </a:br>
            <a:endParaRPr lang="en-US"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10115098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95D13-E409-6671-7F09-850D2648BF4C}"/>
              </a:ext>
            </a:extLst>
          </p:cNvPr>
          <p:cNvSpPr>
            <a:spLocks noGrp="1"/>
          </p:cNvSpPr>
          <p:nvPr>
            <p:ph type="title"/>
          </p:nvPr>
        </p:nvSpPr>
        <p:spPr/>
        <p:txBody>
          <a:bodyPr/>
          <a:lstStyle/>
          <a:p>
            <a:r>
              <a:rPr lang="ru-RU" dirty="0"/>
              <a:t>Способ решения 3</a:t>
            </a:r>
            <a:endParaRPr lang="en-US" dirty="0"/>
          </a:p>
        </p:txBody>
      </p:sp>
      <p:sp>
        <p:nvSpPr>
          <p:cNvPr id="3" name="Content Placeholder 2">
            <a:extLst>
              <a:ext uri="{FF2B5EF4-FFF2-40B4-BE49-F238E27FC236}">
                <a16:creationId xmlns:a16="http://schemas.microsoft.com/office/drawing/2014/main" id="{862B8DC3-DB13-8A66-92FE-C6D44EEB84C6}"/>
              </a:ext>
            </a:extLst>
          </p:cNvPr>
          <p:cNvSpPr>
            <a:spLocks noGrp="1"/>
          </p:cNvSpPr>
          <p:nvPr>
            <p:ph idx="1"/>
          </p:nvPr>
        </p:nvSpPr>
        <p:spPr/>
        <p:txBody>
          <a:bodyPr>
            <a:normAutofit lnSpcReduction="10000"/>
          </a:bodyPr>
          <a:lstStyle/>
          <a:p>
            <a:r>
              <a:rPr lang="ru-RU" dirty="0"/>
              <a:t>Представлять квадрат как фабрику прямоугольника, а не как подкласс</a:t>
            </a:r>
          </a:p>
          <a:p>
            <a:pPr lvl="1"/>
            <a:r>
              <a:rPr lang="ru-RU" dirty="0"/>
              <a:t>Square — не самостоятельная фигура, а ограниченный способ создания </a:t>
            </a:r>
            <a:r>
              <a:rPr lang="ru-RU" dirty="0" err="1"/>
              <a:t>Rectangle</a:t>
            </a:r>
            <a:r>
              <a:rPr lang="ru-RU" dirty="0"/>
              <a:t>.</a:t>
            </a:r>
          </a:p>
          <a:p>
            <a:r>
              <a:rPr lang="ru-RU" dirty="0"/>
              <a:t>Решение:</a:t>
            </a:r>
          </a:p>
          <a:p>
            <a:pPr lvl="1"/>
            <a:r>
              <a:rPr lang="ru-RU" dirty="0" err="1"/>
              <a:t>Rectangle</a:t>
            </a:r>
            <a:r>
              <a:rPr lang="ru-RU" dirty="0"/>
              <a:t> </a:t>
            </a:r>
            <a:r>
              <a:rPr lang="ru-RU" dirty="0" err="1"/>
              <a:t>MakeSquare</a:t>
            </a:r>
            <a:r>
              <a:rPr lang="ru-RU" dirty="0"/>
              <a:t>(</a:t>
            </a:r>
            <a:r>
              <a:rPr lang="ru-RU" dirty="0" err="1"/>
              <a:t>int</a:t>
            </a:r>
            <a:r>
              <a:rPr lang="ru-RU" dirty="0"/>
              <a:t> </a:t>
            </a:r>
            <a:r>
              <a:rPr lang="ru-RU" dirty="0" err="1"/>
              <a:t>side</a:t>
            </a:r>
            <a:r>
              <a:rPr lang="ru-RU" dirty="0"/>
              <a:t>) { </a:t>
            </a:r>
            <a:br>
              <a:rPr lang="ru-RU" dirty="0"/>
            </a:br>
            <a:r>
              <a:rPr lang="ru-RU" dirty="0"/>
              <a:t>  </a:t>
            </a:r>
            <a:r>
              <a:rPr lang="ru-RU" dirty="0" err="1"/>
              <a:t>return</a:t>
            </a:r>
            <a:r>
              <a:rPr lang="ru-RU" dirty="0"/>
              <a:t> </a:t>
            </a:r>
            <a:r>
              <a:rPr lang="ru-RU" dirty="0" err="1"/>
              <a:t>Rectangle</a:t>
            </a:r>
            <a:r>
              <a:rPr lang="ru-RU" dirty="0"/>
              <a:t>(</a:t>
            </a:r>
            <a:r>
              <a:rPr lang="ru-RU" dirty="0" err="1"/>
              <a:t>side</a:t>
            </a:r>
            <a:r>
              <a:rPr lang="ru-RU" dirty="0"/>
              <a:t>, </a:t>
            </a:r>
            <a:r>
              <a:rPr lang="ru-RU" dirty="0" err="1"/>
              <a:t>side</a:t>
            </a:r>
            <a:r>
              <a:rPr lang="ru-RU" dirty="0"/>
              <a:t>);</a:t>
            </a:r>
            <a:br>
              <a:rPr lang="ru-RU" dirty="0"/>
            </a:br>
            <a:r>
              <a:rPr lang="ru-RU" dirty="0"/>
              <a:t>}</a:t>
            </a:r>
          </a:p>
          <a:p>
            <a:r>
              <a:rPr lang="ru-RU" dirty="0"/>
              <a:t>Преимущество:</a:t>
            </a:r>
          </a:p>
          <a:p>
            <a:pPr lvl="1"/>
            <a:r>
              <a:rPr lang="ru-RU" dirty="0"/>
              <a:t>У нас один тип </a:t>
            </a:r>
            <a:r>
              <a:rPr lang="ru-RU" dirty="0" err="1"/>
              <a:t>Rectangle</a:t>
            </a:r>
            <a:r>
              <a:rPr lang="ru-RU" dirty="0"/>
              <a:t> и вспомогательная функция.</a:t>
            </a:r>
            <a:br>
              <a:rPr lang="ru-RU" dirty="0"/>
            </a:br>
            <a:r>
              <a:rPr lang="ru-RU" dirty="0"/>
              <a:t>Никаких конфликтов поведения → LSP соблюдён.</a:t>
            </a:r>
          </a:p>
          <a:p>
            <a:endParaRPr lang="en-US" dirty="0"/>
          </a:p>
        </p:txBody>
      </p:sp>
      <p:sp>
        <p:nvSpPr>
          <p:cNvPr id="4" name="Slide Number Placeholder 3">
            <a:extLst>
              <a:ext uri="{FF2B5EF4-FFF2-40B4-BE49-F238E27FC236}">
                <a16:creationId xmlns:a16="http://schemas.microsoft.com/office/drawing/2014/main" id="{3A951150-AEF4-7FCE-7079-D282AF71CBB9}"/>
              </a:ext>
            </a:extLst>
          </p:cNvPr>
          <p:cNvSpPr>
            <a:spLocks noGrp="1"/>
          </p:cNvSpPr>
          <p:nvPr>
            <p:ph type="sldNum" sz="quarter" idx="12"/>
          </p:nvPr>
        </p:nvSpPr>
        <p:spPr/>
        <p:txBody>
          <a:bodyPr/>
          <a:lstStyle/>
          <a:p>
            <a:fld id="{CF8E6F4D-2E97-47CB-8591-066566E4FE4D}" type="slidenum">
              <a:rPr lang="ru-RU" smtClean="0"/>
              <a:t>24</a:t>
            </a:fld>
            <a:endParaRPr lang="ru-RU"/>
          </a:p>
        </p:txBody>
      </p:sp>
    </p:spTree>
    <p:extLst>
      <p:ext uri="{BB962C8B-B14F-4D97-AF65-F5344CB8AC3E}">
        <p14:creationId xmlns:p14="http://schemas.microsoft.com/office/powerpoint/2010/main" val="21251439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883BA-7DD9-36C7-5602-CE6D0D861D0D}"/>
              </a:ext>
            </a:extLst>
          </p:cNvPr>
          <p:cNvSpPr>
            <a:spLocks noGrp="1"/>
          </p:cNvSpPr>
          <p:nvPr>
            <p:ph type="title"/>
          </p:nvPr>
        </p:nvSpPr>
        <p:spPr/>
        <p:txBody>
          <a:bodyPr/>
          <a:lstStyle/>
          <a:p>
            <a:r>
              <a:rPr lang="ru-RU" dirty="0"/>
              <a:t>Способ 4</a:t>
            </a:r>
            <a:endParaRPr lang="en-US" dirty="0"/>
          </a:p>
        </p:txBody>
      </p:sp>
      <p:sp>
        <p:nvSpPr>
          <p:cNvPr id="3" name="Content Placeholder 2">
            <a:extLst>
              <a:ext uri="{FF2B5EF4-FFF2-40B4-BE49-F238E27FC236}">
                <a16:creationId xmlns:a16="http://schemas.microsoft.com/office/drawing/2014/main" id="{2E8BEBEB-09BA-3F6B-B76E-46A02219FE31}"/>
              </a:ext>
            </a:extLst>
          </p:cNvPr>
          <p:cNvSpPr>
            <a:spLocks noGrp="1"/>
          </p:cNvSpPr>
          <p:nvPr>
            <p:ph idx="1"/>
          </p:nvPr>
        </p:nvSpPr>
        <p:spPr/>
        <p:txBody>
          <a:bodyPr>
            <a:normAutofit fontScale="85000" lnSpcReduction="10000"/>
          </a:bodyPr>
          <a:lstStyle/>
          <a:p>
            <a:r>
              <a:rPr lang="ru-RU" dirty="0"/>
              <a:t>Рефакторинг через общий абстрактный класс, запрещающий изменение сторон</a:t>
            </a:r>
          </a:p>
          <a:p>
            <a:pPr lvl="1"/>
            <a:r>
              <a:rPr lang="ru-RU" dirty="0"/>
              <a:t>Если всё же хочется общую иерархию для фигур:</a:t>
            </a:r>
          </a:p>
          <a:p>
            <a:r>
              <a:rPr lang="ru-RU" b="1" dirty="0"/>
              <a:t>Решение:</a:t>
            </a:r>
          </a:p>
          <a:p>
            <a:pPr lvl="1"/>
            <a:r>
              <a:rPr lang="ru-RU" dirty="0"/>
              <a:t>Ввести базовый тип, который позволяет </a:t>
            </a:r>
            <a:r>
              <a:rPr lang="ru-RU" i="1" dirty="0"/>
              <a:t>читать</a:t>
            </a:r>
            <a:r>
              <a:rPr lang="ru-RU" dirty="0"/>
              <a:t> размеры, но не менять.</a:t>
            </a:r>
          </a:p>
          <a:p>
            <a:pPr lvl="1"/>
            <a:r>
              <a:rPr lang="ru-RU" dirty="0"/>
              <a:t>Изменение размеров происходит только у конкретного класса, но не через общий интерфейс.</a:t>
            </a:r>
          </a:p>
          <a:p>
            <a:pPr lvl="1"/>
            <a:r>
              <a:rPr lang="ru-RU" dirty="0" err="1"/>
              <a:t>class</a:t>
            </a:r>
            <a:r>
              <a:rPr lang="ru-RU" dirty="0"/>
              <a:t> </a:t>
            </a:r>
            <a:r>
              <a:rPr lang="ru-RU" dirty="0" err="1"/>
              <a:t>Shape</a:t>
            </a:r>
            <a:r>
              <a:rPr lang="ru-RU" dirty="0"/>
              <a:t> {</a:t>
            </a:r>
            <a:br>
              <a:rPr lang="ru-RU" dirty="0"/>
            </a:br>
            <a:r>
              <a:rPr lang="ru-RU" dirty="0" err="1"/>
              <a:t>public</a:t>
            </a:r>
            <a:r>
              <a:rPr lang="ru-RU" dirty="0"/>
              <a:t>:</a:t>
            </a:r>
            <a:br>
              <a:rPr lang="ru-RU" dirty="0"/>
            </a:br>
            <a:r>
              <a:rPr lang="ru-RU" dirty="0"/>
              <a:t>  </a:t>
            </a:r>
            <a:r>
              <a:rPr lang="ru-RU" dirty="0" err="1"/>
              <a:t>virtual</a:t>
            </a:r>
            <a:r>
              <a:rPr lang="ru-RU" dirty="0"/>
              <a:t> </a:t>
            </a:r>
            <a:r>
              <a:rPr lang="ru-RU" dirty="0" err="1"/>
              <a:t>int</a:t>
            </a:r>
            <a:r>
              <a:rPr lang="ru-RU" dirty="0"/>
              <a:t> </a:t>
            </a:r>
            <a:r>
              <a:rPr lang="ru-RU" dirty="0" err="1"/>
              <a:t>Width</a:t>
            </a:r>
            <a:r>
              <a:rPr lang="ru-RU" dirty="0"/>
              <a:t>() </a:t>
            </a:r>
            <a:r>
              <a:rPr lang="ru-RU" dirty="0" err="1"/>
              <a:t>const</a:t>
            </a:r>
            <a:r>
              <a:rPr lang="ru-RU" dirty="0"/>
              <a:t> = 0;</a:t>
            </a:r>
            <a:br>
              <a:rPr lang="ru-RU" dirty="0"/>
            </a:br>
            <a:r>
              <a:rPr lang="ru-RU" dirty="0"/>
              <a:t>  </a:t>
            </a:r>
            <a:r>
              <a:rPr lang="ru-RU" dirty="0" err="1"/>
              <a:t>virtual</a:t>
            </a:r>
            <a:r>
              <a:rPr lang="ru-RU" dirty="0"/>
              <a:t> </a:t>
            </a:r>
            <a:r>
              <a:rPr lang="ru-RU" dirty="0" err="1"/>
              <a:t>int</a:t>
            </a:r>
            <a:r>
              <a:rPr lang="ru-RU" dirty="0"/>
              <a:t> </a:t>
            </a:r>
            <a:r>
              <a:rPr lang="ru-RU" dirty="0" err="1"/>
              <a:t>Height</a:t>
            </a:r>
            <a:r>
              <a:rPr lang="ru-RU" dirty="0"/>
              <a:t>() </a:t>
            </a:r>
            <a:r>
              <a:rPr lang="ru-RU" dirty="0" err="1"/>
              <a:t>const</a:t>
            </a:r>
            <a:r>
              <a:rPr lang="ru-RU" dirty="0"/>
              <a:t> = 0;</a:t>
            </a:r>
            <a:br>
              <a:rPr lang="ru-RU" dirty="0"/>
            </a:br>
            <a:r>
              <a:rPr lang="ru-RU" dirty="0"/>
              <a:t>};</a:t>
            </a:r>
          </a:p>
          <a:p>
            <a:r>
              <a:rPr lang="ru-RU" b="1" dirty="0"/>
              <a:t>Преимущество:</a:t>
            </a:r>
          </a:p>
          <a:p>
            <a:pPr lvl="1"/>
            <a:r>
              <a:rPr lang="ru-RU" dirty="0"/>
              <a:t>Square и </a:t>
            </a:r>
            <a:r>
              <a:rPr lang="ru-RU" dirty="0" err="1"/>
              <a:t>Rectangle</a:t>
            </a:r>
            <a:r>
              <a:rPr lang="ru-RU" dirty="0"/>
              <a:t> не обязаны иметь общие операции изменения → LSP выполняется.</a:t>
            </a:r>
          </a:p>
          <a:p>
            <a:endParaRPr lang="en-US" dirty="0"/>
          </a:p>
        </p:txBody>
      </p:sp>
      <p:sp>
        <p:nvSpPr>
          <p:cNvPr id="4" name="Slide Number Placeholder 3">
            <a:extLst>
              <a:ext uri="{FF2B5EF4-FFF2-40B4-BE49-F238E27FC236}">
                <a16:creationId xmlns:a16="http://schemas.microsoft.com/office/drawing/2014/main" id="{7EEDAC21-5DC9-1A00-2320-3EDA8262748D}"/>
              </a:ext>
            </a:extLst>
          </p:cNvPr>
          <p:cNvSpPr>
            <a:spLocks noGrp="1"/>
          </p:cNvSpPr>
          <p:nvPr>
            <p:ph type="sldNum" sz="quarter" idx="12"/>
          </p:nvPr>
        </p:nvSpPr>
        <p:spPr/>
        <p:txBody>
          <a:bodyPr/>
          <a:lstStyle/>
          <a:p>
            <a:fld id="{CF8E6F4D-2E97-47CB-8591-066566E4FE4D}" type="slidenum">
              <a:rPr lang="ru-RU" smtClean="0"/>
              <a:t>25</a:t>
            </a:fld>
            <a:endParaRPr lang="ru-RU"/>
          </a:p>
        </p:txBody>
      </p:sp>
    </p:spTree>
    <p:extLst>
      <p:ext uri="{BB962C8B-B14F-4D97-AF65-F5344CB8AC3E}">
        <p14:creationId xmlns:p14="http://schemas.microsoft.com/office/powerpoint/2010/main" val="15606528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894F0B1-ECDC-FCAA-ADA5-89B1ADC8ACFB}"/>
              </a:ext>
            </a:extLst>
          </p:cNvPr>
          <p:cNvSpPr>
            <a:spLocks noGrp="1"/>
          </p:cNvSpPr>
          <p:nvPr>
            <p:ph type="title"/>
          </p:nvPr>
        </p:nvSpPr>
        <p:spPr/>
        <p:txBody>
          <a:bodyPr/>
          <a:lstStyle/>
          <a:p>
            <a:r>
              <a:rPr lang="ru-RU" dirty="0"/>
              <a:t>Соответствие подкласса принципу </a:t>
            </a:r>
            <a:r>
              <a:rPr lang="en-US" dirty="0"/>
              <a:t>LSP</a:t>
            </a:r>
            <a:endParaRPr lang="ru-RU" dirty="0"/>
          </a:p>
        </p:txBody>
      </p:sp>
      <p:sp>
        <p:nvSpPr>
          <p:cNvPr id="8" name="Content Placeholder 7">
            <a:extLst>
              <a:ext uri="{FF2B5EF4-FFF2-40B4-BE49-F238E27FC236}">
                <a16:creationId xmlns:a16="http://schemas.microsoft.com/office/drawing/2014/main" id="{31EFC9FB-28EB-485D-82A2-009391B36992}"/>
              </a:ext>
            </a:extLst>
          </p:cNvPr>
          <p:cNvSpPr>
            <a:spLocks noGrp="1"/>
          </p:cNvSpPr>
          <p:nvPr>
            <p:ph idx="1"/>
          </p:nvPr>
        </p:nvSpPr>
        <p:spPr/>
        <p:txBody>
          <a:bodyPr>
            <a:normAutofit fontScale="85000" lnSpcReduction="10000"/>
          </a:bodyPr>
          <a:lstStyle/>
          <a:p>
            <a:r>
              <a:rPr lang="ru-RU" b="1" dirty="0"/>
              <a:t>Подкласс может:</a:t>
            </a:r>
          </a:p>
          <a:p>
            <a:pPr lvl="1"/>
            <a:r>
              <a:rPr lang="ru-RU" b="1" dirty="0"/>
              <a:t>Ослаблять предусловия </a:t>
            </a:r>
            <a:r>
              <a:rPr lang="ru-RU" dirty="0"/>
              <a:t>(принимать более широкий диапазон входных значений).</a:t>
            </a:r>
          </a:p>
          <a:p>
            <a:pPr lvl="1"/>
            <a:r>
              <a:rPr lang="ru-RU" b="1" dirty="0" err="1"/>
              <a:t>Усилять</a:t>
            </a:r>
            <a:r>
              <a:rPr lang="ru-RU" b="1" dirty="0"/>
              <a:t> постусловия </a:t>
            </a:r>
            <a:r>
              <a:rPr lang="ru-RU" dirty="0"/>
              <a:t>(давать более сильные гарантии, чем базовый класс).</a:t>
            </a:r>
          </a:p>
          <a:p>
            <a:pPr lvl="1"/>
            <a:r>
              <a:rPr lang="ru-RU" b="1" dirty="0"/>
              <a:t>Сохранять и усиливать инварианты </a:t>
            </a:r>
            <a:r>
              <a:rPr lang="ru-RU" dirty="0"/>
              <a:t>(поддерживать правила, которые всегда верны для базового типа).</a:t>
            </a:r>
          </a:p>
          <a:p>
            <a:pPr lvl="1"/>
            <a:r>
              <a:rPr lang="ru-RU" b="1" dirty="0"/>
              <a:t>Не выбрасывать исключений</a:t>
            </a:r>
            <a:r>
              <a:rPr lang="ru-RU" dirty="0"/>
              <a:t>, которые допускает базовый класс.</a:t>
            </a:r>
          </a:p>
          <a:p>
            <a:r>
              <a:rPr lang="ru-RU" b="1" dirty="0"/>
              <a:t>Подкласс не может:</a:t>
            </a:r>
          </a:p>
          <a:p>
            <a:pPr lvl="1"/>
            <a:r>
              <a:rPr lang="ru-RU" b="1" dirty="0"/>
              <a:t>Ужесточать предусловия </a:t>
            </a:r>
            <a:r>
              <a:rPr lang="ru-RU" dirty="0"/>
              <a:t>(требовать большего, чем допускает базовый класс).</a:t>
            </a:r>
          </a:p>
          <a:p>
            <a:pPr lvl="1"/>
            <a:r>
              <a:rPr lang="ru-RU" b="1" dirty="0"/>
              <a:t>Ослаблять постусловия </a:t>
            </a:r>
            <a:r>
              <a:rPr lang="ru-RU" dirty="0"/>
              <a:t>(давать менее надёжные гарантии выполнения).</a:t>
            </a:r>
          </a:p>
          <a:p>
            <a:pPr lvl="1"/>
            <a:r>
              <a:rPr lang="ru-RU" b="1" dirty="0"/>
              <a:t>Нарушать инварианты базового типа </a:t>
            </a:r>
            <a:r>
              <a:rPr lang="ru-RU" dirty="0"/>
              <a:t>(менять фундаментальные свойства поведения).</a:t>
            </a:r>
          </a:p>
          <a:p>
            <a:pPr lvl="1"/>
            <a:r>
              <a:rPr lang="ru-RU" b="1" dirty="0"/>
              <a:t>Вводить новые исключения</a:t>
            </a:r>
            <a:r>
              <a:rPr lang="ru-RU" dirty="0"/>
              <a:t>, не ожидаемые клиентом.</a:t>
            </a:r>
          </a:p>
          <a:p>
            <a:r>
              <a:rPr lang="ru-RU" dirty="0"/>
              <a:t>Поведение подкласса должно оставаться </a:t>
            </a:r>
            <a:r>
              <a:rPr lang="ru-RU" b="1" dirty="0"/>
              <a:t>совместимым с ожиданиями клиентов базового типа</a:t>
            </a:r>
            <a:r>
              <a:rPr lang="ru-RU" dirty="0"/>
              <a:t>, даже если реализация отличается.</a:t>
            </a:r>
          </a:p>
          <a:p>
            <a:endParaRPr lang="ru-RU" dirty="0"/>
          </a:p>
          <a:p>
            <a:endParaRPr lang="ru-RU" dirty="0"/>
          </a:p>
        </p:txBody>
      </p:sp>
      <p:sp>
        <p:nvSpPr>
          <p:cNvPr id="5" name="Slide Number Placeholder 4">
            <a:extLst>
              <a:ext uri="{FF2B5EF4-FFF2-40B4-BE49-F238E27FC236}">
                <a16:creationId xmlns:a16="http://schemas.microsoft.com/office/drawing/2014/main" id="{600CC324-E983-6973-4D72-FBFBF853E2EB}"/>
              </a:ext>
            </a:extLst>
          </p:cNvPr>
          <p:cNvSpPr>
            <a:spLocks noGrp="1"/>
          </p:cNvSpPr>
          <p:nvPr>
            <p:ph type="sldNum" sz="quarter" idx="12"/>
          </p:nvPr>
        </p:nvSpPr>
        <p:spPr/>
        <p:txBody>
          <a:bodyPr/>
          <a:lstStyle/>
          <a:p>
            <a:fld id="{CF8E6F4D-2E97-47CB-8591-066566E4FE4D}" type="slidenum">
              <a:rPr lang="ru-RU" smtClean="0"/>
              <a:t>26</a:t>
            </a:fld>
            <a:endParaRPr lang="ru-RU"/>
          </a:p>
        </p:txBody>
      </p:sp>
    </p:spTree>
    <p:extLst>
      <p:ext uri="{BB962C8B-B14F-4D97-AF65-F5344CB8AC3E}">
        <p14:creationId xmlns:p14="http://schemas.microsoft.com/office/powerpoint/2010/main" val="2847047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fade">
                                      <p:cBhvr>
                                        <p:cTn id="10" dur="500"/>
                                        <p:tgtEl>
                                          <p:spTgt spid="8">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animEffect transition="in" filter="fade">
                                      <p:cBhvr>
                                        <p:cTn id="13" dur="500"/>
                                        <p:tgtEl>
                                          <p:spTgt spid="8">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xEl>
                                              <p:pRg st="3" end="3"/>
                                            </p:txEl>
                                          </p:spTgt>
                                        </p:tgtEl>
                                        <p:attrNameLst>
                                          <p:attrName>style.visibility</p:attrName>
                                        </p:attrNameLst>
                                      </p:cBhvr>
                                      <p:to>
                                        <p:strVal val="visible"/>
                                      </p:to>
                                    </p:set>
                                    <p:animEffect transition="in" filter="fade">
                                      <p:cBhvr>
                                        <p:cTn id="16" dur="500"/>
                                        <p:tgtEl>
                                          <p:spTgt spid="8">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animEffect transition="in" filter="fade">
                                      <p:cBhvr>
                                        <p:cTn id="19" dur="500"/>
                                        <p:tgtEl>
                                          <p:spTgt spid="8">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8">
                                            <p:txEl>
                                              <p:pRg st="5" end="5"/>
                                            </p:txEl>
                                          </p:spTgt>
                                        </p:tgtEl>
                                        <p:attrNameLst>
                                          <p:attrName>style.visibility</p:attrName>
                                        </p:attrNameLst>
                                      </p:cBhvr>
                                      <p:to>
                                        <p:strVal val="visible"/>
                                      </p:to>
                                    </p:set>
                                    <p:animEffect transition="in" filter="fade">
                                      <p:cBhvr>
                                        <p:cTn id="24" dur="500"/>
                                        <p:tgtEl>
                                          <p:spTgt spid="8">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8">
                                            <p:txEl>
                                              <p:pRg st="6" end="6"/>
                                            </p:txEl>
                                          </p:spTgt>
                                        </p:tgtEl>
                                        <p:attrNameLst>
                                          <p:attrName>style.visibility</p:attrName>
                                        </p:attrNameLst>
                                      </p:cBhvr>
                                      <p:to>
                                        <p:strVal val="visible"/>
                                      </p:to>
                                    </p:set>
                                    <p:animEffect transition="in" filter="fade">
                                      <p:cBhvr>
                                        <p:cTn id="27" dur="500"/>
                                        <p:tgtEl>
                                          <p:spTgt spid="8">
                                            <p:txEl>
                                              <p:pRg st="6" end="6"/>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8">
                                            <p:txEl>
                                              <p:pRg st="7" end="7"/>
                                            </p:txEl>
                                          </p:spTgt>
                                        </p:tgtEl>
                                        <p:attrNameLst>
                                          <p:attrName>style.visibility</p:attrName>
                                        </p:attrNameLst>
                                      </p:cBhvr>
                                      <p:to>
                                        <p:strVal val="visible"/>
                                      </p:to>
                                    </p:set>
                                    <p:animEffect transition="in" filter="fade">
                                      <p:cBhvr>
                                        <p:cTn id="30" dur="500"/>
                                        <p:tgtEl>
                                          <p:spTgt spid="8">
                                            <p:txEl>
                                              <p:pRg st="7" end="7"/>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8">
                                            <p:txEl>
                                              <p:pRg st="8" end="8"/>
                                            </p:txEl>
                                          </p:spTgt>
                                        </p:tgtEl>
                                        <p:attrNameLst>
                                          <p:attrName>style.visibility</p:attrName>
                                        </p:attrNameLst>
                                      </p:cBhvr>
                                      <p:to>
                                        <p:strVal val="visible"/>
                                      </p:to>
                                    </p:set>
                                    <p:animEffect transition="in" filter="fade">
                                      <p:cBhvr>
                                        <p:cTn id="33" dur="500"/>
                                        <p:tgtEl>
                                          <p:spTgt spid="8">
                                            <p:txEl>
                                              <p:pRg st="8" end="8"/>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8">
                                            <p:txEl>
                                              <p:pRg st="9" end="9"/>
                                            </p:txEl>
                                          </p:spTgt>
                                        </p:tgtEl>
                                        <p:attrNameLst>
                                          <p:attrName>style.visibility</p:attrName>
                                        </p:attrNameLst>
                                      </p:cBhvr>
                                      <p:to>
                                        <p:strVal val="visible"/>
                                      </p:to>
                                    </p:set>
                                    <p:animEffect transition="in" filter="fade">
                                      <p:cBhvr>
                                        <p:cTn id="36" dur="500"/>
                                        <p:tgtEl>
                                          <p:spTgt spid="8">
                                            <p:txEl>
                                              <p:pRg st="9" end="9"/>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8">
                                            <p:txEl>
                                              <p:pRg st="10" end="10"/>
                                            </p:txEl>
                                          </p:spTgt>
                                        </p:tgtEl>
                                        <p:attrNameLst>
                                          <p:attrName>style.visibility</p:attrName>
                                        </p:attrNameLst>
                                      </p:cBhvr>
                                      <p:to>
                                        <p:strVal val="visible"/>
                                      </p:to>
                                    </p:set>
                                    <p:animEffect transition="in" filter="fade">
                                      <p:cBhvr>
                                        <p:cTn id="41" dur="500"/>
                                        <p:tgtEl>
                                          <p:spTgt spid="8">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CC386-FFF3-00E1-9E71-97D98C7B573A}"/>
              </a:ext>
            </a:extLst>
          </p:cNvPr>
          <p:cNvSpPr>
            <a:spLocks noGrp="1"/>
          </p:cNvSpPr>
          <p:nvPr>
            <p:ph type="title"/>
          </p:nvPr>
        </p:nvSpPr>
        <p:spPr/>
        <p:txBody>
          <a:bodyPr/>
          <a:lstStyle/>
          <a:p>
            <a:r>
              <a:rPr lang="ru-RU" dirty="0"/>
              <a:t>Достоинства </a:t>
            </a:r>
            <a:r>
              <a:rPr lang="en-US" dirty="0"/>
              <a:t>LSP</a:t>
            </a:r>
          </a:p>
        </p:txBody>
      </p:sp>
      <p:sp>
        <p:nvSpPr>
          <p:cNvPr id="3" name="Content Placeholder 2">
            <a:extLst>
              <a:ext uri="{FF2B5EF4-FFF2-40B4-BE49-F238E27FC236}">
                <a16:creationId xmlns:a16="http://schemas.microsoft.com/office/drawing/2014/main" id="{93A018BC-56D9-A741-81A3-EA6ED4FDEA87}"/>
              </a:ext>
            </a:extLst>
          </p:cNvPr>
          <p:cNvSpPr>
            <a:spLocks noGrp="1"/>
          </p:cNvSpPr>
          <p:nvPr>
            <p:ph idx="1"/>
          </p:nvPr>
        </p:nvSpPr>
        <p:spPr/>
        <p:txBody>
          <a:bodyPr>
            <a:normAutofit/>
          </a:bodyPr>
          <a:lstStyle/>
          <a:p>
            <a:r>
              <a:rPr lang="ru-RU" b="1" dirty="0"/>
              <a:t>Уменьшается вероятность скрытых ошибок</a:t>
            </a:r>
            <a:br>
              <a:rPr lang="ru-RU" dirty="0"/>
            </a:br>
            <a:r>
              <a:rPr lang="ru-RU" dirty="0"/>
              <a:t>Поведение подклассов становится предсказуемым.</a:t>
            </a:r>
          </a:p>
          <a:p>
            <a:r>
              <a:rPr lang="ru-RU" b="1" dirty="0"/>
              <a:t>Упрощается расширяемость системы</a:t>
            </a:r>
            <a:br>
              <a:rPr lang="ru-RU" dirty="0"/>
            </a:br>
            <a:r>
              <a:rPr lang="ru-RU" dirty="0"/>
              <a:t>Новые подклассы можно безопасно подключать к существующему коду.</a:t>
            </a:r>
          </a:p>
          <a:p>
            <a:r>
              <a:rPr lang="ru-RU" b="1" dirty="0"/>
              <a:t>Снижается хрупкость архитектуры</a:t>
            </a:r>
            <a:br>
              <a:rPr lang="ru-RU" dirty="0"/>
            </a:br>
            <a:r>
              <a:rPr lang="ru-RU" dirty="0"/>
              <a:t>Клиенты могут полагаться на гарантии базового типа.</a:t>
            </a:r>
          </a:p>
          <a:p>
            <a:r>
              <a:rPr lang="ru-RU" b="1" dirty="0"/>
              <a:t>Повышается надёжность повторного использования</a:t>
            </a:r>
            <a:br>
              <a:rPr lang="ru-RU" dirty="0"/>
            </a:br>
            <a:r>
              <a:rPr lang="ru-RU" dirty="0"/>
              <a:t>Общие интерфейсы становятся действительно безопасными к расширению.</a:t>
            </a:r>
          </a:p>
          <a:p>
            <a:endParaRPr lang="en-US" dirty="0"/>
          </a:p>
        </p:txBody>
      </p:sp>
      <p:sp>
        <p:nvSpPr>
          <p:cNvPr id="4" name="Slide Number Placeholder 3">
            <a:extLst>
              <a:ext uri="{FF2B5EF4-FFF2-40B4-BE49-F238E27FC236}">
                <a16:creationId xmlns:a16="http://schemas.microsoft.com/office/drawing/2014/main" id="{DE49656A-3B1D-1017-6DC1-5BE10BE3C91F}"/>
              </a:ext>
            </a:extLst>
          </p:cNvPr>
          <p:cNvSpPr>
            <a:spLocks noGrp="1"/>
          </p:cNvSpPr>
          <p:nvPr>
            <p:ph type="sldNum" sz="quarter" idx="12"/>
          </p:nvPr>
        </p:nvSpPr>
        <p:spPr/>
        <p:txBody>
          <a:bodyPr/>
          <a:lstStyle/>
          <a:p>
            <a:fld id="{CF8E6F4D-2E97-47CB-8591-066566E4FE4D}" type="slidenum">
              <a:rPr lang="ru-RU" smtClean="0"/>
              <a:t>27</a:t>
            </a:fld>
            <a:endParaRPr lang="ru-RU"/>
          </a:p>
        </p:txBody>
      </p:sp>
    </p:spTree>
    <p:extLst>
      <p:ext uri="{BB962C8B-B14F-4D97-AF65-F5344CB8AC3E}">
        <p14:creationId xmlns:p14="http://schemas.microsoft.com/office/powerpoint/2010/main" val="1706758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B9617-88DF-6904-386A-20660A827D78}"/>
              </a:ext>
            </a:extLst>
          </p:cNvPr>
          <p:cNvSpPr>
            <a:spLocks noGrp="1"/>
          </p:cNvSpPr>
          <p:nvPr>
            <p:ph type="title"/>
          </p:nvPr>
        </p:nvSpPr>
        <p:spPr/>
        <p:txBody>
          <a:bodyPr/>
          <a:lstStyle/>
          <a:p>
            <a:r>
              <a:rPr lang="ru-RU" dirty="0"/>
              <a:t>Недостатки / трудности</a:t>
            </a:r>
            <a:r>
              <a:rPr lang="en-US" dirty="0"/>
              <a:t> LSP</a:t>
            </a:r>
          </a:p>
        </p:txBody>
      </p:sp>
      <p:sp>
        <p:nvSpPr>
          <p:cNvPr id="3" name="Content Placeholder 2">
            <a:extLst>
              <a:ext uri="{FF2B5EF4-FFF2-40B4-BE49-F238E27FC236}">
                <a16:creationId xmlns:a16="http://schemas.microsoft.com/office/drawing/2014/main" id="{D22E9F38-A251-6B4A-0AD4-8962410CDACB}"/>
              </a:ext>
            </a:extLst>
          </p:cNvPr>
          <p:cNvSpPr>
            <a:spLocks noGrp="1"/>
          </p:cNvSpPr>
          <p:nvPr>
            <p:ph idx="1"/>
          </p:nvPr>
        </p:nvSpPr>
        <p:spPr/>
        <p:txBody>
          <a:bodyPr>
            <a:normAutofit fontScale="92500" lnSpcReduction="10000"/>
          </a:bodyPr>
          <a:lstStyle/>
          <a:p>
            <a:r>
              <a:rPr lang="ru-RU" b="1" dirty="0"/>
              <a:t>Требуется тщательное проектирование интерфейсов</a:t>
            </a:r>
            <a:br>
              <a:rPr lang="ru-RU" dirty="0"/>
            </a:br>
            <a:r>
              <a:rPr lang="ru-RU" dirty="0"/>
              <a:t>Нужно заранее продумать инварианты, предусловия и постусловия.</a:t>
            </a:r>
          </a:p>
          <a:p>
            <a:r>
              <a:rPr lang="ru-RU" b="1" dirty="0"/>
              <a:t>Неочевидность нарушений</a:t>
            </a:r>
            <a:br>
              <a:rPr lang="ru-RU" dirty="0"/>
            </a:br>
            <a:r>
              <a:rPr lang="ru-RU" dirty="0"/>
              <a:t>Ошибки LSP часто не видны на уровне типов и проявляются только в </a:t>
            </a:r>
            <a:r>
              <a:rPr lang="ru-RU" dirty="0" err="1"/>
              <a:t>рантайме</a:t>
            </a:r>
            <a:r>
              <a:rPr lang="ru-RU" dirty="0"/>
              <a:t>.</a:t>
            </a:r>
          </a:p>
          <a:p>
            <a:r>
              <a:rPr lang="ru-RU" b="1" dirty="0"/>
              <a:t>Высокая цена неправильного наследования</a:t>
            </a:r>
            <a:br>
              <a:rPr lang="ru-RU" dirty="0"/>
            </a:br>
            <a:r>
              <a:rPr lang="ru-RU" dirty="0"/>
              <a:t>Неверная иерархия приводит к фундаментальным архитектурным проблемам.</a:t>
            </a:r>
          </a:p>
          <a:p>
            <a:r>
              <a:rPr lang="ru-RU" b="1" dirty="0"/>
              <a:t>Ограничение свободы проектирования</a:t>
            </a:r>
            <a:br>
              <a:rPr lang="ru-RU" dirty="0"/>
            </a:br>
            <a:r>
              <a:rPr lang="ru-RU" dirty="0"/>
              <a:t>Иногда приходится менять модель или </a:t>
            </a:r>
            <a:r>
              <a:rPr lang="ru-RU" dirty="0" err="1"/>
              <a:t>отказатьcя</a:t>
            </a:r>
            <a:r>
              <a:rPr lang="ru-RU" dirty="0"/>
              <a:t> от очевидного наследования.</a:t>
            </a:r>
          </a:p>
        </p:txBody>
      </p:sp>
      <p:sp>
        <p:nvSpPr>
          <p:cNvPr id="4" name="Slide Number Placeholder 3">
            <a:extLst>
              <a:ext uri="{FF2B5EF4-FFF2-40B4-BE49-F238E27FC236}">
                <a16:creationId xmlns:a16="http://schemas.microsoft.com/office/drawing/2014/main" id="{0CC8C980-235D-1645-AEE6-E4BFF21C353F}"/>
              </a:ext>
            </a:extLst>
          </p:cNvPr>
          <p:cNvSpPr>
            <a:spLocks noGrp="1"/>
          </p:cNvSpPr>
          <p:nvPr>
            <p:ph type="sldNum" sz="quarter" idx="12"/>
          </p:nvPr>
        </p:nvSpPr>
        <p:spPr/>
        <p:txBody>
          <a:bodyPr/>
          <a:lstStyle/>
          <a:p>
            <a:fld id="{CF8E6F4D-2E97-47CB-8591-066566E4FE4D}" type="slidenum">
              <a:rPr lang="ru-RU" smtClean="0"/>
              <a:t>28</a:t>
            </a:fld>
            <a:endParaRPr lang="ru-RU"/>
          </a:p>
        </p:txBody>
      </p:sp>
    </p:spTree>
    <p:extLst>
      <p:ext uri="{BB962C8B-B14F-4D97-AF65-F5344CB8AC3E}">
        <p14:creationId xmlns:p14="http://schemas.microsoft.com/office/powerpoint/2010/main" val="1108478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FE78F8E-2340-76F9-9BF9-357C35969E9F}"/>
              </a:ext>
            </a:extLst>
          </p:cNvPr>
          <p:cNvSpPr>
            <a:spLocks noGrp="1"/>
          </p:cNvSpPr>
          <p:nvPr>
            <p:ph type="title"/>
          </p:nvPr>
        </p:nvSpPr>
        <p:spPr/>
        <p:txBody>
          <a:bodyPr/>
          <a:lstStyle/>
          <a:p>
            <a:r>
              <a:rPr lang="ru-RU" dirty="0"/>
              <a:t>Принцип разделения интерфейса</a:t>
            </a:r>
            <a:endParaRPr lang="en-US" dirty="0"/>
          </a:p>
        </p:txBody>
      </p:sp>
      <p:sp>
        <p:nvSpPr>
          <p:cNvPr id="6" name="Text Placeholder 5">
            <a:extLst>
              <a:ext uri="{FF2B5EF4-FFF2-40B4-BE49-F238E27FC236}">
                <a16:creationId xmlns:a16="http://schemas.microsoft.com/office/drawing/2014/main" id="{36D8B551-6768-2BC3-99FF-BB99DA1C40A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0942510-C257-65A7-299A-7F5A36500C31}"/>
              </a:ext>
            </a:extLst>
          </p:cNvPr>
          <p:cNvSpPr>
            <a:spLocks noGrp="1"/>
          </p:cNvSpPr>
          <p:nvPr>
            <p:ph type="sldNum" sz="quarter" idx="12"/>
          </p:nvPr>
        </p:nvSpPr>
        <p:spPr/>
        <p:txBody>
          <a:bodyPr/>
          <a:lstStyle/>
          <a:p>
            <a:fld id="{CF8E6F4D-2E97-47CB-8591-066566E4FE4D}" type="slidenum">
              <a:rPr lang="ru-RU" smtClean="0"/>
              <a:t>29</a:t>
            </a:fld>
            <a:endParaRPr lang="ru-RU"/>
          </a:p>
        </p:txBody>
      </p:sp>
    </p:spTree>
    <p:extLst>
      <p:ext uri="{BB962C8B-B14F-4D97-AF65-F5344CB8AC3E}">
        <p14:creationId xmlns:p14="http://schemas.microsoft.com/office/powerpoint/2010/main" val="18054396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Принцип разделения интерфейса</a:t>
            </a:r>
          </a:p>
        </p:txBody>
      </p:sp>
      <p:sp>
        <p:nvSpPr>
          <p:cNvPr id="3" name="Объект 2"/>
          <p:cNvSpPr>
            <a:spLocks noGrp="1"/>
          </p:cNvSpPr>
          <p:nvPr>
            <p:ph idx="1"/>
          </p:nvPr>
        </p:nvSpPr>
        <p:spPr/>
        <p:txBody>
          <a:bodyPr>
            <a:normAutofit/>
          </a:bodyPr>
          <a:lstStyle/>
          <a:p>
            <a:r>
              <a:rPr lang="ru-RU" dirty="0"/>
              <a:t>«Клиенты не должны зависеть от методов, которые они не используют»</a:t>
            </a:r>
          </a:p>
          <a:p>
            <a:pPr lvl="1"/>
            <a:r>
              <a:rPr lang="ru-RU" dirty="0"/>
              <a:t>Один «толстый» интерфейс лучше разбить на несколько узких и специализированных.</a:t>
            </a:r>
          </a:p>
          <a:p>
            <a:pPr lvl="1"/>
            <a:r>
              <a:rPr lang="ru-RU" dirty="0"/>
              <a:t>Изменения в одной части интерфейса не должны затрагивать клиентов, которым эта часть не нужна.</a:t>
            </a:r>
          </a:p>
          <a:p>
            <a:pPr lvl="1"/>
            <a:r>
              <a:rPr lang="ru-RU" dirty="0"/>
              <a:t>Интерфейс должен отражать роль клиента, а не набор возможностей класса.</a:t>
            </a:r>
          </a:p>
          <a:p>
            <a:endParaRPr lang="ru-RU" dirty="0"/>
          </a:p>
        </p:txBody>
      </p:sp>
      <p:sp>
        <p:nvSpPr>
          <p:cNvPr id="4" name="Номер слайда 3"/>
          <p:cNvSpPr>
            <a:spLocks noGrp="1"/>
          </p:cNvSpPr>
          <p:nvPr>
            <p:ph type="sldNum" sz="quarter" idx="12"/>
          </p:nvPr>
        </p:nvSpPr>
        <p:spPr/>
        <p:txBody>
          <a:bodyPr/>
          <a:lstStyle/>
          <a:p>
            <a:fld id="{CF8E6F4D-2E97-47CB-8591-066566E4FE4D}" type="slidenum">
              <a:rPr lang="ru-RU" smtClean="0"/>
              <a:t>30</a:t>
            </a:fld>
            <a:endParaRPr lang="ru-RU"/>
          </a:p>
        </p:txBody>
      </p:sp>
    </p:spTree>
    <p:extLst>
      <p:ext uri="{BB962C8B-B14F-4D97-AF65-F5344CB8AC3E}">
        <p14:creationId xmlns:p14="http://schemas.microsoft.com/office/powerpoint/2010/main" val="2561558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F7A13-4326-0394-931C-D5AAC14E0566}"/>
              </a:ext>
            </a:extLst>
          </p:cNvPr>
          <p:cNvSpPr>
            <a:spLocks noGrp="1"/>
          </p:cNvSpPr>
          <p:nvPr>
            <p:ph type="title"/>
          </p:nvPr>
        </p:nvSpPr>
        <p:spPr/>
        <p:txBody>
          <a:bodyPr/>
          <a:lstStyle/>
          <a:p>
            <a:r>
              <a:rPr lang="ru-RU" dirty="0"/>
              <a:t>Как добиться ISP</a:t>
            </a:r>
            <a:endParaRPr lang="en-US" dirty="0"/>
          </a:p>
        </p:txBody>
      </p:sp>
      <p:sp>
        <p:nvSpPr>
          <p:cNvPr id="3" name="Content Placeholder 2">
            <a:extLst>
              <a:ext uri="{FF2B5EF4-FFF2-40B4-BE49-F238E27FC236}">
                <a16:creationId xmlns:a16="http://schemas.microsoft.com/office/drawing/2014/main" id="{607E205B-44BF-128C-88C7-BAB0784324B5}"/>
              </a:ext>
            </a:extLst>
          </p:cNvPr>
          <p:cNvSpPr>
            <a:spLocks noGrp="1"/>
          </p:cNvSpPr>
          <p:nvPr>
            <p:ph idx="1"/>
          </p:nvPr>
        </p:nvSpPr>
        <p:spPr/>
        <p:txBody>
          <a:bodyPr/>
          <a:lstStyle/>
          <a:p>
            <a:r>
              <a:rPr lang="ru-RU" dirty="0"/>
              <a:t>Не копировать интерфейс с класса целиком — выделяйте только нужные методы.</a:t>
            </a:r>
          </a:p>
          <a:p>
            <a:r>
              <a:rPr lang="ru-RU" dirty="0"/>
              <a:t>Разделяйте интерфейсы по сценариям использования, если клиенты используют разные подмножества операций.</a:t>
            </a:r>
          </a:p>
          <a:p>
            <a:r>
              <a:rPr lang="ru-RU" dirty="0"/>
              <a:t>При невозможности изменить исходный интерфейс — используйте адаптеры для его сужения.</a:t>
            </a:r>
          </a:p>
          <a:p>
            <a:endParaRPr lang="en-US" dirty="0"/>
          </a:p>
        </p:txBody>
      </p:sp>
      <p:sp>
        <p:nvSpPr>
          <p:cNvPr id="4" name="Slide Number Placeholder 3">
            <a:extLst>
              <a:ext uri="{FF2B5EF4-FFF2-40B4-BE49-F238E27FC236}">
                <a16:creationId xmlns:a16="http://schemas.microsoft.com/office/drawing/2014/main" id="{0810869D-D89D-7FA7-47C5-5D1C68EFDBEC}"/>
              </a:ext>
            </a:extLst>
          </p:cNvPr>
          <p:cNvSpPr>
            <a:spLocks noGrp="1"/>
          </p:cNvSpPr>
          <p:nvPr>
            <p:ph type="sldNum" sz="quarter" idx="12"/>
          </p:nvPr>
        </p:nvSpPr>
        <p:spPr/>
        <p:txBody>
          <a:bodyPr/>
          <a:lstStyle/>
          <a:p>
            <a:fld id="{CF8E6F4D-2E97-47CB-8591-066566E4FE4D}" type="slidenum">
              <a:rPr lang="ru-RU" smtClean="0"/>
              <a:t>31</a:t>
            </a:fld>
            <a:endParaRPr lang="ru-RU"/>
          </a:p>
        </p:txBody>
      </p:sp>
    </p:spTree>
    <p:extLst>
      <p:ext uri="{BB962C8B-B14F-4D97-AF65-F5344CB8AC3E}">
        <p14:creationId xmlns:p14="http://schemas.microsoft.com/office/powerpoint/2010/main" val="36358901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A369E65-937F-F708-9B35-5AE8E9103935}"/>
              </a:ext>
            </a:extLst>
          </p:cNvPr>
          <p:cNvSpPr>
            <a:spLocks noGrp="1"/>
          </p:cNvSpPr>
          <p:nvPr>
            <p:ph type="sldNum" sz="quarter" idx="12"/>
          </p:nvPr>
        </p:nvSpPr>
        <p:spPr/>
        <p:txBody>
          <a:bodyPr/>
          <a:lstStyle/>
          <a:p>
            <a:fld id="{CF8E6F4D-2E97-47CB-8591-066566E4FE4D}" type="slidenum">
              <a:rPr lang="ru-RU" smtClean="0"/>
              <a:t>32</a:t>
            </a:fld>
            <a:endParaRPr lang="ru-RU"/>
          </a:p>
        </p:txBody>
      </p:sp>
      <p:sp>
        <p:nvSpPr>
          <p:cNvPr id="7" name="TextBox 6">
            <a:extLst>
              <a:ext uri="{FF2B5EF4-FFF2-40B4-BE49-F238E27FC236}">
                <a16:creationId xmlns:a16="http://schemas.microsoft.com/office/drawing/2014/main" id="{ADEC92AE-03B3-999F-0D34-DF7B0E8E05D4}"/>
              </a:ext>
            </a:extLst>
          </p:cNvPr>
          <p:cNvSpPr txBox="1"/>
          <p:nvPr/>
        </p:nvSpPr>
        <p:spPr>
          <a:xfrm>
            <a:off x="0" y="0"/>
            <a:ext cx="12192000" cy="6740307"/>
          </a:xfrm>
          <a:prstGeom prst="rect">
            <a:avLst/>
          </a:prstGeom>
          <a:noFill/>
        </p:spPr>
        <p:txBody>
          <a:bodyPr wrap="square">
            <a:spAutoFit/>
          </a:bodyPr>
          <a:lstStyle/>
          <a:p>
            <a:r>
              <a:rPr lang="en-US" sz="1600" b="0" dirty="0">
                <a:solidFill>
                  <a:srgbClr val="0000FF"/>
                </a:solidFill>
                <a:effectLst/>
                <a:latin typeface="Consolas" panose="020B0609020204030204" pitchFamily="49" charset="0"/>
              </a:rPr>
              <a:t>class</a:t>
            </a:r>
            <a:r>
              <a:rPr lang="en-US" sz="1600" b="0" dirty="0">
                <a:solidFill>
                  <a:srgbClr val="000000"/>
                </a:solidFill>
                <a:effectLst/>
                <a:latin typeface="Consolas" panose="020B0609020204030204" pitchFamily="49" charset="0"/>
              </a:rPr>
              <a:t> </a:t>
            </a:r>
            <a:r>
              <a:rPr lang="en-US" sz="1600" b="0" dirty="0" err="1">
                <a:solidFill>
                  <a:srgbClr val="2B91AF"/>
                </a:solidFill>
                <a:effectLst/>
                <a:latin typeface="Consolas" panose="020B0609020204030204" pitchFamily="49" charset="0"/>
              </a:rPr>
              <a:t>IMultiFunctionDevice</a:t>
            </a:r>
            <a:r>
              <a:rPr lang="en-US" sz="1600" b="0" dirty="0">
                <a:solidFill>
                  <a:srgbClr val="000000"/>
                </a:solidFill>
                <a:effectLst/>
                <a:latin typeface="Consolas" panose="020B0609020204030204" pitchFamily="49" charset="0"/>
              </a:rPr>
              <a:t> {</a:t>
            </a:r>
            <a:r>
              <a:rPr lang="ru-RU" sz="1600" b="0" dirty="0">
                <a:solidFill>
                  <a:srgbClr val="000000"/>
                </a:solidFill>
                <a:effectLst/>
                <a:latin typeface="Consolas" panose="020B0609020204030204" pitchFamily="49" charset="0"/>
              </a:rPr>
              <a:t> </a:t>
            </a:r>
            <a:r>
              <a:rPr lang="ru-RU" sz="1600" dirty="0">
                <a:solidFill>
                  <a:srgbClr val="008000"/>
                </a:solidFill>
                <a:latin typeface="Consolas" panose="020B0609020204030204" pitchFamily="49" charset="0"/>
              </a:rPr>
              <a:t>// Толстый интерфейс: нарушает </a:t>
            </a:r>
            <a:r>
              <a:rPr lang="en-US" sz="1600" dirty="0">
                <a:solidFill>
                  <a:srgbClr val="008000"/>
                </a:solidFill>
                <a:latin typeface="Consolas" panose="020B0609020204030204" pitchFamily="49" charset="0"/>
              </a:rPr>
              <a:t>ISP</a:t>
            </a:r>
            <a:endParaRPr lang="en-US" sz="1600" b="0" dirty="0">
              <a:solidFill>
                <a:srgbClr val="000000"/>
              </a:solidFill>
              <a:effectLst/>
              <a:latin typeface="Consolas" panose="020B0609020204030204" pitchFamily="49" charset="0"/>
            </a:endParaRPr>
          </a:p>
          <a:p>
            <a:pPr>
              <a:buNone/>
            </a:pPr>
            <a:r>
              <a:rPr lang="en-US" sz="1600" b="0" dirty="0">
                <a:solidFill>
                  <a:srgbClr val="0000FF"/>
                </a:solidFill>
                <a:effectLst/>
                <a:latin typeface="Consolas" panose="020B0609020204030204" pitchFamily="49" charset="0"/>
              </a:rPr>
              <a:t>public:</a:t>
            </a:r>
            <a:endParaRPr lang="en-US" sz="1600" b="0" dirty="0">
              <a:solidFill>
                <a:srgbClr val="000000"/>
              </a:solidFill>
              <a:effectLst/>
              <a:latin typeface="Consolas" panose="020B0609020204030204" pitchFamily="49" charset="0"/>
            </a:endParaRPr>
          </a:p>
          <a:p>
            <a:pPr>
              <a:buNone/>
            </a:pP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virtual</a:t>
            </a:r>
            <a:r>
              <a:rPr lang="en-US" sz="1600" b="0" dirty="0">
                <a:solidFill>
                  <a:srgbClr val="000000"/>
                </a:solidFill>
                <a:effectLst/>
                <a:latin typeface="Consolas" panose="020B0609020204030204" pitchFamily="49" charset="0"/>
              </a:rPr>
              <a:t> </a:t>
            </a:r>
            <a:r>
              <a:rPr lang="en-US" sz="1600" b="0" dirty="0">
                <a:solidFill>
                  <a:srgbClr val="74531F"/>
                </a:solidFill>
                <a:effectLst/>
                <a:latin typeface="Consolas" panose="020B0609020204030204" pitchFamily="49" charset="0"/>
              </a:rPr>
              <a:t>~</a:t>
            </a:r>
            <a:r>
              <a:rPr lang="en-US" sz="1600" b="0" dirty="0" err="1">
                <a:solidFill>
                  <a:srgbClr val="74531F"/>
                </a:solidFill>
                <a:effectLst/>
                <a:latin typeface="Consolas" panose="020B0609020204030204" pitchFamily="49" charset="0"/>
              </a:rPr>
              <a:t>IMultiFunctionDevice</a:t>
            </a:r>
            <a:r>
              <a:rPr lang="en-US" sz="1600" b="0" dirty="0">
                <a:solidFill>
                  <a:srgbClr val="000000"/>
                </a:solidFill>
                <a:effectLst/>
                <a:latin typeface="Consolas" panose="020B0609020204030204" pitchFamily="49" charset="0"/>
              </a:rPr>
              <a:t>() = </a:t>
            </a:r>
            <a:r>
              <a:rPr lang="en-US" sz="1600" b="0" dirty="0">
                <a:solidFill>
                  <a:srgbClr val="0000FF"/>
                </a:solidFill>
                <a:effectLst/>
                <a:latin typeface="Consolas" panose="020B0609020204030204" pitchFamily="49" charset="0"/>
              </a:rPr>
              <a:t>default</a:t>
            </a:r>
            <a:r>
              <a:rPr lang="en-US" sz="1600" b="0" dirty="0">
                <a:solidFill>
                  <a:srgbClr val="000000"/>
                </a:solidFill>
                <a:effectLst/>
                <a:latin typeface="Consolas" panose="020B0609020204030204" pitchFamily="49" charset="0"/>
              </a:rPr>
              <a:t>;</a:t>
            </a:r>
          </a:p>
          <a:p>
            <a:pPr>
              <a:buNone/>
            </a:pPr>
            <a:endParaRPr lang="en-US" sz="1600" b="0" dirty="0">
              <a:solidFill>
                <a:srgbClr val="000000"/>
              </a:solidFill>
              <a:effectLst/>
              <a:latin typeface="Consolas" panose="020B0609020204030204" pitchFamily="49" charset="0"/>
            </a:endParaRPr>
          </a:p>
          <a:p>
            <a:pPr>
              <a:buNone/>
            </a:pP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virtual</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void</a:t>
            </a:r>
            <a:r>
              <a:rPr lang="en-US" sz="1600" b="0" dirty="0">
                <a:solidFill>
                  <a:srgbClr val="000000"/>
                </a:solidFill>
                <a:effectLst/>
                <a:latin typeface="Consolas" panose="020B0609020204030204" pitchFamily="49" charset="0"/>
              </a:rPr>
              <a:t> </a:t>
            </a:r>
            <a:r>
              <a:rPr lang="en-US" sz="1600" b="0" dirty="0">
                <a:solidFill>
                  <a:srgbClr val="74531F"/>
                </a:solidFill>
                <a:effectLst/>
                <a:latin typeface="Consolas" panose="020B0609020204030204" pitchFamily="49" charset="0"/>
              </a:rPr>
              <a:t>Print</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const</a:t>
            </a:r>
            <a:r>
              <a:rPr lang="en-US" sz="1600" b="0" dirty="0">
                <a:solidFill>
                  <a:srgbClr val="000000"/>
                </a:solidFill>
                <a:effectLst/>
                <a:latin typeface="Consolas" panose="020B0609020204030204" pitchFamily="49" charset="0"/>
              </a:rPr>
              <a:t> std::</a:t>
            </a:r>
            <a:r>
              <a:rPr lang="en-US" sz="1600" b="0" dirty="0">
                <a:solidFill>
                  <a:srgbClr val="2B91AF"/>
                </a:solidFill>
                <a:effectLst/>
                <a:latin typeface="Consolas" panose="020B0609020204030204" pitchFamily="49" charset="0"/>
              </a:rPr>
              <a:t>string</a:t>
            </a:r>
            <a:r>
              <a:rPr lang="en-US" sz="1600" b="0" dirty="0">
                <a:solidFill>
                  <a:srgbClr val="000000"/>
                </a:solidFill>
                <a:effectLst/>
                <a:latin typeface="Consolas" panose="020B0609020204030204" pitchFamily="49" charset="0"/>
              </a:rPr>
              <a:t>&amp; </a:t>
            </a:r>
            <a:r>
              <a:rPr lang="en-US" sz="1600" b="0" dirty="0">
                <a:solidFill>
                  <a:srgbClr val="808080"/>
                </a:solidFill>
                <a:effectLst/>
                <a:latin typeface="Consolas" panose="020B0609020204030204" pitchFamily="49" charset="0"/>
              </a:rPr>
              <a:t>document</a:t>
            </a:r>
            <a:r>
              <a:rPr lang="en-US" sz="1600" b="0" dirty="0">
                <a:solidFill>
                  <a:srgbClr val="000000"/>
                </a:solidFill>
                <a:effectLst/>
                <a:latin typeface="Consolas" panose="020B0609020204030204" pitchFamily="49" charset="0"/>
              </a:rPr>
              <a:t>) = </a:t>
            </a:r>
            <a:r>
              <a:rPr lang="en-US" sz="1600" b="0" dirty="0">
                <a:solidFill>
                  <a:srgbClr val="098658"/>
                </a:solidFill>
                <a:effectLst/>
                <a:latin typeface="Consolas" panose="020B0609020204030204" pitchFamily="49" charset="0"/>
              </a:rPr>
              <a:t>0</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virtual</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void</a:t>
            </a:r>
            <a:r>
              <a:rPr lang="en-US" sz="1600" b="0" dirty="0">
                <a:solidFill>
                  <a:srgbClr val="000000"/>
                </a:solidFill>
                <a:effectLst/>
                <a:latin typeface="Consolas" panose="020B0609020204030204" pitchFamily="49" charset="0"/>
              </a:rPr>
              <a:t> </a:t>
            </a:r>
            <a:r>
              <a:rPr lang="en-US" sz="1600" b="0" dirty="0">
                <a:solidFill>
                  <a:srgbClr val="74531F"/>
                </a:solidFill>
                <a:effectLst/>
                <a:latin typeface="Consolas" panose="020B0609020204030204" pitchFamily="49" charset="0"/>
              </a:rPr>
              <a:t>Scan</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const</a:t>
            </a:r>
            <a:r>
              <a:rPr lang="en-US" sz="1600" b="0" dirty="0">
                <a:solidFill>
                  <a:srgbClr val="000000"/>
                </a:solidFill>
                <a:effectLst/>
                <a:latin typeface="Consolas" panose="020B0609020204030204" pitchFamily="49" charset="0"/>
              </a:rPr>
              <a:t> std::</a:t>
            </a:r>
            <a:r>
              <a:rPr lang="en-US" sz="1600" b="0" dirty="0">
                <a:solidFill>
                  <a:srgbClr val="2B91AF"/>
                </a:solidFill>
                <a:effectLst/>
                <a:latin typeface="Consolas" panose="020B0609020204030204" pitchFamily="49" charset="0"/>
              </a:rPr>
              <a:t>string</a:t>
            </a:r>
            <a:r>
              <a:rPr lang="en-US" sz="1600" b="0" dirty="0">
                <a:solidFill>
                  <a:srgbClr val="000000"/>
                </a:solidFill>
                <a:effectLst/>
                <a:latin typeface="Consolas" panose="020B0609020204030204" pitchFamily="49" charset="0"/>
              </a:rPr>
              <a:t>&amp; </a:t>
            </a:r>
            <a:r>
              <a:rPr lang="en-US" sz="1600" b="0" dirty="0" err="1">
                <a:solidFill>
                  <a:srgbClr val="808080"/>
                </a:solidFill>
                <a:effectLst/>
                <a:latin typeface="Consolas" panose="020B0609020204030204" pitchFamily="49" charset="0"/>
              </a:rPr>
              <a:t>targetPath</a:t>
            </a:r>
            <a:r>
              <a:rPr lang="en-US" sz="1600" b="0" dirty="0">
                <a:solidFill>
                  <a:srgbClr val="000000"/>
                </a:solidFill>
                <a:effectLst/>
                <a:latin typeface="Consolas" panose="020B0609020204030204" pitchFamily="49" charset="0"/>
              </a:rPr>
              <a:t>) = </a:t>
            </a:r>
            <a:r>
              <a:rPr lang="en-US" sz="1600" b="0" dirty="0">
                <a:solidFill>
                  <a:srgbClr val="098658"/>
                </a:solidFill>
                <a:effectLst/>
                <a:latin typeface="Consolas" panose="020B0609020204030204" pitchFamily="49" charset="0"/>
              </a:rPr>
              <a:t>0</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virtual</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void</a:t>
            </a:r>
            <a:r>
              <a:rPr lang="en-US" sz="1600" b="0" dirty="0">
                <a:solidFill>
                  <a:srgbClr val="000000"/>
                </a:solidFill>
                <a:effectLst/>
                <a:latin typeface="Consolas" panose="020B0609020204030204" pitchFamily="49" charset="0"/>
              </a:rPr>
              <a:t> </a:t>
            </a:r>
            <a:r>
              <a:rPr lang="en-US" sz="1600" b="0" dirty="0">
                <a:solidFill>
                  <a:srgbClr val="74531F"/>
                </a:solidFill>
                <a:effectLst/>
                <a:latin typeface="Consolas" panose="020B0609020204030204" pitchFamily="49" charset="0"/>
              </a:rPr>
              <a:t>Fax</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const</a:t>
            </a:r>
            <a:r>
              <a:rPr lang="en-US" sz="1600" b="0" dirty="0">
                <a:solidFill>
                  <a:srgbClr val="000000"/>
                </a:solidFill>
                <a:effectLst/>
                <a:latin typeface="Consolas" panose="020B0609020204030204" pitchFamily="49" charset="0"/>
              </a:rPr>
              <a:t> std::</a:t>
            </a:r>
            <a:r>
              <a:rPr lang="en-US" sz="1600" b="0" dirty="0">
                <a:solidFill>
                  <a:srgbClr val="2B91AF"/>
                </a:solidFill>
                <a:effectLst/>
                <a:latin typeface="Consolas" panose="020B0609020204030204" pitchFamily="49" charset="0"/>
              </a:rPr>
              <a:t>string</a:t>
            </a:r>
            <a:r>
              <a:rPr lang="en-US" sz="1600" b="0" dirty="0">
                <a:solidFill>
                  <a:srgbClr val="000000"/>
                </a:solidFill>
                <a:effectLst/>
                <a:latin typeface="Consolas" panose="020B0609020204030204" pitchFamily="49" charset="0"/>
              </a:rPr>
              <a:t>&amp; </a:t>
            </a:r>
            <a:r>
              <a:rPr lang="en-US" sz="1600" b="0" dirty="0" err="1">
                <a:solidFill>
                  <a:srgbClr val="808080"/>
                </a:solidFill>
                <a:effectLst/>
                <a:latin typeface="Consolas" panose="020B0609020204030204" pitchFamily="49" charset="0"/>
              </a:rPr>
              <a:t>phoneNumber</a:t>
            </a:r>
            <a:r>
              <a:rPr lang="en-US" sz="1600" b="0" dirty="0">
                <a:solidFill>
                  <a:srgbClr val="000000"/>
                </a:solidFill>
                <a:effectLst/>
                <a:latin typeface="Consolas" panose="020B0609020204030204" pitchFamily="49" charset="0"/>
              </a:rPr>
              <a:t>) = </a:t>
            </a:r>
            <a:r>
              <a:rPr lang="en-US" sz="1600" b="0" dirty="0">
                <a:solidFill>
                  <a:srgbClr val="098658"/>
                </a:solidFill>
                <a:effectLst/>
                <a:latin typeface="Consolas" panose="020B0609020204030204" pitchFamily="49" charset="0"/>
              </a:rPr>
              <a:t>0</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a:t>
            </a:r>
          </a:p>
          <a:p>
            <a:pPr>
              <a:buNone/>
            </a:pPr>
            <a:endParaRPr lang="en-US" sz="1600" b="0" dirty="0">
              <a:solidFill>
                <a:srgbClr val="000000"/>
              </a:solidFill>
              <a:effectLst/>
              <a:latin typeface="Consolas" panose="020B0609020204030204" pitchFamily="49" charset="0"/>
            </a:endParaRPr>
          </a:p>
          <a:p>
            <a:r>
              <a:rPr lang="en-US" sz="1600" b="0" dirty="0">
                <a:solidFill>
                  <a:srgbClr val="0000FF"/>
                </a:solidFill>
                <a:effectLst/>
                <a:latin typeface="Consolas" panose="020B0609020204030204" pitchFamily="49" charset="0"/>
              </a:rPr>
              <a:t>class</a:t>
            </a:r>
            <a:r>
              <a:rPr lang="en-US" sz="1600" b="0" dirty="0">
                <a:solidFill>
                  <a:srgbClr val="000000"/>
                </a:solidFill>
                <a:effectLst/>
                <a:latin typeface="Consolas" panose="020B0609020204030204" pitchFamily="49" charset="0"/>
              </a:rPr>
              <a:t> </a:t>
            </a:r>
            <a:r>
              <a:rPr lang="en-US" sz="1600" b="0" dirty="0" err="1">
                <a:solidFill>
                  <a:srgbClr val="2B91AF"/>
                </a:solidFill>
                <a:effectLst/>
                <a:latin typeface="Consolas" panose="020B0609020204030204" pitchFamily="49" charset="0"/>
              </a:rPr>
              <a:t>SimplePrinter</a:t>
            </a:r>
            <a:r>
              <a:rPr lang="en-US" sz="1600" b="0" dirty="0">
                <a:solidFill>
                  <a:srgbClr val="000000"/>
                </a:solidFill>
                <a:effectLst/>
                <a:latin typeface="Consolas" panose="020B0609020204030204" pitchFamily="49" charset="0"/>
              </a:rPr>
              <a:t> : </a:t>
            </a:r>
            <a:r>
              <a:rPr lang="en-US" sz="1600" b="0" dirty="0">
                <a:solidFill>
                  <a:srgbClr val="0000FF"/>
                </a:solidFill>
                <a:effectLst/>
                <a:latin typeface="Consolas" panose="020B0609020204030204" pitchFamily="49" charset="0"/>
              </a:rPr>
              <a:t>public</a:t>
            </a:r>
            <a:r>
              <a:rPr lang="en-US" sz="1600" b="0" dirty="0">
                <a:solidFill>
                  <a:srgbClr val="000000"/>
                </a:solidFill>
                <a:effectLst/>
                <a:latin typeface="Consolas" panose="020B0609020204030204" pitchFamily="49" charset="0"/>
              </a:rPr>
              <a:t> </a:t>
            </a:r>
            <a:r>
              <a:rPr lang="en-US" sz="1600" b="0" dirty="0" err="1">
                <a:solidFill>
                  <a:srgbClr val="2B91AF"/>
                </a:solidFill>
                <a:effectLst/>
                <a:latin typeface="Consolas" panose="020B0609020204030204" pitchFamily="49" charset="0"/>
              </a:rPr>
              <a:t>IMultiFunctionDevice</a:t>
            </a:r>
            <a:r>
              <a:rPr lang="en-US" sz="1600" b="0" dirty="0">
                <a:solidFill>
                  <a:srgbClr val="000000"/>
                </a:solidFill>
                <a:effectLst/>
                <a:latin typeface="Consolas" panose="020B0609020204030204" pitchFamily="49" charset="0"/>
              </a:rPr>
              <a:t> {</a:t>
            </a:r>
            <a:r>
              <a:rPr lang="ru-RU" sz="1600" b="0" dirty="0">
                <a:solidFill>
                  <a:srgbClr val="000000"/>
                </a:solidFill>
                <a:effectLst/>
                <a:latin typeface="Consolas" panose="020B0609020204030204" pitchFamily="49" charset="0"/>
              </a:rPr>
              <a:t> </a:t>
            </a:r>
            <a:r>
              <a:rPr lang="en-US" sz="1600" dirty="0">
                <a:solidFill>
                  <a:srgbClr val="008000"/>
                </a:solidFill>
                <a:latin typeface="Consolas" panose="020B0609020204030204" pitchFamily="49" charset="0"/>
              </a:rPr>
              <a:t>// </a:t>
            </a:r>
            <a:r>
              <a:rPr lang="ru-RU" sz="1600" dirty="0">
                <a:solidFill>
                  <a:srgbClr val="008000"/>
                </a:solidFill>
                <a:latin typeface="Consolas" panose="020B0609020204030204" pitchFamily="49" charset="0"/>
              </a:rPr>
              <a:t>Простой принтер: умеет только печатать</a:t>
            </a:r>
            <a:endParaRPr lang="en-US" sz="1600" b="0" dirty="0">
              <a:solidFill>
                <a:srgbClr val="000000"/>
              </a:solidFill>
              <a:effectLst/>
              <a:latin typeface="Consolas" panose="020B0609020204030204" pitchFamily="49" charset="0"/>
            </a:endParaRPr>
          </a:p>
          <a:p>
            <a:pPr>
              <a:buNone/>
            </a:pPr>
            <a:r>
              <a:rPr lang="en-US" sz="1600" b="0" dirty="0">
                <a:solidFill>
                  <a:srgbClr val="0000FF"/>
                </a:solidFill>
                <a:effectLst/>
                <a:latin typeface="Consolas" panose="020B0609020204030204" pitchFamily="49" charset="0"/>
              </a:rPr>
              <a:t>public:</a:t>
            </a:r>
            <a:endParaRPr lang="en-US" sz="1600" b="0" dirty="0">
              <a:solidFill>
                <a:srgbClr val="000000"/>
              </a:solidFill>
              <a:effectLst/>
              <a:latin typeface="Consolas" panose="020B0609020204030204" pitchFamily="49" charset="0"/>
            </a:endParaRPr>
          </a:p>
          <a:p>
            <a:pPr>
              <a:buNone/>
            </a:pP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void</a:t>
            </a:r>
            <a:r>
              <a:rPr lang="en-US" sz="1600" b="0" dirty="0">
                <a:solidFill>
                  <a:srgbClr val="000000"/>
                </a:solidFill>
                <a:effectLst/>
                <a:latin typeface="Consolas" panose="020B0609020204030204" pitchFamily="49" charset="0"/>
              </a:rPr>
              <a:t> </a:t>
            </a:r>
            <a:r>
              <a:rPr lang="en-US" sz="1600" b="0" dirty="0">
                <a:solidFill>
                  <a:srgbClr val="74531F"/>
                </a:solidFill>
                <a:effectLst/>
                <a:latin typeface="Consolas" panose="020B0609020204030204" pitchFamily="49" charset="0"/>
              </a:rPr>
              <a:t>Print</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const</a:t>
            </a:r>
            <a:r>
              <a:rPr lang="en-US" sz="1600" b="0" dirty="0">
                <a:solidFill>
                  <a:srgbClr val="000000"/>
                </a:solidFill>
                <a:effectLst/>
                <a:latin typeface="Consolas" panose="020B0609020204030204" pitchFamily="49" charset="0"/>
              </a:rPr>
              <a:t> std::</a:t>
            </a:r>
            <a:r>
              <a:rPr lang="en-US" sz="1600" b="0" dirty="0">
                <a:solidFill>
                  <a:srgbClr val="2B91AF"/>
                </a:solidFill>
                <a:effectLst/>
                <a:latin typeface="Consolas" panose="020B0609020204030204" pitchFamily="49" charset="0"/>
              </a:rPr>
              <a:t>string</a:t>
            </a:r>
            <a:r>
              <a:rPr lang="en-US" sz="1600" b="0" dirty="0">
                <a:solidFill>
                  <a:srgbClr val="000000"/>
                </a:solidFill>
                <a:effectLst/>
                <a:latin typeface="Consolas" panose="020B0609020204030204" pitchFamily="49" charset="0"/>
              </a:rPr>
              <a:t>&amp; </a:t>
            </a:r>
            <a:r>
              <a:rPr lang="en-US" sz="1600" b="0" dirty="0">
                <a:solidFill>
                  <a:srgbClr val="808080"/>
                </a:solidFill>
                <a:effectLst/>
                <a:latin typeface="Consolas" panose="020B0609020204030204" pitchFamily="49" charset="0"/>
              </a:rPr>
              <a:t>document</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override</a:t>
            </a:r>
            <a:r>
              <a:rPr lang="en-US" sz="1600" b="0" dirty="0">
                <a:solidFill>
                  <a:srgbClr val="000000"/>
                </a:solidFill>
                <a:effectLst/>
                <a:latin typeface="Consolas" panose="020B0609020204030204" pitchFamily="49" charset="0"/>
              </a:rPr>
              <a:t> {</a:t>
            </a:r>
          </a:p>
          <a:p>
            <a:pPr>
              <a:buNone/>
            </a:pPr>
            <a:r>
              <a:rPr lang="en-US" sz="1600" b="0" dirty="0">
                <a:solidFill>
                  <a:srgbClr val="008000"/>
                </a:solidFill>
                <a:effectLst/>
                <a:latin typeface="Consolas" panose="020B0609020204030204" pitchFamily="49" charset="0"/>
              </a:rPr>
              <a:t>        // </a:t>
            </a:r>
            <a:r>
              <a:rPr lang="ru-RU" sz="1600" b="0" dirty="0">
                <a:solidFill>
                  <a:srgbClr val="008000"/>
                </a:solidFill>
                <a:effectLst/>
                <a:latin typeface="Consolas" panose="020B0609020204030204" pitchFamily="49" charset="0"/>
              </a:rPr>
              <a:t>Печать документа</a:t>
            </a:r>
            <a:endParaRPr lang="ru-RU" sz="1600" b="0" dirty="0">
              <a:solidFill>
                <a:srgbClr val="000000"/>
              </a:solidFill>
              <a:effectLst/>
              <a:latin typeface="Consolas" panose="020B0609020204030204" pitchFamily="49" charset="0"/>
            </a:endParaRPr>
          </a:p>
          <a:p>
            <a:pPr>
              <a:buNone/>
            </a:pPr>
            <a:r>
              <a:rPr lang="ru-RU" sz="1600" b="0" dirty="0">
                <a:solidFill>
                  <a:srgbClr val="000000"/>
                </a:solidFill>
                <a:effectLst/>
                <a:latin typeface="Consolas" panose="020B0609020204030204" pitchFamily="49" charset="0"/>
              </a:rPr>
              <a:t>    }</a:t>
            </a:r>
          </a:p>
          <a:p>
            <a:pPr>
              <a:buNone/>
            </a:pPr>
            <a:r>
              <a:rPr lang="ru-RU"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void</a:t>
            </a:r>
            <a:r>
              <a:rPr lang="en-US" sz="1600" b="0" dirty="0">
                <a:solidFill>
                  <a:srgbClr val="000000"/>
                </a:solidFill>
                <a:effectLst/>
                <a:latin typeface="Consolas" panose="020B0609020204030204" pitchFamily="49" charset="0"/>
              </a:rPr>
              <a:t> </a:t>
            </a:r>
            <a:r>
              <a:rPr lang="en-US" sz="1600" b="0" dirty="0">
                <a:solidFill>
                  <a:srgbClr val="74531F"/>
                </a:solidFill>
                <a:effectLst/>
                <a:latin typeface="Consolas" panose="020B0609020204030204" pitchFamily="49" charset="0"/>
              </a:rPr>
              <a:t>Scan</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const</a:t>
            </a:r>
            <a:r>
              <a:rPr lang="en-US" sz="1600" b="0" dirty="0">
                <a:solidFill>
                  <a:srgbClr val="000000"/>
                </a:solidFill>
                <a:effectLst/>
                <a:latin typeface="Consolas" panose="020B0609020204030204" pitchFamily="49" charset="0"/>
              </a:rPr>
              <a:t> std::</a:t>
            </a:r>
            <a:r>
              <a:rPr lang="en-US" sz="1600" b="0" dirty="0">
                <a:solidFill>
                  <a:srgbClr val="2B91AF"/>
                </a:solidFill>
                <a:effectLst/>
                <a:latin typeface="Consolas" panose="020B0609020204030204" pitchFamily="49" charset="0"/>
              </a:rPr>
              <a:t>string</a:t>
            </a:r>
            <a:r>
              <a:rPr lang="en-US" sz="1600" b="0" dirty="0">
                <a:solidFill>
                  <a:srgbClr val="000000"/>
                </a:solidFill>
                <a:effectLst/>
                <a:latin typeface="Consolas" panose="020B0609020204030204" pitchFamily="49" charset="0"/>
              </a:rPr>
              <a:t>&amp; </a:t>
            </a:r>
            <a:r>
              <a:rPr lang="en-US" sz="1600" b="0" dirty="0" err="1">
                <a:solidFill>
                  <a:srgbClr val="808080"/>
                </a:solidFill>
                <a:effectLst/>
                <a:latin typeface="Consolas" panose="020B0609020204030204" pitchFamily="49" charset="0"/>
              </a:rPr>
              <a:t>targetPath</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override</a:t>
            </a:r>
            <a:r>
              <a:rPr lang="en-US" sz="1600" b="0" dirty="0">
                <a:solidFill>
                  <a:srgbClr val="000000"/>
                </a:solidFill>
                <a:effectLst/>
                <a:latin typeface="Consolas" panose="020B0609020204030204" pitchFamily="49" charset="0"/>
              </a:rPr>
              <a:t> {</a:t>
            </a:r>
          </a:p>
          <a:p>
            <a:pPr>
              <a:buNone/>
            </a:pPr>
            <a:r>
              <a:rPr lang="en-US" sz="1600" b="0" dirty="0">
                <a:solidFill>
                  <a:srgbClr val="008000"/>
                </a:solidFill>
                <a:effectLst/>
                <a:latin typeface="Consolas" panose="020B0609020204030204" pitchFamily="49" charset="0"/>
              </a:rPr>
              <a:t>        // </a:t>
            </a:r>
            <a:r>
              <a:rPr lang="ru-RU" sz="1600" b="0" dirty="0">
                <a:solidFill>
                  <a:srgbClr val="008000"/>
                </a:solidFill>
                <a:effectLst/>
                <a:latin typeface="Consolas" panose="020B0609020204030204" pitchFamily="49" charset="0"/>
              </a:rPr>
              <a:t>Ничего не делает или кидает исключение</a:t>
            </a:r>
            <a:endParaRPr lang="ru-RU" sz="1600" b="0" dirty="0">
              <a:solidFill>
                <a:srgbClr val="000000"/>
              </a:solidFill>
              <a:effectLst/>
              <a:latin typeface="Consolas" panose="020B0609020204030204" pitchFamily="49" charset="0"/>
            </a:endParaRPr>
          </a:p>
          <a:p>
            <a:pPr>
              <a:buNone/>
            </a:pPr>
            <a:r>
              <a:rPr lang="ru-RU" sz="1600" b="0" dirty="0">
                <a:solidFill>
                  <a:srgbClr val="008000"/>
                </a:solidFill>
                <a:effectLst/>
                <a:latin typeface="Consolas" panose="020B0609020204030204" pitchFamily="49" charset="0"/>
              </a:rPr>
              <a:t>        // </a:t>
            </a:r>
            <a:r>
              <a:rPr lang="en-US" sz="1600" b="0" dirty="0">
                <a:solidFill>
                  <a:srgbClr val="008000"/>
                </a:solidFill>
                <a:effectLst/>
                <a:latin typeface="Consolas" panose="020B0609020204030204" pitchFamily="49" charset="0"/>
              </a:rPr>
              <a:t>throw std::</a:t>
            </a:r>
            <a:r>
              <a:rPr lang="en-US" sz="1600" b="0" dirty="0" err="1">
                <a:solidFill>
                  <a:srgbClr val="008000"/>
                </a:solidFill>
                <a:effectLst/>
                <a:latin typeface="Consolas" panose="020B0609020204030204" pitchFamily="49" charset="0"/>
              </a:rPr>
              <a:t>logic_error</a:t>
            </a:r>
            <a:r>
              <a:rPr lang="en-US" sz="1600" b="0" dirty="0">
                <a:solidFill>
                  <a:srgbClr val="008000"/>
                </a:solidFill>
                <a:effectLst/>
                <a:latin typeface="Consolas" panose="020B0609020204030204" pitchFamily="49" charset="0"/>
              </a:rPr>
              <a:t>("Scan is not supported");</a:t>
            </a:r>
            <a:endParaRPr lang="en-US" sz="1600" b="0" dirty="0">
              <a:solidFill>
                <a:srgbClr val="000000"/>
              </a:solidFill>
              <a:effectLst/>
              <a:latin typeface="Consolas" panose="020B0609020204030204" pitchFamily="49" charset="0"/>
            </a:endParaRPr>
          </a:p>
          <a:p>
            <a:pPr>
              <a:buNone/>
            </a:pP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void</a:t>
            </a:r>
            <a:r>
              <a:rPr lang="en-US" sz="1600" b="0" dirty="0">
                <a:solidFill>
                  <a:srgbClr val="000000"/>
                </a:solidFill>
                <a:effectLst/>
                <a:latin typeface="Consolas" panose="020B0609020204030204" pitchFamily="49" charset="0"/>
              </a:rPr>
              <a:t> </a:t>
            </a:r>
            <a:r>
              <a:rPr lang="en-US" sz="1600" b="0" dirty="0">
                <a:solidFill>
                  <a:srgbClr val="74531F"/>
                </a:solidFill>
                <a:effectLst/>
                <a:latin typeface="Consolas" panose="020B0609020204030204" pitchFamily="49" charset="0"/>
              </a:rPr>
              <a:t>Fax</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const</a:t>
            </a:r>
            <a:r>
              <a:rPr lang="en-US" sz="1600" b="0" dirty="0">
                <a:solidFill>
                  <a:srgbClr val="000000"/>
                </a:solidFill>
                <a:effectLst/>
                <a:latin typeface="Consolas" panose="020B0609020204030204" pitchFamily="49" charset="0"/>
              </a:rPr>
              <a:t> std::</a:t>
            </a:r>
            <a:r>
              <a:rPr lang="en-US" sz="1600" b="0" dirty="0">
                <a:solidFill>
                  <a:srgbClr val="2B91AF"/>
                </a:solidFill>
                <a:effectLst/>
                <a:latin typeface="Consolas" panose="020B0609020204030204" pitchFamily="49" charset="0"/>
              </a:rPr>
              <a:t>string</a:t>
            </a:r>
            <a:r>
              <a:rPr lang="en-US" sz="1600" b="0" dirty="0">
                <a:solidFill>
                  <a:srgbClr val="000000"/>
                </a:solidFill>
                <a:effectLst/>
                <a:latin typeface="Consolas" panose="020B0609020204030204" pitchFamily="49" charset="0"/>
              </a:rPr>
              <a:t>&amp; </a:t>
            </a:r>
            <a:r>
              <a:rPr lang="en-US" sz="1600" b="0" dirty="0" err="1">
                <a:solidFill>
                  <a:srgbClr val="808080"/>
                </a:solidFill>
                <a:effectLst/>
                <a:latin typeface="Consolas" panose="020B0609020204030204" pitchFamily="49" charset="0"/>
              </a:rPr>
              <a:t>phoneNumber</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override</a:t>
            </a:r>
            <a:r>
              <a:rPr lang="en-US" sz="1600" b="0" dirty="0">
                <a:solidFill>
                  <a:srgbClr val="000000"/>
                </a:solidFill>
                <a:effectLst/>
                <a:latin typeface="Consolas" panose="020B0609020204030204" pitchFamily="49" charset="0"/>
              </a:rPr>
              <a:t> {</a:t>
            </a:r>
          </a:p>
          <a:p>
            <a:pPr>
              <a:buNone/>
            </a:pPr>
            <a:r>
              <a:rPr lang="en-US" sz="1600" b="0" dirty="0">
                <a:solidFill>
                  <a:srgbClr val="008000"/>
                </a:solidFill>
                <a:effectLst/>
                <a:latin typeface="Consolas" panose="020B0609020204030204" pitchFamily="49" charset="0"/>
              </a:rPr>
              <a:t>        // </a:t>
            </a:r>
            <a:r>
              <a:rPr lang="ru-RU" sz="1600" b="0" dirty="0">
                <a:solidFill>
                  <a:srgbClr val="008000"/>
                </a:solidFill>
                <a:effectLst/>
                <a:latin typeface="Consolas" panose="020B0609020204030204" pitchFamily="49" charset="0"/>
              </a:rPr>
              <a:t>Тоже не поддерживается</a:t>
            </a:r>
            <a:endParaRPr lang="ru-RU" sz="1600" b="0" dirty="0">
              <a:solidFill>
                <a:srgbClr val="000000"/>
              </a:solidFill>
              <a:effectLst/>
              <a:latin typeface="Consolas" panose="020B0609020204030204" pitchFamily="49" charset="0"/>
            </a:endParaRPr>
          </a:p>
          <a:p>
            <a:pPr>
              <a:buNone/>
            </a:pPr>
            <a:r>
              <a:rPr lang="ru-RU" sz="1600" b="0" dirty="0">
                <a:solidFill>
                  <a:srgbClr val="000000"/>
                </a:solidFill>
                <a:effectLst/>
                <a:latin typeface="Consolas" panose="020B0609020204030204" pitchFamily="49" charset="0"/>
              </a:rPr>
              <a:t>    }</a:t>
            </a:r>
          </a:p>
          <a:p>
            <a:pPr>
              <a:buNone/>
            </a:pPr>
            <a:r>
              <a:rPr lang="ru-RU" sz="1600" b="0" dirty="0">
                <a:solidFill>
                  <a:srgbClr val="000000"/>
                </a:solidFill>
                <a:effectLst/>
                <a:latin typeface="Consolas" panose="020B0609020204030204" pitchFamily="49" charset="0"/>
              </a:rPr>
              <a:t>};</a:t>
            </a:r>
          </a:p>
          <a:p>
            <a:pPr>
              <a:buNone/>
            </a:pPr>
            <a:endParaRPr lang="ru-RU" sz="1600" b="0" dirty="0">
              <a:solidFill>
                <a:srgbClr val="000000"/>
              </a:solidFill>
              <a:effectLst/>
              <a:latin typeface="Consolas" panose="020B0609020204030204" pitchFamily="49" charset="0"/>
            </a:endParaRPr>
          </a:p>
          <a:p>
            <a:pPr>
              <a:buNone/>
            </a:pPr>
            <a:r>
              <a:rPr lang="en-US" sz="1600" b="0" dirty="0">
                <a:solidFill>
                  <a:srgbClr val="0000FF"/>
                </a:solidFill>
                <a:effectLst/>
                <a:latin typeface="Consolas" panose="020B0609020204030204" pitchFamily="49" charset="0"/>
              </a:rPr>
              <a:t>void</a:t>
            </a:r>
            <a:r>
              <a:rPr lang="en-US" sz="1600" b="0" dirty="0">
                <a:solidFill>
                  <a:srgbClr val="000000"/>
                </a:solidFill>
                <a:effectLst/>
                <a:latin typeface="Consolas" panose="020B0609020204030204" pitchFamily="49" charset="0"/>
              </a:rPr>
              <a:t> </a:t>
            </a:r>
            <a:r>
              <a:rPr lang="en-US" sz="1600" b="0" dirty="0" err="1">
                <a:solidFill>
                  <a:srgbClr val="74531F"/>
                </a:solidFill>
                <a:effectLst/>
                <a:latin typeface="Consolas" panose="020B0609020204030204" pitchFamily="49" charset="0"/>
              </a:rPr>
              <a:t>PrintReport</a:t>
            </a:r>
            <a:r>
              <a:rPr lang="en-US" sz="1600" b="0" dirty="0">
                <a:solidFill>
                  <a:srgbClr val="000000"/>
                </a:solidFill>
                <a:effectLst/>
                <a:latin typeface="Consolas" panose="020B0609020204030204" pitchFamily="49" charset="0"/>
              </a:rPr>
              <a:t>(</a:t>
            </a:r>
            <a:r>
              <a:rPr lang="en-US" sz="1600" b="0" dirty="0" err="1">
                <a:solidFill>
                  <a:srgbClr val="2B91AF"/>
                </a:solidFill>
                <a:effectLst/>
                <a:latin typeface="Consolas" panose="020B0609020204030204" pitchFamily="49" charset="0"/>
              </a:rPr>
              <a:t>IMultiFunctionDevice</a:t>
            </a:r>
            <a:r>
              <a:rPr lang="en-US" sz="1600" b="0" dirty="0">
                <a:solidFill>
                  <a:srgbClr val="000000"/>
                </a:solidFill>
                <a:effectLst/>
                <a:latin typeface="Consolas" panose="020B0609020204030204" pitchFamily="49" charset="0"/>
              </a:rPr>
              <a:t>&amp; </a:t>
            </a:r>
            <a:r>
              <a:rPr lang="en-US" sz="1600" b="0" dirty="0">
                <a:solidFill>
                  <a:srgbClr val="808080"/>
                </a:solidFill>
                <a:effectLst/>
                <a:latin typeface="Consolas" panose="020B0609020204030204" pitchFamily="49" charset="0"/>
              </a:rPr>
              <a:t>device</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const</a:t>
            </a:r>
            <a:r>
              <a:rPr lang="en-US" sz="1600" b="0" dirty="0">
                <a:solidFill>
                  <a:srgbClr val="000000"/>
                </a:solidFill>
                <a:effectLst/>
                <a:latin typeface="Consolas" panose="020B0609020204030204" pitchFamily="49" charset="0"/>
              </a:rPr>
              <a:t> std::</a:t>
            </a:r>
            <a:r>
              <a:rPr lang="en-US" sz="1600" b="0" dirty="0">
                <a:solidFill>
                  <a:srgbClr val="2B91AF"/>
                </a:solidFill>
                <a:effectLst/>
                <a:latin typeface="Consolas" panose="020B0609020204030204" pitchFamily="49" charset="0"/>
              </a:rPr>
              <a:t>string</a:t>
            </a:r>
            <a:r>
              <a:rPr lang="en-US" sz="1600" b="0" dirty="0">
                <a:solidFill>
                  <a:srgbClr val="000000"/>
                </a:solidFill>
                <a:effectLst/>
                <a:latin typeface="Consolas" panose="020B0609020204030204" pitchFamily="49" charset="0"/>
              </a:rPr>
              <a:t>&amp; </a:t>
            </a:r>
            <a:r>
              <a:rPr lang="en-US" sz="1600" b="0" dirty="0">
                <a:solidFill>
                  <a:srgbClr val="808080"/>
                </a:solidFill>
                <a:effectLst/>
                <a:latin typeface="Consolas" panose="020B0609020204030204" pitchFamily="49" charset="0"/>
              </a:rPr>
              <a:t>report</a:t>
            </a:r>
            <a:r>
              <a:rPr lang="en-US" sz="1600" b="0" dirty="0">
                <a:solidFill>
                  <a:srgbClr val="000000"/>
                </a:solidFill>
                <a:effectLst/>
                <a:latin typeface="Consolas" panose="020B0609020204030204" pitchFamily="49" charset="0"/>
              </a:rPr>
              <a:t>)</a:t>
            </a:r>
            <a:r>
              <a:rPr lang="ru-RU" sz="1600" b="0" dirty="0">
                <a:solidFill>
                  <a:srgbClr val="000000"/>
                </a:solidFill>
                <a:effectLst/>
                <a:latin typeface="Consolas" panose="020B0609020204030204" pitchFamily="49" charset="0"/>
              </a:rPr>
              <a:t> </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r>
              <a:rPr lang="en-US" sz="1600" b="0" dirty="0" err="1">
                <a:solidFill>
                  <a:srgbClr val="808080"/>
                </a:solidFill>
                <a:effectLst/>
                <a:latin typeface="Consolas" panose="020B0609020204030204" pitchFamily="49" charset="0"/>
              </a:rPr>
              <a:t>device</a:t>
            </a:r>
            <a:r>
              <a:rPr lang="en-US" sz="1600" b="0" dirty="0" err="1">
                <a:solidFill>
                  <a:srgbClr val="000000"/>
                </a:solidFill>
                <a:effectLst/>
                <a:latin typeface="Consolas" panose="020B0609020204030204" pitchFamily="49" charset="0"/>
              </a:rPr>
              <a:t>.</a:t>
            </a:r>
            <a:r>
              <a:rPr lang="en-US" sz="1600" b="0" dirty="0" err="1">
                <a:solidFill>
                  <a:srgbClr val="74531F"/>
                </a:solidFill>
                <a:effectLst/>
                <a:latin typeface="Consolas" panose="020B0609020204030204" pitchFamily="49" charset="0"/>
              </a:rPr>
              <a:t>Print</a:t>
            </a:r>
            <a:r>
              <a:rPr lang="en-US" sz="1600" b="0" dirty="0">
                <a:solidFill>
                  <a:srgbClr val="000000"/>
                </a:solidFill>
                <a:effectLst/>
                <a:latin typeface="Consolas" panose="020B0609020204030204" pitchFamily="49" charset="0"/>
              </a:rPr>
              <a:t>(</a:t>
            </a:r>
            <a:r>
              <a:rPr lang="en-US" sz="1600" b="0" dirty="0">
                <a:solidFill>
                  <a:srgbClr val="808080"/>
                </a:solidFill>
                <a:effectLst/>
                <a:latin typeface="Consolas" panose="020B0609020204030204" pitchFamily="49" charset="0"/>
              </a:rPr>
              <a:t>report</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0211397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2C9A582-D767-842E-B67C-679CCE1F28EE}"/>
              </a:ext>
            </a:extLst>
          </p:cNvPr>
          <p:cNvSpPr>
            <a:spLocks noGrp="1"/>
          </p:cNvSpPr>
          <p:nvPr>
            <p:ph type="sldNum" sz="quarter" idx="12"/>
          </p:nvPr>
        </p:nvSpPr>
        <p:spPr/>
        <p:txBody>
          <a:bodyPr/>
          <a:lstStyle/>
          <a:p>
            <a:fld id="{CF8E6F4D-2E97-47CB-8591-066566E4FE4D}" type="slidenum">
              <a:rPr lang="ru-RU" smtClean="0"/>
              <a:t>33</a:t>
            </a:fld>
            <a:endParaRPr lang="ru-RU"/>
          </a:p>
        </p:txBody>
      </p:sp>
      <p:sp>
        <p:nvSpPr>
          <p:cNvPr id="4" name="TextBox 3">
            <a:extLst>
              <a:ext uri="{FF2B5EF4-FFF2-40B4-BE49-F238E27FC236}">
                <a16:creationId xmlns:a16="http://schemas.microsoft.com/office/drawing/2014/main" id="{3F93EFCF-FD08-086F-9A4B-3614C51F4AFA}"/>
              </a:ext>
            </a:extLst>
          </p:cNvPr>
          <p:cNvSpPr txBox="1"/>
          <p:nvPr/>
        </p:nvSpPr>
        <p:spPr>
          <a:xfrm>
            <a:off x="0" y="0"/>
            <a:ext cx="12192000" cy="7073731"/>
          </a:xfrm>
          <a:prstGeom prst="rect">
            <a:avLst/>
          </a:prstGeom>
          <a:noFill/>
        </p:spPr>
        <p:txBody>
          <a:bodyPr wrap="square">
            <a:spAutoFit/>
          </a:bodyPr>
          <a:lstStyle/>
          <a:p>
            <a:pPr>
              <a:buNone/>
            </a:pPr>
            <a:r>
              <a:rPr lang="en-US" sz="1200" b="0" dirty="0">
                <a:solidFill>
                  <a:srgbClr val="0000FF"/>
                </a:solidFill>
                <a:effectLst/>
                <a:latin typeface="Consolas" panose="020B0609020204030204" pitchFamily="49" charset="0"/>
              </a:rPr>
              <a:t>class</a:t>
            </a:r>
            <a:r>
              <a:rPr lang="en-US" sz="1200" b="0" dirty="0">
                <a:solidFill>
                  <a:srgbClr val="000000"/>
                </a:solidFill>
                <a:effectLst/>
                <a:latin typeface="Consolas" panose="020B0609020204030204" pitchFamily="49" charset="0"/>
              </a:rPr>
              <a:t> </a:t>
            </a:r>
            <a:r>
              <a:rPr lang="en-US" sz="1200" b="0" dirty="0" err="1">
                <a:solidFill>
                  <a:srgbClr val="2B91AF"/>
                </a:solidFill>
                <a:effectLst/>
                <a:latin typeface="Consolas" panose="020B0609020204030204" pitchFamily="49" charset="0"/>
              </a:rPr>
              <a:t>IPrinter</a:t>
            </a:r>
            <a:r>
              <a:rPr lang="en-US" sz="1200" b="0" dirty="0">
                <a:solidFill>
                  <a:srgbClr val="000000"/>
                </a:solidFill>
                <a:effectLst/>
                <a:latin typeface="Consolas" panose="020B0609020204030204" pitchFamily="49" charset="0"/>
              </a:rPr>
              <a:t> {</a:t>
            </a:r>
          </a:p>
          <a:p>
            <a:pPr>
              <a:buNone/>
            </a:pPr>
            <a:r>
              <a:rPr lang="en-US" sz="1200" b="0" dirty="0">
                <a:solidFill>
                  <a:srgbClr val="0000FF"/>
                </a:solidFill>
                <a:effectLst/>
                <a:latin typeface="Consolas" panose="020B0609020204030204" pitchFamily="49" charset="0"/>
              </a:rPr>
              <a:t>public:</a:t>
            </a:r>
            <a:endParaRPr lang="en-US" sz="1200" b="0" dirty="0">
              <a:solidFill>
                <a:srgbClr val="000000"/>
              </a:solidFill>
              <a:effectLst/>
              <a:latin typeface="Consolas" panose="020B0609020204030204" pitchFamily="49" charset="0"/>
            </a:endParaRPr>
          </a:p>
          <a:p>
            <a:pPr>
              <a:buNone/>
            </a:pP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virtual</a:t>
            </a:r>
            <a:r>
              <a:rPr lang="en-US" sz="1200" b="0" dirty="0">
                <a:solidFill>
                  <a:srgbClr val="000000"/>
                </a:solidFill>
                <a:effectLst/>
                <a:latin typeface="Consolas" panose="020B0609020204030204" pitchFamily="49" charset="0"/>
              </a:rPr>
              <a:t> </a:t>
            </a:r>
            <a:r>
              <a:rPr lang="en-US" sz="1200" b="0" dirty="0">
                <a:solidFill>
                  <a:srgbClr val="74531F"/>
                </a:solidFill>
                <a:effectLst/>
                <a:latin typeface="Consolas" panose="020B0609020204030204" pitchFamily="49" charset="0"/>
              </a:rPr>
              <a:t>~</a:t>
            </a:r>
            <a:r>
              <a:rPr lang="en-US" sz="1200" b="0" dirty="0" err="1">
                <a:solidFill>
                  <a:srgbClr val="74531F"/>
                </a:solidFill>
                <a:effectLst/>
                <a:latin typeface="Consolas" panose="020B0609020204030204" pitchFamily="49" charset="0"/>
              </a:rPr>
              <a:t>IPrinter</a:t>
            </a:r>
            <a:r>
              <a:rPr lang="en-US" sz="1200" b="0" dirty="0">
                <a:solidFill>
                  <a:srgbClr val="000000"/>
                </a:solidFill>
                <a:effectLst/>
                <a:latin typeface="Consolas" panose="020B0609020204030204" pitchFamily="49" charset="0"/>
              </a:rPr>
              <a:t>() = </a:t>
            </a:r>
            <a:r>
              <a:rPr lang="en-US" sz="1200" b="0" dirty="0">
                <a:solidFill>
                  <a:srgbClr val="0000FF"/>
                </a:solidFill>
                <a:effectLst/>
                <a:latin typeface="Consolas" panose="020B0609020204030204" pitchFamily="49" charset="0"/>
              </a:rPr>
              <a:t>default</a:t>
            </a:r>
            <a:r>
              <a:rPr lang="en-US" sz="1200" b="0" dirty="0">
                <a:solidFill>
                  <a:srgbClr val="000000"/>
                </a:solidFill>
                <a:effectLst/>
                <a:latin typeface="Consolas" panose="020B0609020204030204" pitchFamily="49" charset="0"/>
              </a:rPr>
              <a:t>;</a:t>
            </a:r>
          </a:p>
          <a:p>
            <a:pPr>
              <a:buNone/>
            </a:pP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virtual</a:t>
            </a: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void</a:t>
            </a:r>
            <a:r>
              <a:rPr lang="en-US" sz="1200" b="0" dirty="0">
                <a:solidFill>
                  <a:srgbClr val="000000"/>
                </a:solidFill>
                <a:effectLst/>
                <a:latin typeface="Consolas" panose="020B0609020204030204" pitchFamily="49" charset="0"/>
              </a:rPr>
              <a:t> </a:t>
            </a:r>
            <a:r>
              <a:rPr lang="en-US" sz="1200" b="0" dirty="0">
                <a:solidFill>
                  <a:srgbClr val="74531F"/>
                </a:solidFill>
                <a:effectLst/>
                <a:latin typeface="Consolas" panose="020B0609020204030204" pitchFamily="49" charset="0"/>
              </a:rPr>
              <a:t>Print</a:t>
            </a:r>
            <a:r>
              <a:rPr lang="en-US" sz="1200" b="0" dirty="0">
                <a:solidFill>
                  <a:srgbClr val="000000"/>
                </a:solidFill>
                <a:effectLst/>
                <a:latin typeface="Consolas" panose="020B0609020204030204" pitchFamily="49" charset="0"/>
              </a:rPr>
              <a:t>(</a:t>
            </a:r>
            <a:r>
              <a:rPr lang="en-US" sz="1200" b="0" dirty="0">
                <a:solidFill>
                  <a:srgbClr val="0000FF"/>
                </a:solidFill>
                <a:effectLst/>
                <a:latin typeface="Consolas" panose="020B0609020204030204" pitchFamily="49" charset="0"/>
              </a:rPr>
              <a:t>const</a:t>
            </a:r>
            <a:r>
              <a:rPr lang="en-US" sz="1200" b="0" dirty="0">
                <a:solidFill>
                  <a:srgbClr val="000000"/>
                </a:solidFill>
                <a:effectLst/>
                <a:latin typeface="Consolas" panose="020B0609020204030204" pitchFamily="49" charset="0"/>
              </a:rPr>
              <a:t> std::</a:t>
            </a:r>
            <a:r>
              <a:rPr lang="en-US" sz="1200" b="0" dirty="0">
                <a:solidFill>
                  <a:srgbClr val="2B91AF"/>
                </a:solidFill>
                <a:effectLst/>
                <a:latin typeface="Consolas" panose="020B0609020204030204" pitchFamily="49" charset="0"/>
              </a:rPr>
              <a:t>string</a:t>
            </a:r>
            <a:r>
              <a:rPr lang="en-US" sz="1200" b="0" dirty="0">
                <a:solidFill>
                  <a:srgbClr val="000000"/>
                </a:solidFill>
                <a:effectLst/>
                <a:latin typeface="Consolas" panose="020B0609020204030204" pitchFamily="49" charset="0"/>
              </a:rPr>
              <a:t>&amp; </a:t>
            </a:r>
            <a:r>
              <a:rPr lang="en-US" sz="1200" b="0" dirty="0">
                <a:solidFill>
                  <a:srgbClr val="808080"/>
                </a:solidFill>
                <a:effectLst/>
                <a:latin typeface="Consolas" panose="020B0609020204030204" pitchFamily="49" charset="0"/>
              </a:rPr>
              <a:t>document</a:t>
            </a:r>
            <a:r>
              <a:rPr lang="en-US" sz="1200" b="0" dirty="0">
                <a:solidFill>
                  <a:srgbClr val="000000"/>
                </a:solidFill>
                <a:effectLst/>
                <a:latin typeface="Consolas" panose="020B0609020204030204" pitchFamily="49" charset="0"/>
              </a:rPr>
              <a:t>) = </a:t>
            </a:r>
            <a:r>
              <a:rPr lang="en-US" sz="1200" b="0" dirty="0">
                <a:solidFill>
                  <a:srgbClr val="098658"/>
                </a:solidFill>
                <a:effectLst/>
                <a:latin typeface="Consolas" panose="020B0609020204030204" pitchFamily="49" charset="0"/>
              </a:rPr>
              <a:t>0</a:t>
            </a:r>
            <a:r>
              <a:rPr lang="en-US" sz="1200" b="0" dirty="0">
                <a:solidFill>
                  <a:srgbClr val="000000"/>
                </a:solidFill>
                <a:effectLst/>
                <a:latin typeface="Consolas" panose="020B0609020204030204" pitchFamily="49" charset="0"/>
              </a:rPr>
              <a:t>;</a:t>
            </a:r>
          </a:p>
          <a:p>
            <a:pPr>
              <a:buNone/>
            </a:pPr>
            <a:r>
              <a:rPr lang="en-US" sz="1200" b="0" dirty="0">
                <a:solidFill>
                  <a:srgbClr val="000000"/>
                </a:solidFill>
                <a:effectLst/>
                <a:latin typeface="Consolas" panose="020B0609020204030204" pitchFamily="49" charset="0"/>
              </a:rPr>
              <a:t>};</a:t>
            </a:r>
          </a:p>
          <a:p>
            <a:pPr>
              <a:buNone/>
            </a:pPr>
            <a:r>
              <a:rPr lang="en-US" sz="1200" b="0" dirty="0">
                <a:solidFill>
                  <a:srgbClr val="0000FF"/>
                </a:solidFill>
                <a:effectLst/>
                <a:latin typeface="Consolas" panose="020B0609020204030204" pitchFamily="49" charset="0"/>
              </a:rPr>
              <a:t>class</a:t>
            </a:r>
            <a:r>
              <a:rPr lang="en-US" sz="1200" b="0" dirty="0">
                <a:solidFill>
                  <a:srgbClr val="000000"/>
                </a:solidFill>
                <a:effectLst/>
                <a:latin typeface="Consolas" panose="020B0609020204030204" pitchFamily="49" charset="0"/>
              </a:rPr>
              <a:t> </a:t>
            </a:r>
            <a:r>
              <a:rPr lang="en-US" sz="1200" b="0" dirty="0">
                <a:solidFill>
                  <a:srgbClr val="2B91AF"/>
                </a:solidFill>
                <a:effectLst/>
                <a:latin typeface="Consolas" panose="020B0609020204030204" pitchFamily="49" charset="0"/>
              </a:rPr>
              <a:t>IScanner</a:t>
            </a:r>
            <a:r>
              <a:rPr lang="en-US" sz="1200" b="0" dirty="0">
                <a:solidFill>
                  <a:srgbClr val="000000"/>
                </a:solidFill>
                <a:effectLst/>
                <a:latin typeface="Consolas" panose="020B0609020204030204" pitchFamily="49" charset="0"/>
              </a:rPr>
              <a:t> {</a:t>
            </a:r>
          </a:p>
          <a:p>
            <a:pPr>
              <a:buNone/>
            </a:pPr>
            <a:r>
              <a:rPr lang="en-US" sz="1200" b="0" dirty="0">
                <a:solidFill>
                  <a:srgbClr val="0000FF"/>
                </a:solidFill>
                <a:effectLst/>
                <a:latin typeface="Consolas" panose="020B0609020204030204" pitchFamily="49" charset="0"/>
              </a:rPr>
              <a:t>public:</a:t>
            </a:r>
            <a:endParaRPr lang="en-US" sz="1200" b="0" dirty="0">
              <a:solidFill>
                <a:srgbClr val="000000"/>
              </a:solidFill>
              <a:effectLst/>
              <a:latin typeface="Consolas" panose="020B0609020204030204" pitchFamily="49" charset="0"/>
            </a:endParaRPr>
          </a:p>
          <a:p>
            <a:pPr>
              <a:buNone/>
            </a:pP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virtual</a:t>
            </a:r>
            <a:r>
              <a:rPr lang="en-US" sz="1200" b="0" dirty="0">
                <a:solidFill>
                  <a:srgbClr val="000000"/>
                </a:solidFill>
                <a:effectLst/>
                <a:latin typeface="Consolas" panose="020B0609020204030204" pitchFamily="49" charset="0"/>
              </a:rPr>
              <a:t> </a:t>
            </a:r>
            <a:r>
              <a:rPr lang="en-US" sz="1200" b="0" dirty="0">
                <a:solidFill>
                  <a:srgbClr val="74531F"/>
                </a:solidFill>
                <a:effectLst/>
                <a:latin typeface="Consolas" panose="020B0609020204030204" pitchFamily="49" charset="0"/>
              </a:rPr>
              <a:t>~IScanner</a:t>
            </a:r>
            <a:r>
              <a:rPr lang="en-US" sz="1200" b="0" dirty="0">
                <a:solidFill>
                  <a:srgbClr val="000000"/>
                </a:solidFill>
                <a:effectLst/>
                <a:latin typeface="Consolas" panose="020B0609020204030204" pitchFamily="49" charset="0"/>
              </a:rPr>
              <a:t>() = </a:t>
            </a:r>
            <a:r>
              <a:rPr lang="en-US" sz="1200" b="0" dirty="0">
                <a:solidFill>
                  <a:srgbClr val="0000FF"/>
                </a:solidFill>
                <a:effectLst/>
                <a:latin typeface="Consolas" panose="020B0609020204030204" pitchFamily="49" charset="0"/>
              </a:rPr>
              <a:t>default</a:t>
            </a:r>
            <a:r>
              <a:rPr lang="en-US" sz="1200" b="0" dirty="0">
                <a:solidFill>
                  <a:srgbClr val="000000"/>
                </a:solidFill>
                <a:effectLst/>
                <a:latin typeface="Consolas" panose="020B0609020204030204" pitchFamily="49" charset="0"/>
              </a:rPr>
              <a:t>;</a:t>
            </a:r>
          </a:p>
          <a:p>
            <a:pPr>
              <a:buNone/>
            </a:pP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virtual</a:t>
            </a: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void</a:t>
            </a:r>
            <a:r>
              <a:rPr lang="en-US" sz="1200" b="0" dirty="0">
                <a:solidFill>
                  <a:srgbClr val="000000"/>
                </a:solidFill>
                <a:effectLst/>
                <a:latin typeface="Consolas" panose="020B0609020204030204" pitchFamily="49" charset="0"/>
              </a:rPr>
              <a:t> </a:t>
            </a:r>
            <a:r>
              <a:rPr lang="en-US" sz="1200" b="0" dirty="0">
                <a:solidFill>
                  <a:srgbClr val="74531F"/>
                </a:solidFill>
                <a:effectLst/>
                <a:latin typeface="Consolas" panose="020B0609020204030204" pitchFamily="49" charset="0"/>
              </a:rPr>
              <a:t>Scan</a:t>
            </a:r>
            <a:r>
              <a:rPr lang="en-US" sz="1200" b="0" dirty="0">
                <a:solidFill>
                  <a:srgbClr val="000000"/>
                </a:solidFill>
                <a:effectLst/>
                <a:latin typeface="Consolas" panose="020B0609020204030204" pitchFamily="49" charset="0"/>
              </a:rPr>
              <a:t>(</a:t>
            </a:r>
            <a:r>
              <a:rPr lang="en-US" sz="1200" b="0" dirty="0">
                <a:solidFill>
                  <a:srgbClr val="0000FF"/>
                </a:solidFill>
                <a:effectLst/>
                <a:latin typeface="Consolas" panose="020B0609020204030204" pitchFamily="49" charset="0"/>
              </a:rPr>
              <a:t>const</a:t>
            </a:r>
            <a:r>
              <a:rPr lang="en-US" sz="1200" b="0" dirty="0">
                <a:solidFill>
                  <a:srgbClr val="000000"/>
                </a:solidFill>
                <a:effectLst/>
                <a:latin typeface="Consolas" panose="020B0609020204030204" pitchFamily="49" charset="0"/>
              </a:rPr>
              <a:t> std::</a:t>
            </a:r>
            <a:r>
              <a:rPr lang="en-US" sz="1200" b="0" dirty="0">
                <a:solidFill>
                  <a:srgbClr val="2B91AF"/>
                </a:solidFill>
                <a:effectLst/>
                <a:latin typeface="Consolas" panose="020B0609020204030204" pitchFamily="49" charset="0"/>
              </a:rPr>
              <a:t>string</a:t>
            </a:r>
            <a:r>
              <a:rPr lang="en-US" sz="1200" b="0" dirty="0">
                <a:solidFill>
                  <a:srgbClr val="000000"/>
                </a:solidFill>
                <a:effectLst/>
                <a:latin typeface="Consolas" panose="020B0609020204030204" pitchFamily="49" charset="0"/>
              </a:rPr>
              <a:t>&amp; </a:t>
            </a:r>
            <a:r>
              <a:rPr lang="en-US" sz="1200" b="0" dirty="0" err="1">
                <a:solidFill>
                  <a:srgbClr val="808080"/>
                </a:solidFill>
                <a:effectLst/>
                <a:latin typeface="Consolas" panose="020B0609020204030204" pitchFamily="49" charset="0"/>
              </a:rPr>
              <a:t>targetPath</a:t>
            </a:r>
            <a:r>
              <a:rPr lang="en-US" sz="1200" b="0" dirty="0">
                <a:solidFill>
                  <a:srgbClr val="000000"/>
                </a:solidFill>
                <a:effectLst/>
                <a:latin typeface="Consolas" panose="020B0609020204030204" pitchFamily="49" charset="0"/>
              </a:rPr>
              <a:t>) = </a:t>
            </a:r>
            <a:r>
              <a:rPr lang="en-US" sz="1200" b="0" dirty="0">
                <a:solidFill>
                  <a:srgbClr val="098658"/>
                </a:solidFill>
                <a:effectLst/>
                <a:latin typeface="Consolas" panose="020B0609020204030204" pitchFamily="49" charset="0"/>
              </a:rPr>
              <a:t>0</a:t>
            </a:r>
            <a:r>
              <a:rPr lang="en-US" sz="1200" b="0" dirty="0">
                <a:solidFill>
                  <a:srgbClr val="000000"/>
                </a:solidFill>
                <a:effectLst/>
                <a:latin typeface="Consolas" panose="020B0609020204030204" pitchFamily="49" charset="0"/>
              </a:rPr>
              <a:t>;</a:t>
            </a:r>
          </a:p>
          <a:p>
            <a:pPr>
              <a:buNone/>
            </a:pPr>
            <a:r>
              <a:rPr lang="en-US" sz="1200" b="0" dirty="0">
                <a:solidFill>
                  <a:srgbClr val="000000"/>
                </a:solidFill>
                <a:effectLst/>
                <a:latin typeface="Consolas" panose="020B0609020204030204" pitchFamily="49" charset="0"/>
              </a:rPr>
              <a:t>};</a:t>
            </a:r>
          </a:p>
          <a:p>
            <a:pPr>
              <a:buNone/>
            </a:pPr>
            <a:r>
              <a:rPr lang="en-US" sz="1200" b="0" dirty="0">
                <a:solidFill>
                  <a:srgbClr val="0000FF"/>
                </a:solidFill>
                <a:effectLst/>
                <a:latin typeface="Consolas" panose="020B0609020204030204" pitchFamily="49" charset="0"/>
              </a:rPr>
              <a:t>class</a:t>
            </a:r>
            <a:r>
              <a:rPr lang="en-US" sz="1200" b="0" dirty="0">
                <a:solidFill>
                  <a:srgbClr val="000000"/>
                </a:solidFill>
                <a:effectLst/>
                <a:latin typeface="Consolas" panose="020B0609020204030204" pitchFamily="49" charset="0"/>
              </a:rPr>
              <a:t> </a:t>
            </a:r>
            <a:r>
              <a:rPr lang="en-US" sz="1200" b="0" dirty="0" err="1">
                <a:solidFill>
                  <a:srgbClr val="2B91AF"/>
                </a:solidFill>
                <a:effectLst/>
                <a:latin typeface="Consolas" panose="020B0609020204030204" pitchFamily="49" charset="0"/>
              </a:rPr>
              <a:t>IFax</a:t>
            </a:r>
            <a:r>
              <a:rPr lang="en-US" sz="1200" b="0" dirty="0">
                <a:solidFill>
                  <a:srgbClr val="000000"/>
                </a:solidFill>
                <a:effectLst/>
                <a:latin typeface="Consolas" panose="020B0609020204030204" pitchFamily="49" charset="0"/>
              </a:rPr>
              <a:t> {</a:t>
            </a:r>
          </a:p>
          <a:p>
            <a:pPr>
              <a:buNone/>
            </a:pPr>
            <a:r>
              <a:rPr lang="en-US" sz="1200" b="0" dirty="0">
                <a:solidFill>
                  <a:srgbClr val="0000FF"/>
                </a:solidFill>
                <a:effectLst/>
                <a:latin typeface="Consolas" panose="020B0609020204030204" pitchFamily="49" charset="0"/>
              </a:rPr>
              <a:t>public:</a:t>
            </a:r>
            <a:endParaRPr lang="en-US" sz="1200" b="0" dirty="0">
              <a:solidFill>
                <a:srgbClr val="000000"/>
              </a:solidFill>
              <a:effectLst/>
              <a:latin typeface="Consolas" panose="020B0609020204030204" pitchFamily="49" charset="0"/>
            </a:endParaRPr>
          </a:p>
          <a:p>
            <a:pPr>
              <a:buNone/>
            </a:pP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virtual</a:t>
            </a:r>
            <a:r>
              <a:rPr lang="en-US" sz="1200" b="0" dirty="0">
                <a:solidFill>
                  <a:srgbClr val="000000"/>
                </a:solidFill>
                <a:effectLst/>
                <a:latin typeface="Consolas" panose="020B0609020204030204" pitchFamily="49" charset="0"/>
              </a:rPr>
              <a:t> </a:t>
            </a:r>
            <a:r>
              <a:rPr lang="en-US" sz="1200" b="0" dirty="0">
                <a:solidFill>
                  <a:srgbClr val="74531F"/>
                </a:solidFill>
                <a:effectLst/>
                <a:latin typeface="Consolas" panose="020B0609020204030204" pitchFamily="49" charset="0"/>
              </a:rPr>
              <a:t>~</a:t>
            </a:r>
            <a:r>
              <a:rPr lang="en-US" sz="1200" b="0" dirty="0" err="1">
                <a:solidFill>
                  <a:srgbClr val="74531F"/>
                </a:solidFill>
                <a:effectLst/>
                <a:latin typeface="Consolas" panose="020B0609020204030204" pitchFamily="49" charset="0"/>
              </a:rPr>
              <a:t>IFax</a:t>
            </a:r>
            <a:r>
              <a:rPr lang="en-US" sz="1200" b="0" dirty="0">
                <a:solidFill>
                  <a:srgbClr val="000000"/>
                </a:solidFill>
                <a:effectLst/>
                <a:latin typeface="Consolas" panose="020B0609020204030204" pitchFamily="49" charset="0"/>
              </a:rPr>
              <a:t>() = </a:t>
            </a:r>
            <a:r>
              <a:rPr lang="en-US" sz="1200" b="0" dirty="0">
                <a:solidFill>
                  <a:srgbClr val="0000FF"/>
                </a:solidFill>
                <a:effectLst/>
                <a:latin typeface="Consolas" panose="020B0609020204030204" pitchFamily="49" charset="0"/>
              </a:rPr>
              <a:t>default</a:t>
            </a:r>
            <a:r>
              <a:rPr lang="en-US" sz="1200" b="0" dirty="0">
                <a:solidFill>
                  <a:srgbClr val="000000"/>
                </a:solidFill>
                <a:effectLst/>
                <a:latin typeface="Consolas" panose="020B0609020204030204" pitchFamily="49" charset="0"/>
              </a:rPr>
              <a:t>;</a:t>
            </a:r>
          </a:p>
          <a:p>
            <a:pPr>
              <a:buNone/>
            </a:pP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virtual</a:t>
            </a: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void</a:t>
            </a:r>
            <a:r>
              <a:rPr lang="en-US" sz="1200" b="0" dirty="0">
                <a:solidFill>
                  <a:srgbClr val="000000"/>
                </a:solidFill>
                <a:effectLst/>
                <a:latin typeface="Consolas" panose="020B0609020204030204" pitchFamily="49" charset="0"/>
              </a:rPr>
              <a:t> </a:t>
            </a:r>
            <a:r>
              <a:rPr lang="en-US" sz="1200" b="0" dirty="0">
                <a:solidFill>
                  <a:srgbClr val="74531F"/>
                </a:solidFill>
                <a:effectLst/>
                <a:latin typeface="Consolas" panose="020B0609020204030204" pitchFamily="49" charset="0"/>
              </a:rPr>
              <a:t>Fax</a:t>
            </a:r>
            <a:r>
              <a:rPr lang="en-US" sz="1200" b="0" dirty="0">
                <a:solidFill>
                  <a:srgbClr val="000000"/>
                </a:solidFill>
                <a:effectLst/>
                <a:latin typeface="Consolas" panose="020B0609020204030204" pitchFamily="49" charset="0"/>
              </a:rPr>
              <a:t>(</a:t>
            </a:r>
            <a:r>
              <a:rPr lang="en-US" sz="1200" b="0" dirty="0">
                <a:solidFill>
                  <a:srgbClr val="0000FF"/>
                </a:solidFill>
                <a:effectLst/>
                <a:latin typeface="Consolas" panose="020B0609020204030204" pitchFamily="49" charset="0"/>
              </a:rPr>
              <a:t>const</a:t>
            </a:r>
            <a:r>
              <a:rPr lang="en-US" sz="1200" b="0" dirty="0">
                <a:solidFill>
                  <a:srgbClr val="000000"/>
                </a:solidFill>
                <a:effectLst/>
                <a:latin typeface="Consolas" panose="020B0609020204030204" pitchFamily="49" charset="0"/>
              </a:rPr>
              <a:t> std::</a:t>
            </a:r>
            <a:r>
              <a:rPr lang="en-US" sz="1200" b="0" dirty="0">
                <a:solidFill>
                  <a:srgbClr val="2B91AF"/>
                </a:solidFill>
                <a:effectLst/>
                <a:latin typeface="Consolas" panose="020B0609020204030204" pitchFamily="49" charset="0"/>
              </a:rPr>
              <a:t>string</a:t>
            </a:r>
            <a:r>
              <a:rPr lang="en-US" sz="1200" b="0" dirty="0">
                <a:solidFill>
                  <a:srgbClr val="000000"/>
                </a:solidFill>
                <a:effectLst/>
                <a:latin typeface="Consolas" panose="020B0609020204030204" pitchFamily="49" charset="0"/>
              </a:rPr>
              <a:t>&amp; </a:t>
            </a:r>
            <a:r>
              <a:rPr lang="en-US" sz="1200" b="0" dirty="0" err="1">
                <a:solidFill>
                  <a:srgbClr val="808080"/>
                </a:solidFill>
                <a:effectLst/>
                <a:latin typeface="Consolas" panose="020B0609020204030204" pitchFamily="49" charset="0"/>
              </a:rPr>
              <a:t>phoneNumber</a:t>
            </a:r>
            <a:r>
              <a:rPr lang="en-US" sz="1200" b="0" dirty="0">
                <a:solidFill>
                  <a:srgbClr val="000000"/>
                </a:solidFill>
                <a:effectLst/>
                <a:latin typeface="Consolas" panose="020B0609020204030204" pitchFamily="49" charset="0"/>
              </a:rPr>
              <a:t>) = </a:t>
            </a:r>
            <a:r>
              <a:rPr lang="en-US" sz="1200" b="0" dirty="0">
                <a:solidFill>
                  <a:srgbClr val="098658"/>
                </a:solidFill>
                <a:effectLst/>
                <a:latin typeface="Consolas" panose="020B0609020204030204" pitchFamily="49" charset="0"/>
              </a:rPr>
              <a:t>0</a:t>
            </a:r>
            <a:r>
              <a:rPr lang="en-US" sz="1200" b="0" dirty="0">
                <a:solidFill>
                  <a:srgbClr val="000000"/>
                </a:solidFill>
                <a:effectLst/>
                <a:latin typeface="Consolas" panose="020B0609020204030204" pitchFamily="49" charset="0"/>
              </a:rPr>
              <a:t>;</a:t>
            </a:r>
          </a:p>
          <a:p>
            <a:pPr>
              <a:buNone/>
            </a:pPr>
            <a:r>
              <a:rPr lang="en-US" sz="1200" b="0" dirty="0">
                <a:solidFill>
                  <a:srgbClr val="000000"/>
                </a:solidFill>
                <a:effectLst/>
                <a:latin typeface="Consolas" panose="020B0609020204030204" pitchFamily="49" charset="0"/>
              </a:rPr>
              <a:t>};</a:t>
            </a:r>
          </a:p>
          <a:p>
            <a:pPr>
              <a:buNone/>
            </a:pPr>
            <a:endParaRPr lang="en-US" sz="1200" b="0" dirty="0">
              <a:solidFill>
                <a:srgbClr val="0000FF"/>
              </a:solidFill>
              <a:effectLst/>
              <a:latin typeface="Consolas" panose="020B0609020204030204" pitchFamily="49" charset="0"/>
            </a:endParaRPr>
          </a:p>
          <a:p>
            <a:pPr>
              <a:buNone/>
            </a:pPr>
            <a:r>
              <a:rPr lang="en-US" sz="1200" b="0" dirty="0">
                <a:solidFill>
                  <a:srgbClr val="0000FF"/>
                </a:solidFill>
                <a:effectLst/>
                <a:latin typeface="Consolas" panose="020B0609020204030204" pitchFamily="49" charset="0"/>
              </a:rPr>
              <a:t>class</a:t>
            </a:r>
            <a:r>
              <a:rPr lang="en-US" sz="1200" b="0" dirty="0">
                <a:solidFill>
                  <a:srgbClr val="000000"/>
                </a:solidFill>
                <a:effectLst/>
                <a:latin typeface="Consolas" panose="020B0609020204030204" pitchFamily="49" charset="0"/>
              </a:rPr>
              <a:t> </a:t>
            </a:r>
            <a:r>
              <a:rPr lang="en-US" sz="1200" b="0" dirty="0" err="1">
                <a:solidFill>
                  <a:srgbClr val="2B91AF"/>
                </a:solidFill>
                <a:effectLst/>
                <a:latin typeface="Consolas" panose="020B0609020204030204" pitchFamily="49" charset="0"/>
              </a:rPr>
              <a:t>SimplePrinter</a:t>
            </a:r>
            <a:r>
              <a:rPr lang="en-US" sz="1200" b="0" dirty="0">
                <a:solidFill>
                  <a:srgbClr val="000000"/>
                </a:solidFill>
                <a:effectLst/>
                <a:latin typeface="Consolas" panose="020B0609020204030204" pitchFamily="49" charset="0"/>
              </a:rPr>
              <a:t> : </a:t>
            </a:r>
            <a:r>
              <a:rPr lang="en-US" sz="1200" b="0" dirty="0">
                <a:solidFill>
                  <a:srgbClr val="0000FF"/>
                </a:solidFill>
                <a:effectLst/>
                <a:latin typeface="Consolas" panose="020B0609020204030204" pitchFamily="49" charset="0"/>
              </a:rPr>
              <a:t>public</a:t>
            </a:r>
            <a:r>
              <a:rPr lang="en-US" sz="1200" b="0" dirty="0">
                <a:solidFill>
                  <a:srgbClr val="000000"/>
                </a:solidFill>
                <a:effectLst/>
                <a:latin typeface="Consolas" panose="020B0609020204030204" pitchFamily="49" charset="0"/>
              </a:rPr>
              <a:t> </a:t>
            </a:r>
            <a:r>
              <a:rPr lang="en-US" sz="1200" b="0" dirty="0" err="1">
                <a:solidFill>
                  <a:srgbClr val="2B91AF"/>
                </a:solidFill>
                <a:effectLst/>
                <a:latin typeface="Consolas" panose="020B0609020204030204" pitchFamily="49" charset="0"/>
              </a:rPr>
              <a:t>IPrinter</a:t>
            </a:r>
            <a:r>
              <a:rPr lang="en-US" sz="1200" b="0" dirty="0">
                <a:solidFill>
                  <a:srgbClr val="000000"/>
                </a:solidFill>
                <a:effectLst/>
                <a:latin typeface="Consolas" panose="020B0609020204030204" pitchFamily="49" charset="0"/>
              </a:rPr>
              <a:t> {</a:t>
            </a:r>
          </a:p>
          <a:p>
            <a:pPr>
              <a:buNone/>
            </a:pPr>
            <a:r>
              <a:rPr lang="en-US" sz="1200" b="0" dirty="0">
                <a:solidFill>
                  <a:srgbClr val="0000FF"/>
                </a:solidFill>
                <a:effectLst/>
                <a:latin typeface="Consolas" panose="020B0609020204030204" pitchFamily="49" charset="0"/>
              </a:rPr>
              <a:t>public:</a:t>
            </a:r>
            <a:endParaRPr lang="en-US" sz="1200" b="0" dirty="0">
              <a:solidFill>
                <a:srgbClr val="000000"/>
              </a:solidFill>
              <a:effectLst/>
              <a:latin typeface="Consolas" panose="020B0609020204030204" pitchFamily="49" charset="0"/>
            </a:endParaRPr>
          </a:p>
          <a:p>
            <a:pPr>
              <a:buNone/>
            </a:pP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void</a:t>
            </a:r>
            <a:r>
              <a:rPr lang="en-US" sz="1200" b="0" dirty="0">
                <a:solidFill>
                  <a:srgbClr val="000000"/>
                </a:solidFill>
                <a:effectLst/>
                <a:latin typeface="Consolas" panose="020B0609020204030204" pitchFamily="49" charset="0"/>
              </a:rPr>
              <a:t> </a:t>
            </a:r>
            <a:r>
              <a:rPr lang="en-US" sz="1200" b="0" dirty="0">
                <a:solidFill>
                  <a:srgbClr val="74531F"/>
                </a:solidFill>
                <a:effectLst/>
                <a:latin typeface="Consolas" panose="020B0609020204030204" pitchFamily="49" charset="0"/>
              </a:rPr>
              <a:t>Print</a:t>
            </a:r>
            <a:r>
              <a:rPr lang="en-US" sz="1200" b="0" dirty="0">
                <a:solidFill>
                  <a:srgbClr val="000000"/>
                </a:solidFill>
                <a:effectLst/>
                <a:latin typeface="Consolas" panose="020B0609020204030204" pitchFamily="49" charset="0"/>
              </a:rPr>
              <a:t>(</a:t>
            </a:r>
            <a:r>
              <a:rPr lang="en-US" sz="1200" b="0" dirty="0">
                <a:solidFill>
                  <a:srgbClr val="0000FF"/>
                </a:solidFill>
                <a:effectLst/>
                <a:latin typeface="Consolas" panose="020B0609020204030204" pitchFamily="49" charset="0"/>
              </a:rPr>
              <a:t>const</a:t>
            </a:r>
            <a:r>
              <a:rPr lang="en-US" sz="1200" b="0" dirty="0">
                <a:solidFill>
                  <a:srgbClr val="000000"/>
                </a:solidFill>
                <a:effectLst/>
                <a:latin typeface="Consolas" panose="020B0609020204030204" pitchFamily="49" charset="0"/>
              </a:rPr>
              <a:t> std::</a:t>
            </a:r>
            <a:r>
              <a:rPr lang="en-US" sz="1200" b="0" dirty="0">
                <a:solidFill>
                  <a:srgbClr val="2B91AF"/>
                </a:solidFill>
                <a:effectLst/>
                <a:latin typeface="Consolas" panose="020B0609020204030204" pitchFamily="49" charset="0"/>
              </a:rPr>
              <a:t>string</a:t>
            </a:r>
            <a:r>
              <a:rPr lang="en-US" sz="1200" b="0" dirty="0">
                <a:solidFill>
                  <a:srgbClr val="000000"/>
                </a:solidFill>
                <a:effectLst/>
                <a:latin typeface="Consolas" panose="020B0609020204030204" pitchFamily="49" charset="0"/>
              </a:rPr>
              <a:t>&amp; </a:t>
            </a:r>
            <a:r>
              <a:rPr lang="en-US" sz="1200" b="0" dirty="0">
                <a:solidFill>
                  <a:srgbClr val="808080"/>
                </a:solidFill>
                <a:effectLst/>
                <a:latin typeface="Consolas" panose="020B0609020204030204" pitchFamily="49" charset="0"/>
              </a:rPr>
              <a:t>document</a:t>
            </a: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override</a:t>
            </a:r>
            <a:r>
              <a:rPr lang="en-US" sz="1200" b="0" dirty="0">
                <a:solidFill>
                  <a:srgbClr val="000000"/>
                </a:solidFill>
                <a:effectLst/>
                <a:latin typeface="Consolas" panose="020B0609020204030204" pitchFamily="49" charset="0"/>
              </a:rPr>
              <a:t> {</a:t>
            </a:r>
          </a:p>
          <a:p>
            <a:pPr>
              <a:buNone/>
            </a:pPr>
            <a:r>
              <a:rPr lang="en-US" sz="1200" b="0" dirty="0">
                <a:solidFill>
                  <a:srgbClr val="008000"/>
                </a:solidFill>
                <a:effectLst/>
                <a:latin typeface="Consolas" panose="020B0609020204030204" pitchFamily="49" charset="0"/>
              </a:rPr>
              <a:t>        // </a:t>
            </a:r>
            <a:r>
              <a:rPr lang="ru-RU" sz="1200" b="0" dirty="0">
                <a:solidFill>
                  <a:srgbClr val="008000"/>
                </a:solidFill>
                <a:effectLst/>
                <a:latin typeface="Consolas" panose="020B0609020204030204" pitchFamily="49" charset="0"/>
              </a:rPr>
              <a:t>Реальная печать</a:t>
            </a:r>
            <a:endParaRPr lang="ru-RU" sz="1200" b="0" dirty="0">
              <a:solidFill>
                <a:srgbClr val="000000"/>
              </a:solidFill>
              <a:effectLst/>
              <a:latin typeface="Consolas" panose="020B0609020204030204" pitchFamily="49" charset="0"/>
            </a:endParaRPr>
          </a:p>
          <a:p>
            <a:pPr>
              <a:buNone/>
            </a:pPr>
            <a:r>
              <a:rPr lang="ru-RU" sz="1200" b="0" dirty="0">
                <a:solidFill>
                  <a:srgbClr val="000000"/>
                </a:solidFill>
                <a:effectLst/>
                <a:latin typeface="Consolas" panose="020B0609020204030204" pitchFamily="49" charset="0"/>
              </a:rPr>
              <a:t>    }</a:t>
            </a:r>
          </a:p>
          <a:p>
            <a:pPr>
              <a:buNone/>
            </a:pPr>
            <a:r>
              <a:rPr lang="ru-RU" sz="1200" b="0" dirty="0">
                <a:solidFill>
                  <a:srgbClr val="000000"/>
                </a:solidFill>
                <a:effectLst/>
                <a:latin typeface="Consolas" panose="020B0609020204030204" pitchFamily="49" charset="0"/>
              </a:rPr>
              <a:t>};</a:t>
            </a:r>
          </a:p>
          <a:p>
            <a:pPr>
              <a:buNone/>
            </a:pPr>
            <a:endParaRPr lang="ru-RU" sz="1200" b="0" dirty="0">
              <a:solidFill>
                <a:srgbClr val="000000"/>
              </a:solidFill>
              <a:effectLst/>
              <a:latin typeface="Consolas" panose="020B0609020204030204" pitchFamily="49" charset="0"/>
            </a:endParaRPr>
          </a:p>
          <a:p>
            <a:pPr>
              <a:buNone/>
            </a:pPr>
            <a:r>
              <a:rPr lang="en-US" sz="1200" b="0" dirty="0">
                <a:solidFill>
                  <a:srgbClr val="0000FF"/>
                </a:solidFill>
                <a:effectLst/>
                <a:latin typeface="Consolas" panose="020B0609020204030204" pitchFamily="49" charset="0"/>
              </a:rPr>
              <a:t>class</a:t>
            </a:r>
            <a:r>
              <a:rPr lang="en-US" sz="1200" b="0" dirty="0">
                <a:solidFill>
                  <a:srgbClr val="000000"/>
                </a:solidFill>
                <a:effectLst/>
                <a:latin typeface="Consolas" panose="020B0609020204030204" pitchFamily="49" charset="0"/>
              </a:rPr>
              <a:t> </a:t>
            </a:r>
            <a:r>
              <a:rPr lang="en-US" sz="1200" b="0" dirty="0" err="1">
                <a:solidFill>
                  <a:srgbClr val="2B91AF"/>
                </a:solidFill>
                <a:effectLst/>
                <a:latin typeface="Consolas" panose="020B0609020204030204" pitchFamily="49" charset="0"/>
              </a:rPr>
              <a:t>MultiFunctionDevice</a:t>
            </a:r>
            <a:r>
              <a:rPr lang="en-US" sz="1200" b="0" dirty="0">
                <a:solidFill>
                  <a:srgbClr val="000000"/>
                </a:solidFill>
                <a:effectLst/>
                <a:latin typeface="Consolas" panose="020B0609020204030204" pitchFamily="49" charset="0"/>
              </a:rPr>
              <a:t> : </a:t>
            </a:r>
            <a:r>
              <a:rPr lang="en-US" sz="1200" b="0" dirty="0">
                <a:solidFill>
                  <a:srgbClr val="0000FF"/>
                </a:solidFill>
                <a:effectLst/>
                <a:latin typeface="Consolas" panose="020B0609020204030204" pitchFamily="49" charset="0"/>
              </a:rPr>
              <a:t>public</a:t>
            </a:r>
            <a:r>
              <a:rPr lang="en-US" sz="1200" b="0" dirty="0">
                <a:solidFill>
                  <a:srgbClr val="000000"/>
                </a:solidFill>
                <a:effectLst/>
                <a:latin typeface="Consolas" panose="020B0609020204030204" pitchFamily="49" charset="0"/>
              </a:rPr>
              <a:t> </a:t>
            </a:r>
            <a:r>
              <a:rPr lang="en-US" sz="1200" b="0" dirty="0" err="1">
                <a:solidFill>
                  <a:srgbClr val="2B91AF"/>
                </a:solidFill>
                <a:effectLst/>
                <a:latin typeface="Consolas" panose="020B0609020204030204" pitchFamily="49" charset="0"/>
              </a:rPr>
              <a:t>IPrinter</a:t>
            </a: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public</a:t>
            </a:r>
            <a:r>
              <a:rPr lang="en-US" sz="1200" b="0" dirty="0">
                <a:solidFill>
                  <a:srgbClr val="000000"/>
                </a:solidFill>
                <a:effectLst/>
                <a:latin typeface="Consolas" panose="020B0609020204030204" pitchFamily="49" charset="0"/>
              </a:rPr>
              <a:t> </a:t>
            </a:r>
            <a:r>
              <a:rPr lang="en-US" sz="1200" b="0" dirty="0">
                <a:solidFill>
                  <a:srgbClr val="2B91AF"/>
                </a:solidFill>
                <a:effectLst/>
                <a:latin typeface="Consolas" panose="020B0609020204030204" pitchFamily="49" charset="0"/>
              </a:rPr>
              <a:t>IScanner</a:t>
            </a: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public</a:t>
            </a:r>
            <a:r>
              <a:rPr lang="en-US" sz="1200" b="0" dirty="0">
                <a:solidFill>
                  <a:srgbClr val="000000"/>
                </a:solidFill>
                <a:effectLst/>
                <a:latin typeface="Consolas" panose="020B0609020204030204" pitchFamily="49" charset="0"/>
              </a:rPr>
              <a:t> </a:t>
            </a:r>
            <a:r>
              <a:rPr lang="en-US" sz="1200" b="0" dirty="0" err="1">
                <a:solidFill>
                  <a:srgbClr val="2B91AF"/>
                </a:solidFill>
                <a:effectLst/>
                <a:latin typeface="Consolas" panose="020B0609020204030204" pitchFamily="49" charset="0"/>
              </a:rPr>
              <a:t>Ifax</a:t>
            </a:r>
            <a:r>
              <a:rPr lang="en-US" sz="1200" b="0" dirty="0">
                <a:solidFill>
                  <a:srgbClr val="2B91AF"/>
                </a:solidFill>
                <a:effectLst/>
                <a:latin typeface="Consolas" panose="020B0609020204030204" pitchFamily="49" charset="0"/>
              </a:rPr>
              <a:t> </a:t>
            </a:r>
            <a:r>
              <a:rPr lang="en-US" sz="1200" b="0" dirty="0">
                <a:solidFill>
                  <a:srgbClr val="000000"/>
                </a:solidFill>
                <a:effectLst/>
                <a:latin typeface="Consolas" panose="020B0609020204030204" pitchFamily="49" charset="0"/>
              </a:rPr>
              <a:t>{</a:t>
            </a:r>
          </a:p>
          <a:p>
            <a:pPr>
              <a:buNone/>
            </a:pPr>
            <a:r>
              <a:rPr lang="en-US" sz="1200" b="0" dirty="0">
                <a:solidFill>
                  <a:srgbClr val="0000FF"/>
                </a:solidFill>
                <a:effectLst/>
                <a:latin typeface="Consolas" panose="020B0609020204030204" pitchFamily="49" charset="0"/>
              </a:rPr>
              <a:t>public:</a:t>
            </a:r>
            <a:endParaRPr lang="en-US" sz="1200" b="0" dirty="0">
              <a:solidFill>
                <a:srgbClr val="000000"/>
              </a:solidFill>
              <a:effectLst/>
              <a:latin typeface="Consolas" panose="020B0609020204030204" pitchFamily="49" charset="0"/>
            </a:endParaRPr>
          </a:p>
          <a:p>
            <a:pPr>
              <a:buNone/>
            </a:pP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void</a:t>
            </a:r>
            <a:r>
              <a:rPr lang="en-US" sz="1200" b="0" dirty="0">
                <a:solidFill>
                  <a:srgbClr val="000000"/>
                </a:solidFill>
                <a:effectLst/>
                <a:latin typeface="Consolas" panose="020B0609020204030204" pitchFamily="49" charset="0"/>
              </a:rPr>
              <a:t> </a:t>
            </a:r>
            <a:r>
              <a:rPr lang="en-US" sz="1200" b="0" dirty="0">
                <a:solidFill>
                  <a:srgbClr val="74531F"/>
                </a:solidFill>
                <a:effectLst/>
                <a:latin typeface="Consolas" panose="020B0609020204030204" pitchFamily="49" charset="0"/>
              </a:rPr>
              <a:t>Print</a:t>
            </a:r>
            <a:r>
              <a:rPr lang="en-US" sz="1200" b="0" dirty="0">
                <a:solidFill>
                  <a:srgbClr val="000000"/>
                </a:solidFill>
                <a:effectLst/>
                <a:latin typeface="Consolas" panose="020B0609020204030204" pitchFamily="49" charset="0"/>
              </a:rPr>
              <a:t>(</a:t>
            </a:r>
            <a:r>
              <a:rPr lang="en-US" sz="1200" b="0" dirty="0">
                <a:solidFill>
                  <a:srgbClr val="0000FF"/>
                </a:solidFill>
                <a:effectLst/>
                <a:latin typeface="Consolas" panose="020B0609020204030204" pitchFamily="49" charset="0"/>
              </a:rPr>
              <a:t>const</a:t>
            </a:r>
            <a:r>
              <a:rPr lang="en-US" sz="1200" b="0" dirty="0">
                <a:solidFill>
                  <a:srgbClr val="000000"/>
                </a:solidFill>
                <a:effectLst/>
                <a:latin typeface="Consolas" panose="020B0609020204030204" pitchFamily="49" charset="0"/>
              </a:rPr>
              <a:t> std::</a:t>
            </a:r>
            <a:r>
              <a:rPr lang="en-US" sz="1200" b="0" dirty="0">
                <a:solidFill>
                  <a:srgbClr val="2B91AF"/>
                </a:solidFill>
                <a:effectLst/>
                <a:latin typeface="Consolas" panose="020B0609020204030204" pitchFamily="49" charset="0"/>
              </a:rPr>
              <a:t>string</a:t>
            </a:r>
            <a:r>
              <a:rPr lang="en-US" sz="1200" b="0" dirty="0">
                <a:solidFill>
                  <a:srgbClr val="000000"/>
                </a:solidFill>
                <a:effectLst/>
                <a:latin typeface="Consolas" panose="020B0609020204030204" pitchFamily="49" charset="0"/>
              </a:rPr>
              <a:t>&amp; </a:t>
            </a:r>
            <a:r>
              <a:rPr lang="en-US" sz="1200" b="0" dirty="0">
                <a:solidFill>
                  <a:srgbClr val="808080"/>
                </a:solidFill>
                <a:effectLst/>
                <a:latin typeface="Consolas" panose="020B0609020204030204" pitchFamily="49" charset="0"/>
              </a:rPr>
              <a:t>document</a:t>
            </a: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override</a:t>
            </a:r>
            <a:r>
              <a:rPr lang="en-US" sz="1200" b="0" dirty="0">
                <a:solidFill>
                  <a:srgbClr val="000000"/>
                </a:solidFill>
                <a:effectLst/>
                <a:latin typeface="Consolas" panose="020B0609020204030204" pitchFamily="49" charset="0"/>
              </a:rPr>
              <a:t> {</a:t>
            </a:r>
            <a:r>
              <a:rPr lang="en-US" sz="1200" b="0" dirty="0">
                <a:solidFill>
                  <a:srgbClr val="008000"/>
                </a:solidFill>
                <a:effectLst/>
                <a:latin typeface="Consolas" panose="020B0609020204030204" pitchFamily="49" charset="0"/>
              </a:rPr>
              <a:t> /* </a:t>
            </a:r>
            <a:r>
              <a:rPr lang="ru-RU" sz="1200" b="0" dirty="0">
                <a:solidFill>
                  <a:srgbClr val="008000"/>
                </a:solidFill>
                <a:effectLst/>
                <a:latin typeface="Consolas" panose="020B0609020204030204" pitchFamily="49" charset="0"/>
              </a:rPr>
              <a:t>Печать */</a:t>
            </a:r>
            <a:r>
              <a:rPr lang="ru-RU" sz="1200" b="0" dirty="0">
                <a:solidFill>
                  <a:srgbClr val="000000"/>
                </a:solidFill>
                <a:effectLst/>
                <a:latin typeface="Consolas" panose="020B0609020204030204" pitchFamily="49" charset="0"/>
              </a:rPr>
              <a:t> }</a:t>
            </a:r>
          </a:p>
          <a:p>
            <a:pPr>
              <a:buNone/>
            </a:pPr>
            <a:r>
              <a:rPr lang="ru-RU"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void</a:t>
            </a:r>
            <a:r>
              <a:rPr lang="en-US" sz="1200" b="0" dirty="0">
                <a:solidFill>
                  <a:srgbClr val="000000"/>
                </a:solidFill>
                <a:effectLst/>
                <a:latin typeface="Consolas" panose="020B0609020204030204" pitchFamily="49" charset="0"/>
              </a:rPr>
              <a:t> </a:t>
            </a:r>
            <a:r>
              <a:rPr lang="en-US" sz="1200" b="0" dirty="0">
                <a:solidFill>
                  <a:srgbClr val="74531F"/>
                </a:solidFill>
                <a:effectLst/>
                <a:latin typeface="Consolas" panose="020B0609020204030204" pitchFamily="49" charset="0"/>
              </a:rPr>
              <a:t>Scan</a:t>
            </a:r>
            <a:r>
              <a:rPr lang="en-US" sz="1200" b="0" dirty="0">
                <a:solidFill>
                  <a:srgbClr val="000000"/>
                </a:solidFill>
                <a:effectLst/>
                <a:latin typeface="Consolas" panose="020B0609020204030204" pitchFamily="49" charset="0"/>
              </a:rPr>
              <a:t>(</a:t>
            </a:r>
            <a:r>
              <a:rPr lang="en-US" sz="1200" b="0" dirty="0">
                <a:solidFill>
                  <a:srgbClr val="0000FF"/>
                </a:solidFill>
                <a:effectLst/>
                <a:latin typeface="Consolas" panose="020B0609020204030204" pitchFamily="49" charset="0"/>
              </a:rPr>
              <a:t>const</a:t>
            </a:r>
            <a:r>
              <a:rPr lang="en-US" sz="1200" b="0" dirty="0">
                <a:solidFill>
                  <a:srgbClr val="000000"/>
                </a:solidFill>
                <a:effectLst/>
                <a:latin typeface="Consolas" panose="020B0609020204030204" pitchFamily="49" charset="0"/>
              </a:rPr>
              <a:t> std::</a:t>
            </a:r>
            <a:r>
              <a:rPr lang="en-US" sz="1200" b="0" dirty="0">
                <a:solidFill>
                  <a:srgbClr val="2B91AF"/>
                </a:solidFill>
                <a:effectLst/>
                <a:latin typeface="Consolas" panose="020B0609020204030204" pitchFamily="49" charset="0"/>
              </a:rPr>
              <a:t>string</a:t>
            </a:r>
            <a:r>
              <a:rPr lang="en-US" sz="1200" b="0" dirty="0">
                <a:solidFill>
                  <a:srgbClr val="000000"/>
                </a:solidFill>
                <a:effectLst/>
                <a:latin typeface="Consolas" panose="020B0609020204030204" pitchFamily="49" charset="0"/>
              </a:rPr>
              <a:t>&amp; </a:t>
            </a:r>
            <a:r>
              <a:rPr lang="en-US" sz="1200" b="0" dirty="0" err="1">
                <a:solidFill>
                  <a:srgbClr val="808080"/>
                </a:solidFill>
                <a:effectLst/>
                <a:latin typeface="Consolas" panose="020B0609020204030204" pitchFamily="49" charset="0"/>
              </a:rPr>
              <a:t>targetPath</a:t>
            </a: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override</a:t>
            </a:r>
            <a:r>
              <a:rPr lang="en-US" sz="1200" b="0" dirty="0">
                <a:solidFill>
                  <a:srgbClr val="000000"/>
                </a:solidFill>
                <a:effectLst/>
                <a:latin typeface="Consolas" panose="020B0609020204030204" pitchFamily="49" charset="0"/>
              </a:rPr>
              <a:t> {</a:t>
            </a:r>
            <a:r>
              <a:rPr lang="en-US" sz="1200" b="0" dirty="0">
                <a:solidFill>
                  <a:srgbClr val="008000"/>
                </a:solidFill>
                <a:effectLst/>
                <a:latin typeface="Consolas" panose="020B0609020204030204" pitchFamily="49" charset="0"/>
              </a:rPr>
              <a:t> /* </a:t>
            </a:r>
            <a:r>
              <a:rPr lang="ru-RU" sz="1200" b="0" dirty="0">
                <a:solidFill>
                  <a:srgbClr val="008000"/>
                </a:solidFill>
                <a:effectLst/>
                <a:latin typeface="Consolas" panose="020B0609020204030204" pitchFamily="49" charset="0"/>
              </a:rPr>
              <a:t>Сканирование */</a:t>
            </a:r>
            <a:r>
              <a:rPr lang="ru-RU" sz="1200" b="0" dirty="0">
                <a:solidFill>
                  <a:srgbClr val="000000"/>
                </a:solidFill>
                <a:effectLst/>
                <a:latin typeface="Consolas" panose="020B0609020204030204" pitchFamily="49" charset="0"/>
              </a:rPr>
              <a:t> }</a:t>
            </a:r>
          </a:p>
          <a:p>
            <a:pPr>
              <a:buNone/>
            </a:pPr>
            <a:r>
              <a:rPr lang="ru-RU"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void</a:t>
            </a:r>
            <a:r>
              <a:rPr lang="en-US" sz="1200" b="0" dirty="0">
                <a:solidFill>
                  <a:srgbClr val="000000"/>
                </a:solidFill>
                <a:effectLst/>
                <a:latin typeface="Consolas" panose="020B0609020204030204" pitchFamily="49" charset="0"/>
              </a:rPr>
              <a:t> </a:t>
            </a:r>
            <a:r>
              <a:rPr lang="en-US" sz="1200" b="0" dirty="0">
                <a:solidFill>
                  <a:srgbClr val="74531F"/>
                </a:solidFill>
                <a:effectLst/>
                <a:latin typeface="Consolas" panose="020B0609020204030204" pitchFamily="49" charset="0"/>
              </a:rPr>
              <a:t>Fax</a:t>
            </a:r>
            <a:r>
              <a:rPr lang="en-US" sz="1200" b="0" dirty="0">
                <a:solidFill>
                  <a:srgbClr val="000000"/>
                </a:solidFill>
                <a:effectLst/>
                <a:latin typeface="Consolas" panose="020B0609020204030204" pitchFamily="49" charset="0"/>
              </a:rPr>
              <a:t>(</a:t>
            </a:r>
            <a:r>
              <a:rPr lang="en-US" sz="1200" b="0" dirty="0">
                <a:solidFill>
                  <a:srgbClr val="0000FF"/>
                </a:solidFill>
                <a:effectLst/>
                <a:latin typeface="Consolas" panose="020B0609020204030204" pitchFamily="49" charset="0"/>
              </a:rPr>
              <a:t>const</a:t>
            </a:r>
            <a:r>
              <a:rPr lang="en-US" sz="1200" b="0" dirty="0">
                <a:solidFill>
                  <a:srgbClr val="000000"/>
                </a:solidFill>
                <a:effectLst/>
                <a:latin typeface="Consolas" panose="020B0609020204030204" pitchFamily="49" charset="0"/>
              </a:rPr>
              <a:t> std::</a:t>
            </a:r>
            <a:r>
              <a:rPr lang="en-US" sz="1200" b="0" dirty="0">
                <a:solidFill>
                  <a:srgbClr val="2B91AF"/>
                </a:solidFill>
                <a:effectLst/>
                <a:latin typeface="Consolas" panose="020B0609020204030204" pitchFamily="49" charset="0"/>
              </a:rPr>
              <a:t>string</a:t>
            </a:r>
            <a:r>
              <a:rPr lang="en-US" sz="1200" b="0" dirty="0">
                <a:solidFill>
                  <a:srgbClr val="000000"/>
                </a:solidFill>
                <a:effectLst/>
                <a:latin typeface="Consolas" panose="020B0609020204030204" pitchFamily="49" charset="0"/>
              </a:rPr>
              <a:t>&amp; </a:t>
            </a:r>
            <a:r>
              <a:rPr lang="en-US" sz="1200" b="0" dirty="0" err="1">
                <a:solidFill>
                  <a:srgbClr val="808080"/>
                </a:solidFill>
                <a:effectLst/>
                <a:latin typeface="Consolas" panose="020B0609020204030204" pitchFamily="49" charset="0"/>
              </a:rPr>
              <a:t>phoneNumber</a:t>
            </a: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override</a:t>
            </a:r>
            <a:r>
              <a:rPr lang="en-US" sz="1200" b="0" dirty="0">
                <a:solidFill>
                  <a:srgbClr val="000000"/>
                </a:solidFill>
                <a:effectLst/>
                <a:latin typeface="Consolas" panose="020B0609020204030204" pitchFamily="49" charset="0"/>
              </a:rPr>
              <a:t> {</a:t>
            </a:r>
            <a:r>
              <a:rPr lang="en-US" sz="1200" b="0" dirty="0">
                <a:solidFill>
                  <a:srgbClr val="008000"/>
                </a:solidFill>
                <a:effectLst/>
                <a:latin typeface="Consolas" panose="020B0609020204030204" pitchFamily="49" charset="0"/>
              </a:rPr>
              <a:t> /* </a:t>
            </a:r>
            <a:r>
              <a:rPr lang="ru-RU" sz="1200" b="0" dirty="0">
                <a:solidFill>
                  <a:srgbClr val="008000"/>
                </a:solidFill>
                <a:effectLst/>
                <a:latin typeface="Consolas" panose="020B0609020204030204" pitchFamily="49" charset="0"/>
              </a:rPr>
              <a:t>Отправка факса */</a:t>
            </a:r>
            <a:r>
              <a:rPr lang="ru-RU" sz="1200" b="0" dirty="0">
                <a:solidFill>
                  <a:srgbClr val="000000"/>
                </a:solidFill>
                <a:effectLst/>
                <a:latin typeface="Consolas" panose="020B0609020204030204" pitchFamily="49" charset="0"/>
              </a:rPr>
              <a:t> }</a:t>
            </a:r>
          </a:p>
          <a:p>
            <a:pPr>
              <a:buNone/>
            </a:pPr>
            <a:r>
              <a:rPr lang="ru-RU" sz="1200" b="0" dirty="0">
                <a:solidFill>
                  <a:srgbClr val="000000"/>
                </a:solidFill>
                <a:effectLst/>
                <a:latin typeface="Consolas" panose="020B0609020204030204" pitchFamily="49" charset="0"/>
              </a:rPr>
              <a:t>};</a:t>
            </a:r>
            <a:endParaRPr lang="en-US" sz="1200" b="0" dirty="0">
              <a:solidFill>
                <a:srgbClr val="000000"/>
              </a:solidFill>
              <a:effectLst/>
              <a:latin typeface="Consolas" panose="020B0609020204030204" pitchFamily="49" charset="0"/>
            </a:endParaRPr>
          </a:p>
          <a:p>
            <a:pPr>
              <a:buNone/>
            </a:pPr>
            <a:endParaRPr lang="en-US" sz="1200" b="0" dirty="0">
              <a:solidFill>
                <a:srgbClr val="000000"/>
              </a:solidFill>
              <a:effectLst/>
              <a:latin typeface="Consolas" panose="020B0609020204030204" pitchFamily="49" charset="0"/>
            </a:endParaRPr>
          </a:p>
          <a:p>
            <a:pPr>
              <a:lnSpc>
                <a:spcPts val="1425"/>
              </a:lnSpc>
              <a:buNone/>
            </a:pPr>
            <a:r>
              <a:rPr lang="en-US" sz="1200" dirty="0">
                <a:solidFill>
                  <a:srgbClr val="0000FF"/>
                </a:solidFill>
                <a:latin typeface="Consolas" panose="020B0609020204030204" pitchFamily="49" charset="0"/>
              </a:rPr>
              <a:t>void</a:t>
            </a:r>
            <a:r>
              <a:rPr lang="en-US" sz="1200" dirty="0">
                <a:solidFill>
                  <a:srgbClr val="000000"/>
                </a:solidFill>
                <a:latin typeface="Consolas" panose="020B0609020204030204" pitchFamily="49" charset="0"/>
              </a:rPr>
              <a:t> </a:t>
            </a:r>
            <a:r>
              <a:rPr lang="en-US" sz="1200" dirty="0" err="1">
                <a:solidFill>
                  <a:srgbClr val="74531F"/>
                </a:solidFill>
                <a:latin typeface="Consolas" panose="020B0609020204030204" pitchFamily="49" charset="0"/>
              </a:rPr>
              <a:t>PrintReport</a:t>
            </a:r>
            <a:r>
              <a:rPr lang="en-US" sz="1200" dirty="0">
                <a:solidFill>
                  <a:srgbClr val="000000"/>
                </a:solidFill>
                <a:latin typeface="Consolas" panose="020B0609020204030204" pitchFamily="49" charset="0"/>
              </a:rPr>
              <a:t>(</a:t>
            </a:r>
            <a:r>
              <a:rPr lang="en-US" sz="1200" dirty="0" err="1">
                <a:solidFill>
                  <a:srgbClr val="2B91AF"/>
                </a:solidFill>
                <a:latin typeface="Consolas" panose="020B0609020204030204" pitchFamily="49" charset="0"/>
              </a:rPr>
              <a:t>IPrinter</a:t>
            </a:r>
            <a:r>
              <a:rPr lang="en-US" sz="1200" dirty="0">
                <a:solidFill>
                  <a:srgbClr val="000000"/>
                </a:solidFill>
                <a:latin typeface="Consolas" panose="020B0609020204030204" pitchFamily="49" charset="0"/>
              </a:rPr>
              <a:t>&amp; </a:t>
            </a:r>
            <a:r>
              <a:rPr lang="en-US" sz="1200" dirty="0">
                <a:solidFill>
                  <a:srgbClr val="808080"/>
                </a:solidFill>
                <a:latin typeface="Consolas" panose="020B0609020204030204" pitchFamily="49" charset="0"/>
              </a:rPr>
              <a:t>printer</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const</a:t>
            </a:r>
            <a:r>
              <a:rPr lang="en-US" sz="1200" dirty="0">
                <a:solidFill>
                  <a:srgbClr val="000000"/>
                </a:solidFill>
                <a:latin typeface="Consolas" panose="020B0609020204030204" pitchFamily="49" charset="0"/>
              </a:rPr>
              <a:t> std::</a:t>
            </a:r>
            <a:r>
              <a:rPr lang="en-US" sz="1200" dirty="0">
                <a:solidFill>
                  <a:srgbClr val="2B91AF"/>
                </a:solidFill>
                <a:latin typeface="Consolas" panose="020B0609020204030204" pitchFamily="49" charset="0"/>
              </a:rPr>
              <a:t>string</a:t>
            </a:r>
            <a:r>
              <a:rPr lang="en-US" sz="1200" dirty="0">
                <a:solidFill>
                  <a:srgbClr val="000000"/>
                </a:solidFill>
                <a:latin typeface="Consolas" panose="020B0609020204030204" pitchFamily="49" charset="0"/>
              </a:rPr>
              <a:t>&amp; </a:t>
            </a:r>
            <a:r>
              <a:rPr lang="en-US" sz="1200" dirty="0">
                <a:solidFill>
                  <a:srgbClr val="808080"/>
                </a:solidFill>
                <a:latin typeface="Consolas" panose="020B0609020204030204" pitchFamily="49" charset="0"/>
              </a:rPr>
              <a:t>report</a:t>
            </a:r>
            <a:r>
              <a:rPr lang="en-US" sz="1200" dirty="0">
                <a:solidFill>
                  <a:srgbClr val="000000"/>
                </a:solidFill>
                <a:latin typeface="Consolas" panose="020B0609020204030204" pitchFamily="49" charset="0"/>
              </a:rPr>
              <a:t>) {</a:t>
            </a:r>
          </a:p>
          <a:p>
            <a:pPr>
              <a:lnSpc>
                <a:spcPts val="1425"/>
              </a:lnSpc>
              <a:buNone/>
            </a:pPr>
            <a:r>
              <a:rPr lang="en-US" sz="1200" dirty="0">
                <a:solidFill>
                  <a:srgbClr val="000000"/>
                </a:solidFill>
                <a:latin typeface="Consolas" panose="020B0609020204030204" pitchFamily="49" charset="0"/>
              </a:rPr>
              <a:t>    </a:t>
            </a:r>
            <a:r>
              <a:rPr lang="en-US" sz="1200" dirty="0" err="1">
                <a:solidFill>
                  <a:srgbClr val="808080"/>
                </a:solidFill>
                <a:latin typeface="Consolas" panose="020B0609020204030204" pitchFamily="49" charset="0"/>
              </a:rPr>
              <a:t>printer</a:t>
            </a:r>
            <a:r>
              <a:rPr lang="en-US" sz="1200" dirty="0" err="1">
                <a:solidFill>
                  <a:srgbClr val="000000"/>
                </a:solidFill>
                <a:latin typeface="Consolas" panose="020B0609020204030204" pitchFamily="49" charset="0"/>
              </a:rPr>
              <a:t>.</a:t>
            </a:r>
            <a:r>
              <a:rPr lang="en-US" sz="1200" dirty="0" err="1">
                <a:solidFill>
                  <a:srgbClr val="74531F"/>
                </a:solidFill>
                <a:latin typeface="Consolas" panose="020B0609020204030204" pitchFamily="49" charset="0"/>
              </a:rPr>
              <a:t>Print</a:t>
            </a:r>
            <a:r>
              <a:rPr lang="en-US" sz="1200" dirty="0">
                <a:solidFill>
                  <a:srgbClr val="000000"/>
                </a:solidFill>
                <a:latin typeface="Consolas" panose="020B0609020204030204" pitchFamily="49" charset="0"/>
              </a:rPr>
              <a:t>(</a:t>
            </a:r>
            <a:r>
              <a:rPr lang="en-US" sz="1200" dirty="0">
                <a:solidFill>
                  <a:srgbClr val="808080"/>
                </a:solidFill>
                <a:latin typeface="Consolas" panose="020B0609020204030204" pitchFamily="49" charset="0"/>
              </a:rPr>
              <a:t>report</a:t>
            </a:r>
            <a:r>
              <a:rPr lang="en-US" sz="1200" dirty="0">
                <a:solidFill>
                  <a:srgbClr val="000000"/>
                </a:solidFill>
                <a:latin typeface="Consolas" panose="020B0609020204030204" pitchFamily="49" charset="0"/>
              </a:rPr>
              <a:t>);</a:t>
            </a:r>
          </a:p>
          <a:p>
            <a:pPr>
              <a:lnSpc>
                <a:spcPts val="1425"/>
              </a:lnSpc>
              <a:buNone/>
            </a:pPr>
            <a:r>
              <a:rPr lang="en-US" sz="1200" dirty="0">
                <a:solidFill>
                  <a:srgbClr val="000000"/>
                </a:solidFill>
                <a:latin typeface="Consolas" panose="020B0609020204030204" pitchFamily="49" charset="0"/>
              </a:rPr>
              <a:t>}</a:t>
            </a:r>
          </a:p>
          <a:p>
            <a:pPr>
              <a:lnSpc>
                <a:spcPts val="1425"/>
              </a:lnSpc>
              <a:buNone/>
            </a:pPr>
            <a:endParaRPr lang="en-US" sz="1200" dirty="0">
              <a:solidFill>
                <a:srgbClr val="000000"/>
              </a:solidFill>
              <a:latin typeface="Consolas" panose="020B0609020204030204" pitchFamily="49" charset="0"/>
            </a:endParaRPr>
          </a:p>
          <a:p>
            <a:pPr>
              <a:lnSpc>
                <a:spcPts val="1425"/>
              </a:lnSpc>
              <a:buNone/>
            </a:pPr>
            <a:r>
              <a:rPr lang="en-US" sz="1200" dirty="0">
                <a:solidFill>
                  <a:srgbClr val="0000FF"/>
                </a:solidFill>
                <a:latin typeface="Consolas" panose="020B0609020204030204" pitchFamily="49" charset="0"/>
              </a:rPr>
              <a:t>void</a:t>
            </a:r>
            <a:r>
              <a:rPr lang="en-US" sz="1200" dirty="0">
                <a:solidFill>
                  <a:srgbClr val="000000"/>
                </a:solidFill>
                <a:latin typeface="Consolas" panose="020B0609020204030204" pitchFamily="49" charset="0"/>
              </a:rPr>
              <a:t> </a:t>
            </a:r>
            <a:r>
              <a:rPr lang="en-US" sz="1200" dirty="0" err="1">
                <a:solidFill>
                  <a:srgbClr val="74531F"/>
                </a:solidFill>
                <a:latin typeface="Consolas" panose="020B0609020204030204" pitchFamily="49" charset="0"/>
              </a:rPr>
              <a:t>ScanToArchive</a:t>
            </a:r>
            <a:r>
              <a:rPr lang="en-US" sz="1200" dirty="0">
                <a:solidFill>
                  <a:srgbClr val="000000"/>
                </a:solidFill>
                <a:latin typeface="Consolas" panose="020B0609020204030204" pitchFamily="49" charset="0"/>
              </a:rPr>
              <a:t>(</a:t>
            </a:r>
            <a:r>
              <a:rPr lang="en-US" sz="1200" dirty="0">
                <a:solidFill>
                  <a:srgbClr val="2B91AF"/>
                </a:solidFill>
                <a:latin typeface="Consolas" panose="020B0609020204030204" pitchFamily="49" charset="0"/>
              </a:rPr>
              <a:t>IScanner</a:t>
            </a:r>
            <a:r>
              <a:rPr lang="en-US" sz="1200" dirty="0">
                <a:solidFill>
                  <a:srgbClr val="000000"/>
                </a:solidFill>
                <a:latin typeface="Consolas" panose="020B0609020204030204" pitchFamily="49" charset="0"/>
              </a:rPr>
              <a:t>&amp; </a:t>
            </a:r>
            <a:r>
              <a:rPr lang="en-US" sz="1200" dirty="0">
                <a:solidFill>
                  <a:srgbClr val="808080"/>
                </a:solidFill>
                <a:latin typeface="Consolas" panose="020B0609020204030204" pitchFamily="49" charset="0"/>
              </a:rPr>
              <a:t>scanner</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const</a:t>
            </a:r>
            <a:r>
              <a:rPr lang="en-US" sz="1200" dirty="0">
                <a:solidFill>
                  <a:srgbClr val="000000"/>
                </a:solidFill>
                <a:latin typeface="Consolas" panose="020B0609020204030204" pitchFamily="49" charset="0"/>
              </a:rPr>
              <a:t> std::</a:t>
            </a:r>
            <a:r>
              <a:rPr lang="en-US" sz="1200" dirty="0">
                <a:solidFill>
                  <a:srgbClr val="2B91AF"/>
                </a:solidFill>
                <a:latin typeface="Consolas" panose="020B0609020204030204" pitchFamily="49" charset="0"/>
              </a:rPr>
              <a:t>string</a:t>
            </a:r>
            <a:r>
              <a:rPr lang="en-US" sz="1200" dirty="0">
                <a:solidFill>
                  <a:srgbClr val="000000"/>
                </a:solidFill>
                <a:latin typeface="Consolas" panose="020B0609020204030204" pitchFamily="49" charset="0"/>
              </a:rPr>
              <a:t>&amp; </a:t>
            </a:r>
            <a:r>
              <a:rPr lang="en-US" sz="1200" dirty="0">
                <a:solidFill>
                  <a:srgbClr val="808080"/>
                </a:solidFill>
                <a:latin typeface="Consolas" panose="020B0609020204030204" pitchFamily="49" charset="0"/>
              </a:rPr>
              <a:t>path</a:t>
            </a:r>
            <a:r>
              <a:rPr lang="en-US" sz="1200" dirty="0">
                <a:solidFill>
                  <a:srgbClr val="000000"/>
                </a:solidFill>
                <a:latin typeface="Consolas" panose="020B0609020204030204" pitchFamily="49" charset="0"/>
              </a:rPr>
              <a:t>) {</a:t>
            </a:r>
          </a:p>
          <a:p>
            <a:pPr>
              <a:lnSpc>
                <a:spcPts val="1425"/>
              </a:lnSpc>
              <a:buNone/>
            </a:pPr>
            <a:r>
              <a:rPr lang="en-US" sz="1200" dirty="0">
                <a:solidFill>
                  <a:srgbClr val="000000"/>
                </a:solidFill>
                <a:latin typeface="Consolas" panose="020B0609020204030204" pitchFamily="49" charset="0"/>
              </a:rPr>
              <a:t>    </a:t>
            </a:r>
            <a:r>
              <a:rPr lang="en-US" sz="1200" dirty="0" err="1">
                <a:solidFill>
                  <a:srgbClr val="808080"/>
                </a:solidFill>
                <a:latin typeface="Consolas" panose="020B0609020204030204" pitchFamily="49" charset="0"/>
              </a:rPr>
              <a:t>scanner</a:t>
            </a:r>
            <a:r>
              <a:rPr lang="en-US" sz="1200" dirty="0" err="1">
                <a:solidFill>
                  <a:srgbClr val="000000"/>
                </a:solidFill>
                <a:latin typeface="Consolas" panose="020B0609020204030204" pitchFamily="49" charset="0"/>
              </a:rPr>
              <a:t>.</a:t>
            </a:r>
            <a:r>
              <a:rPr lang="en-US" sz="1200" dirty="0" err="1">
                <a:solidFill>
                  <a:srgbClr val="74531F"/>
                </a:solidFill>
                <a:latin typeface="Consolas" panose="020B0609020204030204" pitchFamily="49" charset="0"/>
              </a:rPr>
              <a:t>Scan</a:t>
            </a:r>
            <a:r>
              <a:rPr lang="en-US" sz="1200" dirty="0">
                <a:solidFill>
                  <a:srgbClr val="000000"/>
                </a:solidFill>
                <a:latin typeface="Consolas" panose="020B0609020204030204" pitchFamily="49" charset="0"/>
              </a:rPr>
              <a:t>(</a:t>
            </a:r>
            <a:r>
              <a:rPr lang="en-US" sz="1200" dirty="0">
                <a:solidFill>
                  <a:srgbClr val="808080"/>
                </a:solidFill>
                <a:latin typeface="Consolas" panose="020B0609020204030204" pitchFamily="49" charset="0"/>
              </a:rPr>
              <a:t>path</a:t>
            </a:r>
            <a:r>
              <a:rPr lang="en-US" sz="1200" dirty="0">
                <a:solidFill>
                  <a:srgbClr val="000000"/>
                </a:solidFill>
                <a:latin typeface="Consolas" panose="020B0609020204030204" pitchFamily="49" charset="0"/>
              </a:rPr>
              <a:t>);</a:t>
            </a:r>
          </a:p>
          <a:p>
            <a:pPr>
              <a:lnSpc>
                <a:spcPts val="1425"/>
              </a:lnSpc>
              <a:buNone/>
            </a:pPr>
            <a:r>
              <a:rPr lang="en-US" sz="1200" dirty="0">
                <a:solidFill>
                  <a:srgbClr val="000000"/>
                </a:solidFill>
                <a:latin typeface="Consolas" panose="020B0609020204030204" pitchFamily="49" charset="0"/>
              </a:rPr>
              <a:t>}</a:t>
            </a:r>
          </a:p>
        </p:txBody>
      </p:sp>
      <p:sp>
        <p:nvSpPr>
          <p:cNvPr id="6" name="TextBox 5">
            <a:extLst>
              <a:ext uri="{FF2B5EF4-FFF2-40B4-BE49-F238E27FC236}">
                <a16:creationId xmlns:a16="http://schemas.microsoft.com/office/drawing/2014/main" id="{8177ECB2-2EDA-4FA9-11C6-7D3DF765DAE4}"/>
              </a:ext>
            </a:extLst>
          </p:cNvPr>
          <p:cNvSpPr txBox="1"/>
          <p:nvPr/>
        </p:nvSpPr>
        <p:spPr>
          <a:xfrm>
            <a:off x="6096000" y="1599870"/>
            <a:ext cx="5715000" cy="271869"/>
          </a:xfrm>
          <a:prstGeom prst="rect">
            <a:avLst/>
          </a:prstGeom>
          <a:noFill/>
        </p:spPr>
        <p:txBody>
          <a:bodyPr wrap="square">
            <a:spAutoFit/>
          </a:bodyPr>
          <a:lstStyle/>
          <a:p>
            <a:pPr>
              <a:lnSpc>
                <a:spcPts val="1425"/>
              </a:lnSpc>
              <a:buNone/>
            </a:pPr>
            <a:endParaRPr lang="en-US" sz="12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1379890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500"/>
                                        <p:tgtEl>
                                          <p:spTgt spid="4">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fade">
                                      <p:cBhvr>
                                        <p:cTn id="16" dur="500"/>
                                        <p:tgtEl>
                                          <p:spTgt spid="4">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Effect transition="in" filter="fade">
                                      <p:cBhvr>
                                        <p:cTn id="19" dur="500"/>
                                        <p:tgtEl>
                                          <p:spTgt spid="4">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fade">
                                      <p:cBhvr>
                                        <p:cTn id="22" dur="500"/>
                                        <p:tgtEl>
                                          <p:spTgt spid="4">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animEffect transition="in" filter="fade">
                                      <p:cBhvr>
                                        <p:cTn id="25" dur="500"/>
                                        <p:tgtEl>
                                          <p:spTgt spid="4">
                                            <p:txEl>
                                              <p:pRg st="6" end="6"/>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4">
                                            <p:txEl>
                                              <p:pRg st="7" end="7"/>
                                            </p:txEl>
                                          </p:spTgt>
                                        </p:tgtEl>
                                        <p:attrNameLst>
                                          <p:attrName>style.visibility</p:attrName>
                                        </p:attrNameLst>
                                      </p:cBhvr>
                                      <p:to>
                                        <p:strVal val="visible"/>
                                      </p:to>
                                    </p:set>
                                    <p:animEffect transition="in" filter="fade">
                                      <p:cBhvr>
                                        <p:cTn id="28" dur="500"/>
                                        <p:tgtEl>
                                          <p:spTgt spid="4">
                                            <p:txEl>
                                              <p:pRg st="7" end="7"/>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animEffect transition="in" filter="fade">
                                      <p:cBhvr>
                                        <p:cTn id="31" dur="500"/>
                                        <p:tgtEl>
                                          <p:spTgt spid="4">
                                            <p:txEl>
                                              <p:pRg st="8" end="8"/>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4">
                                            <p:txEl>
                                              <p:pRg st="9" end="9"/>
                                            </p:txEl>
                                          </p:spTgt>
                                        </p:tgtEl>
                                        <p:attrNameLst>
                                          <p:attrName>style.visibility</p:attrName>
                                        </p:attrNameLst>
                                      </p:cBhvr>
                                      <p:to>
                                        <p:strVal val="visible"/>
                                      </p:to>
                                    </p:set>
                                    <p:animEffect transition="in" filter="fade">
                                      <p:cBhvr>
                                        <p:cTn id="34" dur="500"/>
                                        <p:tgtEl>
                                          <p:spTgt spid="4">
                                            <p:txEl>
                                              <p:pRg st="9" end="9"/>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4">
                                            <p:txEl>
                                              <p:pRg st="10" end="10"/>
                                            </p:txEl>
                                          </p:spTgt>
                                        </p:tgtEl>
                                        <p:attrNameLst>
                                          <p:attrName>style.visibility</p:attrName>
                                        </p:attrNameLst>
                                      </p:cBhvr>
                                      <p:to>
                                        <p:strVal val="visible"/>
                                      </p:to>
                                    </p:set>
                                    <p:animEffect transition="in" filter="fade">
                                      <p:cBhvr>
                                        <p:cTn id="37" dur="500"/>
                                        <p:tgtEl>
                                          <p:spTgt spid="4">
                                            <p:txEl>
                                              <p:pRg st="10" end="10"/>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4">
                                            <p:txEl>
                                              <p:pRg st="11" end="11"/>
                                            </p:txEl>
                                          </p:spTgt>
                                        </p:tgtEl>
                                        <p:attrNameLst>
                                          <p:attrName>style.visibility</p:attrName>
                                        </p:attrNameLst>
                                      </p:cBhvr>
                                      <p:to>
                                        <p:strVal val="visible"/>
                                      </p:to>
                                    </p:set>
                                    <p:animEffect transition="in" filter="fade">
                                      <p:cBhvr>
                                        <p:cTn id="40" dur="500"/>
                                        <p:tgtEl>
                                          <p:spTgt spid="4">
                                            <p:txEl>
                                              <p:pRg st="11" end="11"/>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4">
                                            <p:txEl>
                                              <p:pRg st="12" end="12"/>
                                            </p:txEl>
                                          </p:spTgt>
                                        </p:tgtEl>
                                        <p:attrNameLst>
                                          <p:attrName>style.visibility</p:attrName>
                                        </p:attrNameLst>
                                      </p:cBhvr>
                                      <p:to>
                                        <p:strVal val="visible"/>
                                      </p:to>
                                    </p:set>
                                    <p:animEffect transition="in" filter="fade">
                                      <p:cBhvr>
                                        <p:cTn id="43" dur="500"/>
                                        <p:tgtEl>
                                          <p:spTgt spid="4">
                                            <p:txEl>
                                              <p:pRg st="12" end="12"/>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4">
                                            <p:txEl>
                                              <p:pRg st="13" end="13"/>
                                            </p:txEl>
                                          </p:spTgt>
                                        </p:tgtEl>
                                        <p:attrNameLst>
                                          <p:attrName>style.visibility</p:attrName>
                                        </p:attrNameLst>
                                      </p:cBhvr>
                                      <p:to>
                                        <p:strVal val="visible"/>
                                      </p:to>
                                    </p:set>
                                    <p:animEffect transition="in" filter="fade">
                                      <p:cBhvr>
                                        <p:cTn id="46" dur="500"/>
                                        <p:tgtEl>
                                          <p:spTgt spid="4">
                                            <p:txEl>
                                              <p:pRg st="13" end="13"/>
                                            </p:txEl>
                                          </p:spTgt>
                                        </p:tgtEl>
                                      </p:cBhvr>
                                    </p:animEffect>
                                  </p:childTnLst>
                                </p:cTn>
                              </p:par>
                              <p:par>
                                <p:cTn id="47" presetID="10" presetClass="entr" presetSubtype="0" fill="hold" nodeType="withEffect">
                                  <p:stCondLst>
                                    <p:cond delay="0"/>
                                  </p:stCondLst>
                                  <p:childTnLst>
                                    <p:set>
                                      <p:cBhvr>
                                        <p:cTn id="48" dur="1" fill="hold">
                                          <p:stCondLst>
                                            <p:cond delay="0"/>
                                          </p:stCondLst>
                                        </p:cTn>
                                        <p:tgtEl>
                                          <p:spTgt spid="4">
                                            <p:txEl>
                                              <p:pRg st="14" end="14"/>
                                            </p:txEl>
                                          </p:spTgt>
                                        </p:tgtEl>
                                        <p:attrNameLst>
                                          <p:attrName>style.visibility</p:attrName>
                                        </p:attrNameLst>
                                      </p:cBhvr>
                                      <p:to>
                                        <p:strVal val="visible"/>
                                      </p:to>
                                    </p:set>
                                    <p:animEffect transition="in" filter="fade">
                                      <p:cBhvr>
                                        <p:cTn id="49" dur="500"/>
                                        <p:tgtEl>
                                          <p:spTgt spid="4">
                                            <p:txEl>
                                              <p:pRg st="14" end="14"/>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4">
                                            <p:txEl>
                                              <p:pRg st="16" end="16"/>
                                            </p:txEl>
                                          </p:spTgt>
                                        </p:tgtEl>
                                        <p:attrNameLst>
                                          <p:attrName>style.visibility</p:attrName>
                                        </p:attrNameLst>
                                      </p:cBhvr>
                                      <p:to>
                                        <p:strVal val="visible"/>
                                      </p:to>
                                    </p:set>
                                    <p:animEffect transition="in" filter="fade">
                                      <p:cBhvr>
                                        <p:cTn id="54" dur="500"/>
                                        <p:tgtEl>
                                          <p:spTgt spid="4">
                                            <p:txEl>
                                              <p:pRg st="16" end="16"/>
                                            </p:txEl>
                                          </p:spTgt>
                                        </p:tgtEl>
                                      </p:cBhvr>
                                    </p:animEffect>
                                  </p:childTnLst>
                                </p:cTn>
                              </p:par>
                              <p:par>
                                <p:cTn id="55" presetID="10" presetClass="entr" presetSubtype="0" fill="hold" nodeType="withEffect">
                                  <p:stCondLst>
                                    <p:cond delay="0"/>
                                  </p:stCondLst>
                                  <p:childTnLst>
                                    <p:set>
                                      <p:cBhvr>
                                        <p:cTn id="56" dur="1" fill="hold">
                                          <p:stCondLst>
                                            <p:cond delay="0"/>
                                          </p:stCondLst>
                                        </p:cTn>
                                        <p:tgtEl>
                                          <p:spTgt spid="4">
                                            <p:txEl>
                                              <p:pRg st="17" end="17"/>
                                            </p:txEl>
                                          </p:spTgt>
                                        </p:tgtEl>
                                        <p:attrNameLst>
                                          <p:attrName>style.visibility</p:attrName>
                                        </p:attrNameLst>
                                      </p:cBhvr>
                                      <p:to>
                                        <p:strVal val="visible"/>
                                      </p:to>
                                    </p:set>
                                    <p:animEffect transition="in" filter="fade">
                                      <p:cBhvr>
                                        <p:cTn id="57" dur="500"/>
                                        <p:tgtEl>
                                          <p:spTgt spid="4">
                                            <p:txEl>
                                              <p:pRg st="17" end="17"/>
                                            </p:txEl>
                                          </p:spTgt>
                                        </p:tgtEl>
                                      </p:cBhvr>
                                    </p:animEffect>
                                  </p:childTnLst>
                                </p:cTn>
                              </p:par>
                              <p:par>
                                <p:cTn id="58" presetID="10" presetClass="entr" presetSubtype="0" fill="hold" nodeType="withEffect">
                                  <p:stCondLst>
                                    <p:cond delay="0"/>
                                  </p:stCondLst>
                                  <p:childTnLst>
                                    <p:set>
                                      <p:cBhvr>
                                        <p:cTn id="59" dur="1" fill="hold">
                                          <p:stCondLst>
                                            <p:cond delay="0"/>
                                          </p:stCondLst>
                                        </p:cTn>
                                        <p:tgtEl>
                                          <p:spTgt spid="4">
                                            <p:txEl>
                                              <p:pRg st="18" end="18"/>
                                            </p:txEl>
                                          </p:spTgt>
                                        </p:tgtEl>
                                        <p:attrNameLst>
                                          <p:attrName>style.visibility</p:attrName>
                                        </p:attrNameLst>
                                      </p:cBhvr>
                                      <p:to>
                                        <p:strVal val="visible"/>
                                      </p:to>
                                    </p:set>
                                    <p:animEffect transition="in" filter="fade">
                                      <p:cBhvr>
                                        <p:cTn id="60" dur="500"/>
                                        <p:tgtEl>
                                          <p:spTgt spid="4">
                                            <p:txEl>
                                              <p:pRg st="18" end="18"/>
                                            </p:txEl>
                                          </p:spTgt>
                                        </p:tgtEl>
                                      </p:cBhvr>
                                    </p:animEffect>
                                  </p:childTnLst>
                                </p:cTn>
                              </p:par>
                              <p:par>
                                <p:cTn id="61" presetID="10" presetClass="entr" presetSubtype="0" fill="hold" nodeType="withEffect">
                                  <p:stCondLst>
                                    <p:cond delay="0"/>
                                  </p:stCondLst>
                                  <p:childTnLst>
                                    <p:set>
                                      <p:cBhvr>
                                        <p:cTn id="62" dur="1" fill="hold">
                                          <p:stCondLst>
                                            <p:cond delay="0"/>
                                          </p:stCondLst>
                                        </p:cTn>
                                        <p:tgtEl>
                                          <p:spTgt spid="4">
                                            <p:txEl>
                                              <p:pRg st="19" end="19"/>
                                            </p:txEl>
                                          </p:spTgt>
                                        </p:tgtEl>
                                        <p:attrNameLst>
                                          <p:attrName>style.visibility</p:attrName>
                                        </p:attrNameLst>
                                      </p:cBhvr>
                                      <p:to>
                                        <p:strVal val="visible"/>
                                      </p:to>
                                    </p:set>
                                    <p:animEffect transition="in" filter="fade">
                                      <p:cBhvr>
                                        <p:cTn id="63" dur="500"/>
                                        <p:tgtEl>
                                          <p:spTgt spid="4">
                                            <p:txEl>
                                              <p:pRg st="19" end="19"/>
                                            </p:txEl>
                                          </p:spTgt>
                                        </p:tgtEl>
                                      </p:cBhvr>
                                    </p:animEffect>
                                  </p:childTnLst>
                                </p:cTn>
                              </p:par>
                              <p:par>
                                <p:cTn id="64" presetID="10" presetClass="entr" presetSubtype="0" fill="hold" nodeType="withEffect">
                                  <p:stCondLst>
                                    <p:cond delay="0"/>
                                  </p:stCondLst>
                                  <p:childTnLst>
                                    <p:set>
                                      <p:cBhvr>
                                        <p:cTn id="65" dur="1" fill="hold">
                                          <p:stCondLst>
                                            <p:cond delay="0"/>
                                          </p:stCondLst>
                                        </p:cTn>
                                        <p:tgtEl>
                                          <p:spTgt spid="4">
                                            <p:txEl>
                                              <p:pRg st="20" end="20"/>
                                            </p:txEl>
                                          </p:spTgt>
                                        </p:tgtEl>
                                        <p:attrNameLst>
                                          <p:attrName>style.visibility</p:attrName>
                                        </p:attrNameLst>
                                      </p:cBhvr>
                                      <p:to>
                                        <p:strVal val="visible"/>
                                      </p:to>
                                    </p:set>
                                    <p:animEffect transition="in" filter="fade">
                                      <p:cBhvr>
                                        <p:cTn id="66" dur="500"/>
                                        <p:tgtEl>
                                          <p:spTgt spid="4">
                                            <p:txEl>
                                              <p:pRg st="20" end="20"/>
                                            </p:txEl>
                                          </p:spTgt>
                                        </p:tgtEl>
                                      </p:cBhvr>
                                    </p:animEffect>
                                  </p:childTnLst>
                                </p:cTn>
                              </p:par>
                              <p:par>
                                <p:cTn id="67" presetID="10" presetClass="entr" presetSubtype="0" fill="hold" nodeType="withEffect">
                                  <p:stCondLst>
                                    <p:cond delay="0"/>
                                  </p:stCondLst>
                                  <p:childTnLst>
                                    <p:set>
                                      <p:cBhvr>
                                        <p:cTn id="68" dur="1" fill="hold">
                                          <p:stCondLst>
                                            <p:cond delay="0"/>
                                          </p:stCondLst>
                                        </p:cTn>
                                        <p:tgtEl>
                                          <p:spTgt spid="4">
                                            <p:txEl>
                                              <p:pRg st="21" end="21"/>
                                            </p:txEl>
                                          </p:spTgt>
                                        </p:tgtEl>
                                        <p:attrNameLst>
                                          <p:attrName>style.visibility</p:attrName>
                                        </p:attrNameLst>
                                      </p:cBhvr>
                                      <p:to>
                                        <p:strVal val="visible"/>
                                      </p:to>
                                    </p:set>
                                    <p:animEffect transition="in" filter="fade">
                                      <p:cBhvr>
                                        <p:cTn id="69" dur="500"/>
                                        <p:tgtEl>
                                          <p:spTgt spid="4">
                                            <p:txEl>
                                              <p:pRg st="21" end="21"/>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4">
                                            <p:txEl>
                                              <p:pRg st="23" end="23"/>
                                            </p:txEl>
                                          </p:spTgt>
                                        </p:tgtEl>
                                        <p:attrNameLst>
                                          <p:attrName>style.visibility</p:attrName>
                                        </p:attrNameLst>
                                      </p:cBhvr>
                                      <p:to>
                                        <p:strVal val="visible"/>
                                      </p:to>
                                    </p:set>
                                    <p:animEffect transition="in" filter="fade">
                                      <p:cBhvr>
                                        <p:cTn id="74" dur="500"/>
                                        <p:tgtEl>
                                          <p:spTgt spid="4">
                                            <p:txEl>
                                              <p:pRg st="23" end="23"/>
                                            </p:txEl>
                                          </p:spTgt>
                                        </p:tgtEl>
                                      </p:cBhvr>
                                    </p:animEffect>
                                  </p:childTnLst>
                                </p:cTn>
                              </p:par>
                              <p:par>
                                <p:cTn id="75" presetID="10" presetClass="entr" presetSubtype="0" fill="hold" nodeType="withEffect">
                                  <p:stCondLst>
                                    <p:cond delay="0"/>
                                  </p:stCondLst>
                                  <p:childTnLst>
                                    <p:set>
                                      <p:cBhvr>
                                        <p:cTn id="76" dur="1" fill="hold">
                                          <p:stCondLst>
                                            <p:cond delay="0"/>
                                          </p:stCondLst>
                                        </p:cTn>
                                        <p:tgtEl>
                                          <p:spTgt spid="4">
                                            <p:txEl>
                                              <p:pRg st="24" end="24"/>
                                            </p:txEl>
                                          </p:spTgt>
                                        </p:tgtEl>
                                        <p:attrNameLst>
                                          <p:attrName>style.visibility</p:attrName>
                                        </p:attrNameLst>
                                      </p:cBhvr>
                                      <p:to>
                                        <p:strVal val="visible"/>
                                      </p:to>
                                    </p:set>
                                    <p:animEffect transition="in" filter="fade">
                                      <p:cBhvr>
                                        <p:cTn id="77" dur="500"/>
                                        <p:tgtEl>
                                          <p:spTgt spid="4">
                                            <p:txEl>
                                              <p:pRg st="24" end="24"/>
                                            </p:txEl>
                                          </p:spTgt>
                                        </p:tgtEl>
                                      </p:cBhvr>
                                    </p:animEffect>
                                  </p:childTnLst>
                                </p:cTn>
                              </p:par>
                              <p:par>
                                <p:cTn id="78" presetID="10" presetClass="entr" presetSubtype="0" fill="hold" nodeType="withEffect">
                                  <p:stCondLst>
                                    <p:cond delay="0"/>
                                  </p:stCondLst>
                                  <p:childTnLst>
                                    <p:set>
                                      <p:cBhvr>
                                        <p:cTn id="79" dur="1" fill="hold">
                                          <p:stCondLst>
                                            <p:cond delay="0"/>
                                          </p:stCondLst>
                                        </p:cTn>
                                        <p:tgtEl>
                                          <p:spTgt spid="4">
                                            <p:txEl>
                                              <p:pRg st="25" end="25"/>
                                            </p:txEl>
                                          </p:spTgt>
                                        </p:tgtEl>
                                        <p:attrNameLst>
                                          <p:attrName>style.visibility</p:attrName>
                                        </p:attrNameLst>
                                      </p:cBhvr>
                                      <p:to>
                                        <p:strVal val="visible"/>
                                      </p:to>
                                    </p:set>
                                    <p:animEffect transition="in" filter="fade">
                                      <p:cBhvr>
                                        <p:cTn id="80" dur="500"/>
                                        <p:tgtEl>
                                          <p:spTgt spid="4">
                                            <p:txEl>
                                              <p:pRg st="25" end="25"/>
                                            </p:txEl>
                                          </p:spTgt>
                                        </p:tgtEl>
                                      </p:cBhvr>
                                    </p:animEffect>
                                  </p:childTnLst>
                                </p:cTn>
                              </p:par>
                              <p:par>
                                <p:cTn id="81" presetID="10" presetClass="entr" presetSubtype="0" fill="hold" nodeType="withEffect">
                                  <p:stCondLst>
                                    <p:cond delay="0"/>
                                  </p:stCondLst>
                                  <p:childTnLst>
                                    <p:set>
                                      <p:cBhvr>
                                        <p:cTn id="82" dur="1" fill="hold">
                                          <p:stCondLst>
                                            <p:cond delay="0"/>
                                          </p:stCondLst>
                                        </p:cTn>
                                        <p:tgtEl>
                                          <p:spTgt spid="4">
                                            <p:txEl>
                                              <p:pRg st="26" end="26"/>
                                            </p:txEl>
                                          </p:spTgt>
                                        </p:tgtEl>
                                        <p:attrNameLst>
                                          <p:attrName>style.visibility</p:attrName>
                                        </p:attrNameLst>
                                      </p:cBhvr>
                                      <p:to>
                                        <p:strVal val="visible"/>
                                      </p:to>
                                    </p:set>
                                    <p:animEffect transition="in" filter="fade">
                                      <p:cBhvr>
                                        <p:cTn id="83" dur="500"/>
                                        <p:tgtEl>
                                          <p:spTgt spid="4">
                                            <p:txEl>
                                              <p:pRg st="26" end="26"/>
                                            </p:txEl>
                                          </p:spTgt>
                                        </p:tgtEl>
                                      </p:cBhvr>
                                    </p:animEffect>
                                  </p:childTnLst>
                                </p:cTn>
                              </p:par>
                              <p:par>
                                <p:cTn id="84" presetID="10" presetClass="entr" presetSubtype="0" fill="hold" nodeType="withEffect">
                                  <p:stCondLst>
                                    <p:cond delay="0"/>
                                  </p:stCondLst>
                                  <p:childTnLst>
                                    <p:set>
                                      <p:cBhvr>
                                        <p:cTn id="85" dur="1" fill="hold">
                                          <p:stCondLst>
                                            <p:cond delay="0"/>
                                          </p:stCondLst>
                                        </p:cTn>
                                        <p:tgtEl>
                                          <p:spTgt spid="4">
                                            <p:txEl>
                                              <p:pRg st="27" end="27"/>
                                            </p:txEl>
                                          </p:spTgt>
                                        </p:tgtEl>
                                        <p:attrNameLst>
                                          <p:attrName>style.visibility</p:attrName>
                                        </p:attrNameLst>
                                      </p:cBhvr>
                                      <p:to>
                                        <p:strVal val="visible"/>
                                      </p:to>
                                    </p:set>
                                    <p:animEffect transition="in" filter="fade">
                                      <p:cBhvr>
                                        <p:cTn id="86" dur="500"/>
                                        <p:tgtEl>
                                          <p:spTgt spid="4">
                                            <p:txEl>
                                              <p:pRg st="27" end="27"/>
                                            </p:txEl>
                                          </p:spTgt>
                                        </p:tgtEl>
                                      </p:cBhvr>
                                    </p:animEffect>
                                  </p:childTnLst>
                                </p:cTn>
                              </p:par>
                              <p:par>
                                <p:cTn id="87" presetID="10" presetClass="entr" presetSubtype="0" fill="hold" nodeType="withEffect">
                                  <p:stCondLst>
                                    <p:cond delay="0"/>
                                  </p:stCondLst>
                                  <p:childTnLst>
                                    <p:set>
                                      <p:cBhvr>
                                        <p:cTn id="88" dur="1" fill="hold">
                                          <p:stCondLst>
                                            <p:cond delay="0"/>
                                          </p:stCondLst>
                                        </p:cTn>
                                        <p:tgtEl>
                                          <p:spTgt spid="4">
                                            <p:txEl>
                                              <p:pRg st="28" end="28"/>
                                            </p:txEl>
                                          </p:spTgt>
                                        </p:tgtEl>
                                        <p:attrNameLst>
                                          <p:attrName>style.visibility</p:attrName>
                                        </p:attrNameLst>
                                      </p:cBhvr>
                                      <p:to>
                                        <p:strVal val="visible"/>
                                      </p:to>
                                    </p:set>
                                    <p:animEffect transition="in" filter="fade">
                                      <p:cBhvr>
                                        <p:cTn id="89" dur="500"/>
                                        <p:tgtEl>
                                          <p:spTgt spid="4">
                                            <p:txEl>
                                              <p:pRg st="28" end="28"/>
                                            </p:txEl>
                                          </p:spTgt>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nodeType="clickEffect">
                                  <p:stCondLst>
                                    <p:cond delay="0"/>
                                  </p:stCondLst>
                                  <p:childTnLst>
                                    <p:set>
                                      <p:cBhvr>
                                        <p:cTn id="93" dur="1" fill="hold">
                                          <p:stCondLst>
                                            <p:cond delay="0"/>
                                          </p:stCondLst>
                                        </p:cTn>
                                        <p:tgtEl>
                                          <p:spTgt spid="4">
                                            <p:txEl>
                                              <p:pRg st="30" end="30"/>
                                            </p:txEl>
                                          </p:spTgt>
                                        </p:tgtEl>
                                        <p:attrNameLst>
                                          <p:attrName>style.visibility</p:attrName>
                                        </p:attrNameLst>
                                      </p:cBhvr>
                                      <p:to>
                                        <p:strVal val="visible"/>
                                      </p:to>
                                    </p:set>
                                    <p:animEffect transition="in" filter="fade">
                                      <p:cBhvr>
                                        <p:cTn id="94" dur="500"/>
                                        <p:tgtEl>
                                          <p:spTgt spid="4">
                                            <p:txEl>
                                              <p:pRg st="30" end="30"/>
                                            </p:txEl>
                                          </p:spTgt>
                                        </p:tgtEl>
                                      </p:cBhvr>
                                    </p:animEffect>
                                  </p:childTnLst>
                                </p:cTn>
                              </p:par>
                              <p:par>
                                <p:cTn id="95" presetID="10" presetClass="entr" presetSubtype="0" fill="hold" nodeType="withEffect">
                                  <p:stCondLst>
                                    <p:cond delay="0"/>
                                  </p:stCondLst>
                                  <p:childTnLst>
                                    <p:set>
                                      <p:cBhvr>
                                        <p:cTn id="96" dur="1" fill="hold">
                                          <p:stCondLst>
                                            <p:cond delay="0"/>
                                          </p:stCondLst>
                                        </p:cTn>
                                        <p:tgtEl>
                                          <p:spTgt spid="4">
                                            <p:txEl>
                                              <p:pRg st="31" end="31"/>
                                            </p:txEl>
                                          </p:spTgt>
                                        </p:tgtEl>
                                        <p:attrNameLst>
                                          <p:attrName>style.visibility</p:attrName>
                                        </p:attrNameLst>
                                      </p:cBhvr>
                                      <p:to>
                                        <p:strVal val="visible"/>
                                      </p:to>
                                    </p:set>
                                    <p:animEffect transition="in" filter="fade">
                                      <p:cBhvr>
                                        <p:cTn id="97" dur="500"/>
                                        <p:tgtEl>
                                          <p:spTgt spid="4">
                                            <p:txEl>
                                              <p:pRg st="31" end="31"/>
                                            </p:txEl>
                                          </p:spTgt>
                                        </p:tgtEl>
                                      </p:cBhvr>
                                    </p:animEffect>
                                  </p:childTnLst>
                                </p:cTn>
                              </p:par>
                              <p:par>
                                <p:cTn id="98" presetID="10" presetClass="entr" presetSubtype="0" fill="hold" nodeType="withEffect">
                                  <p:stCondLst>
                                    <p:cond delay="0"/>
                                  </p:stCondLst>
                                  <p:childTnLst>
                                    <p:set>
                                      <p:cBhvr>
                                        <p:cTn id="99" dur="1" fill="hold">
                                          <p:stCondLst>
                                            <p:cond delay="0"/>
                                          </p:stCondLst>
                                        </p:cTn>
                                        <p:tgtEl>
                                          <p:spTgt spid="4">
                                            <p:txEl>
                                              <p:pRg st="32" end="32"/>
                                            </p:txEl>
                                          </p:spTgt>
                                        </p:tgtEl>
                                        <p:attrNameLst>
                                          <p:attrName>style.visibility</p:attrName>
                                        </p:attrNameLst>
                                      </p:cBhvr>
                                      <p:to>
                                        <p:strVal val="visible"/>
                                      </p:to>
                                    </p:set>
                                    <p:animEffect transition="in" filter="fade">
                                      <p:cBhvr>
                                        <p:cTn id="100" dur="500"/>
                                        <p:tgtEl>
                                          <p:spTgt spid="4">
                                            <p:txEl>
                                              <p:pRg st="32" end="32"/>
                                            </p:txEl>
                                          </p:spTgt>
                                        </p:tgtEl>
                                      </p:cBhvr>
                                    </p:animEffect>
                                  </p:childTnLst>
                                </p:cTn>
                              </p:par>
                              <p:par>
                                <p:cTn id="101" presetID="10" presetClass="entr" presetSubtype="0" fill="hold" nodeType="withEffect">
                                  <p:stCondLst>
                                    <p:cond delay="0"/>
                                  </p:stCondLst>
                                  <p:childTnLst>
                                    <p:set>
                                      <p:cBhvr>
                                        <p:cTn id="102" dur="1" fill="hold">
                                          <p:stCondLst>
                                            <p:cond delay="0"/>
                                          </p:stCondLst>
                                        </p:cTn>
                                        <p:tgtEl>
                                          <p:spTgt spid="4">
                                            <p:txEl>
                                              <p:pRg st="34" end="34"/>
                                            </p:txEl>
                                          </p:spTgt>
                                        </p:tgtEl>
                                        <p:attrNameLst>
                                          <p:attrName>style.visibility</p:attrName>
                                        </p:attrNameLst>
                                      </p:cBhvr>
                                      <p:to>
                                        <p:strVal val="visible"/>
                                      </p:to>
                                    </p:set>
                                    <p:animEffect transition="in" filter="fade">
                                      <p:cBhvr>
                                        <p:cTn id="103" dur="500"/>
                                        <p:tgtEl>
                                          <p:spTgt spid="4">
                                            <p:txEl>
                                              <p:pRg st="34" end="34"/>
                                            </p:txEl>
                                          </p:spTgt>
                                        </p:tgtEl>
                                      </p:cBhvr>
                                    </p:animEffect>
                                  </p:childTnLst>
                                </p:cTn>
                              </p:par>
                              <p:par>
                                <p:cTn id="104" presetID="10" presetClass="entr" presetSubtype="0" fill="hold" nodeType="withEffect">
                                  <p:stCondLst>
                                    <p:cond delay="0"/>
                                  </p:stCondLst>
                                  <p:childTnLst>
                                    <p:set>
                                      <p:cBhvr>
                                        <p:cTn id="105" dur="1" fill="hold">
                                          <p:stCondLst>
                                            <p:cond delay="0"/>
                                          </p:stCondLst>
                                        </p:cTn>
                                        <p:tgtEl>
                                          <p:spTgt spid="4">
                                            <p:txEl>
                                              <p:pRg st="35" end="35"/>
                                            </p:txEl>
                                          </p:spTgt>
                                        </p:tgtEl>
                                        <p:attrNameLst>
                                          <p:attrName>style.visibility</p:attrName>
                                        </p:attrNameLst>
                                      </p:cBhvr>
                                      <p:to>
                                        <p:strVal val="visible"/>
                                      </p:to>
                                    </p:set>
                                    <p:animEffect transition="in" filter="fade">
                                      <p:cBhvr>
                                        <p:cTn id="106" dur="500"/>
                                        <p:tgtEl>
                                          <p:spTgt spid="4">
                                            <p:txEl>
                                              <p:pRg st="35" end="35"/>
                                            </p:txEl>
                                          </p:spTgt>
                                        </p:tgtEl>
                                      </p:cBhvr>
                                    </p:animEffect>
                                  </p:childTnLst>
                                </p:cTn>
                              </p:par>
                              <p:par>
                                <p:cTn id="107" presetID="10" presetClass="entr" presetSubtype="0" fill="hold" nodeType="withEffect">
                                  <p:stCondLst>
                                    <p:cond delay="0"/>
                                  </p:stCondLst>
                                  <p:childTnLst>
                                    <p:set>
                                      <p:cBhvr>
                                        <p:cTn id="108" dur="1" fill="hold">
                                          <p:stCondLst>
                                            <p:cond delay="0"/>
                                          </p:stCondLst>
                                        </p:cTn>
                                        <p:tgtEl>
                                          <p:spTgt spid="4">
                                            <p:txEl>
                                              <p:pRg st="36" end="36"/>
                                            </p:txEl>
                                          </p:spTgt>
                                        </p:tgtEl>
                                        <p:attrNameLst>
                                          <p:attrName>style.visibility</p:attrName>
                                        </p:attrNameLst>
                                      </p:cBhvr>
                                      <p:to>
                                        <p:strVal val="visible"/>
                                      </p:to>
                                    </p:set>
                                    <p:animEffect transition="in" filter="fade">
                                      <p:cBhvr>
                                        <p:cTn id="109" dur="500"/>
                                        <p:tgtEl>
                                          <p:spTgt spid="4">
                                            <p:txEl>
                                              <p:pRg st="36" end="3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39EA8D-A7AF-2243-876F-08796DA186D7}"/>
              </a:ext>
            </a:extLst>
          </p:cNvPr>
          <p:cNvSpPr>
            <a:spLocks noGrp="1"/>
          </p:cNvSpPr>
          <p:nvPr>
            <p:ph type="title"/>
          </p:nvPr>
        </p:nvSpPr>
        <p:spPr/>
        <p:txBody>
          <a:bodyPr/>
          <a:lstStyle/>
          <a:p>
            <a:r>
              <a:rPr lang="ru-RU" dirty="0"/>
              <a:t>Достоинства </a:t>
            </a:r>
            <a:r>
              <a:rPr lang="en-US" dirty="0"/>
              <a:t>ISP</a:t>
            </a:r>
          </a:p>
        </p:txBody>
      </p:sp>
      <p:sp>
        <p:nvSpPr>
          <p:cNvPr id="4" name="Content Placeholder 3">
            <a:extLst>
              <a:ext uri="{FF2B5EF4-FFF2-40B4-BE49-F238E27FC236}">
                <a16:creationId xmlns:a16="http://schemas.microsoft.com/office/drawing/2014/main" id="{E806F4B5-7CFE-4DC5-FE5C-069787111A79}"/>
              </a:ext>
            </a:extLst>
          </p:cNvPr>
          <p:cNvSpPr>
            <a:spLocks noGrp="1"/>
          </p:cNvSpPr>
          <p:nvPr>
            <p:ph idx="1"/>
          </p:nvPr>
        </p:nvSpPr>
        <p:spPr/>
        <p:txBody>
          <a:bodyPr/>
          <a:lstStyle/>
          <a:p>
            <a:r>
              <a:rPr lang="ru-RU" b="1" dirty="0"/>
              <a:t>Снижается связность</a:t>
            </a:r>
            <a:r>
              <a:rPr lang="ru-RU" dirty="0"/>
              <a:t> — клиенты зависят только от нужной им части интерфейса.</a:t>
            </a:r>
          </a:p>
          <a:p>
            <a:r>
              <a:rPr lang="ru-RU" b="1" dirty="0"/>
              <a:t>Уменьшается вероятность каскадных изменений</a:t>
            </a:r>
            <a:r>
              <a:rPr lang="ru-RU" dirty="0"/>
              <a:t> — изменения в одном методе не затрагивают всех клиентов.</a:t>
            </a:r>
          </a:p>
          <a:p>
            <a:r>
              <a:rPr lang="ru-RU" b="1" dirty="0"/>
              <a:t>Проще реализовывать интерфейсы</a:t>
            </a:r>
            <a:r>
              <a:rPr lang="ru-RU" dirty="0"/>
              <a:t> — меньше обязательных методов, меньше заглушек.</a:t>
            </a:r>
          </a:p>
          <a:p>
            <a:r>
              <a:rPr lang="ru-RU" b="1" dirty="0"/>
              <a:t>Повышается гибкость архитектуры</a:t>
            </a:r>
            <a:r>
              <a:rPr lang="ru-RU" dirty="0"/>
              <a:t> — компоненты становятся проще комбинировать и тестировать.</a:t>
            </a:r>
          </a:p>
        </p:txBody>
      </p:sp>
      <p:sp>
        <p:nvSpPr>
          <p:cNvPr id="2" name="Slide Number Placeholder 1">
            <a:extLst>
              <a:ext uri="{FF2B5EF4-FFF2-40B4-BE49-F238E27FC236}">
                <a16:creationId xmlns:a16="http://schemas.microsoft.com/office/drawing/2014/main" id="{622E52E9-1942-53B4-C2F2-278A23A5098A}"/>
              </a:ext>
            </a:extLst>
          </p:cNvPr>
          <p:cNvSpPr>
            <a:spLocks noGrp="1"/>
          </p:cNvSpPr>
          <p:nvPr>
            <p:ph type="sldNum" sz="quarter" idx="12"/>
          </p:nvPr>
        </p:nvSpPr>
        <p:spPr/>
        <p:txBody>
          <a:bodyPr/>
          <a:lstStyle/>
          <a:p>
            <a:fld id="{CF8E6F4D-2E97-47CB-8591-066566E4FE4D}" type="slidenum">
              <a:rPr lang="ru-RU" smtClean="0"/>
              <a:t>34</a:t>
            </a:fld>
            <a:endParaRPr lang="ru-RU"/>
          </a:p>
        </p:txBody>
      </p:sp>
    </p:spTree>
    <p:extLst>
      <p:ext uri="{BB962C8B-B14F-4D97-AF65-F5344CB8AC3E}">
        <p14:creationId xmlns:p14="http://schemas.microsoft.com/office/powerpoint/2010/main" val="42353631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82C84-03A1-327B-DD83-31597397304C}"/>
              </a:ext>
            </a:extLst>
          </p:cNvPr>
          <p:cNvSpPr>
            <a:spLocks noGrp="1"/>
          </p:cNvSpPr>
          <p:nvPr>
            <p:ph type="title"/>
          </p:nvPr>
        </p:nvSpPr>
        <p:spPr/>
        <p:txBody>
          <a:bodyPr/>
          <a:lstStyle/>
          <a:p>
            <a:r>
              <a:rPr lang="ru-RU" dirty="0"/>
              <a:t>Недостатки / трудности</a:t>
            </a:r>
            <a:endParaRPr lang="en-US" dirty="0"/>
          </a:p>
        </p:txBody>
      </p:sp>
      <p:sp>
        <p:nvSpPr>
          <p:cNvPr id="3" name="Content Placeholder 2">
            <a:extLst>
              <a:ext uri="{FF2B5EF4-FFF2-40B4-BE49-F238E27FC236}">
                <a16:creationId xmlns:a16="http://schemas.microsoft.com/office/drawing/2014/main" id="{FD40AE6F-8125-C972-870C-E1E31565436D}"/>
              </a:ext>
            </a:extLst>
          </p:cNvPr>
          <p:cNvSpPr>
            <a:spLocks noGrp="1"/>
          </p:cNvSpPr>
          <p:nvPr>
            <p:ph idx="1"/>
          </p:nvPr>
        </p:nvSpPr>
        <p:spPr/>
        <p:txBody>
          <a:bodyPr/>
          <a:lstStyle/>
          <a:p>
            <a:r>
              <a:rPr lang="ru-RU" b="1" dirty="0"/>
              <a:t>Увеличение количества интерфейсов</a:t>
            </a:r>
            <a:r>
              <a:rPr lang="ru-RU" dirty="0"/>
              <a:t> — структура проекта может стать более дробной.</a:t>
            </a:r>
          </a:p>
          <a:p>
            <a:r>
              <a:rPr lang="ru-RU" b="1" dirty="0"/>
              <a:t>Усложняется навигация (</a:t>
            </a:r>
            <a:r>
              <a:rPr lang="ru-RU" b="1" dirty="0" err="1"/>
              <a:t>discoverability</a:t>
            </a:r>
            <a:r>
              <a:rPr lang="ru-RU" b="1" dirty="0"/>
              <a:t>)</a:t>
            </a:r>
            <a:r>
              <a:rPr lang="ru-RU" dirty="0"/>
              <a:t> — больше мелких абстракций, сложнее «на глаз» найти нужный интерфейс.</a:t>
            </a:r>
          </a:p>
          <a:p>
            <a:r>
              <a:rPr lang="ru-RU" b="1" dirty="0"/>
              <a:t>Требуется дисциплина в проектировании</a:t>
            </a:r>
            <a:r>
              <a:rPr lang="ru-RU" dirty="0"/>
              <a:t> — неправильное разбиение интерфейсов может привести к путанице или дублированию.</a:t>
            </a:r>
          </a:p>
        </p:txBody>
      </p:sp>
      <p:sp>
        <p:nvSpPr>
          <p:cNvPr id="4" name="Slide Number Placeholder 3">
            <a:extLst>
              <a:ext uri="{FF2B5EF4-FFF2-40B4-BE49-F238E27FC236}">
                <a16:creationId xmlns:a16="http://schemas.microsoft.com/office/drawing/2014/main" id="{61424AA4-6BF4-76E7-3FB3-D3599221F98B}"/>
              </a:ext>
            </a:extLst>
          </p:cNvPr>
          <p:cNvSpPr>
            <a:spLocks noGrp="1"/>
          </p:cNvSpPr>
          <p:nvPr>
            <p:ph type="sldNum" sz="quarter" idx="12"/>
          </p:nvPr>
        </p:nvSpPr>
        <p:spPr/>
        <p:txBody>
          <a:bodyPr/>
          <a:lstStyle/>
          <a:p>
            <a:fld id="{CF8E6F4D-2E97-47CB-8591-066566E4FE4D}" type="slidenum">
              <a:rPr lang="ru-RU" smtClean="0"/>
              <a:t>35</a:t>
            </a:fld>
            <a:endParaRPr lang="ru-RU"/>
          </a:p>
        </p:txBody>
      </p:sp>
    </p:spTree>
    <p:extLst>
      <p:ext uri="{BB962C8B-B14F-4D97-AF65-F5344CB8AC3E}">
        <p14:creationId xmlns:p14="http://schemas.microsoft.com/office/powerpoint/2010/main" val="3055710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FC40A28-10A6-E22F-9671-245B0F703BE9}"/>
              </a:ext>
            </a:extLst>
          </p:cNvPr>
          <p:cNvSpPr>
            <a:spLocks noGrp="1"/>
          </p:cNvSpPr>
          <p:nvPr>
            <p:ph type="title"/>
          </p:nvPr>
        </p:nvSpPr>
        <p:spPr/>
        <p:txBody>
          <a:bodyPr/>
          <a:lstStyle/>
          <a:p>
            <a:r>
              <a:rPr lang="ru-RU" dirty="0"/>
              <a:t>Принцип инверсии зависимостей</a:t>
            </a:r>
            <a:endParaRPr lang="en-US" dirty="0"/>
          </a:p>
        </p:txBody>
      </p:sp>
      <p:sp>
        <p:nvSpPr>
          <p:cNvPr id="6" name="Text Placeholder 5">
            <a:extLst>
              <a:ext uri="{FF2B5EF4-FFF2-40B4-BE49-F238E27FC236}">
                <a16:creationId xmlns:a16="http://schemas.microsoft.com/office/drawing/2014/main" id="{0F5AF1EA-F991-B407-0F4F-129716FA8B9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E192F91-90C6-6473-8819-2DAA574FF530}"/>
              </a:ext>
            </a:extLst>
          </p:cNvPr>
          <p:cNvSpPr>
            <a:spLocks noGrp="1"/>
          </p:cNvSpPr>
          <p:nvPr>
            <p:ph type="sldNum" sz="quarter" idx="12"/>
          </p:nvPr>
        </p:nvSpPr>
        <p:spPr/>
        <p:txBody>
          <a:bodyPr/>
          <a:lstStyle/>
          <a:p>
            <a:fld id="{CF8E6F4D-2E97-47CB-8591-066566E4FE4D}" type="slidenum">
              <a:rPr lang="ru-RU" smtClean="0"/>
              <a:t>36</a:t>
            </a:fld>
            <a:endParaRPr lang="ru-RU"/>
          </a:p>
        </p:txBody>
      </p:sp>
    </p:spTree>
    <p:extLst>
      <p:ext uri="{BB962C8B-B14F-4D97-AF65-F5344CB8AC3E}">
        <p14:creationId xmlns:p14="http://schemas.microsoft.com/office/powerpoint/2010/main" val="30231580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p:txBody>
          <a:bodyPr/>
          <a:lstStyle/>
          <a:p>
            <a:r>
              <a:rPr lang="ru-RU" dirty="0"/>
              <a:t>Принцип инверсии зависимости</a:t>
            </a:r>
          </a:p>
        </p:txBody>
      </p:sp>
      <p:sp>
        <p:nvSpPr>
          <p:cNvPr id="4" name="Объект 3"/>
          <p:cNvSpPr>
            <a:spLocks noGrp="1"/>
          </p:cNvSpPr>
          <p:nvPr>
            <p:ph idx="1"/>
          </p:nvPr>
        </p:nvSpPr>
        <p:spPr/>
        <p:txBody>
          <a:bodyPr>
            <a:normAutofit fontScale="92500" lnSpcReduction="10000"/>
          </a:bodyPr>
          <a:lstStyle/>
          <a:p>
            <a:r>
              <a:rPr lang="ru-RU" dirty="0"/>
              <a:t>Модули верхнего уровня не должны зависеть от модулей нижнего уровня. И те, и другие должны зависеть от абстракций.</a:t>
            </a:r>
          </a:p>
          <a:p>
            <a:pPr lvl="1"/>
            <a:r>
              <a:rPr lang="ru-RU" dirty="0"/>
              <a:t>Зависимости направлены на абстракции, а не на конкретные реализации.</a:t>
            </a:r>
          </a:p>
          <a:p>
            <a:pPr lvl="1"/>
            <a:r>
              <a:rPr lang="ru-RU" dirty="0"/>
              <a:t>Конкретные, нестабильные детали (БД, UI, файловая система) не должны «тянуть» за собой бизнес-логику.</a:t>
            </a:r>
          </a:p>
          <a:p>
            <a:pPr lvl="1"/>
            <a:r>
              <a:rPr lang="ru-RU" dirty="0"/>
              <a:t>Абстракции создают стабильный интерфейс, позволяющий подменять реализации без изменения высокоуровневого кода.</a:t>
            </a:r>
          </a:p>
          <a:p>
            <a:r>
              <a:rPr lang="ru-RU" dirty="0"/>
              <a:t>Зачем это нужно</a:t>
            </a:r>
          </a:p>
          <a:p>
            <a:pPr lvl="1"/>
            <a:r>
              <a:rPr lang="ru-RU" dirty="0"/>
              <a:t>Уменьшается хрупкость системы.</a:t>
            </a:r>
          </a:p>
          <a:p>
            <a:pPr lvl="1"/>
            <a:r>
              <a:rPr lang="ru-RU" dirty="0"/>
              <a:t>Повышается тестируемость.</a:t>
            </a:r>
          </a:p>
          <a:p>
            <a:pPr lvl="1"/>
            <a:r>
              <a:rPr lang="ru-RU" dirty="0"/>
              <a:t>Упрощается замена инфраструктурных деталей.</a:t>
            </a:r>
          </a:p>
          <a:p>
            <a:pPr lvl="1"/>
            <a:r>
              <a:rPr lang="ru-RU" dirty="0"/>
              <a:t>Система становится легче расширяемой и долговечной.</a:t>
            </a:r>
          </a:p>
        </p:txBody>
      </p:sp>
      <p:sp>
        <p:nvSpPr>
          <p:cNvPr id="2" name="Номер слайда 1"/>
          <p:cNvSpPr>
            <a:spLocks noGrp="1"/>
          </p:cNvSpPr>
          <p:nvPr>
            <p:ph type="sldNum" sz="quarter" idx="12"/>
          </p:nvPr>
        </p:nvSpPr>
        <p:spPr/>
        <p:txBody>
          <a:bodyPr/>
          <a:lstStyle/>
          <a:p>
            <a:fld id="{CF8E6F4D-2E97-47CB-8591-066566E4FE4D}" type="slidenum">
              <a:rPr lang="ru-RU" smtClean="0"/>
              <a:t>37</a:t>
            </a:fld>
            <a:endParaRPr lang="ru-RU"/>
          </a:p>
        </p:txBody>
      </p:sp>
    </p:spTree>
    <p:extLst>
      <p:ext uri="{BB962C8B-B14F-4D97-AF65-F5344CB8AC3E}">
        <p14:creationId xmlns:p14="http://schemas.microsoft.com/office/powerpoint/2010/main" val="855615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Стабильные абстракции</a:t>
            </a:r>
          </a:p>
        </p:txBody>
      </p:sp>
      <p:sp>
        <p:nvSpPr>
          <p:cNvPr id="3" name="Объект 2"/>
          <p:cNvSpPr>
            <a:spLocks noGrp="1"/>
          </p:cNvSpPr>
          <p:nvPr>
            <p:ph idx="1"/>
          </p:nvPr>
        </p:nvSpPr>
        <p:spPr/>
        <p:txBody>
          <a:bodyPr>
            <a:normAutofit fontScale="85000" lnSpcReduction="10000"/>
          </a:bodyPr>
          <a:lstStyle/>
          <a:p>
            <a:r>
              <a:rPr lang="ru-RU" dirty="0"/>
              <a:t>Изменчивые детали должны зависеть от стабильных абстракций, а не наоборот.</a:t>
            </a:r>
          </a:p>
          <a:p>
            <a:pPr lvl="1"/>
            <a:r>
              <a:rPr lang="ru-RU" dirty="0"/>
              <a:t>Не завязывайтесь на изменчивые конкретные классы.</a:t>
            </a:r>
            <a:br>
              <a:rPr lang="ru-RU" dirty="0"/>
            </a:br>
            <a:r>
              <a:rPr lang="ru-RU" dirty="0"/>
              <a:t>Зависимость должна идти к интерфейсу, а не к реализации.</a:t>
            </a:r>
          </a:p>
          <a:p>
            <a:pPr lvl="1"/>
            <a:r>
              <a:rPr lang="ru-RU" dirty="0"/>
              <a:t>Интерфейсы должны оставаться максимально стабильными.</a:t>
            </a:r>
            <a:br>
              <a:rPr lang="ru-RU" dirty="0"/>
            </a:br>
            <a:r>
              <a:rPr lang="ru-RU" dirty="0"/>
              <a:t>Реализации могут меняться часто — это нормально.</a:t>
            </a:r>
          </a:p>
          <a:p>
            <a:pPr lvl="1"/>
            <a:r>
              <a:rPr lang="ru-RU" dirty="0"/>
              <a:t>Не наследуйте конкретные классы.</a:t>
            </a:r>
            <a:br>
              <a:rPr lang="ru-RU" dirty="0"/>
            </a:br>
            <a:r>
              <a:rPr lang="ru-RU" dirty="0"/>
              <a:t>Наследование усиливает зависимость и делает код хрупким.</a:t>
            </a:r>
          </a:p>
          <a:p>
            <a:pPr lvl="1"/>
            <a:r>
              <a:rPr lang="ru-RU" dirty="0"/>
              <a:t>Переопределяйте только абстрактные методы, а не поведение конкретных реализаций.</a:t>
            </a:r>
          </a:p>
          <a:p>
            <a:pPr lvl="1"/>
            <a:r>
              <a:rPr lang="ru-RU" dirty="0"/>
              <a:t>Создавайте изменчивые объекты через фабрики или DI-контейнер, а не напрямую.</a:t>
            </a:r>
          </a:p>
          <a:p>
            <a:r>
              <a:rPr lang="ru-RU" b="1" dirty="0"/>
              <a:t>Почему это важно</a:t>
            </a:r>
          </a:p>
          <a:p>
            <a:pPr lvl="1"/>
            <a:r>
              <a:rPr lang="ru-RU" dirty="0"/>
              <a:t>Абстракции меняются редко → код, зависящий от них, остаётся стабильным.</a:t>
            </a:r>
          </a:p>
          <a:p>
            <a:pPr lvl="1"/>
            <a:r>
              <a:rPr lang="ru-RU" dirty="0"/>
              <a:t>Реализации меняются часто → и это не влияет на высокоуровневую логику.</a:t>
            </a:r>
          </a:p>
          <a:p>
            <a:pPr lvl="1"/>
            <a:r>
              <a:rPr lang="ru-RU" dirty="0"/>
              <a:t>Архитектура становится предсказуемой, гибкой и легко расширяемой.</a:t>
            </a:r>
          </a:p>
          <a:p>
            <a:endParaRPr lang="ru-RU" dirty="0"/>
          </a:p>
          <a:p>
            <a:endParaRPr lang="ru-RU" dirty="0"/>
          </a:p>
        </p:txBody>
      </p:sp>
      <p:sp>
        <p:nvSpPr>
          <p:cNvPr id="4" name="Номер слайда 3"/>
          <p:cNvSpPr>
            <a:spLocks noGrp="1"/>
          </p:cNvSpPr>
          <p:nvPr>
            <p:ph type="sldNum" sz="quarter" idx="12"/>
          </p:nvPr>
        </p:nvSpPr>
        <p:spPr/>
        <p:txBody>
          <a:bodyPr/>
          <a:lstStyle/>
          <a:p>
            <a:fld id="{CF8E6F4D-2E97-47CB-8591-066566E4FE4D}" type="slidenum">
              <a:rPr lang="ru-RU" smtClean="0"/>
              <a:t>38</a:t>
            </a:fld>
            <a:endParaRPr lang="ru-RU"/>
          </a:p>
        </p:txBody>
      </p:sp>
    </p:spTree>
    <p:extLst>
      <p:ext uri="{BB962C8B-B14F-4D97-AF65-F5344CB8AC3E}">
        <p14:creationId xmlns:p14="http://schemas.microsoft.com/office/powerpoint/2010/main" val="1412034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500"/>
                                        <p:tgtEl>
                                          <p:spTgt spid="3">
                                            <p:txEl>
                                              <p:pRg st="7" end="7"/>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fade">
                                      <p:cBhvr>
                                        <p:cTn id="33" dur="500"/>
                                        <p:tgtEl>
                                          <p:spTgt spid="3">
                                            <p:txEl>
                                              <p:pRg st="8" end="8"/>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
                                            <p:txEl>
                                              <p:pRg st="9" end="9"/>
                                            </p:txEl>
                                          </p:spTgt>
                                        </p:tgtEl>
                                        <p:attrNameLst>
                                          <p:attrName>style.visibility</p:attrName>
                                        </p:attrNameLst>
                                      </p:cBhvr>
                                      <p:to>
                                        <p:strVal val="visible"/>
                                      </p:to>
                                    </p:set>
                                    <p:animEffect transition="in" filter="fade">
                                      <p:cBhvr>
                                        <p:cTn id="36"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20F79C4-CC6B-B882-D004-F6B2A45FAD11}"/>
              </a:ext>
            </a:extLst>
          </p:cNvPr>
          <p:cNvSpPr>
            <a:spLocks noGrp="1"/>
          </p:cNvSpPr>
          <p:nvPr>
            <p:ph type="title"/>
          </p:nvPr>
        </p:nvSpPr>
        <p:spPr/>
        <p:txBody>
          <a:bodyPr/>
          <a:lstStyle/>
          <a:p>
            <a:r>
              <a:rPr lang="ru-RU" dirty="0"/>
              <a:t>Пример нарушения принципа</a:t>
            </a:r>
            <a:endParaRPr lang="en-US" dirty="0"/>
          </a:p>
        </p:txBody>
      </p:sp>
      <p:sp>
        <p:nvSpPr>
          <p:cNvPr id="4" name="Slide Number Placeholder 3">
            <a:extLst>
              <a:ext uri="{FF2B5EF4-FFF2-40B4-BE49-F238E27FC236}">
                <a16:creationId xmlns:a16="http://schemas.microsoft.com/office/drawing/2014/main" id="{7C3B2145-1FDA-7CA7-5732-3B850C65C8A3}"/>
              </a:ext>
            </a:extLst>
          </p:cNvPr>
          <p:cNvSpPr>
            <a:spLocks noGrp="1"/>
          </p:cNvSpPr>
          <p:nvPr>
            <p:ph type="sldNum" sz="quarter" idx="12"/>
          </p:nvPr>
        </p:nvSpPr>
        <p:spPr/>
        <p:txBody>
          <a:bodyPr/>
          <a:lstStyle/>
          <a:p>
            <a:fld id="{CF8E6F4D-2E97-47CB-8591-066566E4FE4D}" type="slidenum">
              <a:rPr lang="ru-RU" smtClean="0"/>
              <a:t>39</a:t>
            </a:fld>
            <a:endParaRPr lang="ru-RU"/>
          </a:p>
        </p:txBody>
      </p:sp>
      <p:sp>
        <p:nvSpPr>
          <p:cNvPr id="10" name="TextBox 9">
            <a:extLst>
              <a:ext uri="{FF2B5EF4-FFF2-40B4-BE49-F238E27FC236}">
                <a16:creationId xmlns:a16="http://schemas.microsoft.com/office/drawing/2014/main" id="{DC479B4A-CE45-71E1-AF66-618DA785AFFB}"/>
              </a:ext>
            </a:extLst>
          </p:cNvPr>
          <p:cNvSpPr txBox="1"/>
          <p:nvPr/>
        </p:nvSpPr>
        <p:spPr>
          <a:xfrm>
            <a:off x="838200" y="2002971"/>
            <a:ext cx="8305800" cy="2585323"/>
          </a:xfrm>
          <a:prstGeom prst="rect">
            <a:avLst/>
          </a:prstGeom>
          <a:noFill/>
        </p:spPr>
        <p:txBody>
          <a:bodyPr wrap="square">
            <a:spAutoFit/>
          </a:bodyPr>
          <a:lstStyle/>
          <a:p>
            <a:pPr>
              <a:buNone/>
            </a:pPr>
            <a:r>
              <a:rPr lang="en-US" b="0" dirty="0">
                <a:solidFill>
                  <a:srgbClr val="0000FF"/>
                </a:solidFill>
                <a:effectLst/>
                <a:latin typeface="Consolas" panose="020B0609020204030204" pitchFamily="49" charset="0"/>
              </a:rPr>
              <a:t>class</a:t>
            </a:r>
            <a:r>
              <a:rPr lang="en-US" b="0" dirty="0">
                <a:solidFill>
                  <a:srgbClr val="000000"/>
                </a:solidFill>
                <a:effectLst/>
                <a:latin typeface="Consolas" panose="020B0609020204030204" pitchFamily="49" charset="0"/>
              </a:rPr>
              <a:t> </a:t>
            </a:r>
            <a:r>
              <a:rPr lang="en-US" b="0" dirty="0" err="1">
                <a:solidFill>
                  <a:srgbClr val="2B91AF"/>
                </a:solidFill>
                <a:effectLst/>
                <a:latin typeface="Consolas" panose="020B0609020204030204" pitchFamily="49" charset="0"/>
              </a:rPr>
              <a:t>AddUserUseCase</a:t>
            </a:r>
            <a:r>
              <a:rPr lang="en-US" b="0" dirty="0">
                <a:solidFill>
                  <a:srgbClr val="000000"/>
                </a:solidFill>
                <a:effectLst/>
                <a:latin typeface="Consolas" panose="020B0609020204030204" pitchFamily="49" charset="0"/>
              </a:rPr>
              <a:t> {</a:t>
            </a:r>
          </a:p>
          <a:p>
            <a:pPr>
              <a:buNone/>
            </a:pPr>
            <a:r>
              <a:rPr lang="en-US" b="0" dirty="0">
                <a:solidFill>
                  <a:srgbClr val="0000FF"/>
                </a:solidFill>
                <a:effectLst/>
                <a:latin typeface="Consolas" panose="020B0609020204030204" pitchFamily="49" charset="0"/>
              </a:rPr>
              <a:t>public:</a:t>
            </a:r>
            <a:endParaRPr lang="en-US" b="0" dirty="0">
              <a:solidFill>
                <a:srgbClr val="000000"/>
              </a:solidFill>
              <a:effectLst/>
              <a:latin typeface="Consolas" panose="020B0609020204030204" pitchFamily="49" charset="0"/>
            </a:endParaRP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void</a:t>
            </a:r>
            <a:r>
              <a:rPr lang="en-US" b="0" dirty="0">
                <a:solidFill>
                  <a:srgbClr val="000000"/>
                </a:solidFill>
                <a:effectLst/>
                <a:latin typeface="Consolas" panose="020B0609020204030204" pitchFamily="49" charset="0"/>
              </a:rPr>
              <a:t> </a:t>
            </a:r>
            <a:r>
              <a:rPr lang="en-US" b="0" dirty="0">
                <a:solidFill>
                  <a:srgbClr val="74531F"/>
                </a:solidFill>
                <a:effectLst/>
                <a:latin typeface="Consolas" panose="020B0609020204030204" pitchFamily="49" charset="0"/>
              </a:rPr>
              <a:t>Execute</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std::</a:t>
            </a:r>
            <a:r>
              <a:rPr lang="en-US" b="0" dirty="0">
                <a:solidFill>
                  <a:srgbClr val="2B91AF"/>
                </a:solidFill>
                <a:effectLst/>
                <a:latin typeface="Consolas" panose="020B0609020204030204" pitchFamily="49" charset="0"/>
              </a:rPr>
              <a:t>string</a:t>
            </a:r>
            <a:r>
              <a:rPr lang="en-US" b="0" dirty="0">
                <a:solidFill>
                  <a:srgbClr val="000000"/>
                </a:solidFill>
                <a:effectLst/>
                <a:latin typeface="Consolas" panose="020B0609020204030204" pitchFamily="49" charset="0"/>
              </a:rPr>
              <a:t>&amp; </a:t>
            </a:r>
            <a:r>
              <a:rPr lang="en-US" b="0" dirty="0">
                <a:solidFill>
                  <a:srgbClr val="808080"/>
                </a:solidFill>
                <a:effectLst/>
                <a:latin typeface="Consolas" panose="020B0609020204030204" pitchFamily="49" charset="0"/>
              </a:rPr>
              <a:t>name</a:t>
            </a:r>
            <a:r>
              <a:rPr lang="en-US" b="0" dirty="0">
                <a:solidFill>
                  <a:srgbClr val="000000"/>
                </a:solidFill>
                <a:effectLst/>
                <a:latin typeface="Consolas" panose="020B0609020204030204" pitchFamily="49" charset="0"/>
              </a:rPr>
              <a:t>) {</a:t>
            </a:r>
          </a:p>
          <a:p>
            <a:pPr>
              <a:buNone/>
            </a:pPr>
            <a:r>
              <a:rPr lang="en-US" b="0" dirty="0">
                <a:solidFill>
                  <a:srgbClr val="008000"/>
                </a:solidFill>
                <a:effectLst/>
                <a:latin typeface="Consolas" panose="020B0609020204030204" pitchFamily="49" charset="0"/>
              </a:rPr>
              <a:t>        // </a:t>
            </a:r>
            <a:r>
              <a:rPr lang="ru-RU" b="0" dirty="0">
                <a:solidFill>
                  <a:srgbClr val="008000"/>
                </a:solidFill>
                <a:effectLst/>
                <a:latin typeface="Consolas" panose="020B0609020204030204" pitchFamily="49" charset="0"/>
              </a:rPr>
              <a:t>Прямой вызов нестабильной инфраструктуры</a:t>
            </a:r>
            <a:endParaRPr lang="ru-RU" b="0" dirty="0">
              <a:solidFill>
                <a:srgbClr val="000000"/>
              </a:solidFill>
              <a:effectLst/>
              <a:latin typeface="Consolas" panose="020B0609020204030204" pitchFamily="49" charset="0"/>
            </a:endParaRPr>
          </a:p>
          <a:p>
            <a:pPr>
              <a:buNone/>
            </a:pPr>
            <a:r>
              <a:rPr lang="ru-RU"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SqlUserRepository</a:t>
            </a:r>
            <a:r>
              <a:rPr lang="en-US" b="0" dirty="0">
                <a:solidFill>
                  <a:srgbClr val="000000"/>
                </a:solidFill>
                <a:effectLst/>
                <a:latin typeface="Consolas" panose="020B0609020204030204" pitchFamily="49" charset="0"/>
              </a:rPr>
              <a:t> </a:t>
            </a:r>
            <a:r>
              <a:rPr lang="en-US" b="0" dirty="0">
                <a:solidFill>
                  <a:srgbClr val="1F377F"/>
                </a:solidFill>
                <a:effectLst/>
                <a:latin typeface="Consolas" panose="020B0609020204030204" pitchFamily="49" charset="0"/>
              </a:rPr>
              <a:t>repo</a:t>
            </a:r>
            <a:r>
              <a:rPr lang="en-US" b="0" dirty="0">
                <a:solidFill>
                  <a:srgbClr val="000000"/>
                </a:solidFill>
                <a:effectLst/>
                <a:latin typeface="Consolas" panose="020B0609020204030204" pitchFamily="49" charset="0"/>
              </a:rPr>
              <a:t>(</a:t>
            </a:r>
            <a:r>
              <a:rPr lang="en-US" b="0" dirty="0">
                <a:solidFill>
                  <a:srgbClr val="E21F1F"/>
                </a:solidFill>
                <a:effectLst/>
                <a:latin typeface="Consolas" panose="020B0609020204030204" pitchFamily="49" charset="0"/>
              </a:rPr>
              <a:t>"</a:t>
            </a:r>
            <a:r>
              <a:rPr lang="en-US" b="0" dirty="0">
                <a:solidFill>
                  <a:srgbClr val="A31515"/>
                </a:solidFill>
                <a:effectLst/>
                <a:latin typeface="Consolas" panose="020B0609020204030204" pitchFamily="49" charset="0"/>
              </a:rPr>
              <a:t>server=</a:t>
            </a:r>
            <a:r>
              <a:rPr lang="en-US" b="0" dirty="0" err="1">
                <a:solidFill>
                  <a:srgbClr val="A31515"/>
                </a:solidFill>
                <a:effectLst/>
                <a:latin typeface="Consolas" panose="020B0609020204030204" pitchFamily="49" charset="0"/>
              </a:rPr>
              <a:t>localhost;db</a:t>
            </a:r>
            <a:r>
              <a:rPr lang="en-US" b="0" dirty="0">
                <a:solidFill>
                  <a:srgbClr val="A31515"/>
                </a:solidFill>
                <a:effectLst/>
                <a:latin typeface="Consolas" panose="020B0609020204030204" pitchFamily="49" charset="0"/>
              </a:rPr>
              <a:t>=users</a:t>
            </a:r>
            <a:r>
              <a:rPr lang="en-US" b="0" dirty="0">
                <a:solidFill>
                  <a:srgbClr val="E21F1F"/>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err="1">
                <a:solidFill>
                  <a:srgbClr val="1F377F"/>
                </a:solidFill>
                <a:effectLst/>
                <a:latin typeface="Consolas" panose="020B0609020204030204" pitchFamily="49" charset="0"/>
              </a:rPr>
              <a:t>repo</a:t>
            </a:r>
            <a:r>
              <a:rPr lang="en-US" b="0" dirty="0" err="1">
                <a:solidFill>
                  <a:srgbClr val="000000"/>
                </a:solidFill>
                <a:effectLst/>
                <a:latin typeface="Consolas" panose="020B0609020204030204" pitchFamily="49" charset="0"/>
              </a:rPr>
              <a:t>.</a:t>
            </a:r>
            <a:r>
              <a:rPr lang="en-US" b="0" dirty="0" err="1">
                <a:solidFill>
                  <a:srgbClr val="74531F"/>
                </a:solidFill>
                <a:effectLst/>
                <a:latin typeface="Consolas" panose="020B0609020204030204" pitchFamily="49" charset="0"/>
              </a:rPr>
              <a:t>Connect</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err="1">
                <a:solidFill>
                  <a:srgbClr val="1F377F"/>
                </a:solidFill>
                <a:effectLst/>
                <a:latin typeface="Consolas" panose="020B0609020204030204" pitchFamily="49" charset="0"/>
              </a:rPr>
              <a:t>repo</a:t>
            </a:r>
            <a:r>
              <a:rPr lang="en-US" b="0" dirty="0" err="1">
                <a:solidFill>
                  <a:srgbClr val="000000"/>
                </a:solidFill>
                <a:effectLst/>
                <a:latin typeface="Consolas" panose="020B0609020204030204" pitchFamily="49" charset="0"/>
              </a:rPr>
              <a:t>.</a:t>
            </a:r>
            <a:r>
              <a:rPr lang="en-US" b="0" dirty="0" err="1">
                <a:solidFill>
                  <a:srgbClr val="74531F"/>
                </a:solidFill>
                <a:effectLst/>
                <a:latin typeface="Consolas" panose="020B0609020204030204" pitchFamily="49" charset="0"/>
              </a:rPr>
              <a:t>InsertUser</a:t>
            </a:r>
            <a:r>
              <a:rPr lang="en-US" b="0" dirty="0">
                <a:solidFill>
                  <a:srgbClr val="000000"/>
                </a:solidFill>
                <a:effectLst/>
                <a:latin typeface="Consolas" panose="020B0609020204030204" pitchFamily="49" charset="0"/>
              </a:rPr>
              <a:t>(</a:t>
            </a:r>
            <a:r>
              <a:rPr lang="en-US" b="0" dirty="0">
                <a:solidFill>
                  <a:srgbClr val="808080"/>
                </a:solidFill>
                <a:effectLst/>
                <a:latin typeface="Consolas" panose="020B0609020204030204" pitchFamily="49" charset="0"/>
              </a:rPr>
              <a:t>name</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p>
          <a:p>
            <a:pPr>
              <a:buNone/>
            </a:pPr>
            <a:r>
              <a:rPr lang="en-US"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0415558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322DF-3A15-2392-32CD-405F3D1FE4EF}"/>
              </a:ext>
            </a:extLst>
          </p:cNvPr>
          <p:cNvSpPr>
            <a:spLocks noGrp="1"/>
          </p:cNvSpPr>
          <p:nvPr>
            <p:ph type="title"/>
          </p:nvPr>
        </p:nvSpPr>
        <p:spPr/>
        <p:txBody>
          <a:bodyPr/>
          <a:lstStyle/>
          <a:p>
            <a:r>
              <a:rPr lang="ru-RU" dirty="0"/>
              <a:t>Бизнес-логика зависит от стабильной абстракции</a:t>
            </a:r>
            <a:endParaRPr lang="en-US" dirty="0"/>
          </a:p>
        </p:txBody>
      </p:sp>
      <p:sp>
        <p:nvSpPr>
          <p:cNvPr id="3" name="Slide Number Placeholder 2">
            <a:extLst>
              <a:ext uri="{FF2B5EF4-FFF2-40B4-BE49-F238E27FC236}">
                <a16:creationId xmlns:a16="http://schemas.microsoft.com/office/drawing/2014/main" id="{AFC016E1-20FA-1458-2A85-524997D618A2}"/>
              </a:ext>
            </a:extLst>
          </p:cNvPr>
          <p:cNvSpPr>
            <a:spLocks noGrp="1"/>
          </p:cNvSpPr>
          <p:nvPr>
            <p:ph type="sldNum" sz="quarter" idx="12"/>
          </p:nvPr>
        </p:nvSpPr>
        <p:spPr/>
        <p:txBody>
          <a:bodyPr/>
          <a:lstStyle/>
          <a:p>
            <a:fld id="{CF8E6F4D-2E97-47CB-8591-066566E4FE4D}" type="slidenum">
              <a:rPr lang="ru-RU" smtClean="0"/>
              <a:t>40</a:t>
            </a:fld>
            <a:endParaRPr lang="ru-RU"/>
          </a:p>
        </p:txBody>
      </p:sp>
      <p:sp>
        <p:nvSpPr>
          <p:cNvPr id="5" name="TextBox 4">
            <a:extLst>
              <a:ext uri="{FF2B5EF4-FFF2-40B4-BE49-F238E27FC236}">
                <a16:creationId xmlns:a16="http://schemas.microsoft.com/office/drawing/2014/main" id="{453B8182-7B80-5DA7-85AE-2107A1F2447E}"/>
              </a:ext>
            </a:extLst>
          </p:cNvPr>
          <p:cNvSpPr txBox="1"/>
          <p:nvPr/>
        </p:nvSpPr>
        <p:spPr>
          <a:xfrm>
            <a:off x="0" y="1995207"/>
            <a:ext cx="6096000" cy="3539430"/>
          </a:xfrm>
          <a:prstGeom prst="rect">
            <a:avLst/>
          </a:prstGeom>
          <a:noFill/>
        </p:spPr>
        <p:txBody>
          <a:bodyPr wrap="square">
            <a:spAutoFit/>
          </a:bodyPr>
          <a:lstStyle/>
          <a:p>
            <a:pPr>
              <a:buNone/>
            </a:pPr>
            <a:r>
              <a:rPr lang="en-US" sz="1400" b="0" dirty="0">
                <a:solidFill>
                  <a:srgbClr val="0000FF"/>
                </a:solidFill>
                <a:effectLst/>
                <a:latin typeface="Consolas" panose="020B0609020204030204" pitchFamily="49" charset="0"/>
              </a:rPr>
              <a:t>class</a:t>
            </a:r>
            <a:r>
              <a:rPr lang="en-US" sz="1400" b="0" dirty="0">
                <a:solidFill>
                  <a:srgbClr val="000000"/>
                </a:solidFill>
                <a:effectLst/>
                <a:latin typeface="Consolas" panose="020B0609020204030204" pitchFamily="49" charset="0"/>
              </a:rPr>
              <a:t> </a:t>
            </a:r>
            <a:r>
              <a:rPr lang="en-US" sz="1400" b="0" dirty="0" err="1">
                <a:solidFill>
                  <a:srgbClr val="2B91AF"/>
                </a:solidFill>
                <a:effectLst/>
                <a:latin typeface="Consolas" panose="020B0609020204030204" pitchFamily="49" charset="0"/>
              </a:rPr>
              <a:t>IUserRepository</a:t>
            </a:r>
            <a:r>
              <a:rPr lang="en-US" sz="1400" b="0" dirty="0">
                <a:solidFill>
                  <a:srgbClr val="000000"/>
                </a:solidFill>
                <a:effectLst/>
                <a:latin typeface="Consolas" panose="020B0609020204030204" pitchFamily="49" charset="0"/>
              </a:rPr>
              <a:t> {</a:t>
            </a:r>
          </a:p>
          <a:p>
            <a:pPr>
              <a:buNone/>
            </a:pPr>
            <a:r>
              <a:rPr lang="en-US" sz="1400" b="0" dirty="0">
                <a:solidFill>
                  <a:srgbClr val="0000FF"/>
                </a:solidFill>
                <a:effectLst/>
                <a:latin typeface="Consolas" panose="020B0609020204030204" pitchFamily="49" charset="0"/>
              </a:rPr>
              <a:t>public:</a:t>
            </a:r>
            <a:endParaRPr lang="en-US" sz="1400" b="0" dirty="0">
              <a:solidFill>
                <a:srgbClr val="000000"/>
              </a:solidFill>
              <a:effectLst/>
              <a:latin typeface="Consolas" panose="020B0609020204030204" pitchFamily="49" charset="0"/>
            </a:endParaRPr>
          </a:p>
          <a:p>
            <a:pPr>
              <a:buNone/>
            </a:pP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virtual</a:t>
            </a:r>
            <a:r>
              <a:rPr lang="en-US" sz="1400" b="0" dirty="0">
                <a:solidFill>
                  <a:srgbClr val="000000"/>
                </a:solidFill>
                <a:effectLst/>
                <a:latin typeface="Consolas" panose="020B0609020204030204" pitchFamily="49" charset="0"/>
              </a:rPr>
              <a:t> </a:t>
            </a:r>
            <a:r>
              <a:rPr lang="en-US" sz="1400" b="0" dirty="0">
                <a:solidFill>
                  <a:srgbClr val="74531F"/>
                </a:solidFill>
                <a:effectLst/>
                <a:latin typeface="Consolas" panose="020B0609020204030204" pitchFamily="49" charset="0"/>
              </a:rPr>
              <a:t>~</a:t>
            </a:r>
            <a:r>
              <a:rPr lang="en-US" sz="1400" b="0" dirty="0" err="1">
                <a:solidFill>
                  <a:srgbClr val="74531F"/>
                </a:solidFill>
                <a:effectLst/>
                <a:latin typeface="Consolas" panose="020B0609020204030204" pitchFamily="49" charset="0"/>
              </a:rPr>
              <a:t>IUserRepository</a:t>
            </a:r>
            <a:r>
              <a:rPr lang="en-US" sz="1400" b="0" dirty="0">
                <a:solidFill>
                  <a:srgbClr val="000000"/>
                </a:solidFill>
                <a:effectLst/>
                <a:latin typeface="Consolas" panose="020B0609020204030204" pitchFamily="49" charset="0"/>
              </a:rPr>
              <a:t>() = </a:t>
            </a:r>
            <a:r>
              <a:rPr lang="en-US" sz="1400" b="0" dirty="0">
                <a:solidFill>
                  <a:srgbClr val="0000FF"/>
                </a:solidFill>
                <a:effectLst/>
                <a:latin typeface="Consolas" panose="020B0609020204030204" pitchFamily="49" charset="0"/>
              </a:rPr>
              <a:t>default</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virtual</a:t>
            </a: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void</a:t>
            </a: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InsertUser</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const</a:t>
            </a:r>
            <a:r>
              <a:rPr lang="en-US" sz="1400" b="0" dirty="0">
                <a:solidFill>
                  <a:srgbClr val="000000"/>
                </a:solidFill>
                <a:effectLst/>
                <a:latin typeface="Consolas" panose="020B0609020204030204" pitchFamily="49" charset="0"/>
              </a:rPr>
              <a:t> std::</a:t>
            </a:r>
            <a:r>
              <a:rPr lang="en-US" sz="1400" b="0" dirty="0">
                <a:solidFill>
                  <a:srgbClr val="2B91AF"/>
                </a:solidFill>
                <a:effectLst/>
                <a:latin typeface="Consolas" panose="020B0609020204030204" pitchFamily="49" charset="0"/>
              </a:rPr>
              <a:t>string</a:t>
            </a:r>
            <a:r>
              <a:rPr lang="en-US" sz="1400" b="0" dirty="0">
                <a:solidFill>
                  <a:srgbClr val="000000"/>
                </a:solidFill>
                <a:effectLst/>
                <a:latin typeface="Consolas" panose="020B0609020204030204" pitchFamily="49" charset="0"/>
              </a:rPr>
              <a:t>&amp; </a:t>
            </a:r>
            <a:r>
              <a:rPr lang="en-US" sz="1400" b="0" dirty="0">
                <a:solidFill>
                  <a:srgbClr val="808080"/>
                </a:solidFill>
                <a:effectLst/>
                <a:latin typeface="Consolas" panose="020B0609020204030204" pitchFamily="49" charset="0"/>
              </a:rPr>
              <a:t>name</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0</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a:t>
            </a:r>
            <a:br>
              <a:rPr lang="en-US" sz="1400" b="0" dirty="0">
                <a:solidFill>
                  <a:srgbClr val="000000"/>
                </a:solidFill>
                <a:effectLst/>
                <a:latin typeface="Consolas" panose="020B0609020204030204" pitchFamily="49" charset="0"/>
              </a:rPr>
            </a:br>
            <a:endParaRPr lang="en-US" sz="1400" b="0" dirty="0">
              <a:solidFill>
                <a:srgbClr val="000000"/>
              </a:solidFill>
              <a:effectLst/>
              <a:latin typeface="Consolas" panose="020B0609020204030204" pitchFamily="49" charset="0"/>
            </a:endParaRPr>
          </a:p>
          <a:p>
            <a:pPr>
              <a:buNone/>
            </a:pPr>
            <a:r>
              <a:rPr lang="en-US" sz="1400" b="0" dirty="0">
                <a:solidFill>
                  <a:srgbClr val="0000FF"/>
                </a:solidFill>
                <a:effectLst/>
                <a:latin typeface="Consolas" panose="020B0609020204030204" pitchFamily="49" charset="0"/>
              </a:rPr>
              <a:t>class</a:t>
            </a:r>
            <a:r>
              <a:rPr lang="en-US" sz="1400" b="0" dirty="0">
                <a:solidFill>
                  <a:srgbClr val="000000"/>
                </a:solidFill>
                <a:effectLst/>
                <a:latin typeface="Consolas" panose="020B0609020204030204" pitchFamily="49" charset="0"/>
              </a:rPr>
              <a:t> </a:t>
            </a:r>
            <a:r>
              <a:rPr lang="en-US" sz="1400" b="0" dirty="0" err="1">
                <a:solidFill>
                  <a:srgbClr val="2B91AF"/>
                </a:solidFill>
                <a:effectLst/>
                <a:latin typeface="Consolas" panose="020B0609020204030204" pitchFamily="49" charset="0"/>
              </a:rPr>
              <a:t>AddUserUseCase</a:t>
            </a:r>
            <a:r>
              <a:rPr lang="en-US" sz="1400" b="0" dirty="0">
                <a:solidFill>
                  <a:srgbClr val="000000"/>
                </a:solidFill>
                <a:effectLst/>
                <a:latin typeface="Consolas" panose="020B0609020204030204" pitchFamily="49" charset="0"/>
              </a:rPr>
              <a:t> {</a:t>
            </a:r>
          </a:p>
          <a:p>
            <a:pPr>
              <a:buNone/>
            </a:pPr>
            <a:r>
              <a:rPr lang="en-US" sz="1400" b="0" dirty="0">
                <a:solidFill>
                  <a:srgbClr val="0000FF"/>
                </a:solidFill>
                <a:effectLst/>
                <a:latin typeface="Consolas" panose="020B0609020204030204" pitchFamily="49" charset="0"/>
              </a:rPr>
              <a:t>public:</a:t>
            </a:r>
            <a:endParaRPr lang="en-US" sz="1400" b="0" dirty="0">
              <a:solidFill>
                <a:srgbClr val="000000"/>
              </a:solidFill>
              <a:effectLst/>
              <a:latin typeface="Consolas" panose="020B0609020204030204" pitchFamily="49" charset="0"/>
            </a:endParaRPr>
          </a:p>
          <a:p>
            <a:pPr>
              <a:buNone/>
            </a:pP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AddUserUseCase</a:t>
            </a:r>
            <a:r>
              <a:rPr lang="en-US" sz="1400" b="0" dirty="0">
                <a:solidFill>
                  <a:srgbClr val="000000"/>
                </a:solidFill>
                <a:effectLst/>
                <a:latin typeface="Consolas" panose="020B0609020204030204" pitchFamily="49" charset="0"/>
              </a:rPr>
              <a:t>(</a:t>
            </a:r>
            <a:r>
              <a:rPr lang="en-US" sz="1400" b="0" dirty="0" err="1">
                <a:solidFill>
                  <a:srgbClr val="2B91AF"/>
                </a:solidFill>
                <a:effectLst/>
                <a:latin typeface="Consolas" panose="020B0609020204030204" pitchFamily="49" charset="0"/>
              </a:rPr>
              <a:t>IUserRepository</a:t>
            </a:r>
            <a:r>
              <a:rPr lang="en-US" sz="1400" b="0" dirty="0">
                <a:solidFill>
                  <a:srgbClr val="000000"/>
                </a:solidFill>
                <a:effectLst/>
                <a:latin typeface="Consolas" panose="020B0609020204030204" pitchFamily="49" charset="0"/>
              </a:rPr>
              <a:t>&amp; </a:t>
            </a:r>
            <a:r>
              <a:rPr lang="en-US" sz="1400" b="0" dirty="0">
                <a:solidFill>
                  <a:srgbClr val="808080"/>
                </a:solidFill>
                <a:effectLst/>
                <a:latin typeface="Consolas" panose="020B0609020204030204" pitchFamily="49" charset="0"/>
              </a:rPr>
              <a:t>repo</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 </a:t>
            </a:r>
            <a:r>
              <a:rPr lang="en-US" sz="1400" b="0" dirty="0" err="1">
                <a:solidFill>
                  <a:srgbClr val="000000"/>
                </a:solidFill>
                <a:effectLst/>
                <a:latin typeface="Consolas" panose="020B0609020204030204" pitchFamily="49" charset="0"/>
              </a:rPr>
              <a:t>m_repo</a:t>
            </a:r>
            <a:r>
              <a:rPr lang="en-US" sz="1400" b="0" dirty="0">
                <a:solidFill>
                  <a:srgbClr val="000000"/>
                </a:solidFill>
                <a:effectLst/>
                <a:latin typeface="Consolas" panose="020B0609020204030204" pitchFamily="49" charset="0"/>
              </a:rPr>
              <a:t>(</a:t>
            </a:r>
            <a:r>
              <a:rPr lang="en-US" sz="1400" b="0" dirty="0">
                <a:solidFill>
                  <a:srgbClr val="808080"/>
                </a:solidFill>
                <a:effectLst/>
                <a:latin typeface="Consolas" panose="020B0609020204030204" pitchFamily="49" charset="0"/>
              </a:rPr>
              <a:t>repo</a:t>
            </a: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void</a:t>
            </a:r>
            <a:r>
              <a:rPr lang="en-US" sz="1400" b="0" dirty="0">
                <a:solidFill>
                  <a:srgbClr val="000000"/>
                </a:solidFill>
                <a:effectLst/>
                <a:latin typeface="Consolas" panose="020B0609020204030204" pitchFamily="49" charset="0"/>
              </a:rPr>
              <a:t> </a:t>
            </a:r>
            <a:r>
              <a:rPr lang="en-US" sz="1400" b="0" dirty="0">
                <a:solidFill>
                  <a:srgbClr val="74531F"/>
                </a:solidFill>
                <a:effectLst/>
                <a:latin typeface="Consolas" panose="020B0609020204030204" pitchFamily="49" charset="0"/>
              </a:rPr>
              <a:t>Execute</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const</a:t>
            </a:r>
            <a:r>
              <a:rPr lang="en-US" sz="1400" b="0" dirty="0">
                <a:solidFill>
                  <a:srgbClr val="000000"/>
                </a:solidFill>
                <a:effectLst/>
                <a:latin typeface="Consolas" panose="020B0609020204030204" pitchFamily="49" charset="0"/>
              </a:rPr>
              <a:t> std::</a:t>
            </a:r>
            <a:r>
              <a:rPr lang="en-US" sz="1400" b="0" dirty="0">
                <a:solidFill>
                  <a:srgbClr val="2B91AF"/>
                </a:solidFill>
                <a:effectLst/>
                <a:latin typeface="Consolas" panose="020B0609020204030204" pitchFamily="49" charset="0"/>
              </a:rPr>
              <a:t>string</a:t>
            </a:r>
            <a:r>
              <a:rPr lang="en-US" sz="1400" b="0" dirty="0">
                <a:solidFill>
                  <a:srgbClr val="000000"/>
                </a:solidFill>
                <a:effectLst/>
                <a:latin typeface="Consolas" panose="020B0609020204030204" pitchFamily="49" charset="0"/>
              </a:rPr>
              <a:t>&amp; </a:t>
            </a:r>
            <a:r>
              <a:rPr lang="en-US" sz="1400" b="0" dirty="0">
                <a:solidFill>
                  <a:srgbClr val="808080"/>
                </a:solidFill>
                <a:effectLst/>
                <a:latin typeface="Consolas" panose="020B0609020204030204" pitchFamily="49" charset="0"/>
              </a:rPr>
              <a:t>name</a:t>
            </a: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m_repo.</a:t>
            </a:r>
            <a:r>
              <a:rPr lang="en-US" sz="1400" b="0" dirty="0" err="1">
                <a:solidFill>
                  <a:srgbClr val="74531F"/>
                </a:solidFill>
                <a:effectLst/>
                <a:latin typeface="Consolas" panose="020B0609020204030204" pitchFamily="49" charset="0"/>
              </a:rPr>
              <a:t>InsertUser</a:t>
            </a:r>
            <a:r>
              <a:rPr lang="en-US" sz="1400" b="0" dirty="0">
                <a:solidFill>
                  <a:srgbClr val="000000"/>
                </a:solidFill>
                <a:effectLst/>
                <a:latin typeface="Consolas" panose="020B0609020204030204" pitchFamily="49" charset="0"/>
              </a:rPr>
              <a:t>(</a:t>
            </a:r>
            <a:r>
              <a:rPr lang="en-US" sz="1400" b="0" dirty="0">
                <a:solidFill>
                  <a:srgbClr val="808080"/>
                </a:solidFill>
                <a:effectLst/>
                <a:latin typeface="Consolas" panose="020B0609020204030204" pitchFamily="49" charset="0"/>
              </a:rPr>
              <a:t>name</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p>
          <a:p>
            <a:pPr>
              <a:buNone/>
            </a:pPr>
            <a:r>
              <a:rPr lang="en-US" sz="1400" b="0" dirty="0">
                <a:solidFill>
                  <a:srgbClr val="0000FF"/>
                </a:solidFill>
                <a:effectLst/>
                <a:latin typeface="Consolas" panose="020B0609020204030204" pitchFamily="49" charset="0"/>
              </a:rPr>
              <a:t>private:</a:t>
            </a:r>
            <a:endParaRPr lang="en-US" sz="1400" b="0" dirty="0">
              <a:solidFill>
                <a:srgbClr val="000000"/>
              </a:solidFill>
              <a:effectLst/>
              <a:latin typeface="Consolas" panose="020B0609020204030204" pitchFamily="49" charset="0"/>
            </a:endParaRPr>
          </a:p>
          <a:p>
            <a:pPr>
              <a:buNone/>
            </a:pPr>
            <a:r>
              <a:rPr lang="en-US" sz="1400" b="0" dirty="0">
                <a:solidFill>
                  <a:srgbClr val="000000"/>
                </a:solidFill>
                <a:effectLst/>
                <a:latin typeface="Consolas" panose="020B0609020204030204" pitchFamily="49" charset="0"/>
              </a:rPr>
              <a:t>  </a:t>
            </a:r>
            <a:r>
              <a:rPr lang="en-US" sz="1400" b="0" dirty="0" err="1">
                <a:solidFill>
                  <a:srgbClr val="2B91AF"/>
                </a:solidFill>
                <a:effectLst/>
                <a:latin typeface="Consolas" panose="020B0609020204030204" pitchFamily="49" charset="0"/>
              </a:rPr>
              <a:t>IUserRepository</a:t>
            </a:r>
            <a:r>
              <a:rPr lang="en-US" sz="1400" b="0" dirty="0">
                <a:solidFill>
                  <a:srgbClr val="000000"/>
                </a:solidFill>
                <a:effectLst/>
                <a:latin typeface="Consolas" panose="020B0609020204030204" pitchFamily="49" charset="0"/>
              </a:rPr>
              <a:t>&amp; </a:t>
            </a:r>
            <a:r>
              <a:rPr lang="en-US" sz="1400" b="0" dirty="0" err="1">
                <a:solidFill>
                  <a:srgbClr val="000000"/>
                </a:solidFill>
                <a:effectLst/>
                <a:latin typeface="Consolas" panose="020B0609020204030204" pitchFamily="49" charset="0"/>
              </a:rPr>
              <a:t>m_repo</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a:t>
            </a:r>
          </a:p>
        </p:txBody>
      </p:sp>
      <p:sp>
        <p:nvSpPr>
          <p:cNvPr id="7" name="TextBox 6">
            <a:extLst>
              <a:ext uri="{FF2B5EF4-FFF2-40B4-BE49-F238E27FC236}">
                <a16:creationId xmlns:a16="http://schemas.microsoft.com/office/drawing/2014/main" id="{F5143F5A-63E7-49EA-4649-2B8F20220425}"/>
              </a:ext>
            </a:extLst>
          </p:cNvPr>
          <p:cNvSpPr txBox="1"/>
          <p:nvPr/>
        </p:nvSpPr>
        <p:spPr>
          <a:xfrm>
            <a:off x="6095999" y="2126243"/>
            <a:ext cx="6096000" cy="3970318"/>
          </a:xfrm>
          <a:prstGeom prst="rect">
            <a:avLst/>
          </a:prstGeom>
          <a:noFill/>
        </p:spPr>
        <p:txBody>
          <a:bodyPr wrap="square">
            <a:spAutoFit/>
          </a:bodyPr>
          <a:lstStyle/>
          <a:p>
            <a:pPr>
              <a:buNone/>
            </a:pPr>
            <a:r>
              <a:rPr lang="en-US" sz="1400" b="0" dirty="0">
                <a:solidFill>
                  <a:srgbClr val="0000FF"/>
                </a:solidFill>
                <a:effectLst/>
                <a:latin typeface="Consolas" panose="020B0609020204030204" pitchFamily="49" charset="0"/>
              </a:rPr>
              <a:t>class</a:t>
            </a:r>
            <a:r>
              <a:rPr lang="en-US" sz="1400" b="0" dirty="0">
                <a:solidFill>
                  <a:srgbClr val="000000"/>
                </a:solidFill>
                <a:effectLst/>
                <a:latin typeface="Consolas" panose="020B0609020204030204" pitchFamily="49" charset="0"/>
              </a:rPr>
              <a:t> </a:t>
            </a:r>
            <a:r>
              <a:rPr lang="en-US" sz="1400" b="0" dirty="0" err="1">
                <a:solidFill>
                  <a:srgbClr val="2B91AF"/>
                </a:solidFill>
                <a:effectLst/>
                <a:latin typeface="Consolas" panose="020B0609020204030204" pitchFamily="49" charset="0"/>
              </a:rPr>
              <a:t>SqlUserRepository</a:t>
            </a:r>
            <a:r>
              <a:rPr lang="en-US" sz="1400" b="0" dirty="0">
                <a:solidFill>
                  <a:srgbClr val="000000"/>
                </a:solidFill>
                <a:effectLst/>
                <a:latin typeface="Consolas" panose="020B0609020204030204" pitchFamily="49" charset="0"/>
              </a:rPr>
              <a:t> : </a:t>
            </a:r>
            <a:r>
              <a:rPr lang="en-US" sz="1400" b="0" dirty="0">
                <a:solidFill>
                  <a:srgbClr val="0000FF"/>
                </a:solidFill>
                <a:effectLst/>
                <a:latin typeface="Consolas" panose="020B0609020204030204" pitchFamily="49" charset="0"/>
              </a:rPr>
              <a:t>public</a:t>
            </a:r>
            <a:r>
              <a:rPr lang="en-US" sz="1400" b="0" dirty="0">
                <a:solidFill>
                  <a:srgbClr val="000000"/>
                </a:solidFill>
                <a:effectLst/>
                <a:latin typeface="Consolas" panose="020B0609020204030204" pitchFamily="49" charset="0"/>
              </a:rPr>
              <a:t> </a:t>
            </a:r>
            <a:r>
              <a:rPr lang="en-US" sz="1400" b="0" dirty="0" err="1">
                <a:solidFill>
                  <a:srgbClr val="2B91AF"/>
                </a:solidFill>
                <a:effectLst/>
                <a:latin typeface="Consolas" panose="020B0609020204030204" pitchFamily="49" charset="0"/>
              </a:rPr>
              <a:t>IUserRepository</a:t>
            </a:r>
            <a:r>
              <a:rPr lang="en-US" sz="1400" b="0" dirty="0">
                <a:solidFill>
                  <a:srgbClr val="000000"/>
                </a:solidFill>
                <a:effectLst/>
                <a:latin typeface="Consolas" panose="020B0609020204030204" pitchFamily="49" charset="0"/>
              </a:rPr>
              <a:t> {</a:t>
            </a:r>
          </a:p>
          <a:p>
            <a:pPr>
              <a:buNone/>
            </a:pPr>
            <a:r>
              <a:rPr lang="en-US" sz="1400" b="0" dirty="0">
                <a:solidFill>
                  <a:srgbClr val="0000FF"/>
                </a:solidFill>
                <a:effectLst/>
                <a:latin typeface="Consolas" panose="020B0609020204030204" pitchFamily="49" charset="0"/>
              </a:rPr>
              <a:t>public:</a:t>
            </a:r>
            <a:endParaRPr lang="en-US" sz="1400" b="0" dirty="0">
              <a:solidFill>
                <a:srgbClr val="000000"/>
              </a:solidFill>
              <a:effectLst/>
              <a:latin typeface="Consolas" panose="020B0609020204030204" pitchFamily="49" charset="0"/>
            </a:endParaRPr>
          </a:p>
          <a:p>
            <a:pPr>
              <a:buNone/>
            </a:pP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SqlUserRepository</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const</a:t>
            </a:r>
            <a:r>
              <a:rPr lang="en-US" sz="1400" b="0" dirty="0">
                <a:solidFill>
                  <a:srgbClr val="000000"/>
                </a:solidFill>
                <a:effectLst/>
                <a:latin typeface="Consolas" panose="020B0609020204030204" pitchFamily="49" charset="0"/>
              </a:rPr>
              <a:t> std::</a:t>
            </a:r>
            <a:r>
              <a:rPr lang="en-US" sz="1400" b="0" dirty="0">
                <a:solidFill>
                  <a:srgbClr val="2B91AF"/>
                </a:solidFill>
                <a:effectLst/>
                <a:latin typeface="Consolas" panose="020B0609020204030204" pitchFamily="49" charset="0"/>
              </a:rPr>
              <a:t>string</a:t>
            </a:r>
            <a:r>
              <a:rPr lang="en-US" sz="1400" b="0" dirty="0">
                <a:solidFill>
                  <a:srgbClr val="000000"/>
                </a:solidFill>
                <a:effectLst/>
                <a:latin typeface="Consolas" panose="020B0609020204030204" pitchFamily="49" charset="0"/>
              </a:rPr>
              <a:t>&amp; </a:t>
            </a:r>
            <a:r>
              <a:rPr lang="en-US" sz="1400" b="0" dirty="0" err="1">
                <a:solidFill>
                  <a:srgbClr val="808080"/>
                </a:solidFill>
                <a:effectLst/>
                <a:latin typeface="Consolas" panose="020B0609020204030204" pitchFamily="49" charset="0"/>
              </a:rPr>
              <a:t>connectionString</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 </a:t>
            </a:r>
            <a:r>
              <a:rPr lang="en-US" sz="1400" b="0" dirty="0" err="1">
                <a:solidFill>
                  <a:srgbClr val="000000"/>
                </a:solidFill>
                <a:effectLst/>
                <a:latin typeface="Consolas" panose="020B0609020204030204" pitchFamily="49" charset="0"/>
              </a:rPr>
              <a:t>m_connStr</a:t>
            </a:r>
            <a:r>
              <a:rPr lang="en-US" sz="1400" b="0" dirty="0">
                <a:solidFill>
                  <a:srgbClr val="000000"/>
                </a:solidFill>
                <a:effectLst/>
                <a:latin typeface="Consolas" panose="020B0609020204030204" pitchFamily="49" charset="0"/>
              </a:rPr>
              <a:t>(</a:t>
            </a:r>
            <a:r>
              <a:rPr lang="en-US" sz="1400" b="0" dirty="0" err="1">
                <a:solidFill>
                  <a:srgbClr val="808080"/>
                </a:solidFill>
                <a:effectLst/>
                <a:latin typeface="Consolas" panose="020B0609020204030204" pitchFamily="49" charset="0"/>
              </a:rPr>
              <a:t>connectionString</a:t>
            </a:r>
            <a:r>
              <a:rPr lang="en-US" sz="1400" b="0" dirty="0">
                <a:solidFill>
                  <a:srgbClr val="000000"/>
                </a:solidFill>
                <a:effectLst/>
                <a:latin typeface="Consolas" panose="020B0609020204030204" pitchFamily="49" charset="0"/>
              </a:rPr>
              <a:t>) {}</a:t>
            </a:r>
          </a:p>
          <a:p>
            <a:pPr>
              <a:buNone/>
            </a:pPr>
            <a:endParaRPr lang="en-US" sz="1400" b="0" dirty="0">
              <a:solidFill>
                <a:srgbClr val="000000"/>
              </a:solidFill>
              <a:effectLst/>
              <a:latin typeface="Consolas" panose="020B0609020204030204" pitchFamily="49" charset="0"/>
            </a:endParaRPr>
          </a:p>
          <a:p>
            <a:pPr>
              <a:buNone/>
            </a:pP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void</a:t>
            </a: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InsertUser</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const</a:t>
            </a:r>
            <a:r>
              <a:rPr lang="en-US" sz="1400" b="0" dirty="0">
                <a:solidFill>
                  <a:srgbClr val="000000"/>
                </a:solidFill>
                <a:effectLst/>
                <a:latin typeface="Consolas" panose="020B0609020204030204" pitchFamily="49" charset="0"/>
              </a:rPr>
              <a:t> std::</a:t>
            </a:r>
            <a:r>
              <a:rPr lang="en-US" sz="1400" b="0" dirty="0">
                <a:solidFill>
                  <a:srgbClr val="2B91AF"/>
                </a:solidFill>
                <a:effectLst/>
                <a:latin typeface="Consolas" panose="020B0609020204030204" pitchFamily="49" charset="0"/>
              </a:rPr>
              <a:t>string</a:t>
            </a:r>
            <a:r>
              <a:rPr lang="en-US" sz="1400" b="0" dirty="0">
                <a:solidFill>
                  <a:srgbClr val="000000"/>
                </a:solidFill>
                <a:effectLst/>
                <a:latin typeface="Consolas" panose="020B0609020204030204" pitchFamily="49" charset="0"/>
              </a:rPr>
              <a:t>&amp; </a:t>
            </a:r>
            <a:r>
              <a:rPr lang="en-US" sz="1400" b="0" dirty="0">
                <a:solidFill>
                  <a:srgbClr val="808080"/>
                </a:solidFill>
                <a:effectLst/>
                <a:latin typeface="Consolas" panose="020B0609020204030204" pitchFamily="49" charset="0"/>
              </a:rPr>
              <a:t>name</a:t>
            </a: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override</a:t>
            </a:r>
            <a:r>
              <a:rPr lang="en-US" sz="1400" b="0" dirty="0">
                <a:solidFill>
                  <a:srgbClr val="000000"/>
                </a:solidFill>
                <a:effectLst/>
                <a:latin typeface="Consolas" panose="020B0609020204030204" pitchFamily="49" charset="0"/>
              </a:rPr>
              <a:t> {</a:t>
            </a:r>
          </a:p>
          <a:p>
            <a:pPr>
              <a:buNone/>
            </a:pPr>
            <a:r>
              <a:rPr lang="en-US" sz="1400" b="0" dirty="0">
                <a:solidFill>
                  <a:srgbClr val="008000"/>
                </a:solidFill>
                <a:effectLst/>
                <a:latin typeface="Consolas" panose="020B0609020204030204" pitchFamily="49" charset="0"/>
              </a:rPr>
              <a:t>    // SQL-</a:t>
            </a:r>
            <a:r>
              <a:rPr lang="ru-RU" sz="1400" b="0" dirty="0">
                <a:solidFill>
                  <a:srgbClr val="008000"/>
                </a:solidFill>
                <a:effectLst/>
                <a:latin typeface="Consolas" panose="020B0609020204030204" pitchFamily="49" charset="0"/>
              </a:rPr>
              <a:t>запросы, драйверы, соединения</a:t>
            </a:r>
            <a:endParaRPr lang="ru-RU" sz="1400" b="0" dirty="0">
              <a:solidFill>
                <a:srgbClr val="000000"/>
              </a:solidFill>
              <a:effectLst/>
              <a:latin typeface="Consolas" panose="020B0609020204030204" pitchFamily="49" charset="0"/>
            </a:endParaRPr>
          </a:p>
          <a:p>
            <a:pPr>
              <a:buNone/>
            </a:pPr>
            <a:r>
              <a:rPr lang="en-US" sz="1400" b="0" dirty="0">
                <a:solidFill>
                  <a:srgbClr val="000000"/>
                </a:solidFill>
                <a:effectLst/>
                <a:latin typeface="Consolas" panose="020B0609020204030204" pitchFamily="49" charset="0"/>
              </a:rPr>
              <a:t>  </a:t>
            </a:r>
            <a:r>
              <a:rPr lang="ru-RU" sz="1400" b="0" dirty="0">
                <a:solidFill>
                  <a:srgbClr val="000000"/>
                </a:solidFill>
                <a:effectLst/>
                <a:latin typeface="Consolas" panose="020B0609020204030204" pitchFamily="49" charset="0"/>
              </a:rPr>
              <a:t>}</a:t>
            </a:r>
          </a:p>
          <a:p>
            <a:pPr>
              <a:buNone/>
            </a:pPr>
            <a:r>
              <a:rPr lang="en-US" sz="1400" b="0" dirty="0">
                <a:solidFill>
                  <a:srgbClr val="0000FF"/>
                </a:solidFill>
                <a:effectLst/>
                <a:latin typeface="Consolas" panose="020B0609020204030204" pitchFamily="49" charset="0"/>
              </a:rPr>
              <a:t>private:</a:t>
            </a:r>
            <a:endParaRPr lang="en-US" sz="1400" b="0" dirty="0">
              <a:solidFill>
                <a:srgbClr val="000000"/>
              </a:solidFill>
              <a:effectLst/>
              <a:latin typeface="Consolas" panose="020B0609020204030204" pitchFamily="49" charset="0"/>
            </a:endParaRPr>
          </a:p>
          <a:p>
            <a:pPr>
              <a:buNone/>
            </a:pPr>
            <a:r>
              <a:rPr lang="en-US" sz="1400" b="0" dirty="0">
                <a:solidFill>
                  <a:srgbClr val="000000"/>
                </a:solidFill>
                <a:effectLst/>
                <a:latin typeface="Consolas" panose="020B0609020204030204" pitchFamily="49" charset="0"/>
              </a:rPr>
              <a:t>  std::string </a:t>
            </a:r>
            <a:r>
              <a:rPr lang="en-US" sz="1400" b="0" dirty="0" err="1">
                <a:solidFill>
                  <a:srgbClr val="000000"/>
                </a:solidFill>
                <a:effectLst/>
                <a:latin typeface="Consolas" panose="020B0609020204030204" pitchFamily="49" charset="0"/>
              </a:rPr>
              <a:t>m_connStr</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a:t>
            </a:r>
          </a:p>
          <a:p>
            <a:pPr>
              <a:buNone/>
            </a:pPr>
            <a:endParaRPr lang="en-US" sz="1400" b="0" dirty="0">
              <a:solidFill>
                <a:srgbClr val="000000"/>
              </a:solidFill>
              <a:effectLst/>
              <a:latin typeface="Consolas" panose="020B0609020204030204" pitchFamily="49" charset="0"/>
            </a:endParaRPr>
          </a:p>
          <a:p>
            <a:pPr>
              <a:buNone/>
            </a:pPr>
            <a:r>
              <a:rPr lang="en-US" sz="1400" b="0" dirty="0">
                <a:solidFill>
                  <a:srgbClr val="0000FF"/>
                </a:solidFill>
                <a:effectLst/>
                <a:latin typeface="Consolas" panose="020B0609020204030204" pitchFamily="49" charset="0"/>
              </a:rPr>
              <a:t>class</a:t>
            </a:r>
            <a:r>
              <a:rPr lang="en-US" sz="1400" b="0" dirty="0">
                <a:solidFill>
                  <a:srgbClr val="000000"/>
                </a:solidFill>
                <a:effectLst/>
                <a:latin typeface="Consolas" panose="020B0609020204030204" pitchFamily="49" charset="0"/>
              </a:rPr>
              <a:t> </a:t>
            </a:r>
            <a:r>
              <a:rPr lang="en-US" sz="1400" b="0" dirty="0" err="1">
                <a:solidFill>
                  <a:srgbClr val="2B91AF"/>
                </a:solidFill>
                <a:effectLst/>
                <a:latin typeface="Consolas" panose="020B0609020204030204" pitchFamily="49" charset="0"/>
              </a:rPr>
              <a:t>FileUserRepository</a:t>
            </a:r>
            <a:endParaRPr lang="en-US" sz="1400" dirty="0">
              <a:solidFill>
                <a:srgbClr val="000000"/>
              </a:solidFill>
              <a:latin typeface="Consolas" panose="020B0609020204030204" pitchFamily="49" charset="0"/>
            </a:endParaRPr>
          </a:p>
          <a:p>
            <a:pPr>
              <a:buNone/>
            </a:pPr>
            <a:r>
              <a:rPr lang="en-US" sz="1400" b="0" dirty="0">
                <a:solidFill>
                  <a:srgbClr val="000000"/>
                </a:solidFill>
                <a:effectLst/>
                <a:latin typeface="Consolas" panose="020B0609020204030204" pitchFamily="49" charset="0"/>
              </a:rPr>
              <a:t>  : </a:t>
            </a:r>
            <a:r>
              <a:rPr lang="en-US" sz="1400" b="0" dirty="0">
                <a:solidFill>
                  <a:srgbClr val="0000FF"/>
                </a:solidFill>
                <a:effectLst/>
                <a:latin typeface="Consolas" panose="020B0609020204030204" pitchFamily="49" charset="0"/>
              </a:rPr>
              <a:t>public</a:t>
            </a:r>
            <a:r>
              <a:rPr lang="en-US" sz="1400" b="0" dirty="0">
                <a:solidFill>
                  <a:srgbClr val="000000"/>
                </a:solidFill>
                <a:effectLst/>
                <a:latin typeface="Consolas" panose="020B0609020204030204" pitchFamily="49" charset="0"/>
              </a:rPr>
              <a:t> </a:t>
            </a:r>
            <a:r>
              <a:rPr lang="en-US" sz="1400" b="0" dirty="0" err="1">
                <a:solidFill>
                  <a:srgbClr val="2B91AF"/>
                </a:solidFill>
                <a:effectLst/>
                <a:latin typeface="Consolas" panose="020B0609020204030204" pitchFamily="49" charset="0"/>
              </a:rPr>
              <a:t>IUserRepository</a:t>
            </a:r>
            <a:r>
              <a:rPr lang="en-US" sz="1400" b="0" dirty="0">
                <a:solidFill>
                  <a:srgbClr val="000000"/>
                </a:solidFill>
                <a:effectLst/>
                <a:latin typeface="Consolas" panose="020B0609020204030204" pitchFamily="49" charset="0"/>
              </a:rPr>
              <a:t> {</a:t>
            </a:r>
            <a:r>
              <a:rPr lang="en-US" sz="1400" b="0" dirty="0">
                <a:solidFill>
                  <a:srgbClr val="008000"/>
                </a:solidFill>
                <a:effectLst/>
                <a:latin typeface="Consolas" panose="020B0609020204030204" pitchFamily="49" charset="0"/>
              </a:rPr>
              <a:t> /* ... */</a:t>
            </a:r>
            <a:r>
              <a:rPr lang="en-US" sz="1400" b="0" dirty="0">
                <a:solidFill>
                  <a:srgbClr val="000000"/>
                </a:solidFill>
                <a:effectLst/>
                <a:latin typeface="Consolas" panose="020B0609020204030204" pitchFamily="49" charset="0"/>
              </a:rPr>
              <a:t> };</a:t>
            </a:r>
          </a:p>
          <a:p>
            <a:pPr>
              <a:buNone/>
            </a:pPr>
            <a:r>
              <a:rPr lang="en-US" sz="1400" b="0" dirty="0">
                <a:solidFill>
                  <a:srgbClr val="0000FF"/>
                </a:solidFill>
                <a:effectLst/>
                <a:latin typeface="Consolas" panose="020B0609020204030204" pitchFamily="49" charset="0"/>
              </a:rPr>
              <a:t>class</a:t>
            </a:r>
            <a:r>
              <a:rPr lang="en-US" sz="1400" b="0" dirty="0">
                <a:solidFill>
                  <a:srgbClr val="000000"/>
                </a:solidFill>
                <a:effectLst/>
                <a:latin typeface="Consolas" panose="020B0609020204030204" pitchFamily="49" charset="0"/>
              </a:rPr>
              <a:t> </a:t>
            </a:r>
            <a:r>
              <a:rPr lang="en-US" sz="1400" b="0" dirty="0" err="1">
                <a:solidFill>
                  <a:srgbClr val="2B91AF"/>
                </a:solidFill>
                <a:effectLst/>
                <a:latin typeface="Consolas" panose="020B0609020204030204" pitchFamily="49" charset="0"/>
              </a:rPr>
              <a:t>InMemoryUserRepository</a:t>
            </a:r>
            <a:endParaRPr lang="en-US" sz="1400" dirty="0">
              <a:solidFill>
                <a:srgbClr val="000000"/>
              </a:solidFill>
              <a:latin typeface="Consolas" panose="020B0609020204030204" pitchFamily="49" charset="0"/>
            </a:endParaRPr>
          </a:p>
          <a:p>
            <a:pPr>
              <a:buNone/>
            </a:pPr>
            <a:r>
              <a:rPr lang="en-US" sz="1400" b="0" dirty="0">
                <a:solidFill>
                  <a:srgbClr val="000000"/>
                </a:solidFill>
                <a:effectLst/>
                <a:latin typeface="Consolas" panose="020B0609020204030204" pitchFamily="49" charset="0"/>
              </a:rPr>
              <a:t>  : </a:t>
            </a:r>
            <a:r>
              <a:rPr lang="en-US" sz="1400" b="0" dirty="0">
                <a:solidFill>
                  <a:srgbClr val="0000FF"/>
                </a:solidFill>
                <a:effectLst/>
                <a:latin typeface="Consolas" panose="020B0609020204030204" pitchFamily="49" charset="0"/>
              </a:rPr>
              <a:t>public</a:t>
            </a:r>
            <a:r>
              <a:rPr lang="en-US" sz="1400" b="0" dirty="0">
                <a:solidFill>
                  <a:srgbClr val="000000"/>
                </a:solidFill>
                <a:effectLst/>
                <a:latin typeface="Consolas" panose="020B0609020204030204" pitchFamily="49" charset="0"/>
              </a:rPr>
              <a:t> </a:t>
            </a:r>
            <a:r>
              <a:rPr lang="en-US" sz="1400" b="0" dirty="0" err="1">
                <a:solidFill>
                  <a:srgbClr val="2B91AF"/>
                </a:solidFill>
                <a:effectLst/>
                <a:latin typeface="Consolas" panose="020B0609020204030204" pitchFamily="49" charset="0"/>
              </a:rPr>
              <a:t>IUserRepository</a:t>
            </a:r>
            <a:r>
              <a:rPr lang="en-US" sz="1400" b="0" dirty="0">
                <a:solidFill>
                  <a:srgbClr val="000000"/>
                </a:solidFill>
                <a:effectLst/>
                <a:latin typeface="Consolas" panose="020B0609020204030204" pitchFamily="49" charset="0"/>
              </a:rPr>
              <a:t> {</a:t>
            </a:r>
            <a:r>
              <a:rPr lang="en-US" sz="1400" b="0" dirty="0">
                <a:solidFill>
                  <a:srgbClr val="008000"/>
                </a:solidFill>
                <a:effectLst/>
                <a:latin typeface="Consolas" panose="020B0609020204030204" pitchFamily="49" charset="0"/>
              </a:rPr>
              <a:t> /* ... */</a:t>
            </a:r>
            <a:r>
              <a:rPr lang="en-US" sz="1400" b="0" dirty="0">
                <a:solidFill>
                  <a:srgbClr val="000000"/>
                </a:solidFill>
                <a:effectLst/>
                <a:latin typeface="Consolas" panose="020B0609020204030204" pitchFamily="49" charset="0"/>
              </a:rPr>
              <a:t> };</a:t>
            </a:r>
          </a:p>
          <a:p>
            <a:pPr>
              <a:buNone/>
            </a:pPr>
            <a:r>
              <a:rPr lang="en-US" sz="1400" b="0" dirty="0">
                <a:solidFill>
                  <a:srgbClr val="0000FF"/>
                </a:solidFill>
                <a:effectLst/>
                <a:latin typeface="Consolas" panose="020B0609020204030204" pitchFamily="49" charset="0"/>
              </a:rPr>
              <a:t>class</a:t>
            </a:r>
            <a:r>
              <a:rPr lang="en-US" sz="1400" b="0" dirty="0">
                <a:solidFill>
                  <a:srgbClr val="000000"/>
                </a:solidFill>
                <a:effectLst/>
                <a:latin typeface="Consolas" panose="020B0609020204030204" pitchFamily="49" charset="0"/>
              </a:rPr>
              <a:t> </a:t>
            </a:r>
            <a:r>
              <a:rPr lang="en-US" sz="1400" b="0" dirty="0" err="1">
                <a:solidFill>
                  <a:srgbClr val="2B91AF"/>
                </a:solidFill>
                <a:effectLst/>
                <a:latin typeface="Consolas" panose="020B0609020204030204" pitchFamily="49" charset="0"/>
              </a:rPr>
              <a:t>RestUserRepository</a:t>
            </a:r>
            <a:endParaRPr lang="en-US" sz="1400" dirty="0">
              <a:solidFill>
                <a:srgbClr val="000000"/>
              </a:solidFill>
              <a:latin typeface="Consolas" panose="020B0609020204030204" pitchFamily="49" charset="0"/>
            </a:endParaRPr>
          </a:p>
          <a:p>
            <a:pPr>
              <a:buNone/>
            </a:pPr>
            <a:r>
              <a:rPr lang="en-US" sz="1400" b="0" dirty="0">
                <a:solidFill>
                  <a:srgbClr val="000000"/>
                </a:solidFill>
                <a:effectLst/>
                <a:latin typeface="Consolas" panose="020B0609020204030204" pitchFamily="49" charset="0"/>
              </a:rPr>
              <a:t>  : </a:t>
            </a:r>
            <a:r>
              <a:rPr lang="en-US" sz="1400" b="0" dirty="0">
                <a:solidFill>
                  <a:srgbClr val="0000FF"/>
                </a:solidFill>
                <a:effectLst/>
                <a:latin typeface="Consolas" panose="020B0609020204030204" pitchFamily="49" charset="0"/>
              </a:rPr>
              <a:t>public</a:t>
            </a:r>
            <a:r>
              <a:rPr lang="en-US" sz="1400" b="0" dirty="0">
                <a:solidFill>
                  <a:srgbClr val="000000"/>
                </a:solidFill>
                <a:effectLst/>
                <a:latin typeface="Consolas" panose="020B0609020204030204" pitchFamily="49" charset="0"/>
              </a:rPr>
              <a:t> </a:t>
            </a:r>
            <a:r>
              <a:rPr lang="en-US" sz="1400" b="0" dirty="0" err="1">
                <a:solidFill>
                  <a:srgbClr val="2B91AF"/>
                </a:solidFill>
                <a:effectLst/>
                <a:latin typeface="Consolas" panose="020B0609020204030204" pitchFamily="49" charset="0"/>
              </a:rPr>
              <a:t>IUserRepository</a:t>
            </a:r>
            <a:r>
              <a:rPr lang="en-US" sz="1400" b="0" dirty="0">
                <a:solidFill>
                  <a:srgbClr val="000000"/>
                </a:solidFill>
                <a:effectLst/>
                <a:latin typeface="Consolas" panose="020B0609020204030204" pitchFamily="49" charset="0"/>
              </a:rPr>
              <a:t> {</a:t>
            </a:r>
            <a:r>
              <a:rPr lang="en-US" sz="1400" b="0" dirty="0">
                <a:solidFill>
                  <a:srgbClr val="008000"/>
                </a:solidFill>
                <a:effectLst/>
                <a:latin typeface="Consolas" panose="020B0609020204030204" pitchFamily="49" charset="0"/>
              </a:rPr>
              <a:t> /* ... */</a:t>
            </a:r>
            <a:r>
              <a:rPr lang="en-US" sz="1400" b="0" dirty="0">
                <a:solidFill>
                  <a:srgbClr val="000000"/>
                </a:solidFill>
                <a:effectLst/>
                <a:latin typeface="Consolas" panose="020B0609020204030204" pitchFamily="49" charset="0"/>
              </a:rPr>
              <a:t> };</a:t>
            </a:r>
          </a:p>
        </p:txBody>
      </p:sp>
    </p:spTree>
    <p:extLst>
      <p:ext uri="{BB962C8B-B14F-4D97-AF65-F5344CB8AC3E}">
        <p14:creationId xmlns:p14="http://schemas.microsoft.com/office/powerpoint/2010/main" val="1419413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animEffect transition="in" filter="fade">
                                      <p:cBhvr>
                                        <p:cTn id="7" dur="500"/>
                                        <p:tgtEl>
                                          <p:spTgt spid="5">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5" end="5"/>
                                            </p:txEl>
                                          </p:spTgt>
                                        </p:tgtEl>
                                        <p:attrNameLst>
                                          <p:attrName>style.visibility</p:attrName>
                                        </p:attrNameLst>
                                      </p:cBhvr>
                                      <p:to>
                                        <p:strVal val="visible"/>
                                      </p:to>
                                    </p:set>
                                    <p:animEffect transition="in" filter="fade">
                                      <p:cBhvr>
                                        <p:cTn id="10" dur="500"/>
                                        <p:tgtEl>
                                          <p:spTgt spid="5">
                                            <p:txEl>
                                              <p:pRg st="5" end="5"/>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
                                            <p:txEl>
                                              <p:pRg st="6" end="6"/>
                                            </p:txEl>
                                          </p:spTgt>
                                        </p:tgtEl>
                                        <p:attrNameLst>
                                          <p:attrName>style.visibility</p:attrName>
                                        </p:attrNameLst>
                                      </p:cBhvr>
                                      <p:to>
                                        <p:strVal val="visible"/>
                                      </p:to>
                                    </p:set>
                                    <p:animEffect transition="in" filter="fade">
                                      <p:cBhvr>
                                        <p:cTn id="13" dur="500"/>
                                        <p:tgtEl>
                                          <p:spTgt spid="5">
                                            <p:txEl>
                                              <p:pRg st="6" end="6"/>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5">
                                            <p:txEl>
                                              <p:pRg st="7" end="7"/>
                                            </p:txEl>
                                          </p:spTgt>
                                        </p:tgtEl>
                                        <p:attrNameLst>
                                          <p:attrName>style.visibility</p:attrName>
                                        </p:attrNameLst>
                                      </p:cBhvr>
                                      <p:to>
                                        <p:strVal val="visible"/>
                                      </p:to>
                                    </p:set>
                                    <p:animEffect transition="in" filter="fade">
                                      <p:cBhvr>
                                        <p:cTn id="16" dur="500"/>
                                        <p:tgtEl>
                                          <p:spTgt spid="5">
                                            <p:txEl>
                                              <p:pRg st="7" end="7"/>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5">
                                            <p:txEl>
                                              <p:pRg st="8" end="8"/>
                                            </p:txEl>
                                          </p:spTgt>
                                        </p:tgtEl>
                                        <p:attrNameLst>
                                          <p:attrName>style.visibility</p:attrName>
                                        </p:attrNameLst>
                                      </p:cBhvr>
                                      <p:to>
                                        <p:strVal val="visible"/>
                                      </p:to>
                                    </p:set>
                                    <p:animEffect transition="in" filter="fade">
                                      <p:cBhvr>
                                        <p:cTn id="19" dur="500"/>
                                        <p:tgtEl>
                                          <p:spTgt spid="5">
                                            <p:txEl>
                                              <p:pRg st="8" end="8"/>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5">
                                            <p:txEl>
                                              <p:pRg st="9" end="9"/>
                                            </p:txEl>
                                          </p:spTgt>
                                        </p:tgtEl>
                                        <p:attrNameLst>
                                          <p:attrName>style.visibility</p:attrName>
                                        </p:attrNameLst>
                                      </p:cBhvr>
                                      <p:to>
                                        <p:strVal val="visible"/>
                                      </p:to>
                                    </p:set>
                                    <p:animEffect transition="in" filter="fade">
                                      <p:cBhvr>
                                        <p:cTn id="22" dur="500"/>
                                        <p:tgtEl>
                                          <p:spTgt spid="5">
                                            <p:txEl>
                                              <p:pRg st="9" end="9"/>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5">
                                            <p:txEl>
                                              <p:pRg st="10" end="10"/>
                                            </p:txEl>
                                          </p:spTgt>
                                        </p:tgtEl>
                                        <p:attrNameLst>
                                          <p:attrName>style.visibility</p:attrName>
                                        </p:attrNameLst>
                                      </p:cBhvr>
                                      <p:to>
                                        <p:strVal val="visible"/>
                                      </p:to>
                                    </p:set>
                                    <p:animEffect transition="in" filter="fade">
                                      <p:cBhvr>
                                        <p:cTn id="25" dur="500"/>
                                        <p:tgtEl>
                                          <p:spTgt spid="5">
                                            <p:txEl>
                                              <p:pRg st="10" end="10"/>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5">
                                            <p:txEl>
                                              <p:pRg st="11" end="11"/>
                                            </p:txEl>
                                          </p:spTgt>
                                        </p:tgtEl>
                                        <p:attrNameLst>
                                          <p:attrName>style.visibility</p:attrName>
                                        </p:attrNameLst>
                                      </p:cBhvr>
                                      <p:to>
                                        <p:strVal val="visible"/>
                                      </p:to>
                                    </p:set>
                                    <p:animEffect transition="in" filter="fade">
                                      <p:cBhvr>
                                        <p:cTn id="28" dur="500"/>
                                        <p:tgtEl>
                                          <p:spTgt spid="5">
                                            <p:txEl>
                                              <p:pRg st="11" end="11"/>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5">
                                            <p:txEl>
                                              <p:pRg st="12" end="12"/>
                                            </p:txEl>
                                          </p:spTgt>
                                        </p:tgtEl>
                                        <p:attrNameLst>
                                          <p:attrName>style.visibility</p:attrName>
                                        </p:attrNameLst>
                                      </p:cBhvr>
                                      <p:to>
                                        <p:strVal val="visible"/>
                                      </p:to>
                                    </p:set>
                                    <p:animEffect transition="in" filter="fade">
                                      <p:cBhvr>
                                        <p:cTn id="31" dur="500"/>
                                        <p:tgtEl>
                                          <p:spTgt spid="5">
                                            <p:txEl>
                                              <p:pRg st="12" end="12"/>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5">
                                            <p:txEl>
                                              <p:pRg st="13" end="13"/>
                                            </p:txEl>
                                          </p:spTgt>
                                        </p:tgtEl>
                                        <p:attrNameLst>
                                          <p:attrName>style.visibility</p:attrName>
                                        </p:attrNameLst>
                                      </p:cBhvr>
                                      <p:to>
                                        <p:strVal val="visible"/>
                                      </p:to>
                                    </p:set>
                                    <p:animEffect transition="in" filter="fade">
                                      <p:cBhvr>
                                        <p:cTn id="34" dur="500"/>
                                        <p:tgtEl>
                                          <p:spTgt spid="5">
                                            <p:txEl>
                                              <p:pRg st="13" end="13"/>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5">
                                            <p:txEl>
                                              <p:pRg st="14" end="14"/>
                                            </p:txEl>
                                          </p:spTgt>
                                        </p:tgtEl>
                                        <p:attrNameLst>
                                          <p:attrName>style.visibility</p:attrName>
                                        </p:attrNameLst>
                                      </p:cBhvr>
                                      <p:to>
                                        <p:strVal val="visible"/>
                                      </p:to>
                                    </p:set>
                                    <p:animEffect transition="in" filter="fade">
                                      <p:cBhvr>
                                        <p:cTn id="37" dur="500"/>
                                        <p:tgtEl>
                                          <p:spTgt spid="5">
                                            <p:txEl>
                                              <p:pRg st="14" end="1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7">
                                            <p:txEl>
                                              <p:pRg st="0" end="0"/>
                                            </p:txEl>
                                          </p:spTgt>
                                        </p:tgtEl>
                                        <p:attrNameLst>
                                          <p:attrName>style.visibility</p:attrName>
                                        </p:attrNameLst>
                                      </p:cBhvr>
                                      <p:to>
                                        <p:strVal val="visible"/>
                                      </p:to>
                                    </p:set>
                                    <p:animEffect transition="in" filter="fade">
                                      <p:cBhvr>
                                        <p:cTn id="42" dur="500"/>
                                        <p:tgtEl>
                                          <p:spTgt spid="7">
                                            <p:txEl>
                                              <p:pRg st="0" end="0"/>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7">
                                            <p:txEl>
                                              <p:pRg st="1" end="1"/>
                                            </p:txEl>
                                          </p:spTgt>
                                        </p:tgtEl>
                                        <p:attrNameLst>
                                          <p:attrName>style.visibility</p:attrName>
                                        </p:attrNameLst>
                                      </p:cBhvr>
                                      <p:to>
                                        <p:strVal val="visible"/>
                                      </p:to>
                                    </p:set>
                                    <p:animEffect transition="in" filter="fade">
                                      <p:cBhvr>
                                        <p:cTn id="45" dur="500"/>
                                        <p:tgtEl>
                                          <p:spTgt spid="7">
                                            <p:txEl>
                                              <p:pRg st="1" end="1"/>
                                            </p:txEl>
                                          </p:spTgt>
                                        </p:tgtEl>
                                      </p:cBhvr>
                                    </p:animEffect>
                                  </p:childTnLst>
                                </p:cTn>
                              </p:par>
                              <p:par>
                                <p:cTn id="46" presetID="10" presetClass="entr" presetSubtype="0" fill="hold" nodeType="withEffect">
                                  <p:stCondLst>
                                    <p:cond delay="0"/>
                                  </p:stCondLst>
                                  <p:childTnLst>
                                    <p:set>
                                      <p:cBhvr>
                                        <p:cTn id="47" dur="1" fill="hold">
                                          <p:stCondLst>
                                            <p:cond delay="0"/>
                                          </p:stCondLst>
                                        </p:cTn>
                                        <p:tgtEl>
                                          <p:spTgt spid="7">
                                            <p:txEl>
                                              <p:pRg st="2" end="2"/>
                                            </p:txEl>
                                          </p:spTgt>
                                        </p:tgtEl>
                                        <p:attrNameLst>
                                          <p:attrName>style.visibility</p:attrName>
                                        </p:attrNameLst>
                                      </p:cBhvr>
                                      <p:to>
                                        <p:strVal val="visible"/>
                                      </p:to>
                                    </p:set>
                                    <p:animEffect transition="in" filter="fade">
                                      <p:cBhvr>
                                        <p:cTn id="48" dur="500"/>
                                        <p:tgtEl>
                                          <p:spTgt spid="7">
                                            <p:txEl>
                                              <p:pRg st="2" end="2"/>
                                            </p:txEl>
                                          </p:spTgt>
                                        </p:tgtEl>
                                      </p:cBhvr>
                                    </p:animEffect>
                                  </p:childTnLst>
                                </p:cTn>
                              </p:par>
                              <p:par>
                                <p:cTn id="49" presetID="10" presetClass="entr" presetSubtype="0" fill="hold" nodeType="withEffect">
                                  <p:stCondLst>
                                    <p:cond delay="0"/>
                                  </p:stCondLst>
                                  <p:childTnLst>
                                    <p:set>
                                      <p:cBhvr>
                                        <p:cTn id="50" dur="1" fill="hold">
                                          <p:stCondLst>
                                            <p:cond delay="0"/>
                                          </p:stCondLst>
                                        </p:cTn>
                                        <p:tgtEl>
                                          <p:spTgt spid="7">
                                            <p:txEl>
                                              <p:pRg st="3" end="3"/>
                                            </p:txEl>
                                          </p:spTgt>
                                        </p:tgtEl>
                                        <p:attrNameLst>
                                          <p:attrName>style.visibility</p:attrName>
                                        </p:attrNameLst>
                                      </p:cBhvr>
                                      <p:to>
                                        <p:strVal val="visible"/>
                                      </p:to>
                                    </p:set>
                                    <p:animEffect transition="in" filter="fade">
                                      <p:cBhvr>
                                        <p:cTn id="51" dur="500"/>
                                        <p:tgtEl>
                                          <p:spTgt spid="7">
                                            <p:txEl>
                                              <p:pRg st="3" end="3"/>
                                            </p:txEl>
                                          </p:spTgt>
                                        </p:tgtEl>
                                      </p:cBhvr>
                                    </p:animEffect>
                                  </p:childTnLst>
                                </p:cTn>
                              </p:par>
                              <p:par>
                                <p:cTn id="52" presetID="10" presetClass="entr" presetSubtype="0" fill="hold" nodeType="withEffect">
                                  <p:stCondLst>
                                    <p:cond delay="0"/>
                                  </p:stCondLst>
                                  <p:childTnLst>
                                    <p:set>
                                      <p:cBhvr>
                                        <p:cTn id="53" dur="1" fill="hold">
                                          <p:stCondLst>
                                            <p:cond delay="0"/>
                                          </p:stCondLst>
                                        </p:cTn>
                                        <p:tgtEl>
                                          <p:spTgt spid="7">
                                            <p:txEl>
                                              <p:pRg st="5" end="5"/>
                                            </p:txEl>
                                          </p:spTgt>
                                        </p:tgtEl>
                                        <p:attrNameLst>
                                          <p:attrName>style.visibility</p:attrName>
                                        </p:attrNameLst>
                                      </p:cBhvr>
                                      <p:to>
                                        <p:strVal val="visible"/>
                                      </p:to>
                                    </p:set>
                                    <p:animEffect transition="in" filter="fade">
                                      <p:cBhvr>
                                        <p:cTn id="54" dur="500"/>
                                        <p:tgtEl>
                                          <p:spTgt spid="7">
                                            <p:txEl>
                                              <p:pRg st="5" end="5"/>
                                            </p:txEl>
                                          </p:spTgt>
                                        </p:tgtEl>
                                      </p:cBhvr>
                                    </p:animEffect>
                                  </p:childTnLst>
                                </p:cTn>
                              </p:par>
                              <p:par>
                                <p:cTn id="55" presetID="10" presetClass="entr" presetSubtype="0" fill="hold" nodeType="withEffect">
                                  <p:stCondLst>
                                    <p:cond delay="0"/>
                                  </p:stCondLst>
                                  <p:childTnLst>
                                    <p:set>
                                      <p:cBhvr>
                                        <p:cTn id="56" dur="1" fill="hold">
                                          <p:stCondLst>
                                            <p:cond delay="0"/>
                                          </p:stCondLst>
                                        </p:cTn>
                                        <p:tgtEl>
                                          <p:spTgt spid="7">
                                            <p:txEl>
                                              <p:pRg st="6" end="6"/>
                                            </p:txEl>
                                          </p:spTgt>
                                        </p:tgtEl>
                                        <p:attrNameLst>
                                          <p:attrName>style.visibility</p:attrName>
                                        </p:attrNameLst>
                                      </p:cBhvr>
                                      <p:to>
                                        <p:strVal val="visible"/>
                                      </p:to>
                                    </p:set>
                                    <p:animEffect transition="in" filter="fade">
                                      <p:cBhvr>
                                        <p:cTn id="57" dur="500"/>
                                        <p:tgtEl>
                                          <p:spTgt spid="7">
                                            <p:txEl>
                                              <p:pRg st="6" end="6"/>
                                            </p:txEl>
                                          </p:spTgt>
                                        </p:tgtEl>
                                      </p:cBhvr>
                                    </p:animEffect>
                                  </p:childTnLst>
                                </p:cTn>
                              </p:par>
                              <p:par>
                                <p:cTn id="58" presetID="10" presetClass="entr" presetSubtype="0" fill="hold" nodeType="withEffect">
                                  <p:stCondLst>
                                    <p:cond delay="0"/>
                                  </p:stCondLst>
                                  <p:childTnLst>
                                    <p:set>
                                      <p:cBhvr>
                                        <p:cTn id="59" dur="1" fill="hold">
                                          <p:stCondLst>
                                            <p:cond delay="0"/>
                                          </p:stCondLst>
                                        </p:cTn>
                                        <p:tgtEl>
                                          <p:spTgt spid="7">
                                            <p:txEl>
                                              <p:pRg st="7" end="7"/>
                                            </p:txEl>
                                          </p:spTgt>
                                        </p:tgtEl>
                                        <p:attrNameLst>
                                          <p:attrName>style.visibility</p:attrName>
                                        </p:attrNameLst>
                                      </p:cBhvr>
                                      <p:to>
                                        <p:strVal val="visible"/>
                                      </p:to>
                                    </p:set>
                                    <p:animEffect transition="in" filter="fade">
                                      <p:cBhvr>
                                        <p:cTn id="60" dur="500"/>
                                        <p:tgtEl>
                                          <p:spTgt spid="7">
                                            <p:txEl>
                                              <p:pRg st="7" end="7"/>
                                            </p:txEl>
                                          </p:spTgt>
                                        </p:tgtEl>
                                      </p:cBhvr>
                                    </p:animEffect>
                                  </p:childTnLst>
                                </p:cTn>
                              </p:par>
                              <p:par>
                                <p:cTn id="61" presetID="10" presetClass="entr" presetSubtype="0" fill="hold" nodeType="withEffect">
                                  <p:stCondLst>
                                    <p:cond delay="0"/>
                                  </p:stCondLst>
                                  <p:childTnLst>
                                    <p:set>
                                      <p:cBhvr>
                                        <p:cTn id="62" dur="1" fill="hold">
                                          <p:stCondLst>
                                            <p:cond delay="0"/>
                                          </p:stCondLst>
                                        </p:cTn>
                                        <p:tgtEl>
                                          <p:spTgt spid="7">
                                            <p:txEl>
                                              <p:pRg st="8" end="8"/>
                                            </p:txEl>
                                          </p:spTgt>
                                        </p:tgtEl>
                                        <p:attrNameLst>
                                          <p:attrName>style.visibility</p:attrName>
                                        </p:attrNameLst>
                                      </p:cBhvr>
                                      <p:to>
                                        <p:strVal val="visible"/>
                                      </p:to>
                                    </p:set>
                                    <p:animEffect transition="in" filter="fade">
                                      <p:cBhvr>
                                        <p:cTn id="63" dur="500"/>
                                        <p:tgtEl>
                                          <p:spTgt spid="7">
                                            <p:txEl>
                                              <p:pRg st="8" end="8"/>
                                            </p:txEl>
                                          </p:spTgt>
                                        </p:tgtEl>
                                      </p:cBhvr>
                                    </p:animEffect>
                                  </p:childTnLst>
                                </p:cTn>
                              </p:par>
                              <p:par>
                                <p:cTn id="64" presetID="10" presetClass="entr" presetSubtype="0" fill="hold" nodeType="withEffect">
                                  <p:stCondLst>
                                    <p:cond delay="0"/>
                                  </p:stCondLst>
                                  <p:childTnLst>
                                    <p:set>
                                      <p:cBhvr>
                                        <p:cTn id="65" dur="1" fill="hold">
                                          <p:stCondLst>
                                            <p:cond delay="0"/>
                                          </p:stCondLst>
                                        </p:cTn>
                                        <p:tgtEl>
                                          <p:spTgt spid="7">
                                            <p:txEl>
                                              <p:pRg st="9" end="9"/>
                                            </p:txEl>
                                          </p:spTgt>
                                        </p:tgtEl>
                                        <p:attrNameLst>
                                          <p:attrName>style.visibility</p:attrName>
                                        </p:attrNameLst>
                                      </p:cBhvr>
                                      <p:to>
                                        <p:strVal val="visible"/>
                                      </p:to>
                                    </p:set>
                                    <p:animEffect transition="in" filter="fade">
                                      <p:cBhvr>
                                        <p:cTn id="66" dur="500"/>
                                        <p:tgtEl>
                                          <p:spTgt spid="7">
                                            <p:txEl>
                                              <p:pRg st="9" end="9"/>
                                            </p:txEl>
                                          </p:spTgt>
                                        </p:tgtEl>
                                      </p:cBhvr>
                                    </p:animEffect>
                                  </p:childTnLst>
                                </p:cTn>
                              </p:par>
                              <p:par>
                                <p:cTn id="67" presetID="10" presetClass="entr" presetSubtype="0" fill="hold" nodeType="withEffect">
                                  <p:stCondLst>
                                    <p:cond delay="0"/>
                                  </p:stCondLst>
                                  <p:childTnLst>
                                    <p:set>
                                      <p:cBhvr>
                                        <p:cTn id="68" dur="1" fill="hold">
                                          <p:stCondLst>
                                            <p:cond delay="0"/>
                                          </p:stCondLst>
                                        </p:cTn>
                                        <p:tgtEl>
                                          <p:spTgt spid="7">
                                            <p:txEl>
                                              <p:pRg st="10" end="10"/>
                                            </p:txEl>
                                          </p:spTgt>
                                        </p:tgtEl>
                                        <p:attrNameLst>
                                          <p:attrName>style.visibility</p:attrName>
                                        </p:attrNameLst>
                                      </p:cBhvr>
                                      <p:to>
                                        <p:strVal val="visible"/>
                                      </p:to>
                                    </p:set>
                                    <p:animEffect transition="in" filter="fade">
                                      <p:cBhvr>
                                        <p:cTn id="69" dur="500"/>
                                        <p:tgtEl>
                                          <p:spTgt spid="7">
                                            <p:txEl>
                                              <p:pRg st="10" end="10"/>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7">
                                            <p:txEl>
                                              <p:pRg st="12" end="12"/>
                                            </p:txEl>
                                          </p:spTgt>
                                        </p:tgtEl>
                                        <p:attrNameLst>
                                          <p:attrName>style.visibility</p:attrName>
                                        </p:attrNameLst>
                                      </p:cBhvr>
                                      <p:to>
                                        <p:strVal val="visible"/>
                                      </p:to>
                                    </p:set>
                                    <p:animEffect transition="in" filter="fade">
                                      <p:cBhvr>
                                        <p:cTn id="74" dur="500"/>
                                        <p:tgtEl>
                                          <p:spTgt spid="7">
                                            <p:txEl>
                                              <p:pRg st="12" end="12"/>
                                            </p:txEl>
                                          </p:spTgt>
                                        </p:tgtEl>
                                      </p:cBhvr>
                                    </p:animEffect>
                                  </p:childTnLst>
                                </p:cTn>
                              </p:par>
                              <p:par>
                                <p:cTn id="75" presetID="10" presetClass="entr" presetSubtype="0" fill="hold" nodeType="withEffect">
                                  <p:stCondLst>
                                    <p:cond delay="0"/>
                                  </p:stCondLst>
                                  <p:childTnLst>
                                    <p:set>
                                      <p:cBhvr>
                                        <p:cTn id="76" dur="1" fill="hold">
                                          <p:stCondLst>
                                            <p:cond delay="0"/>
                                          </p:stCondLst>
                                        </p:cTn>
                                        <p:tgtEl>
                                          <p:spTgt spid="7">
                                            <p:txEl>
                                              <p:pRg st="13" end="13"/>
                                            </p:txEl>
                                          </p:spTgt>
                                        </p:tgtEl>
                                        <p:attrNameLst>
                                          <p:attrName>style.visibility</p:attrName>
                                        </p:attrNameLst>
                                      </p:cBhvr>
                                      <p:to>
                                        <p:strVal val="visible"/>
                                      </p:to>
                                    </p:set>
                                    <p:animEffect transition="in" filter="fade">
                                      <p:cBhvr>
                                        <p:cTn id="77" dur="500"/>
                                        <p:tgtEl>
                                          <p:spTgt spid="7">
                                            <p:txEl>
                                              <p:pRg st="13" end="13"/>
                                            </p:txEl>
                                          </p:spTgt>
                                        </p:tgtEl>
                                      </p:cBhvr>
                                    </p:animEffect>
                                  </p:childTnLst>
                                </p:cTn>
                              </p:par>
                              <p:par>
                                <p:cTn id="78" presetID="10" presetClass="entr" presetSubtype="0" fill="hold" nodeType="withEffect">
                                  <p:stCondLst>
                                    <p:cond delay="0"/>
                                  </p:stCondLst>
                                  <p:childTnLst>
                                    <p:set>
                                      <p:cBhvr>
                                        <p:cTn id="79" dur="1" fill="hold">
                                          <p:stCondLst>
                                            <p:cond delay="0"/>
                                          </p:stCondLst>
                                        </p:cTn>
                                        <p:tgtEl>
                                          <p:spTgt spid="7">
                                            <p:txEl>
                                              <p:pRg st="14" end="14"/>
                                            </p:txEl>
                                          </p:spTgt>
                                        </p:tgtEl>
                                        <p:attrNameLst>
                                          <p:attrName>style.visibility</p:attrName>
                                        </p:attrNameLst>
                                      </p:cBhvr>
                                      <p:to>
                                        <p:strVal val="visible"/>
                                      </p:to>
                                    </p:set>
                                    <p:animEffect transition="in" filter="fade">
                                      <p:cBhvr>
                                        <p:cTn id="80" dur="500"/>
                                        <p:tgtEl>
                                          <p:spTgt spid="7">
                                            <p:txEl>
                                              <p:pRg st="14" end="14"/>
                                            </p:txEl>
                                          </p:spTgt>
                                        </p:tgtEl>
                                      </p:cBhvr>
                                    </p:animEffect>
                                  </p:childTnLst>
                                </p:cTn>
                              </p:par>
                              <p:par>
                                <p:cTn id="81" presetID="10" presetClass="entr" presetSubtype="0" fill="hold" nodeType="withEffect">
                                  <p:stCondLst>
                                    <p:cond delay="0"/>
                                  </p:stCondLst>
                                  <p:childTnLst>
                                    <p:set>
                                      <p:cBhvr>
                                        <p:cTn id="82" dur="1" fill="hold">
                                          <p:stCondLst>
                                            <p:cond delay="0"/>
                                          </p:stCondLst>
                                        </p:cTn>
                                        <p:tgtEl>
                                          <p:spTgt spid="7">
                                            <p:txEl>
                                              <p:pRg st="15" end="15"/>
                                            </p:txEl>
                                          </p:spTgt>
                                        </p:tgtEl>
                                        <p:attrNameLst>
                                          <p:attrName>style.visibility</p:attrName>
                                        </p:attrNameLst>
                                      </p:cBhvr>
                                      <p:to>
                                        <p:strVal val="visible"/>
                                      </p:to>
                                    </p:set>
                                    <p:animEffect transition="in" filter="fade">
                                      <p:cBhvr>
                                        <p:cTn id="83" dur="500"/>
                                        <p:tgtEl>
                                          <p:spTgt spid="7">
                                            <p:txEl>
                                              <p:pRg st="15" end="15"/>
                                            </p:txEl>
                                          </p:spTgt>
                                        </p:tgtEl>
                                      </p:cBhvr>
                                    </p:animEffect>
                                  </p:childTnLst>
                                </p:cTn>
                              </p:par>
                              <p:par>
                                <p:cTn id="84" presetID="10" presetClass="entr" presetSubtype="0" fill="hold" nodeType="withEffect">
                                  <p:stCondLst>
                                    <p:cond delay="0"/>
                                  </p:stCondLst>
                                  <p:childTnLst>
                                    <p:set>
                                      <p:cBhvr>
                                        <p:cTn id="85" dur="1" fill="hold">
                                          <p:stCondLst>
                                            <p:cond delay="0"/>
                                          </p:stCondLst>
                                        </p:cTn>
                                        <p:tgtEl>
                                          <p:spTgt spid="7">
                                            <p:txEl>
                                              <p:pRg st="16" end="16"/>
                                            </p:txEl>
                                          </p:spTgt>
                                        </p:tgtEl>
                                        <p:attrNameLst>
                                          <p:attrName>style.visibility</p:attrName>
                                        </p:attrNameLst>
                                      </p:cBhvr>
                                      <p:to>
                                        <p:strVal val="visible"/>
                                      </p:to>
                                    </p:set>
                                    <p:animEffect transition="in" filter="fade">
                                      <p:cBhvr>
                                        <p:cTn id="86" dur="500"/>
                                        <p:tgtEl>
                                          <p:spTgt spid="7">
                                            <p:txEl>
                                              <p:pRg st="16" end="16"/>
                                            </p:txEl>
                                          </p:spTgt>
                                        </p:tgtEl>
                                      </p:cBhvr>
                                    </p:animEffect>
                                  </p:childTnLst>
                                </p:cTn>
                              </p:par>
                              <p:par>
                                <p:cTn id="87" presetID="10" presetClass="entr" presetSubtype="0" fill="hold" nodeType="withEffect">
                                  <p:stCondLst>
                                    <p:cond delay="0"/>
                                  </p:stCondLst>
                                  <p:childTnLst>
                                    <p:set>
                                      <p:cBhvr>
                                        <p:cTn id="88" dur="1" fill="hold">
                                          <p:stCondLst>
                                            <p:cond delay="0"/>
                                          </p:stCondLst>
                                        </p:cTn>
                                        <p:tgtEl>
                                          <p:spTgt spid="7">
                                            <p:txEl>
                                              <p:pRg st="17" end="17"/>
                                            </p:txEl>
                                          </p:spTgt>
                                        </p:tgtEl>
                                        <p:attrNameLst>
                                          <p:attrName>style.visibility</p:attrName>
                                        </p:attrNameLst>
                                      </p:cBhvr>
                                      <p:to>
                                        <p:strVal val="visible"/>
                                      </p:to>
                                    </p:set>
                                    <p:animEffect transition="in" filter="fade">
                                      <p:cBhvr>
                                        <p:cTn id="89" dur="500"/>
                                        <p:tgtEl>
                                          <p:spTgt spid="7">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36C2FD9-E0AE-67A9-4C3D-C522031F016E}"/>
              </a:ext>
            </a:extLst>
          </p:cNvPr>
          <p:cNvSpPr>
            <a:spLocks noGrp="1"/>
          </p:cNvSpPr>
          <p:nvPr>
            <p:ph type="title"/>
          </p:nvPr>
        </p:nvSpPr>
        <p:spPr/>
        <p:txBody>
          <a:bodyPr/>
          <a:lstStyle/>
          <a:p>
            <a:r>
              <a:rPr lang="ru-RU" dirty="0"/>
              <a:t>Достоинства</a:t>
            </a:r>
            <a:r>
              <a:rPr lang="en-US" dirty="0"/>
              <a:t> DIP</a:t>
            </a:r>
          </a:p>
        </p:txBody>
      </p:sp>
      <p:sp>
        <p:nvSpPr>
          <p:cNvPr id="5" name="Content Placeholder 4">
            <a:extLst>
              <a:ext uri="{FF2B5EF4-FFF2-40B4-BE49-F238E27FC236}">
                <a16:creationId xmlns:a16="http://schemas.microsoft.com/office/drawing/2014/main" id="{2ED46EA9-2C26-D0D8-0651-640046EA6ED4}"/>
              </a:ext>
            </a:extLst>
          </p:cNvPr>
          <p:cNvSpPr>
            <a:spLocks noGrp="1"/>
          </p:cNvSpPr>
          <p:nvPr>
            <p:ph idx="1"/>
          </p:nvPr>
        </p:nvSpPr>
        <p:spPr/>
        <p:txBody>
          <a:bodyPr>
            <a:normAutofit/>
          </a:bodyPr>
          <a:lstStyle/>
          <a:p>
            <a:r>
              <a:rPr lang="ru-RU" b="1" dirty="0"/>
              <a:t>Уменьшается хрупкость системы</a:t>
            </a:r>
            <a:br>
              <a:rPr lang="ru-RU" dirty="0"/>
            </a:br>
            <a:r>
              <a:rPr lang="ru-RU" dirty="0"/>
              <a:t>Бизнес-логика изолируется от инфраструктурных изменений.</a:t>
            </a:r>
          </a:p>
          <a:p>
            <a:r>
              <a:rPr lang="ru-RU" b="1" dirty="0"/>
              <a:t>Повышается тестируемость</a:t>
            </a:r>
            <a:br>
              <a:rPr lang="ru-RU" dirty="0"/>
            </a:br>
            <a:r>
              <a:rPr lang="ru-RU" dirty="0"/>
              <a:t>Реализации легко подменять </a:t>
            </a:r>
            <a:r>
              <a:rPr lang="ru-RU" dirty="0" err="1"/>
              <a:t>mock</a:t>
            </a:r>
            <a:r>
              <a:rPr lang="ru-RU" dirty="0"/>
              <a:t>-объектами.</a:t>
            </a:r>
          </a:p>
          <a:p>
            <a:r>
              <a:rPr lang="ru-RU" b="1" dirty="0"/>
              <a:t>Упрощается замена технологий</a:t>
            </a:r>
            <a:br>
              <a:rPr lang="ru-RU" dirty="0"/>
            </a:br>
            <a:r>
              <a:rPr lang="ru-RU" dirty="0"/>
              <a:t>БД, UI, сетевые протоколы, файловые форматы можно менять без переписывания верхнего уровня.</a:t>
            </a:r>
          </a:p>
          <a:p>
            <a:r>
              <a:rPr lang="ru-RU" b="1" dirty="0"/>
              <a:t>Усиливается модульность и повторное использование</a:t>
            </a:r>
            <a:br>
              <a:rPr lang="ru-RU" dirty="0"/>
            </a:br>
            <a:r>
              <a:rPr lang="ru-RU" dirty="0" err="1"/>
              <a:t>Верхнеуровневые</a:t>
            </a:r>
            <a:r>
              <a:rPr lang="ru-RU" dirty="0"/>
              <a:t> компоненты перестают зависеть от конкретных библиотек и деталей.</a:t>
            </a:r>
          </a:p>
          <a:p>
            <a:endParaRPr lang="en-US" dirty="0"/>
          </a:p>
        </p:txBody>
      </p:sp>
      <p:sp>
        <p:nvSpPr>
          <p:cNvPr id="3" name="Slide Number Placeholder 2">
            <a:extLst>
              <a:ext uri="{FF2B5EF4-FFF2-40B4-BE49-F238E27FC236}">
                <a16:creationId xmlns:a16="http://schemas.microsoft.com/office/drawing/2014/main" id="{5E41E079-C5A9-F81D-31B7-7A7D82A344E5}"/>
              </a:ext>
            </a:extLst>
          </p:cNvPr>
          <p:cNvSpPr>
            <a:spLocks noGrp="1"/>
          </p:cNvSpPr>
          <p:nvPr>
            <p:ph type="sldNum" sz="quarter" idx="12"/>
          </p:nvPr>
        </p:nvSpPr>
        <p:spPr/>
        <p:txBody>
          <a:bodyPr/>
          <a:lstStyle/>
          <a:p>
            <a:fld id="{CF8E6F4D-2E97-47CB-8591-066566E4FE4D}" type="slidenum">
              <a:rPr lang="ru-RU" smtClean="0"/>
              <a:t>41</a:t>
            </a:fld>
            <a:endParaRPr lang="ru-RU"/>
          </a:p>
        </p:txBody>
      </p:sp>
    </p:spTree>
    <p:extLst>
      <p:ext uri="{BB962C8B-B14F-4D97-AF65-F5344CB8AC3E}">
        <p14:creationId xmlns:p14="http://schemas.microsoft.com/office/powerpoint/2010/main" val="31265263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DED15-594C-FB16-7590-B58097B20B91}"/>
              </a:ext>
            </a:extLst>
          </p:cNvPr>
          <p:cNvSpPr>
            <a:spLocks noGrp="1"/>
          </p:cNvSpPr>
          <p:nvPr>
            <p:ph type="title"/>
          </p:nvPr>
        </p:nvSpPr>
        <p:spPr/>
        <p:txBody>
          <a:bodyPr/>
          <a:lstStyle/>
          <a:p>
            <a:r>
              <a:rPr lang="ru-RU" dirty="0"/>
              <a:t>Недостатки / трудности</a:t>
            </a:r>
            <a:endParaRPr lang="en-US" dirty="0"/>
          </a:p>
        </p:txBody>
      </p:sp>
      <p:sp>
        <p:nvSpPr>
          <p:cNvPr id="3" name="Content Placeholder 2">
            <a:extLst>
              <a:ext uri="{FF2B5EF4-FFF2-40B4-BE49-F238E27FC236}">
                <a16:creationId xmlns:a16="http://schemas.microsoft.com/office/drawing/2014/main" id="{D93048C6-56EC-6188-7467-49705DF62EB2}"/>
              </a:ext>
            </a:extLst>
          </p:cNvPr>
          <p:cNvSpPr>
            <a:spLocks noGrp="1"/>
          </p:cNvSpPr>
          <p:nvPr>
            <p:ph idx="1"/>
          </p:nvPr>
        </p:nvSpPr>
        <p:spPr/>
        <p:txBody>
          <a:bodyPr>
            <a:normAutofit/>
          </a:bodyPr>
          <a:lstStyle/>
          <a:p>
            <a:r>
              <a:rPr lang="ru-RU" b="1" dirty="0"/>
              <a:t>Появляется больше абстракций и интерфейсов</a:t>
            </a:r>
            <a:br>
              <a:rPr lang="ru-RU" dirty="0"/>
            </a:br>
            <a:r>
              <a:rPr lang="ru-RU" dirty="0"/>
              <a:t>Архитектура усложняется и требует продуманного дизайна.</a:t>
            </a:r>
          </a:p>
          <a:p>
            <a:r>
              <a:rPr lang="ru-RU" b="1" dirty="0"/>
              <a:t>Нужно управлять созданием объектов</a:t>
            </a:r>
            <a:br>
              <a:rPr lang="ru-RU" dirty="0"/>
            </a:br>
            <a:r>
              <a:rPr lang="ru-RU" dirty="0"/>
              <a:t>Требуются фабрики, DI-контейнеры или композиционный корень.</a:t>
            </a:r>
          </a:p>
          <a:p>
            <a:r>
              <a:rPr lang="ru-RU" b="1" dirty="0"/>
              <a:t>Избыточность при простых задачах</a:t>
            </a:r>
            <a:br>
              <a:rPr lang="ru-RU" dirty="0"/>
            </a:br>
            <a:r>
              <a:rPr lang="ru-RU" dirty="0"/>
              <a:t>Для маленьких программ DIP может добавить больше сложности, чем пользы.</a:t>
            </a:r>
          </a:p>
          <a:p>
            <a:r>
              <a:rPr lang="ru-RU" b="1" dirty="0"/>
              <a:t>Требуется архитектурная дисциплина</a:t>
            </a:r>
            <a:br>
              <a:rPr lang="ru-RU" dirty="0"/>
            </a:br>
            <a:r>
              <a:rPr lang="ru-RU" dirty="0"/>
              <a:t>Неправильное выделение абстракций приводит к путанице и дублированию.</a:t>
            </a:r>
          </a:p>
          <a:p>
            <a:endParaRPr lang="en-US" dirty="0"/>
          </a:p>
        </p:txBody>
      </p:sp>
      <p:sp>
        <p:nvSpPr>
          <p:cNvPr id="4" name="Slide Number Placeholder 3">
            <a:extLst>
              <a:ext uri="{FF2B5EF4-FFF2-40B4-BE49-F238E27FC236}">
                <a16:creationId xmlns:a16="http://schemas.microsoft.com/office/drawing/2014/main" id="{3BC758F1-4F71-6AFD-6C3B-14928D3CF583}"/>
              </a:ext>
            </a:extLst>
          </p:cNvPr>
          <p:cNvSpPr>
            <a:spLocks noGrp="1"/>
          </p:cNvSpPr>
          <p:nvPr>
            <p:ph type="sldNum" sz="quarter" idx="12"/>
          </p:nvPr>
        </p:nvSpPr>
        <p:spPr/>
        <p:txBody>
          <a:bodyPr/>
          <a:lstStyle/>
          <a:p>
            <a:fld id="{CF8E6F4D-2E97-47CB-8591-066566E4FE4D}" type="slidenum">
              <a:rPr lang="ru-RU" smtClean="0"/>
              <a:t>42</a:t>
            </a:fld>
            <a:endParaRPr lang="ru-RU"/>
          </a:p>
        </p:txBody>
      </p:sp>
    </p:spTree>
    <p:extLst>
      <p:ext uri="{BB962C8B-B14F-4D97-AF65-F5344CB8AC3E}">
        <p14:creationId xmlns:p14="http://schemas.microsoft.com/office/powerpoint/2010/main" val="31104845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3772891-9010-1D39-9B50-D46F711353C2}"/>
              </a:ext>
            </a:extLst>
          </p:cNvPr>
          <p:cNvSpPr>
            <a:spLocks noGrp="1"/>
          </p:cNvSpPr>
          <p:nvPr>
            <p:ph type="title"/>
          </p:nvPr>
        </p:nvSpPr>
        <p:spPr/>
        <p:txBody>
          <a:bodyPr/>
          <a:lstStyle/>
          <a:p>
            <a:r>
              <a:rPr lang="ru-RU" dirty="0"/>
              <a:t>Зачем знать и применять SOLID</a:t>
            </a:r>
            <a:endParaRPr lang="en-US" dirty="0"/>
          </a:p>
        </p:txBody>
      </p:sp>
      <p:sp>
        <p:nvSpPr>
          <p:cNvPr id="6" name="Content Placeholder 5">
            <a:extLst>
              <a:ext uri="{FF2B5EF4-FFF2-40B4-BE49-F238E27FC236}">
                <a16:creationId xmlns:a16="http://schemas.microsoft.com/office/drawing/2014/main" id="{5122671D-3E65-7DD3-F49B-A53E75D274E3}"/>
              </a:ext>
            </a:extLst>
          </p:cNvPr>
          <p:cNvSpPr>
            <a:spLocks noGrp="1"/>
          </p:cNvSpPr>
          <p:nvPr>
            <p:ph idx="1"/>
          </p:nvPr>
        </p:nvSpPr>
        <p:spPr/>
        <p:txBody>
          <a:bodyPr/>
          <a:lstStyle/>
          <a:p>
            <a:r>
              <a:rPr lang="ru-RU" b="1" dirty="0"/>
              <a:t>Уменьшение связности и хрупкости системы</a:t>
            </a:r>
            <a:br>
              <a:rPr lang="ru-RU" dirty="0"/>
            </a:br>
            <a:r>
              <a:rPr lang="ru-RU" dirty="0"/>
              <a:t>Код легче менять и сопровождать.</a:t>
            </a:r>
          </a:p>
          <a:p>
            <a:r>
              <a:rPr lang="ru-RU" b="1" dirty="0"/>
              <a:t>Повышение тестируемости</a:t>
            </a:r>
            <a:br>
              <a:rPr lang="ru-RU" dirty="0"/>
            </a:br>
            <a:r>
              <a:rPr lang="ru-RU" dirty="0"/>
              <a:t>Компоненты проектируются независимыми и заменяемыми.</a:t>
            </a:r>
          </a:p>
          <a:p>
            <a:r>
              <a:rPr lang="ru-RU" b="1" dirty="0"/>
              <a:t>Упрощение расширения и развития проекта</a:t>
            </a:r>
            <a:br>
              <a:rPr lang="ru-RU" dirty="0"/>
            </a:br>
            <a:r>
              <a:rPr lang="ru-RU" dirty="0"/>
              <a:t>Новое поведение добавляется без переписывания старого кода.</a:t>
            </a:r>
          </a:p>
          <a:p>
            <a:r>
              <a:rPr lang="ru-RU" b="1" dirty="0"/>
              <a:t>Повышение качества архитектуры</a:t>
            </a:r>
            <a:br>
              <a:rPr lang="ru-RU" dirty="0"/>
            </a:br>
            <a:r>
              <a:rPr lang="ru-RU" dirty="0"/>
              <a:t>Код становится чище, понятнее и устойчивее к изменениям.</a:t>
            </a:r>
          </a:p>
        </p:txBody>
      </p:sp>
      <p:sp>
        <p:nvSpPr>
          <p:cNvPr id="4" name="Slide Number Placeholder 3">
            <a:extLst>
              <a:ext uri="{FF2B5EF4-FFF2-40B4-BE49-F238E27FC236}">
                <a16:creationId xmlns:a16="http://schemas.microsoft.com/office/drawing/2014/main" id="{4610EA6C-09D6-7549-8910-94533437E39C}"/>
              </a:ext>
            </a:extLst>
          </p:cNvPr>
          <p:cNvSpPr>
            <a:spLocks noGrp="1"/>
          </p:cNvSpPr>
          <p:nvPr>
            <p:ph type="sldNum" sz="quarter" idx="12"/>
          </p:nvPr>
        </p:nvSpPr>
        <p:spPr/>
        <p:txBody>
          <a:bodyPr/>
          <a:lstStyle/>
          <a:p>
            <a:fld id="{CF8E6F4D-2E97-47CB-8591-066566E4FE4D}" type="slidenum">
              <a:rPr lang="ru-RU" smtClean="0"/>
              <a:t>43</a:t>
            </a:fld>
            <a:endParaRPr lang="ru-RU"/>
          </a:p>
        </p:txBody>
      </p:sp>
    </p:spTree>
    <p:extLst>
      <p:ext uri="{BB962C8B-B14F-4D97-AF65-F5344CB8AC3E}">
        <p14:creationId xmlns:p14="http://schemas.microsoft.com/office/powerpoint/2010/main" val="18518100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97A96-6180-93D6-44F6-5881C2F14D9C}"/>
              </a:ext>
            </a:extLst>
          </p:cNvPr>
          <p:cNvSpPr>
            <a:spLocks noGrp="1"/>
          </p:cNvSpPr>
          <p:nvPr>
            <p:ph type="title"/>
          </p:nvPr>
        </p:nvSpPr>
        <p:spPr/>
        <p:txBody>
          <a:bodyPr/>
          <a:lstStyle/>
          <a:p>
            <a:r>
              <a:rPr lang="ru-RU" dirty="0"/>
              <a:t>Не будьте фанатичны</a:t>
            </a:r>
            <a:endParaRPr lang="en-US" dirty="0"/>
          </a:p>
        </p:txBody>
      </p:sp>
      <p:sp>
        <p:nvSpPr>
          <p:cNvPr id="3" name="Content Placeholder 2">
            <a:extLst>
              <a:ext uri="{FF2B5EF4-FFF2-40B4-BE49-F238E27FC236}">
                <a16:creationId xmlns:a16="http://schemas.microsoft.com/office/drawing/2014/main" id="{5E5ADCF0-BAE2-8BF6-C006-A817C0A5FC5D}"/>
              </a:ext>
            </a:extLst>
          </p:cNvPr>
          <p:cNvSpPr>
            <a:spLocks noGrp="1"/>
          </p:cNvSpPr>
          <p:nvPr>
            <p:ph sz="half" idx="1"/>
          </p:nvPr>
        </p:nvSpPr>
        <p:spPr>
          <a:xfrm>
            <a:off x="838200" y="1825625"/>
            <a:ext cx="6752772" cy="4351338"/>
          </a:xfrm>
        </p:spPr>
        <p:txBody>
          <a:bodyPr>
            <a:normAutofit/>
          </a:bodyPr>
          <a:lstStyle/>
          <a:p>
            <a:r>
              <a:rPr lang="ru-RU" b="1" dirty="0"/>
              <a:t>SOLID — не догма, а инструмент.</a:t>
            </a:r>
            <a:br>
              <a:rPr lang="ru-RU" dirty="0"/>
            </a:br>
            <a:r>
              <a:rPr lang="ru-RU" dirty="0"/>
              <a:t>Не стоит применять принципы слепо или чрезмерно.</a:t>
            </a:r>
          </a:p>
          <a:p>
            <a:r>
              <a:rPr lang="ru-RU" b="1" dirty="0"/>
              <a:t>Иногда простое решение — лучшее решение.</a:t>
            </a:r>
            <a:br>
              <a:rPr lang="ru-RU" dirty="0"/>
            </a:br>
            <a:r>
              <a:rPr lang="ru-RU" dirty="0"/>
              <a:t>Принципы нужны там, где усложнение структуры окупается гибкостью.</a:t>
            </a:r>
          </a:p>
          <a:p>
            <a:r>
              <a:rPr lang="ru-RU" b="1" dirty="0"/>
              <a:t>Главная цель — сделать систему понятной, надёжной и развиваемой</a:t>
            </a:r>
            <a:r>
              <a:rPr lang="ru-RU" dirty="0"/>
              <a:t>, а не соблюсти все правила любой ценой.</a:t>
            </a:r>
          </a:p>
        </p:txBody>
      </p:sp>
      <p:pic>
        <p:nvPicPr>
          <p:cNvPr id="7" name="Content Placeholder 6" descr="A cartoon of a person with a bird and ribbon&#10;&#10;AI-generated content may be incorrect.">
            <a:extLst>
              <a:ext uri="{FF2B5EF4-FFF2-40B4-BE49-F238E27FC236}">
                <a16:creationId xmlns:a16="http://schemas.microsoft.com/office/drawing/2014/main" id="{65085ED8-5FA8-20F0-47D5-787B1EAD564F}"/>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l="3385" t="13749" b="11534"/>
          <a:stretch>
            <a:fillRect/>
          </a:stretch>
        </p:blipFill>
        <p:spPr>
          <a:xfrm>
            <a:off x="7590972" y="1690688"/>
            <a:ext cx="4420164" cy="3418341"/>
          </a:xfrm>
        </p:spPr>
      </p:pic>
      <p:sp>
        <p:nvSpPr>
          <p:cNvPr id="4" name="Slide Number Placeholder 3">
            <a:extLst>
              <a:ext uri="{FF2B5EF4-FFF2-40B4-BE49-F238E27FC236}">
                <a16:creationId xmlns:a16="http://schemas.microsoft.com/office/drawing/2014/main" id="{7007D1DB-EB31-34EB-C236-268C49C3683E}"/>
              </a:ext>
            </a:extLst>
          </p:cNvPr>
          <p:cNvSpPr>
            <a:spLocks noGrp="1"/>
          </p:cNvSpPr>
          <p:nvPr>
            <p:ph type="sldNum" sz="quarter" idx="12"/>
          </p:nvPr>
        </p:nvSpPr>
        <p:spPr/>
        <p:txBody>
          <a:bodyPr/>
          <a:lstStyle/>
          <a:p>
            <a:fld id="{CF8E6F4D-2E97-47CB-8591-066566E4FE4D}" type="slidenum">
              <a:rPr lang="ru-RU" smtClean="0"/>
              <a:t>44</a:t>
            </a:fld>
            <a:endParaRPr lang="ru-RU"/>
          </a:p>
        </p:txBody>
      </p:sp>
    </p:spTree>
    <p:extLst>
      <p:ext uri="{BB962C8B-B14F-4D97-AF65-F5344CB8AC3E}">
        <p14:creationId xmlns:p14="http://schemas.microsoft.com/office/powerpoint/2010/main" val="21045977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p:cNvSpPr>
            <a:spLocks noGrp="1"/>
          </p:cNvSpPr>
          <p:nvPr>
            <p:ph type="title"/>
          </p:nvPr>
        </p:nvSpPr>
        <p:spPr/>
        <p:txBody>
          <a:bodyPr/>
          <a:lstStyle/>
          <a:p>
            <a:r>
              <a:rPr lang="ru-RU" dirty="0"/>
              <a:t>Спасибо за внимание</a:t>
            </a:r>
            <a:r>
              <a:rPr lang="en-US" dirty="0"/>
              <a:t>!</a:t>
            </a:r>
            <a:endParaRPr lang="ru-RU" dirty="0"/>
          </a:p>
        </p:txBody>
      </p:sp>
      <p:sp>
        <p:nvSpPr>
          <p:cNvPr id="6" name="Текст 5"/>
          <p:cNvSpPr>
            <a:spLocks noGrp="1"/>
          </p:cNvSpPr>
          <p:nvPr>
            <p:ph type="body" idx="1"/>
          </p:nvPr>
        </p:nvSpPr>
        <p:spPr/>
        <p:txBody>
          <a:bodyPr/>
          <a:lstStyle/>
          <a:p>
            <a:endParaRPr lang="ru-RU" dirty="0"/>
          </a:p>
        </p:txBody>
      </p:sp>
      <p:sp>
        <p:nvSpPr>
          <p:cNvPr id="4" name="Номер слайда 3"/>
          <p:cNvSpPr>
            <a:spLocks noGrp="1"/>
          </p:cNvSpPr>
          <p:nvPr>
            <p:ph type="sldNum" sz="quarter" idx="12"/>
          </p:nvPr>
        </p:nvSpPr>
        <p:spPr/>
        <p:txBody>
          <a:bodyPr/>
          <a:lstStyle/>
          <a:p>
            <a:fld id="{101F0F8D-F427-43AD-B726-FB6E0A046F58}" type="slidenum">
              <a:rPr lang="ru-RU" smtClean="0"/>
              <a:t>45</a:t>
            </a:fld>
            <a:endParaRPr lang="ru-RU" dirty="0"/>
          </a:p>
        </p:txBody>
      </p:sp>
    </p:spTree>
    <p:extLst>
      <p:ext uri="{BB962C8B-B14F-4D97-AF65-F5344CB8AC3E}">
        <p14:creationId xmlns:p14="http://schemas.microsoft.com/office/powerpoint/2010/main" val="448580659"/>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2723</TotalTime>
  <Words>7970</Words>
  <Application>Microsoft Office PowerPoint</Application>
  <PresentationFormat>Widescreen</PresentationFormat>
  <Paragraphs>744</Paragraphs>
  <Slides>45</Slides>
  <Notes>45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45</vt:i4>
      </vt:variant>
    </vt:vector>
  </HeadingPairs>
  <TitlesOfParts>
    <vt:vector size="50" baseType="lpstr">
      <vt:lpstr>Arial</vt:lpstr>
      <vt:lpstr>Calibri</vt:lpstr>
      <vt:lpstr>Calibri Light</vt:lpstr>
      <vt:lpstr>Consolas</vt:lpstr>
      <vt:lpstr>Тема Office</vt:lpstr>
      <vt:lpstr>Принципы SOLID</vt:lpstr>
      <vt:lpstr>Что такое принципы S.O.L.I.D.?</vt:lpstr>
      <vt:lpstr>Принцип единственной ответственности</vt:lpstr>
      <vt:lpstr>Принцип единственной ответственности</vt:lpstr>
      <vt:lpstr>PowerPoint Presentation</vt:lpstr>
      <vt:lpstr>Применяем SRP</vt:lpstr>
      <vt:lpstr>PowerPoint Presentation</vt:lpstr>
      <vt:lpstr>Достоинства</vt:lpstr>
      <vt:lpstr>Недостатки</vt:lpstr>
      <vt:lpstr>Принцип открытости-закрытости</vt:lpstr>
      <vt:lpstr>Принцип открытости/закрытости</vt:lpstr>
      <vt:lpstr>Паттерны проектирования, помогающие соблюсти эти принципы</vt:lpstr>
      <vt:lpstr>Пример нарушения OCP</vt:lpstr>
      <vt:lpstr>Применяем OCP</vt:lpstr>
      <vt:lpstr>Рендеринг отчёта</vt:lpstr>
      <vt:lpstr>Настраиваемый рендерер отчёта</vt:lpstr>
      <vt:lpstr>Достоинства</vt:lpstr>
      <vt:lpstr>Недостатки</vt:lpstr>
      <vt:lpstr>Принцип подстановки Лисков</vt:lpstr>
      <vt:lpstr>Принцип подстановки Барбары Лисков</vt:lpstr>
      <vt:lpstr>PowerPoint Presentation</vt:lpstr>
      <vt:lpstr>Способ решения 1</vt:lpstr>
      <vt:lpstr>Способ решения 2</vt:lpstr>
      <vt:lpstr>Способ решения 3</vt:lpstr>
      <vt:lpstr>Способ 4</vt:lpstr>
      <vt:lpstr>Соответствие подкласса принципу LSP</vt:lpstr>
      <vt:lpstr>Достоинства LSP</vt:lpstr>
      <vt:lpstr>Недостатки / трудности LSP</vt:lpstr>
      <vt:lpstr>Принцип разделения интерфейса</vt:lpstr>
      <vt:lpstr>Принцип разделения интерфейса</vt:lpstr>
      <vt:lpstr>Как добиться ISP</vt:lpstr>
      <vt:lpstr>PowerPoint Presentation</vt:lpstr>
      <vt:lpstr>PowerPoint Presentation</vt:lpstr>
      <vt:lpstr>Достоинства ISP</vt:lpstr>
      <vt:lpstr>Недостатки / трудности</vt:lpstr>
      <vt:lpstr>Принцип инверсии зависимостей</vt:lpstr>
      <vt:lpstr>Принцип инверсии зависимости</vt:lpstr>
      <vt:lpstr>Стабильные абстракции</vt:lpstr>
      <vt:lpstr>Пример нарушения принципа</vt:lpstr>
      <vt:lpstr>Бизнес-логика зависит от стабильной абстракции</vt:lpstr>
      <vt:lpstr>Достоинства DIP</vt:lpstr>
      <vt:lpstr>Недостатки / трудности</vt:lpstr>
      <vt:lpstr>Зачем знать и применять SOLID</vt:lpstr>
      <vt:lpstr>Не будьте фанатичны</vt:lpstr>
      <vt:lpstr>Спасибо за внимание!</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Пользователь Windows</dc:creator>
  <cp:lastModifiedBy>Алексей Малов</cp:lastModifiedBy>
  <cp:revision>1156</cp:revision>
  <dcterms:created xsi:type="dcterms:W3CDTF">2018-05-09T17:46:14Z</dcterms:created>
  <dcterms:modified xsi:type="dcterms:W3CDTF">2026-02-05T22:53:43Z</dcterms:modified>
</cp:coreProperties>
</file>