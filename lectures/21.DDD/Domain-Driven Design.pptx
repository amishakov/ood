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9" r:id="rId4"/>
    <p:sldId id="260" r:id="rId5"/>
    <p:sldId id="344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321" r:id="rId23"/>
    <p:sldId id="322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5" r:id="rId40"/>
    <p:sldId id="323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24" r:id="rId49"/>
    <p:sldId id="325" r:id="rId50"/>
    <p:sldId id="326" r:id="rId51"/>
    <p:sldId id="327" r:id="rId52"/>
    <p:sldId id="328" r:id="rId53"/>
    <p:sldId id="329" r:id="rId54"/>
    <p:sldId id="331" r:id="rId55"/>
    <p:sldId id="330" r:id="rId56"/>
    <p:sldId id="303" r:id="rId57"/>
    <p:sldId id="304" r:id="rId58"/>
    <p:sldId id="305" r:id="rId59"/>
    <p:sldId id="306" r:id="rId60"/>
    <p:sldId id="307" r:id="rId61"/>
    <p:sldId id="308" r:id="rId62"/>
    <p:sldId id="340" r:id="rId63"/>
    <p:sldId id="341" r:id="rId64"/>
    <p:sldId id="342" r:id="rId65"/>
    <p:sldId id="309" r:id="rId66"/>
    <p:sldId id="310" r:id="rId67"/>
    <p:sldId id="311" r:id="rId68"/>
    <p:sldId id="312" r:id="rId69"/>
    <p:sldId id="313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14" r:id="rId78"/>
    <p:sldId id="315" r:id="rId79"/>
    <p:sldId id="316" r:id="rId80"/>
    <p:sldId id="317" r:id="rId81"/>
    <p:sldId id="318" r:id="rId82"/>
    <p:sldId id="319" r:id="rId83"/>
    <p:sldId id="320" r:id="rId84"/>
    <p:sldId id="339" r:id="rId85"/>
    <p:sldId id="343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CEB14EB-9359-41C5-97F6-23C542FA2F39}">
          <p14:sldIdLst>
            <p14:sldId id="256"/>
            <p14:sldId id="257"/>
            <p14:sldId id="259"/>
            <p14:sldId id="260"/>
            <p14:sldId id="344"/>
            <p14:sldId id="261"/>
          </p14:sldIdLst>
        </p14:section>
        <p14:section name="Domain и Domain Model" id="{32203236-4278-4BE7-8482-F5806466D7F2}">
          <p14:sldIdLst>
            <p14:sldId id="262"/>
            <p14:sldId id="263"/>
            <p14:sldId id="264"/>
            <p14:sldId id="265"/>
            <p14:sldId id="266"/>
            <p14:sldId id="268"/>
          </p14:sldIdLst>
        </p14:section>
        <p14:section name="Когда использовать и когда не использовать DDD" id="{165478DF-07BE-4771-A5DE-BCE41EF6A314}">
          <p14:sldIdLst>
            <p14:sldId id="269"/>
            <p14:sldId id="271"/>
            <p14:sldId id="272"/>
            <p14:sldId id="273"/>
            <p14:sldId id="274"/>
            <p14:sldId id="275"/>
          </p14:sldIdLst>
        </p14:section>
        <p14:section name="Принципы DDD" id="{225FB590-CF89-4ADC-A975-2F72C7FEAF01}">
          <p14:sldIdLst>
            <p14:sldId id="276"/>
            <p14:sldId id="277"/>
            <p14:sldId id="278"/>
            <p14:sldId id="321"/>
            <p14:sldId id="322"/>
            <p14:sldId id="279"/>
            <p14:sldId id="280"/>
            <p14:sldId id="281"/>
            <p14:sldId id="282"/>
            <p14:sldId id="283"/>
          </p14:sldIdLst>
        </p14:section>
        <p14:section name="Ubiquitous Language" id="{E1AE7E87-0043-40B3-A491-50203D409867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Bounded Context" id="{A6638A81-71F6-4AEF-BD16-63FACBE69939}">
          <p14:sldIdLst>
            <p14:sldId id="290"/>
            <p14:sldId id="291"/>
            <p14:sldId id="292"/>
            <p14:sldId id="294"/>
            <p14:sldId id="295"/>
            <p14:sldId id="323"/>
          </p14:sldIdLst>
        </p14:section>
        <p14:section name="Способы взаимодействия контекстов" id="{C75679D2-FEA1-4399-B2B1-44AD17DB5D82}">
          <p14:sldIdLst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Event Storming" id="{8C444A67-C9C0-425F-A078-0F8CBB1B8383}">
          <p14:sldIdLst>
            <p14:sldId id="324"/>
            <p14:sldId id="325"/>
            <p14:sldId id="326"/>
            <p14:sldId id="327"/>
            <p14:sldId id="328"/>
            <p14:sldId id="329"/>
            <p14:sldId id="331"/>
            <p14:sldId id="330"/>
          </p14:sldIdLst>
        </p14:section>
        <p14:section name="Тактические паттерны DDD" id="{CD9267EF-D991-4DC9-B16E-3F41C1DD4B06}">
          <p14:sldIdLst>
            <p14:sldId id="303"/>
            <p14:sldId id="304"/>
            <p14:sldId id="305"/>
            <p14:sldId id="306"/>
            <p14:sldId id="307"/>
            <p14:sldId id="308"/>
            <p14:sldId id="340"/>
            <p14:sldId id="341"/>
            <p14:sldId id="342"/>
            <p14:sldId id="309"/>
            <p14:sldId id="310"/>
            <p14:sldId id="311"/>
            <p14:sldId id="312"/>
            <p14:sldId id="313"/>
          </p14:sldIdLst>
        </p14:section>
        <p14:section name="CQRS" id="{03C4E1E7-91FC-4AF0-ABEE-163C172AD6C8}">
          <p14:sldIdLst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Архитектура и DDD" id="{D09AA8C9-5B28-4B22-8898-210998FAE5F1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39"/>
            <p14:sldId id="3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D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5" autoAdjust="0"/>
    <p:restoredTop sz="66869" autoAdjust="0"/>
  </p:normalViewPr>
  <p:slideViewPr>
    <p:cSldViewPr snapToGrid="0" showGuides="1">
      <p:cViewPr varScale="1">
        <p:scale>
          <a:sx n="51" d="100"/>
          <a:sy n="51" d="100"/>
        </p:scale>
        <p:origin x="84" y="4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339CF-EBE5-41D5-96E8-A0F92F1AA97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90671-E609-448A-A9AD-49C07FC6E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84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Сегодняшняя лекция посвящена Domain Driven Design, или сокращённо DDD — подходу к проектированию программных систем.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сразу обозначить, что DDD — это не технология, не язык программирования и не набор готовых инструментов. Это способ мышления о системе.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Основная идея DDD заключается в том, что архитектура и код приложения должны отражать бизнес-логику и предметную область, ради которой это приложение создаётся.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будем говорить не столько о фреймворках и паттернах, сколько о том, </a:t>
            </a:r>
            <a:r>
              <a:rPr lang="ru-RU" b="1" dirty="0"/>
              <a:t>как думать о системе</a:t>
            </a:r>
            <a:r>
              <a:rPr lang="ru-RU" dirty="0"/>
              <a:t>, как общаться внутри команды и как превращать знания бизнеса в код.</a:t>
            </a:r>
            <a:endParaRPr lang="en-US" dirty="0"/>
          </a:p>
          <a:p>
            <a:endParaRPr lang="ru-RU" dirty="0"/>
          </a:p>
          <a:p>
            <a:r>
              <a:rPr lang="ru-RU" dirty="0"/>
              <a:t>Цель лекции — показать, какую проблему решает DDD и почему этот подход появился и получил широкое распространение.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28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Почти любая успешная система со временем усложняется. Это естественно: бизнес растёт, появляются новые сценарии, исключения и ограничения. Одновременно требования редко бывают стабильными — их уточняют, дополняют, иногда пересматривают, и это нормально для живого продукта.</a:t>
            </a:r>
            <a:endParaRPr lang="en-US" dirty="0"/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Сложность обычно растёт не из-за технологий, а из-за бизнес-логики: всё больше правил «если… то…», больше статусов, ограничений, пересечений процессов. Когда архитектура не рассчитана на такую эволюцию, понимание системы начинает «сыпаться».</a:t>
            </a:r>
          </a:p>
          <a:p>
            <a:endParaRPr lang="ru-RU" b="1" dirty="0"/>
          </a:p>
          <a:p>
            <a:r>
              <a:rPr lang="ru-RU" dirty="0"/>
              <a:t>Самый узнаваемый симптом — бизнес-логика размазывается по всей системе: часть проверок в контроллерах, часть в сервисах, часть в SQL-запросах или хранимых процедурах. Код «работает», но бизнес-смысл становится скрыт и фрагментирован.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Часто появляются огромные сервисы, которые «знают всё»: они и проверяют правила, и меняют состояние, и ходят в несколько репозиториев, и вызывают внешние API. Параллельно доменные объекты превращаются в структуры данных с геттерами/сеттерами — это анемичная модель, где поведение вынесено наружу.</a:t>
            </a:r>
          </a:p>
          <a:p>
            <a:endParaRPr lang="ru-RU" dirty="0"/>
          </a:p>
          <a:p>
            <a:r>
              <a:rPr lang="ru-RU" dirty="0"/>
              <a:t>Такой код трудно читать, трудно тестировать и сложно обсуждать с бизнесом, потому что смысл спрятан в деталях реализации. Самое неприятное — даже маленькое изменение начинает требовать много времени и становится рискованным: легко забыть проверку или нарушить правило в одном из десятков мест.</a:t>
            </a:r>
          </a:p>
          <a:p>
            <a:r>
              <a:rPr lang="ru-RU" dirty="0"/>
              <a:t>DDD появляется как ответ на этот набор проблем: он предлагает собрать бизнес-логику в доменной модели, договориться о языке и выстроить границы ответственности так, чтобы изменения были управляемыми.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71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важно понять одну ключевую мысль: технически хороший код не обязательно является хорошим бизнес-кодом.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Код может быть прекрасно </a:t>
            </a:r>
            <a:r>
              <a:rPr lang="ru-RU" dirty="0" err="1"/>
              <a:t>отрефакторен</a:t>
            </a:r>
            <a:r>
              <a:rPr lang="ru-RU" dirty="0"/>
              <a:t>, покрыт тестами и соответствовать всем техническим стандартам — и при этом плохо отражать реальный бизнес.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бизнес-правила спрятаны глубоко в условных операторах и сервисах, их трудно найти, понять и изменить.</a:t>
            </a:r>
          </a:p>
          <a:p>
            <a:r>
              <a:rPr lang="ru-RU" dirty="0"/>
              <a:t>Такой код сложно обсуждать с доменными экспертами, потому что он не использует их язык.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DDD как раз и пытается решить эту проблему — сократить разрыв между бизнесом и кодом.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26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важно развести два понятия, которые часто путают: </a:t>
            </a:r>
            <a:r>
              <a:rPr lang="ru-RU" i="1" dirty="0"/>
              <a:t>наличие домена</a:t>
            </a:r>
            <a:r>
              <a:rPr lang="ru-RU" dirty="0"/>
              <a:t> и </a:t>
            </a:r>
            <a:r>
              <a:rPr lang="ru-RU" i="1" dirty="0"/>
              <a:t>использование DDD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Domain — предметная область — есть почти в любой системе. Если система решает хоть какую-то бизнес-задачу, в ней неизбежно есть правила, ограничения и смысл данных. Даже самый простой CRUD с таблицами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</a:t>
            </a:r>
            <a:r>
              <a:rPr lang="ru-RU" dirty="0"/>
              <a:t> уже содержит домен, просто он может быть неявным и неосознанным.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наличие домена </a:t>
            </a:r>
            <a:r>
              <a:rPr lang="ru-RU" b="1" dirty="0"/>
              <a:t>само по себе не делает систему DDD</a:t>
            </a:r>
            <a:r>
              <a:rPr lang="ru-RU" dirty="0"/>
              <a:t>. В большинстве проектов доменная логика существует, но она размазана по контроллерам, сервисам, SQL-запросам и UI. В таких системах домен не выделен, не защищён и не является центром архитектуры.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DDD начинается в тот момент, когда команда </a:t>
            </a:r>
            <a:r>
              <a:rPr lang="ru-RU" b="1" dirty="0"/>
              <a:t>осознанно решает работать с доменом</a:t>
            </a:r>
            <a:r>
              <a:rPr lang="ru-RU" dirty="0"/>
              <a:t>: формирует общий язык, выделяет границы, строит модель, защищает инварианты и подчиняет архитектуру бизнес-смыслу. Это не вопрос используемых паттернов, а вопрос подхода и мышления.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 другой стороны, если мы действительно используем DDD, то домен всегда находится в центре. Нельзя “применить DDD” без доменной модели — это логическое противоречие. Поэтому верна вторая часть утверждения: всё, что является DDD, обязательно содержит явно выделенный домен.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Хорошая формула для запоминания звучит так:</a:t>
            </a:r>
          </a:p>
          <a:p>
            <a:r>
              <a:rPr lang="ru-RU" b="1" dirty="0"/>
              <a:t>Domain есть везде.</a:t>
            </a:r>
            <a:br>
              <a:rPr lang="ru-RU" b="1" dirty="0"/>
            </a:br>
            <a:r>
              <a:rPr lang="ru-RU" b="1" dirty="0"/>
              <a:t>DDD — это когда вы делаете его главным.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35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идея Domain Driven Design — поставить предметную область в центр проектирования системы.</a:t>
            </a:r>
          </a:p>
          <a:p>
            <a:r>
              <a:rPr lang="ru-RU" dirty="0"/>
              <a:t>Вместо того чтобы начинать с базы данных или API, мы начинаем с понимания бизнеса и его терминов.</a:t>
            </a:r>
          </a:p>
          <a:p>
            <a:r>
              <a:rPr lang="ru-RU" dirty="0"/>
              <a:t>DDD был сформулирован и систематизирован Эриком Эвансом в книге </a:t>
            </a:r>
            <a:r>
              <a:rPr lang="ru-RU" i="1" dirty="0"/>
              <a:t>Domain-Driven Design</a:t>
            </a:r>
            <a:r>
              <a:rPr lang="ru-RU" dirty="0"/>
              <a:t>, опубликованной в 2003 году.</a:t>
            </a:r>
          </a:p>
          <a:p>
            <a:r>
              <a:rPr lang="ru-RU" dirty="0"/>
              <a:t>Эта книга оказала огромное влияние на современную архитектуру программных систем.</a:t>
            </a:r>
          </a:p>
          <a:p>
            <a:r>
              <a:rPr lang="ru-RU" dirty="0"/>
              <a:t>Многие идеи, которые сегодня кажутся очевидными, берут своё начало именно в DDD.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63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01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Domain, или предметная область, — это та часть реального мира, ради которой создаётся программная система.</a:t>
            </a:r>
          </a:p>
          <a:p>
            <a:r>
              <a:rPr lang="ru-RU" dirty="0"/>
              <a:t>Когда мы говорим о домене, мы говорим не о коде, не о базе данных и не о пользовательском интерфейсе.</a:t>
            </a:r>
          </a:p>
          <a:p>
            <a:r>
              <a:rPr lang="ru-RU" dirty="0"/>
              <a:t>Мы говорим о бизнесе: о правилах, процессах, ограничениях и терминах, которыми оперируют люди вне IT.</a:t>
            </a:r>
          </a:p>
          <a:p>
            <a:r>
              <a:rPr lang="ru-RU" dirty="0"/>
              <a:t>Важно понимать, что домен существует независимо от того, есть ли у нас программная система или нет.</a:t>
            </a:r>
          </a:p>
          <a:p>
            <a:r>
              <a:rPr lang="ru-RU" dirty="0"/>
              <a:t>Задача разработчика в DDD — понять домен и корректно отразить его в коде.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10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лучше понять, что такое домен, полезно рассмотреть конкретные примеры.</a:t>
            </a:r>
          </a:p>
          <a:p>
            <a:r>
              <a:rPr lang="ru-RU" dirty="0"/>
              <a:t>В e-</a:t>
            </a:r>
            <a:r>
              <a:rPr lang="ru-RU" dirty="0" err="1"/>
              <a:t>commerce</a:t>
            </a:r>
            <a:r>
              <a:rPr lang="ru-RU" dirty="0"/>
              <a:t> доменом будут заказы, товары, цены, скидки, доставка и возвраты.</a:t>
            </a:r>
          </a:p>
          <a:p>
            <a:r>
              <a:rPr lang="ru-RU" dirty="0"/>
              <a:t>В финансовых системах — счета, транзакции, лимиты, проценты и регуляторные ограничения.</a:t>
            </a:r>
          </a:p>
          <a:p>
            <a:r>
              <a:rPr lang="ru-RU" dirty="0"/>
              <a:t>В образовании — курсы, студенты, оценки, расписания и правила аттестации.</a:t>
            </a:r>
          </a:p>
          <a:p>
            <a:r>
              <a:rPr lang="ru-RU" dirty="0"/>
              <a:t>Каждый из этих доменов имеет свою терминологию, свои правила и свою внутреннюю сложность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24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 Model — это формальное представление предметной области в коде.</a:t>
            </a:r>
          </a:p>
          <a:p>
            <a:r>
              <a:rPr lang="ru-RU" dirty="0"/>
              <a:t>Она описывает ключевые понятия домена и то, как они взаимодействуют друг с другом.</a:t>
            </a:r>
          </a:p>
          <a:p>
            <a:r>
              <a:rPr lang="ru-RU" dirty="0"/>
              <a:t>Важно, что </a:t>
            </a:r>
            <a:r>
              <a:rPr lang="ru-RU" dirty="0" err="1"/>
              <a:t>domain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включает не только данные, но и поведение объектов.</a:t>
            </a:r>
          </a:p>
          <a:p>
            <a:r>
              <a:rPr lang="ru-RU" dirty="0"/>
              <a:t>Бизнес-правила и ограничения должны быть выражены именно в модели, а не размазаны по системе.</a:t>
            </a:r>
          </a:p>
          <a:p>
            <a:r>
              <a:rPr lang="ru-RU" dirty="0"/>
              <a:t>Хорошая доменная модель делает бизнес-логику явной и понятной.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34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Доменная модель в DDD — это про бизнес-смысл. Она отвечает за правила, инварианты и корректные изменения состояния. Это место, где живёт поведение: объект не просто «хранит поля», а умеет правильно действовать в терминах домена.</a:t>
            </a:r>
          </a:p>
          <a:p>
            <a:endParaRPr lang="ru-RU" b="1" dirty="0"/>
          </a:p>
          <a:p>
            <a:r>
              <a:rPr lang="ru-RU" dirty="0"/>
              <a:t>Модель базы данных решает другую задачу: эффективно хранить информацию и быстро выполнять запросы. Поэтому в БД появляются таблицы, нормализация или </a:t>
            </a:r>
            <a:r>
              <a:rPr lang="ru-RU" dirty="0" err="1"/>
              <a:t>денормализация</a:t>
            </a:r>
            <a:r>
              <a:rPr lang="ru-RU" dirty="0"/>
              <a:t>, индексы, внешние ключи — всё это про производительность и хранение. Доменная модель оптимизирована под понимание бизнеса, поэтому её структура может и часто должна отличаться от таблиц. В DDD доменную модель нельзя «подгонять» под схему БД — иначе бизнес-смысл начнёт искажаться.</a:t>
            </a:r>
          </a:p>
          <a:p>
            <a:endParaRPr lang="ru-RU" b="1" dirty="0"/>
          </a:p>
          <a:p>
            <a:r>
              <a:rPr lang="ru-RU" dirty="0"/>
              <a:t>DTO нужны, чтобы переносить данные между слоями или сервисами: это «контейнеры для передачи», а не носители правил. API </a:t>
            </a:r>
            <a:r>
              <a:rPr lang="ru-RU" dirty="0" err="1"/>
              <a:t>model</a:t>
            </a:r>
            <a:r>
              <a:rPr lang="ru-RU" dirty="0"/>
              <a:t> описывает внешний контракт: какие поля и форматы мы показываем наружу, какие </a:t>
            </a:r>
            <a:r>
              <a:rPr lang="ru-RU" dirty="0" err="1"/>
              <a:t>эндпоинты</a:t>
            </a:r>
            <a:r>
              <a:rPr lang="ru-RU" dirty="0"/>
              <a:t> и структуры возвращаем. Этот слой должен быть стабильным и удобным для интеграций, но он не должен превращаться в место, где живёт бизнес-логика.</a:t>
            </a:r>
          </a:p>
          <a:p>
            <a:endParaRPr lang="ru-RU" b="1" dirty="0"/>
          </a:p>
          <a:p>
            <a:r>
              <a:rPr lang="ru-RU" dirty="0"/>
              <a:t>Если доменную логику начинают писать в DTO, контроллерах или прямо в запросах к базе, происходит «утечка» правил наружу. Тогда одно и то же правило начинают повторять в нескольких местах, где-то забывают проверку, где-то вводят исключение — и система становится непредсказуемой. Тестировать сложнее, потому что правила размазаны, а изменения становятся дорогими.</a:t>
            </a:r>
          </a:p>
          <a:p>
            <a:endParaRPr lang="ru-RU" dirty="0"/>
          </a:p>
          <a:p>
            <a:r>
              <a:rPr lang="ru-RU" dirty="0"/>
              <a:t>Доменная модель — отвечает за смысл и правила. База данных — отвечает за хранение. DTO и API — отвечают за передачу и контракты. Когда вы держите эти роли раздельно, система легче развивается: вы можете менять БД или API, не ломая домен, и наоборот.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13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утверждает, что доменная модель должна быть в центре архитектуры приложения.</a:t>
            </a:r>
          </a:p>
          <a:p>
            <a:r>
              <a:rPr lang="ru-RU" dirty="0"/>
              <a:t>Причина проста: бизнес-логика — это самая ценная и самая стабильная часть системы.</a:t>
            </a:r>
          </a:p>
          <a:p>
            <a:r>
              <a:rPr lang="ru-RU" dirty="0"/>
              <a:t>Фреймворки, базы данных и протоколы меняются, а домен остаётся.</a:t>
            </a:r>
          </a:p>
          <a:p>
            <a:r>
              <a:rPr lang="ru-RU" dirty="0"/>
              <a:t>Если код отражает предметную область, его проще читать, поддерживать и развивать.</a:t>
            </a:r>
          </a:p>
          <a:p>
            <a:r>
              <a:rPr lang="ru-RU" dirty="0"/>
              <a:t>Кроме того, такую систему гораздо проще обсуждать с доменными экспертами.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18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42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имеет смысл применять, когда основная сложность проекта — не техническая, а бизнесовая. То есть когда система ценна не потому, что «умеет хранить данные», а потому что в ней закодированы правила, процессы, ограничения и исключения.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Признак сложного домена — большое количество условий вида «если… то… иначе…», которые при этом постоянно уточняются. Например, скидки, бонусы, статусы заказов, возвраты, лимиты, разные типы пользователей, разные сценарии оплаты — всё это типичные источники сложности.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Ещё один важный фактор — изменения. Если бизнес активно развивается, вводит новые продукты, меняет процессы, то модель должна быть гибкой и понятной, иначе каждое изменение будет ломать систему.</a:t>
            </a:r>
          </a:p>
          <a:p>
            <a:r>
              <a:rPr lang="ru-RU" dirty="0"/>
              <a:t>DDD хорошо окупается в долгоживущих проектах: когда система развивается годами, её приходится поддерживать разным командам и новым разработчикам. В такой ситуации понятная доменная модель — это инвестиция в будущее.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Наконец, если проект большой и над ним работают несколько команд, DDD помогает зафиксировать границы ответственности и уменьшить хаос, когда все «трогают всё».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DDD — это не «обязательный стандарт качества». Это инструмент, и он добавляет структуру, а значит — добавляет и стоимость. Поэтому есть ситуации, где DDD не принесёт ощутимой пользы.</a:t>
            </a:r>
          </a:p>
          <a:p>
            <a:endParaRPr lang="ru-RU" dirty="0"/>
          </a:p>
          <a:p>
            <a:r>
              <a:rPr lang="ru-RU" dirty="0"/>
              <a:t>Если система по сути сводится к CRUD — создать, прочитать, обновить, удалить — и при этом почти нет бизнес-логики, то DDD будет лишним. Например, простая админка для справочников, форма для ввода данных или небольшой каталог без сложных правил.</a:t>
            </a:r>
          </a:p>
          <a:p>
            <a:endParaRPr lang="ru-RU" dirty="0"/>
          </a:p>
          <a:p>
            <a:r>
              <a:rPr lang="ru-RU" dirty="0"/>
              <a:t>Для MVP или прототипов важнее скорость проверки гипотез, чем идеальная модель. В таких проектах DDD может замедлить разработку и заставить команду «строить архитектуру на будущее», которого может не быть.</a:t>
            </a:r>
          </a:p>
          <a:p>
            <a:r>
              <a:rPr lang="ru-RU" dirty="0"/>
              <a:t>Также, если команда маленькая и система небольшая, часто достаточно простых практик: аккуратные сервисы, понятные имена, модульность. DDD — не единственный способ писать хороший код.</a:t>
            </a:r>
          </a:p>
          <a:p>
            <a:endParaRPr lang="ru-RU" dirty="0"/>
          </a:p>
          <a:p>
            <a:r>
              <a:rPr lang="ru-RU" dirty="0"/>
              <a:t>Ключевая мысль: применять DDD стоит там, где выгода превышает стоимость. В простых системах стоимость часто выше пользы.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64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применять DDD, нужно инвестировать время в понимание домена. Это значит больше общения, больше вопросов, больше уточнений. Для студентов это особенно важно: DDD учит не «быстрее </a:t>
            </a:r>
            <a:r>
              <a:rPr lang="ru-RU" dirty="0" err="1"/>
              <a:t>кодить</a:t>
            </a:r>
            <a:r>
              <a:rPr lang="ru-RU" dirty="0"/>
              <a:t>», а «правильно думать перед кодом».</a:t>
            </a:r>
          </a:p>
          <a:p>
            <a:endParaRPr lang="ru-RU" dirty="0"/>
          </a:p>
          <a:p>
            <a:r>
              <a:rPr lang="ru-RU" dirty="0"/>
              <a:t>DDD требует </a:t>
            </a:r>
            <a:r>
              <a:rPr lang="ru-RU" dirty="0" err="1"/>
              <a:t>ubiquitous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 — общего языка. Его не получится внедрить, если команда не договорилась о терминах или если у бизнеса и разработчиков разные слова для одного и того же.</a:t>
            </a:r>
          </a:p>
          <a:p>
            <a:endParaRPr lang="ru-RU" dirty="0"/>
          </a:p>
          <a:p>
            <a:r>
              <a:rPr lang="ru-RU" dirty="0"/>
              <a:t>Код тоже становится сложнее в хорошем смысле: появляются чёткие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репозитории, события. Это повышает качество модели, но увеличивает порог входа.</a:t>
            </a:r>
          </a:p>
          <a:p>
            <a:endParaRPr lang="ru-RU" dirty="0"/>
          </a:p>
          <a:p>
            <a:r>
              <a:rPr lang="ru-RU" dirty="0"/>
              <a:t>Ещё одна цена — дисциплина. Если команда начинает применять DDD, но оставляет логику в сервисах «по привычке», доменная модель деградирует, а сложность только растёт.</a:t>
            </a:r>
          </a:p>
          <a:p>
            <a:endParaRPr lang="ru-RU" dirty="0"/>
          </a:p>
          <a:p>
            <a:r>
              <a:rPr lang="ru-RU" dirty="0"/>
              <a:t>Наконец, ошибки в моделировании могут быть дорогими. Если неправильно выделены границы или перепутаны термины, потом это сложно исправлять. Поэтому DDD лучше внедрять осознанно и постепенно.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48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обычно делят на стратегическую и тактическую части. Это важно, потому что студенты часто думают, что DDD — это только про «</a:t>
            </a:r>
            <a:r>
              <a:rPr lang="ru-RU" dirty="0" err="1"/>
              <a:t>Entity</a:t>
            </a:r>
            <a:r>
              <a:rPr lang="ru-RU" dirty="0"/>
              <a:t>, Value Object, </a:t>
            </a:r>
            <a:r>
              <a:rPr lang="ru-RU" dirty="0" err="1"/>
              <a:t>Repository</a:t>
            </a:r>
            <a:r>
              <a:rPr lang="ru-RU" dirty="0"/>
              <a:t>». Это только половина картины.</a:t>
            </a:r>
          </a:p>
          <a:p>
            <a:endParaRPr lang="ru-RU" dirty="0"/>
          </a:p>
          <a:p>
            <a:r>
              <a:rPr lang="ru-RU" dirty="0"/>
              <a:t>Strategic DDD — это про то, как разделить большую систему на понятные части. Здесь появляются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контекстные карты, договорённости между командами, способы интеграции. Это уровень архитектуры и коммуникации.</a:t>
            </a:r>
          </a:p>
          <a:p>
            <a:endParaRPr lang="ru-RU" dirty="0"/>
          </a:p>
          <a:p>
            <a:r>
              <a:rPr lang="ru-RU" dirty="0" err="1"/>
              <a:t>Tactical</a:t>
            </a:r>
            <a:r>
              <a:rPr lang="ru-RU" dirty="0"/>
              <a:t> DDD — это про то, как внутри контекста писать код так, чтобы он выражал домен. Тут появляются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события и т.д.</a:t>
            </a:r>
          </a:p>
          <a:p>
            <a:endParaRPr lang="ru-RU" dirty="0"/>
          </a:p>
          <a:p>
            <a:r>
              <a:rPr lang="ru-RU" dirty="0"/>
              <a:t>Часто разумно начинать со стратегической части даже в простых проектах: просто научиться видеть границы и говорить на общем языке. А тактические паттерны подключать постепенно, по мере роста сложности.</a:t>
            </a:r>
          </a:p>
          <a:p>
            <a:endParaRPr lang="ru-RU" dirty="0"/>
          </a:p>
          <a:p>
            <a:r>
              <a:rPr lang="ru-RU" dirty="0"/>
              <a:t>Это также помогает избежать распространённой ошибки: попытаться внедрить агрегаты и репозитории, не определив границы домена — и получить сложную, но бессмысленную структуру.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894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сравним две системы на уровне здравого смысла.</a:t>
            </a:r>
          </a:p>
          <a:p>
            <a:endParaRPr lang="ru-RU" dirty="0"/>
          </a:p>
          <a:p>
            <a:r>
              <a:rPr lang="ru-RU" dirty="0"/>
              <a:t>Простая система — это когда основная задача хранить данные и показывать их пользователю. Например: список сотрудников, справочник товаров, база контактов. Там есть формы, таблицы, фильтры. Логика минимальна.</a:t>
            </a:r>
          </a:p>
          <a:p>
            <a:endParaRPr lang="ru-RU" dirty="0"/>
          </a:p>
          <a:p>
            <a:r>
              <a:rPr lang="ru-RU" dirty="0"/>
              <a:t>Сложная система — это когда ценность в правилах и процессах. Например: расчёт кредитных ставок, обработка заказов с возвратами и частичными оплатами, биллинг с тарифами, начисление стипендий по правилам. Тут много бизнес-условий, а ошибка может стоить дорого.</a:t>
            </a:r>
          </a:p>
          <a:p>
            <a:endParaRPr lang="ru-RU" dirty="0"/>
          </a:p>
          <a:p>
            <a:r>
              <a:rPr lang="ru-RU" dirty="0"/>
              <a:t>В сложной системе критично наличие инвариантов: «нельзя оплатить отменённый заказ», «нельзя превысить лимит», «нельзя выдать диплом без набора кредитов». Эти правила должны быть выражены в доменной модели, а не размазаны по коду.</a:t>
            </a:r>
          </a:p>
          <a:p>
            <a:endParaRPr lang="ru-RU" dirty="0"/>
          </a:p>
          <a:p>
            <a:r>
              <a:rPr lang="ru-RU" dirty="0"/>
              <a:t>DDD как раз и помогает: сделать сложность явной, локализовать правила и снизить риск того, что изменение в одном месте сломает другое.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62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связать DDD с жизненным циклом продукта, потому что «правильная» архитектура зависит от стадии развития.</a:t>
            </a:r>
          </a:p>
          <a:p>
            <a:endParaRPr lang="ru-RU" dirty="0"/>
          </a:p>
          <a:p>
            <a:r>
              <a:rPr lang="ru-RU" dirty="0"/>
              <a:t>На раннем этапе часто важнее скорость: быстро проверить идею, собрать обратную связь, понять, нужен ли продукт. В этот период полноценный DDD может быть преждевременным.</a:t>
            </a:r>
          </a:p>
          <a:p>
            <a:endParaRPr lang="ru-RU" dirty="0"/>
          </a:p>
          <a:p>
            <a:r>
              <a:rPr lang="ru-RU" dirty="0"/>
              <a:t>Когда продукт начинает расти, появляются новые фичи и сценарии, и вот тут полезно вводить элементы DDD: договориться о языке, выделить границы, начать формировать доменную модель.</a:t>
            </a:r>
          </a:p>
          <a:p>
            <a:endParaRPr lang="ru-RU" dirty="0"/>
          </a:p>
          <a:p>
            <a:r>
              <a:rPr lang="ru-RU" dirty="0"/>
              <a:t>На этапе масштабирования, когда над системой работают несколько команд, DDD особенно ценен: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и стратегические решения помогают не мешать друг другу и не превращать систему в монолитный комок.</a:t>
            </a:r>
          </a:p>
          <a:p>
            <a:endParaRPr lang="ru-RU" dirty="0"/>
          </a:p>
          <a:p>
            <a:r>
              <a:rPr lang="ru-RU" dirty="0"/>
              <a:t>На зрелой стадии главная ценность — устойчивость и предсказуемость изменений. Хорошая доменная модель позволяет развивать продукт без постоянных «переписываний с нуля».</a:t>
            </a:r>
          </a:p>
          <a:p>
            <a:endParaRPr lang="ru-RU" dirty="0"/>
          </a:p>
          <a:p>
            <a:r>
              <a:rPr lang="ru-RU" dirty="0"/>
              <a:t>И последнее: DDD не отменяет рефакторинг. Напротив, он предполагает, что понимание домена растёт со временем, а значит модель будет эволюционировать. Это нормально и даже ожидаемо.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49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поняли, что DDD применяют не всегда, а там, где домен действительно сложный. Теперь важно разобрать, </a:t>
            </a:r>
            <a:r>
              <a:rPr lang="ru-RU" b="1" dirty="0"/>
              <a:t>на каких принципах</a:t>
            </a:r>
            <a:r>
              <a:rPr lang="ru-RU" dirty="0"/>
              <a:t> строится DDD — то есть какие идеи стоят за всем набором терминов и паттернов.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принципы полезны даже если вы не используете DDD «по учебнику». Они помогают принимать решения: куда класть логику, как называть сущности, где проводить границы и как не превратить код в мешанину.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пройдёмся по принципам последовательно. Каждый принцип — это не просто лозунг, а практическая подсказка: как проектировать систему так, чтобы она развивалась без боли.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сразу важное замечание: принципы DDD взаимосвязаны. Обычно проблемы появляются не из-за одного нарушения, а из-за комбинации.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904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Domain-</a:t>
            </a:r>
            <a:r>
              <a:rPr lang="ru-RU" dirty="0" err="1"/>
              <a:t>first</a:t>
            </a:r>
            <a:r>
              <a:rPr lang="ru-RU" dirty="0"/>
              <a:t> означает, что мы начинаем проектирование системы с вопросов о бизнесе: какие ключевые понятия есть в предметной области, как они связаны, какие правила всегда должны соблюдаться.</a:t>
            </a:r>
          </a:p>
          <a:p>
            <a:endParaRPr lang="ru-RU" dirty="0"/>
          </a:p>
          <a:p>
            <a:r>
              <a:rPr lang="ru-RU" dirty="0"/>
              <a:t>На практике начинающие команды часто идут в обратном порядке: сначала выбирают ORM, строят таблицы, делают контроллеры, а потом пытаются «втиснуть» бизнес-логику в уже готовую техническую структуру. Обычно это приводит к тому, что правила оказываются размазанными по сервисам, контроллерам и базе.</a:t>
            </a:r>
          </a:p>
          <a:p>
            <a:endParaRPr lang="ru-RU" dirty="0"/>
          </a:p>
          <a:p>
            <a:r>
              <a:rPr lang="ru-RU" dirty="0"/>
              <a:t>Подход DDD предлагает другой порядок. Сначала мы формируем общую картину домена: договариваемся о языке, выделяем важные бизнес-события, находим инварианты. И только после этого выбираем, как удобнее хранить и передавать данные.</a:t>
            </a:r>
          </a:p>
          <a:p>
            <a:endParaRPr lang="ru-RU" dirty="0"/>
          </a:p>
          <a:p>
            <a:r>
              <a:rPr lang="ru-RU" dirty="0"/>
              <a:t>Для студентов это важный навык: прежде чем писать код, нужно понять, </a:t>
            </a:r>
            <a:r>
              <a:rPr lang="ru-RU" i="1" dirty="0"/>
              <a:t>что именно</a:t>
            </a:r>
            <a:r>
              <a:rPr lang="ru-RU" dirty="0"/>
              <a:t> вы моделируете. Когда вы правильно назвали вещи и сформулировали правила, половина архитектуры «подсказывается» сама собой.</a:t>
            </a:r>
          </a:p>
          <a:p>
            <a:endParaRPr lang="ru-RU" dirty="0"/>
          </a:p>
          <a:p>
            <a:r>
              <a:rPr lang="ru-RU" dirty="0"/>
              <a:t>Например, если бизнес говорит «разместить заказ» и «оплатить заказ» — это разные действия и разные правила. Это уже намекает на методы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Place()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Pay()</a:t>
            </a:r>
            <a:r>
              <a:rPr lang="ru-RU" dirty="0"/>
              <a:t>, а не на абстрактный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UpdateOrder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Именно поэтому в DDD архитектура считается следствием доменной модели, а не результатом выбора 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разберём один из самых частых и важных принципов DDD на конкретном примере.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Богатая доменная модель</a:t>
            </a:r>
            <a:r>
              <a:rPr lang="ru-RU" dirty="0"/>
              <a:t> — это когда доменные объекты содержат поведение и защищают бизнес-правила сами. Например, заказ сам знает, можно ли его отменить или можно ли поменять адрес доставки.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Анемичная модель</a:t>
            </a:r>
            <a:r>
              <a:rPr lang="ru-RU" dirty="0"/>
              <a:t> — это когда объект превращается в структуру данных: поля + геттеры/сеттеры, а вся логика вынесена в сервисы. Формально это OOP, но по сути — процедурный код, просто с классами.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Проблема анемичной модели в том, что правила «расползаются»: часть проверок в одном сервисе, часть — в другом, часть — в контроллере. В результате легко забыть проверку или сделать её по-разному в разных местах.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Богатая модель делает обратное: она концентрирует бизнес-правила в домене. Это повышает читаемость — потому что логика лежит рядом с данными — и резко улучшает тестируемость: домен можно тестировать без базы данных и UI.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вы видите сервис, который принимает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и «делает с ним всё»,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сам ничего не умеет — это почти всегда сигнал анемичной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147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34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97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Инвариант — это условие, которое должно быть истинным всегда. Это не «пожелание», а строгая бизнес-реальность.</a:t>
            </a:r>
          </a:p>
          <a:p>
            <a:endParaRPr lang="ru-RU" dirty="0"/>
          </a:p>
          <a:p>
            <a:r>
              <a:rPr lang="ru-RU" dirty="0"/>
              <a:t>Примеры инвариантов: «оплаченная сумма не может быть отрицательной», «нельзя оплатить отменённый заказ», «баланс счёта не может стать меньше допустимого лимита», «студент не может получить диплом без нужных кредитов».</a:t>
            </a:r>
          </a:p>
          <a:p>
            <a:endParaRPr lang="ru-RU" dirty="0"/>
          </a:p>
          <a:p>
            <a:r>
              <a:rPr lang="ru-RU" dirty="0"/>
              <a:t>DDD настаивает, что такие правила должны быть защищены </a:t>
            </a:r>
            <a:r>
              <a:rPr lang="ru-RU" b="1" dirty="0"/>
              <a:t>внутри доменной модели</a:t>
            </a:r>
            <a:r>
              <a:rPr lang="ru-RU" dirty="0"/>
              <a:t>. То есть вы не должны надеяться, что UI проверит это, или что разработчик вспомнит об этом в каждом контроллере.</a:t>
            </a:r>
          </a:p>
          <a:p>
            <a:endParaRPr lang="ru-RU" dirty="0"/>
          </a:p>
          <a:p>
            <a:r>
              <a:rPr lang="ru-RU" dirty="0"/>
              <a:t>Почему это важно? Потому что если правило проверяется снаружи, его очень легко забыть. А доменная модель должна быть последней линией защиты.</a:t>
            </a:r>
          </a:p>
          <a:p>
            <a:endParaRPr lang="ru-RU" dirty="0"/>
          </a:p>
          <a:p>
            <a:r>
              <a:rPr lang="ru-RU" dirty="0"/>
              <a:t>Обычно инварианты реализуются через агрегаты и их методы. Если метод позволяет привести объект в некорректное состояние — значит модель спроектирована плохо.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878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постоянно говорит о границах, потому что без границ система превращается в «комок» — где изменения в одном месте ломают другое.</a:t>
            </a:r>
          </a:p>
          <a:p>
            <a:endParaRPr lang="ru-RU" dirty="0"/>
          </a:p>
          <a:p>
            <a:r>
              <a:rPr lang="ru-RU" dirty="0"/>
              <a:t>Границы есть на нескольких уровнях. На стратегическом —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: где одна модель заканчивается и начинается другая. На тактическом — границы агрегатов: что должно быть согласовано вместе в одной транзакции.</a:t>
            </a:r>
          </a:p>
          <a:p>
            <a:endParaRPr lang="ru-RU" dirty="0"/>
          </a:p>
          <a:p>
            <a:r>
              <a:rPr lang="ru-RU" dirty="0"/>
              <a:t>Явные границы ответственности — это когда вы можете сказать: «этот компонент отвечает за это», и это будет правдой в коде.</a:t>
            </a:r>
          </a:p>
          <a:p>
            <a:endParaRPr lang="ru-RU" dirty="0"/>
          </a:p>
          <a:p>
            <a:r>
              <a:rPr lang="ru-RU" dirty="0"/>
              <a:t>Если вы не можете объяснить, где живёт бизнес-логика и кто её защищает, скорее всего границы размыты.</a:t>
            </a:r>
          </a:p>
          <a:p>
            <a:r>
              <a:rPr lang="ru-RU" dirty="0"/>
              <a:t>Практический признак проблемы: когда один и тот же бизнес-объект изменяется из пяти разных мест «в обход» — значит границы ответственности не работают.</a:t>
            </a:r>
          </a:p>
          <a:p>
            <a:r>
              <a:rPr lang="ru-RU" dirty="0"/>
              <a:t>DDD учит делать так, чтобы ответственность была локализована и очевидна.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899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самых практичных принципов DDD — изоляция домена от инфраструктуры.</a:t>
            </a:r>
          </a:p>
          <a:p>
            <a:r>
              <a:rPr lang="ru-RU" dirty="0"/>
              <a:t>Это означает, что доменные классы не должны зависеть от конкретной базы данных, ORM, HTTP-фреймворка или сообщений в </a:t>
            </a:r>
            <a:r>
              <a:rPr lang="ru-RU" dirty="0" err="1"/>
              <a:t>Kafka</a:t>
            </a:r>
            <a:r>
              <a:rPr lang="ru-RU" dirty="0"/>
              <a:t>. Доменная модель должна быть «чистой».</a:t>
            </a:r>
          </a:p>
          <a:p>
            <a:endParaRPr lang="ru-RU" dirty="0"/>
          </a:p>
          <a:p>
            <a:r>
              <a:rPr lang="ru-RU" dirty="0"/>
              <a:t>Зачем? Потому что инфраструктура меняется чаще, чем домен. Сегодня вы используете </a:t>
            </a:r>
            <a:r>
              <a:rPr lang="ru-RU" dirty="0" err="1"/>
              <a:t>PostgreSQL</a:t>
            </a:r>
            <a:r>
              <a:rPr lang="ru-RU" dirty="0"/>
              <a:t>, завтра — другую БД. Или сегодня у вас монолит, завтра — микросервисы. Если домен завязан на инфраструктуру, любые изменения становятся дорогими.</a:t>
            </a:r>
          </a:p>
          <a:p>
            <a:endParaRPr lang="ru-RU" dirty="0"/>
          </a:p>
          <a:p>
            <a:r>
              <a:rPr lang="ru-RU" dirty="0"/>
              <a:t>Кроме того, чистый домен легко тестировать. Вы можете написать юнит-тесты на доменную логику без поднятия базы данных и без </a:t>
            </a:r>
            <a:r>
              <a:rPr lang="ru-RU" dirty="0" err="1"/>
              <a:t>моков</a:t>
            </a:r>
            <a:r>
              <a:rPr lang="ru-RU" dirty="0"/>
              <a:t> половины системы.</a:t>
            </a:r>
          </a:p>
          <a:p>
            <a:r>
              <a:rPr lang="ru-RU" dirty="0"/>
              <a:t>Типичная ошибка начинающих: добавлять в доменные объекты аннотации ORM, зависимости от сериализации, HTTP-статусы и прочие детали. DDD предлагает держать это снаружи, на уровне адаптеров и инфраструктуры.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025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предполагает, что доменная модель не будет идеальной с первого дня. Это принципиальная позиция.</a:t>
            </a:r>
          </a:p>
          <a:p>
            <a:r>
              <a:rPr lang="ru-RU" dirty="0"/>
              <a:t>В начале проекта вы знаете о домене меньше всего. Вы строите модель на основе текущего понимания, а потом бизнес уточняет правила, появляются новые сценарии, выясняются исключения.</a:t>
            </a:r>
          </a:p>
          <a:p>
            <a:r>
              <a:rPr lang="ru-RU" dirty="0"/>
              <a:t>Поэтому модель должна эволюционировать. Рефакторинг — это не «провал», а нормальный процесс роста понимания.</a:t>
            </a:r>
          </a:p>
          <a:p>
            <a:r>
              <a:rPr lang="ru-RU" dirty="0"/>
              <a:t>Для студентов это важный психологический момент: не нужно ждать идеального дизайна перед тем, как начать. Нужно начать, но быть готовыми менять модель, когда понимание улучшится.</a:t>
            </a:r>
          </a:p>
          <a:p>
            <a:r>
              <a:rPr lang="ru-RU" dirty="0"/>
              <a:t>DDD даёт язык и структуру, которые помогают эволюционировать безопасно: благодаря явным границам вы меняете часть системы, не ломая всё сразу.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5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Последний принцип — и, возможно, самый важный: DDD — это не фреймворк и не «набор правильных паттернов».</a:t>
            </a:r>
          </a:p>
          <a:p>
            <a:r>
              <a:rPr lang="ru-RU" dirty="0"/>
              <a:t>Можно использовать </a:t>
            </a:r>
            <a:r>
              <a:rPr lang="ru-RU" dirty="0" err="1"/>
              <a:t>Entity</a:t>
            </a:r>
            <a:r>
              <a:rPr lang="ru-RU" dirty="0"/>
              <a:t>, </a:t>
            </a:r>
            <a:r>
              <a:rPr lang="ru-RU" dirty="0" err="1"/>
              <a:t>Repository</a:t>
            </a:r>
            <a:r>
              <a:rPr lang="ru-RU" dirty="0"/>
              <a:t> и </a:t>
            </a:r>
            <a:r>
              <a:rPr lang="ru-RU" dirty="0" err="1"/>
              <a:t>Aggregate</a:t>
            </a:r>
            <a:r>
              <a:rPr lang="ru-RU" dirty="0"/>
              <a:t>, но при этом не заниматься DDD, если модель не отражает домен и команда не использует общий язык.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DDD — это дисциплина мышления: вы постоянно задаёте вопросы «что это значит для бизнеса?», «какие правила должны быть защищены?», «где границы?», «какие термины используем?».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также подход к командной коммуникации. DDD работает лучше всего, когда разработчики регулярно общаются с доменными экспертами и уточняют модель.</a:t>
            </a:r>
          </a:p>
          <a:p>
            <a:r>
              <a:rPr lang="ru-RU" dirty="0"/>
              <a:t>Именно поэтому DDD так ценен в больших системах: он не просто улучшает код, он улучшает </a:t>
            </a:r>
            <a:r>
              <a:rPr lang="ru-RU" i="1" dirty="0"/>
              <a:t>понимание системы</a:t>
            </a:r>
            <a:r>
              <a:rPr lang="ru-RU" dirty="0"/>
              <a:t> всей командой.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следующем разделе мы начнём разбирать ключевые концепции, которые помогают эти принципы реализовать в реальном коде.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22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573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Ubiquitous</a:t>
            </a:r>
            <a:r>
              <a:rPr lang="ru-RU" dirty="0"/>
              <a:t> Language — это один из ключевых и самых практичных концептов Domain Driven Design.</a:t>
            </a:r>
          </a:p>
          <a:p>
            <a:r>
              <a:rPr lang="ru-RU" dirty="0"/>
              <a:t>Это общий язык, на котором говорят все участники работы над системой: разработчики, аналитики, тестировщики и доменные эксперты.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Важно, что это не просто словарь терминов. Это язык, который используется </a:t>
            </a:r>
            <a:r>
              <a:rPr lang="ru-RU" b="1" dirty="0"/>
              <a:t>повсеместно</a:t>
            </a:r>
            <a:r>
              <a:rPr lang="ru-RU" dirty="0"/>
              <a:t>: в разговорах, документации, тестах и, самое главное, в коде.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DDD исходит из того, что если язык не зафиксирован и не используется последовательно, модель будет расплывчатой, а код — противоречивым.</a:t>
            </a:r>
          </a:p>
          <a:p>
            <a:r>
              <a:rPr lang="ru-RU" dirty="0" err="1"/>
              <a:t>Ubiquitous</a:t>
            </a:r>
            <a:r>
              <a:rPr lang="ru-RU" dirty="0"/>
              <a:t> Language — это фундамент, на котором строится вся доменная модель.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87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DDD код рассматривается как продолжение речи бизнеса.</a:t>
            </a:r>
          </a:p>
          <a:p>
            <a:r>
              <a:rPr lang="ru-RU" dirty="0"/>
              <a:t>Идеальная ситуация — когда доменный эксперт может посмотреть на имена классов и методов и в целом понять, что происходит, даже не зная языка программирования.</a:t>
            </a:r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PlaceOrder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CancelOrder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PaymentReceived</a:t>
            </a:r>
            <a:r>
              <a:rPr lang="ru-RU" dirty="0"/>
              <a:t> — это выражения, которые понятны без технического контекста.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Проблема возникает, когда в коде появляются технические суррогаты: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ProcessData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HandleRequest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EntityManager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DataObject</a:t>
            </a:r>
            <a:r>
              <a:rPr lang="ru-RU" dirty="0"/>
              <a:t>. Такие имена не несут бизнес-смысла.</a:t>
            </a:r>
          </a:p>
          <a:p>
            <a:r>
              <a:rPr lang="ru-RU" dirty="0"/>
              <a:t>Когда код написан на языке бизнеса, разработчику не нужно постоянно «переводить» термины в голове — это снижает когнитивную нагрузку и количество ошибок.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091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разницу между плохими и хорошими названиями.</a:t>
            </a:r>
          </a:p>
          <a:p>
            <a:r>
              <a:rPr lang="ru-RU" dirty="0"/>
              <a:t>Плохие названия обычно слишком общие или технические: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Helper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</a:t>
            </a:r>
            <a:r>
              <a:rPr lang="ru-RU" dirty="0"/>
              <a:t>. По ним невозможно понять бизнес-смысл.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OrderService</a:t>
            </a:r>
            <a:r>
              <a:rPr lang="ru-RU" dirty="0"/>
              <a:t> с методами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ничего не говорит о правилах домена.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Хорошие названия отражают конкретный смысл: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OrderItem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PlaceOrder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ApplyDiscount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CalculateShippingCost</a:t>
            </a:r>
            <a:r>
              <a:rPr lang="ru-RU" dirty="0"/>
              <a:t>.</a:t>
            </a:r>
          </a:p>
          <a:p>
            <a:r>
              <a:rPr lang="ru-RU" dirty="0"/>
              <a:t>Такие имена сразу подсказывают, </a:t>
            </a:r>
            <a:r>
              <a:rPr lang="ru-RU" b="1" dirty="0"/>
              <a:t>что именно происходит в домене</a:t>
            </a:r>
            <a:r>
              <a:rPr lang="ru-RU" dirty="0"/>
              <a:t>, а не просто «что-то делается».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студентов полезное правило: если название можно использовать почти в любом проекте — скорее всего, оно плохое.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177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самых важных принципов </a:t>
            </a:r>
            <a:r>
              <a:rPr lang="ru-RU" dirty="0" err="1"/>
              <a:t>ubiquitous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 — один термин должен иметь одно значение.</a:t>
            </a:r>
          </a:p>
          <a:p>
            <a:r>
              <a:rPr lang="ru-RU" dirty="0"/>
              <a:t>Если одно и то же слово используется для разных понятий, путаница неизбежна.</a:t>
            </a:r>
          </a:p>
          <a:p>
            <a:r>
              <a:rPr lang="ru-RU" dirty="0"/>
              <a:t>Например, слово «</a:t>
            </a:r>
            <a:r>
              <a:rPr lang="ru-RU" dirty="0" err="1"/>
              <a:t>Order</a:t>
            </a:r>
            <a:r>
              <a:rPr lang="ru-RU" dirty="0"/>
              <a:t>» может означать «заказ клиента», «запрос на оплату», «документ для бухгалтерии». Если не разделить эти смыслы, код быстро станет противоречивым.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правило «один термин — одно значение» работает </a:t>
            </a:r>
            <a:r>
              <a:rPr lang="ru-RU" b="1" dirty="0"/>
              <a:t>внутри 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dirty="0"/>
              <a:t>. В разных контекстах одно и то же слово может означать разное — и это нормально.</a:t>
            </a:r>
          </a:p>
          <a:p>
            <a:r>
              <a:rPr lang="ru-RU" dirty="0"/>
              <a:t>Язык не появляется сам по себе. Он формируется через обсуждения, споры и договорённости внутри команды.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010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DDD язык связывает воедино обсуждения, документацию и код.</a:t>
            </a:r>
          </a:p>
          <a:p>
            <a:endParaRPr lang="ru-RU" dirty="0"/>
          </a:p>
          <a:p>
            <a:r>
              <a:rPr lang="ru-RU" dirty="0"/>
              <a:t>Если в документации используется один термин, а в коде — другой, возникает разрыв, который со временем приводит к ошибкам и недопониманию.</a:t>
            </a:r>
          </a:p>
          <a:p>
            <a:endParaRPr lang="ru-RU" dirty="0"/>
          </a:p>
          <a:p>
            <a:r>
              <a:rPr lang="ru-RU" dirty="0"/>
              <a:t>Хорошая доменная модель позволяет использовать одни и те же слова в описании требований, в тестах и в реализации.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Особенно полезно, когда тесты написаны на языке домена: они становятся живой спецификацией системы.</a:t>
            </a:r>
          </a:p>
          <a:p>
            <a:r>
              <a:rPr lang="ru-RU" dirty="0"/>
              <a:t>Хороший нейминг — это не «косметика», а ключевой инструмент качества дизайна.</a:t>
            </a:r>
          </a:p>
          <a:p>
            <a:r>
              <a:rPr lang="ru-RU" dirty="0"/>
              <a:t>Когда язык согласован и используется последовательно, система становится проще для понимания, поддержки и развития.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185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156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старте проекта кажется логичным создать одну общую модель: один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, один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ru-RU" dirty="0"/>
              <a:t>, один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</a:t>
            </a:r>
            <a:r>
              <a:rPr lang="ru-RU" dirty="0"/>
              <a:t> — и развивать это как единое целое. В небольшой системе это действительно может работать.</a:t>
            </a:r>
          </a:p>
          <a:p>
            <a:endParaRPr lang="ru-RU" dirty="0"/>
          </a:p>
          <a:p>
            <a:r>
              <a:rPr lang="ru-RU" dirty="0"/>
              <a:t>Но по мере роста продукта бизнес перестаёт быть однородным. Появляются новые направления, разные процессы, разные команды и разные требования. Система начинает обслуживать сразу несколько «под-доменов», каждый со своими правилами.</a:t>
            </a:r>
          </a:p>
          <a:p>
            <a:endParaRPr lang="ru-RU" dirty="0"/>
          </a:p>
          <a:p>
            <a:r>
              <a:rPr lang="ru-RU" dirty="0"/>
              <a:t>Если при этом продолжать развивать одну общую модель, она неизбежно раздувается. В неё добавляются флаги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isSpecial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isLegacy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, появляются условные ветки и многочисленные исключения. Такая модель становится сложной, и главное — перестаёт быть понятной.</a:t>
            </a:r>
          </a:p>
          <a:p>
            <a:endParaRPr lang="ru-RU" dirty="0"/>
          </a:p>
          <a:p>
            <a:r>
              <a:rPr lang="ru-RU" dirty="0"/>
              <a:t>Самый опасный симптом — перегрузка терминов. Одно слово начинает использоваться для разных смыслов. Например, «</a:t>
            </a:r>
            <a:r>
              <a:rPr lang="ru-RU" dirty="0" err="1"/>
              <a:t>Order</a:t>
            </a:r>
            <a:r>
              <a:rPr lang="ru-RU" dirty="0"/>
              <a:t>» в продажах — это заказ клиента, в биллинге — финансовый документ, а в логистике — инструкция на доставку. Для людей это терпимо: они “догадываются по контексту”. Для кода это катастрофа: код требует точности.</a:t>
            </a:r>
          </a:p>
          <a:p>
            <a:endParaRPr lang="ru-RU" dirty="0"/>
          </a:p>
          <a:p>
            <a:r>
              <a:rPr lang="ru-RU" dirty="0"/>
              <a:t>Когда мы пытаемся «свести» все эти смыслы в один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, мы получаем противоречивую модель, где непонятно, что является источником истины и какие правила должны применяться. В результате изменения становятся опасными: правка, нужная для логистики, может случайно сломать финансовую часть.</a:t>
            </a:r>
          </a:p>
          <a:p>
            <a:endParaRPr lang="ru-RU" dirty="0"/>
          </a:p>
          <a:p>
            <a:r>
              <a:rPr lang="ru-RU" dirty="0"/>
              <a:t>Эта проблема и подводит нас к ключевому решению стратегического DDD —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037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центральное понятие стратегического DDD и самый практичный ответ на проблему «термины значат разное».</a:t>
            </a:r>
          </a:p>
          <a:p>
            <a:endParaRPr lang="ru-RU" dirty="0"/>
          </a:p>
          <a:p>
            <a:r>
              <a:rPr lang="ru-RU" dirty="0"/>
              <a:t>Проще всего понимать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как контейнер смысла. Внутри него все термины, правила и допущения имеют чёткое, согласованное значение. Если мы говорим «</a:t>
            </a:r>
            <a:r>
              <a:rPr lang="ru-RU" dirty="0" err="1"/>
              <a:t>Order</a:t>
            </a:r>
            <a:r>
              <a:rPr lang="ru-RU" dirty="0"/>
              <a:t>» в конкретном контексте, мы точно знаем, что это означает и какие правила к нему применяются.</a:t>
            </a:r>
          </a:p>
          <a:p>
            <a:endParaRPr lang="ru-RU" dirty="0"/>
          </a:p>
          <a:p>
            <a:r>
              <a:rPr lang="ru-RU" dirty="0"/>
              <a:t>Ключевое правило: </a:t>
            </a:r>
            <a:r>
              <a:rPr lang="ru-RU" b="1" dirty="0"/>
              <a:t>один термин — одно значение внутри 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dirty="0"/>
              <a:t>. За пределами контекста тот же термин может означать другое — и это нормально. Важно не пытаться искусственно сделать «универсальную модель на весь бизнес».</a:t>
            </a:r>
          </a:p>
          <a:p>
            <a:endParaRPr lang="ru-RU" dirty="0"/>
          </a:p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также означает, что в разных контекстах могут существовать разные модели данных, разные жизненные циклы и разные правила для похожих объектов. Например, «</a:t>
            </a:r>
            <a:r>
              <a:rPr lang="ru-RU" dirty="0" err="1"/>
              <a:t>Order</a:t>
            </a:r>
            <a:r>
              <a:rPr lang="ru-RU" dirty="0"/>
              <a:t>» в Sales и «</a:t>
            </a:r>
            <a:r>
              <a:rPr lang="ru-RU" dirty="0" err="1"/>
              <a:t>Order</a:t>
            </a:r>
            <a:r>
              <a:rPr lang="ru-RU" dirty="0"/>
              <a:t>» в Shipping могут иметь разные поля, разные статусы и разное поведение — потому что они решают разные задачи.</a:t>
            </a:r>
          </a:p>
          <a:p>
            <a:endParaRPr lang="ru-RU" dirty="0"/>
          </a:p>
          <a:p>
            <a:r>
              <a:rPr lang="ru-RU" dirty="0"/>
              <a:t>Важно подчеркнуть для студентов: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это не просто «мы разнесли классы по папкам». Это концептуальная и организационная граница, которая отражает часть бизнеса. Обычно за контекстом стоит определённая ответственность команды и ясный набор задач.</a:t>
            </a:r>
          </a:p>
          <a:p>
            <a:endParaRPr lang="ru-RU" dirty="0"/>
          </a:p>
          <a:p>
            <a:r>
              <a:rPr lang="ru-RU" dirty="0"/>
              <a:t>Практически DDD предлагает такой порядок действий: сначала мы находим контексты и фиксируем язык внутри них, а уже затем проектируем классы, базы данных, API и способы интеграции. Тогда модель становится более понятной, устойчивой и безопасной для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765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типичную систему интернет-магазина и посмотрим, как один и тот же термин — «Заказ» — имеет разный смысл в разных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контексте </a:t>
            </a:r>
            <a:r>
              <a:rPr lang="ru-RU" b="1" dirty="0"/>
              <a:t>Sales</a:t>
            </a:r>
            <a:r>
              <a:rPr lang="ru-RU" dirty="0"/>
              <a:t> заказ — это выражение намерения клиента купить товары. Здесь важны позиции заказа, количество, скидки, статусы вроде «создан», «подтверждён», «отменён». Заказ может изменяться до момента подтверждения.</a:t>
            </a:r>
          </a:p>
          <a:p>
            <a:endParaRPr lang="ru-RU" dirty="0"/>
          </a:p>
          <a:p>
            <a:r>
              <a:rPr lang="ru-RU" dirty="0"/>
              <a:t>В контексте </a:t>
            </a:r>
            <a:r>
              <a:rPr lang="ru-RU" b="1" dirty="0" err="1"/>
              <a:t>Billing</a:t>
            </a:r>
            <a:r>
              <a:rPr lang="ru-RU" dirty="0"/>
              <a:t> заказ — это финансовое основание для расчётов. Он используется для выставления счёта, проведения платежей, возвратов и сверок. Здесь заказ тесно связан с деньгами, валютами, транзакциями и финансовыми правилами, а не с корзиной пользователя.</a:t>
            </a:r>
          </a:p>
          <a:p>
            <a:endParaRPr lang="ru-RU" dirty="0"/>
          </a:p>
          <a:p>
            <a:r>
              <a:rPr lang="ru-RU" dirty="0"/>
              <a:t>В контексте </a:t>
            </a:r>
            <a:r>
              <a:rPr lang="ru-RU" b="1" dirty="0"/>
              <a:t>Shipping</a:t>
            </a:r>
            <a:r>
              <a:rPr lang="ru-RU" dirty="0"/>
              <a:t> заказ — это инструкция на доставку. Он описывает, какие товары, в каком количестве и куда нужно отправить. Здесь важны адрес, сроки, способ доставки, статусы логистических операций, но не важны детали оплаты или скидок.</a:t>
            </a:r>
          </a:p>
          <a:p>
            <a:endParaRPr lang="ru-RU" dirty="0"/>
          </a:p>
          <a:p>
            <a:r>
              <a:rPr lang="ru-RU" dirty="0"/>
              <a:t>В контексте </a:t>
            </a:r>
            <a:r>
              <a:rPr lang="ru-RU" b="1" dirty="0" err="1"/>
              <a:t>Inventory</a:t>
            </a:r>
            <a:r>
              <a:rPr lang="ru-RU" dirty="0"/>
              <a:t> заказ — это сигнал для изменения складских остатков. Он означает, что определённое количество товаров должно быть зарезервировано, списано или подготовлено к отгрузке. Здесь заказ не является «покупкой» или «платежом», а выступает как причина движения товаров на складе.</a:t>
            </a:r>
          </a:p>
          <a:p>
            <a:endParaRPr lang="ru-RU" dirty="0"/>
          </a:p>
          <a:p>
            <a:r>
              <a:rPr lang="ru-RU" dirty="0"/>
              <a:t>Наконец, в контексте </a:t>
            </a:r>
            <a:r>
              <a:rPr lang="ru-RU" b="1" dirty="0"/>
              <a:t>Reporting</a:t>
            </a:r>
            <a:r>
              <a:rPr lang="ru-RU" dirty="0"/>
              <a:t> заказ — это уже не активный бизнес-объект, а факт из истории. Он используется для аналитики: подсчёта выручки, количества заказов, среднего чека, конверсий и трендов. В этом контексте заказ, как правило, неизменяем и рассматривается как агрегированная статистическая единица.</a:t>
            </a:r>
          </a:p>
          <a:p>
            <a:endParaRPr lang="ru-RU" dirty="0"/>
          </a:p>
          <a:p>
            <a:r>
              <a:rPr lang="ru-RU" dirty="0"/>
              <a:t>Этот пример хорошо показывает, почему попытка описать все эти смыслы одним классом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приводит к путанице.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позволяет каждому контексту иметь </a:t>
            </a:r>
            <a:r>
              <a:rPr lang="ru-RU" b="1" dirty="0"/>
              <a:t>свой собственный, корректный и непротиворечивый смысл</a:t>
            </a:r>
            <a:r>
              <a:rPr lang="ru-RU" dirty="0"/>
              <a:t> термина «Заказ».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05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— это один из ключевых артефактов стратегического Domain Driven Design. Его задача — показать систему </a:t>
            </a:r>
            <a:r>
              <a:rPr lang="ru-RU" b="1" dirty="0"/>
              <a:t>целиком</a:t>
            </a:r>
            <a:r>
              <a:rPr lang="ru-RU" dirty="0"/>
              <a:t>, а не отдельные её части.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отвечает на вопрос «где заканчивается одна модель и начинается другая», то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отвечает на вопрос «как эти модели взаимодействуют между собой».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отображаются все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их границы и связи между ними. Это позволяет увидеть, какие части системы независимы, а какие связаны и в каком направлении.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Особенно важно, что зависимости на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всегда </a:t>
            </a:r>
            <a:r>
              <a:rPr lang="ru-RU" b="1" dirty="0"/>
              <a:t>направленные</a:t>
            </a:r>
            <a:r>
              <a:rPr lang="ru-RU" dirty="0"/>
              <a:t>. Это помогает понять, какая модель влияет на другую, кто под кого подстраивается и где возможны риски при изменениях.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фиксирует архитектурные договорённости между командами. Это не просто диаграмма, а своего рода контракт: какие данные передаются, в каком виде и на каких условиях.</a:t>
            </a:r>
            <a:endParaRPr lang="en-US" dirty="0"/>
          </a:p>
          <a:p>
            <a:endParaRPr lang="ru-RU" dirty="0"/>
          </a:p>
          <a:p>
            <a:r>
              <a:rPr lang="en-US" dirty="0"/>
              <a:t>C</a:t>
            </a:r>
            <a:r>
              <a:rPr lang="ru-RU" dirty="0" err="1"/>
              <a:t>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— это не UML и не диаграмма классов. Это стратегический инструмент, который помогает управлять сложностью ещё до того, как написан код.</a:t>
            </a:r>
          </a:p>
          <a:p>
            <a:endParaRPr lang="ru-RU" dirty="0"/>
          </a:p>
          <a:p>
            <a:r>
              <a:rPr lang="ru-RU" dirty="0"/>
              <a:t>В больших системах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часто оказывается важнее любой технической документации, потому что она отражает </a:t>
            </a:r>
            <a:r>
              <a:rPr lang="ru-RU" b="1" dirty="0"/>
              <a:t>реальную структуру бизнеса</a:t>
            </a:r>
            <a:r>
              <a:rPr lang="ru-RU" dirty="0"/>
              <a:t>, а не только реализацию.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941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мы смотрим на систему библиотеки с точки зрения 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dirty="0"/>
              <a:t> — то есть пытаемся разделить её не по техническим модулям, а по смыслу и ответственности.</a:t>
            </a:r>
          </a:p>
          <a:p>
            <a:r>
              <a:rPr lang="ru-RU" dirty="0"/>
              <a:t>Первый контекст — </a:t>
            </a:r>
            <a:r>
              <a:rPr lang="ru-RU" b="1" dirty="0"/>
              <a:t>Книги (</a:t>
            </a:r>
            <a:r>
              <a:rPr lang="ru-RU" b="1" dirty="0" err="1"/>
              <a:t>Catalog</a:t>
            </a:r>
            <a:r>
              <a:rPr lang="ru-RU" b="1" dirty="0"/>
              <a:t> / </a:t>
            </a:r>
            <a:r>
              <a:rPr lang="ru-RU" b="1" dirty="0" err="1"/>
              <a:t>Books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Здесь книга рассматривается как объект библиотечного фонда. Нас интересует, какие книги вообще существуют, какие у них ISBN, авторы, издания, сколько экземпляров есть в наличии и в каком они состоянии. Статусы вроде «доступен», «списан», «на ремонте» — это именно про управление фондом. Важный момент: этот контекст </a:t>
            </a:r>
            <a:r>
              <a:rPr lang="ru-RU" b="1" dirty="0"/>
              <a:t>не знает ничего о читателях и выдачах</a:t>
            </a:r>
            <a:r>
              <a:rPr lang="ru-RU" dirty="0"/>
              <a:t>. Он не отвечает на вопрос «кто взял книгу», а только на вопрос «какие книги и экземпляры есть».</a:t>
            </a:r>
          </a:p>
          <a:p>
            <a:endParaRPr lang="ru-RU" dirty="0"/>
          </a:p>
          <a:p>
            <a:r>
              <a:rPr lang="ru-RU" dirty="0"/>
              <a:t>Второй контекст — </a:t>
            </a:r>
            <a:r>
              <a:rPr lang="ru-RU" b="1" dirty="0"/>
              <a:t>Читатели (</a:t>
            </a:r>
            <a:r>
              <a:rPr lang="ru-RU" b="1" dirty="0" err="1"/>
              <a:t>Readers</a:t>
            </a:r>
            <a:r>
              <a:rPr lang="ru-RU" b="1" dirty="0"/>
              <a:t> / </a:t>
            </a:r>
            <a:r>
              <a:rPr lang="ru-RU" b="1" dirty="0" err="1"/>
              <a:t>Patrons</a:t>
            </a:r>
            <a:r>
              <a:rPr lang="ru-RU" b="1" dirty="0"/>
              <a:t> / </a:t>
            </a:r>
            <a:r>
              <a:rPr lang="ru-RU" b="1" dirty="0" err="1"/>
              <a:t>Members</a:t>
            </a:r>
            <a:r>
              <a:rPr lang="ru-RU" b="1" dirty="0"/>
              <a:t>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Здесь в центре модели находится человек как пользователь библиотеки. Этот контекст отвечает за регистрацию читателей, хранение их данных, номер читательского билета, статус активности. Здесь же находятся правила, связанные с самим читателем: может ли он брать книги, не заблокирован ли он, есть ли у него штрафы. При этом контекст читателей </a:t>
            </a:r>
            <a:r>
              <a:rPr lang="ru-RU" b="1" dirty="0"/>
              <a:t>не знает</a:t>
            </a:r>
            <a:r>
              <a:rPr lang="ru-RU" dirty="0"/>
              <a:t>, какие конкретно книги сейчас у человека на руках. Его ответственность — люди и их права, а не движение книг.</a:t>
            </a:r>
          </a:p>
          <a:p>
            <a:endParaRPr lang="ru-RU" dirty="0"/>
          </a:p>
          <a:p>
            <a:r>
              <a:rPr lang="ru-RU" dirty="0"/>
              <a:t>Третий контекст — </a:t>
            </a:r>
            <a:r>
              <a:rPr lang="ru-RU" b="1" dirty="0"/>
              <a:t>Взятые книги (</a:t>
            </a:r>
            <a:r>
              <a:rPr lang="ru-RU" b="1" dirty="0" err="1"/>
              <a:t>Loans</a:t>
            </a:r>
            <a:r>
              <a:rPr lang="ru-RU" b="1" dirty="0"/>
              <a:t>)</a:t>
            </a:r>
            <a:r>
              <a:rPr lang="ru-RU" dirty="0"/>
              <a:t>, и он принципиально отличается от первых двух.</a:t>
            </a:r>
            <a:br>
              <a:rPr lang="ru-RU" dirty="0"/>
            </a:br>
            <a:r>
              <a:rPr lang="ru-RU" dirty="0"/>
              <a:t>Здесь мы моделируем не «книгу» и не «читателя» как таковых, а </a:t>
            </a:r>
            <a:r>
              <a:rPr lang="ru-RU" b="1" dirty="0"/>
              <a:t>факт выдачи</a:t>
            </a:r>
            <a:r>
              <a:rPr lang="ru-RU" dirty="0"/>
              <a:t>. </a:t>
            </a:r>
            <a:r>
              <a:rPr lang="ru-RU" dirty="0" err="1"/>
              <a:t>Loan</a:t>
            </a:r>
            <a:r>
              <a:rPr lang="ru-RU" dirty="0"/>
              <a:t> — это бизнес-событие и бизнес-объект: конкретный читатель взял конкретный экземпляр книги на определённый срок. В этом контексте появляются такие понятия, как период выдачи, дата возврата, факт возврата и просрочка. Именно здесь живут правила вроде «когда книга считается просроченной» или «можно ли продлить срок».</a:t>
            </a:r>
          </a:p>
          <a:p>
            <a:endParaRPr lang="ru-RU" dirty="0"/>
          </a:p>
          <a:p>
            <a:r>
              <a:rPr lang="ru-RU" dirty="0"/>
              <a:t>Важно подчеркнуть для студентов: во всех трёх контекстах могут встречаться слова «книга» и «читатель», но </a:t>
            </a:r>
            <a:r>
              <a:rPr lang="ru-RU" b="1" dirty="0"/>
              <a:t>их смысл различается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</a:t>
            </a:r>
            <a:r>
              <a:rPr lang="ru-RU" dirty="0" err="1"/>
              <a:t>Books</a:t>
            </a:r>
            <a:r>
              <a:rPr lang="ru-RU" dirty="0"/>
              <a:t> книга — это объект фонда, в </a:t>
            </a:r>
            <a:r>
              <a:rPr lang="ru-RU" dirty="0" err="1"/>
              <a:t>Readers</a:t>
            </a:r>
            <a:r>
              <a:rPr lang="ru-RU" dirty="0"/>
              <a:t> читатель — это пользователь библиотеки, а в </a:t>
            </a:r>
            <a:r>
              <a:rPr lang="ru-RU" dirty="0" err="1"/>
              <a:t>Loans</a:t>
            </a:r>
            <a:r>
              <a:rPr lang="ru-RU" dirty="0"/>
              <a:t> книга и читатель — это участники процесса выдачи. Именно поэтому </a:t>
            </a:r>
            <a:r>
              <a:rPr lang="ru-RU" dirty="0" err="1"/>
              <a:t>Loans</a:t>
            </a:r>
            <a:r>
              <a:rPr lang="ru-RU" dirty="0"/>
              <a:t> нельзя «просто добавить» в </a:t>
            </a:r>
            <a:r>
              <a:rPr lang="ru-RU" dirty="0" err="1"/>
              <a:t>Books</a:t>
            </a:r>
            <a:r>
              <a:rPr lang="ru-RU" dirty="0"/>
              <a:t> или </a:t>
            </a:r>
            <a:r>
              <a:rPr lang="ru-RU" dirty="0" err="1"/>
              <a:t>Readers</a:t>
            </a:r>
            <a:r>
              <a:rPr lang="ru-RU" dirty="0"/>
              <a:t> — это отдельный бизнес-процесс и отдельный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пример хорошо показывает основную идею DDD: мы разделяем систему не потому, что «так удобнее </a:t>
            </a:r>
            <a:r>
              <a:rPr lang="ru-RU" dirty="0" err="1"/>
              <a:t>кодить</a:t>
            </a:r>
            <a:r>
              <a:rPr lang="ru-RU" dirty="0"/>
              <a:t>», а потому что </a:t>
            </a:r>
            <a:r>
              <a:rPr lang="ru-RU" b="1" dirty="0"/>
              <a:t>разный бизнес-смысл требует разных моделей и разных границ ответственности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На диаграмме мы используем </a:t>
            </a:r>
            <a:r>
              <a:rPr lang="ru-RU" b="1" dirty="0" err="1"/>
              <a:t>Published</a:t>
            </a:r>
            <a:r>
              <a:rPr lang="ru-RU" b="1" dirty="0"/>
              <a:t> Language </a:t>
            </a:r>
            <a:r>
              <a:rPr lang="ru-RU" dirty="0"/>
              <a:t>как концептуальное обозначение того,</a:t>
            </a:r>
            <a:br>
              <a:rPr lang="ru-RU" dirty="0"/>
            </a:br>
            <a:r>
              <a:rPr lang="ru-RU" dirty="0"/>
              <a:t>что </a:t>
            </a:r>
            <a:r>
              <a:rPr lang="ru-RU" dirty="0" err="1"/>
              <a:t>Loans</a:t>
            </a:r>
            <a:r>
              <a:rPr lang="ru-RU" dirty="0"/>
              <a:t> использует </a:t>
            </a:r>
            <a:r>
              <a:rPr lang="ru-RU" i="1" dirty="0"/>
              <a:t>публично определённый контракт</a:t>
            </a:r>
            <a:r>
              <a:rPr lang="ru-RU" dirty="0"/>
              <a:t> </a:t>
            </a:r>
            <a:r>
              <a:rPr lang="ru-RU" dirty="0" err="1"/>
              <a:t>Books</a:t>
            </a:r>
            <a:r>
              <a:rPr lang="ru-RU" dirty="0"/>
              <a:t> и </a:t>
            </a:r>
            <a:r>
              <a:rPr lang="ru-RU" dirty="0" err="1"/>
              <a:t>Readers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реальной простой системе это может быть просто метод или запрос,</a:t>
            </a:r>
            <a:br>
              <a:rPr lang="ru-RU" dirty="0"/>
            </a:br>
            <a:r>
              <a:rPr lang="ru-RU" dirty="0"/>
              <a:t>но логически это всё равно </a:t>
            </a:r>
            <a:r>
              <a:rPr lang="ru-RU" dirty="0" err="1"/>
              <a:t>published</a:t>
            </a:r>
            <a:r>
              <a:rPr lang="ru-RU" dirty="0"/>
              <a:t>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upstream</a:t>
            </a:r>
            <a:r>
              <a:rPr lang="ru-RU" dirty="0"/>
              <a:t>-контекста.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 </a:t>
            </a:r>
            <a:r>
              <a:rPr lang="ru-RU" b="1" dirty="0"/>
              <a:t>очень простой системе</a:t>
            </a:r>
            <a:r>
              <a:rPr lang="ru-RU" dirty="0"/>
              <a:t> (учебной или монолитной):</a:t>
            </a:r>
          </a:p>
          <a:p>
            <a:r>
              <a:rPr lang="ru-RU" dirty="0" err="1"/>
              <a:t>Books</a:t>
            </a:r>
            <a:r>
              <a:rPr lang="ru-RU" dirty="0"/>
              <a:t>, </a:t>
            </a:r>
            <a:r>
              <a:rPr lang="ru-RU" dirty="0" err="1"/>
              <a:t>Readers</a:t>
            </a:r>
            <a:r>
              <a:rPr lang="ru-RU" dirty="0"/>
              <a:t> и </a:t>
            </a:r>
            <a:r>
              <a:rPr lang="ru-RU" dirty="0" err="1"/>
              <a:t>Loans</a:t>
            </a:r>
            <a:r>
              <a:rPr lang="ru-RU" dirty="0"/>
              <a:t> могут жить в одном кодовой базе</a:t>
            </a:r>
          </a:p>
          <a:p>
            <a:r>
              <a:rPr lang="ru-RU" dirty="0"/>
              <a:t>интеграция может быть просто через вызов методов</a:t>
            </a:r>
          </a:p>
          <a:p>
            <a:r>
              <a:rPr lang="ru-RU" dirty="0"/>
              <a:t>формального «публичного языка» может не быть</a:t>
            </a:r>
          </a:p>
          <a:p>
            <a:r>
              <a:rPr lang="ru-RU" dirty="0"/>
              <a:t>В таком случае строго по DDD можно сказать:</a:t>
            </a:r>
          </a:p>
          <a:p>
            <a:r>
              <a:rPr lang="ru-RU" dirty="0"/>
              <a:t>«Тут скорее </a:t>
            </a:r>
            <a:r>
              <a:rPr lang="ru-RU" i="1" dirty="0" err="1"/>
              <a:t>implicit</a:t>
            </a:r>
            <a:r>
              <a:rPr lang="ru-RU" i="1" dirty="0"/>
              <a:t> </a:t>
            </a:r>
            <a:r>
              <a:rPr lang="ru-RU" i="1" dirty="0" err="1"/>
              <a:t>shared</a:t>
            </a:r>
            <a:r>
              <a:rPr lang="ru-RU" i="1" dirty="0"/>
              <a:t> </a:t>
            </a:r>
            <a:r>
              <a:rPr lang="ru-RU" i="1" dirty="0" err="1"/>
              <a:t>model</a:t>
            </a:r>
            <a:r>
              <a:rPr lang="ru-RU" dirty="0"/>
              <a:t>, а не полноценный </a:t>
            </a:r>
            <a:r>
              <a:rPr lang="ru-RU" dirty="0" err="1"/>
              <a:t>Published</a:t>
            </a:r>
            <a:r>
              <a:rPr lang="ru-RU" dirty="0"/>
              <a:t> Language»</a:t>
            </a:r>
          </a:p>
          <a:p>
            <a:r>
              <a:rPr lang="ru-RU" dirty="0"/>
              <a:t>👉 </a:t>
            </a:r>
            <a:r>
              <a:rPr lang="ru-RU" b="1" dirty="0"/>
              <a:t>Но для обучения</a:t>
            </a:r>
            <a:r>
              <a:rPr lang="ru-RU" dirty="0"/>
              <a:t> </a:t>
            </a:r>
            <a:r>
              <a:rPr lang="ru-RU" dirty="0" err="1"/>
              <a:t>Published</a:t>
            </a:r>
            <a:r>
              <a:rPr lang="ru-RU" dirty="0"/>
              <a:t> Language часто используют:</a:t>
            </a:r>
          </a:p>
          <a:p>
            <a:r>
              <a:rPr lang="ru-RU" dirty="0"/>
              <a:t>чтобы показать направление зависимости</a:t>
            </a:r>
          </a:p>
          <a:p>
            <a:r>
              <a:rPr lang="ru-RU" dirty="0"/>
              <a:t>чтобы приучить думать контрактами</a:t>
            </a:r>
          </a:p>
          <a:p>
            <a:r>
              <a:rPr lang="ru-RU" dirty="0"/>
              <a:t>чтобы подготовить к более сложным системам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571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определены, возникает следующий важный вопрос: </a:t>
            </a:r>
            <a:r>
              <a:rPr lang="ru-RU" b="1" dirty="0"/>
              <a:t>как эти контексты должны взаимодействовать друг с другом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DDD предлагает не оставлять это на усмотрение реализации, а осознанно выбрать тип интеграции. Это стратегическое решение, которое напрямую влияет на устойчивость системы и независимость команд.</a:t>
            </a:r>
          </a:p>
          <a:p>
            <a:r>
              <a:rPr lang="ru-RU" dirty="0"/>
              <a:t>Тип интеграции определяет, насколько одна модель может влиять на другую, кто адаптируется, а кто диктует правила, и где проходит граница ответственности.</a:t>
            </a:r>
          </a:p>
          <a:p>
            <a:endParaRPr lang="ru-RU" dirty="0"/>
          </a:p>
          <a:p>
            <a:r>
              <a:rPr lang="ru-RU" dirty="0"/>
              <a:t>Важно понимать, что не существует «лучшего» типа интеграции. Каждый из них подходит для определённых условий: организационных, бизнесовых и технических.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206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Kernel</a:t>
            </a:r>
            <a:r>
              <a:rPr lang="ru-RU" dirty="0"/>
              <a:t> означает, что два или более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разделяют часть общей доменной модели.</a:t>
            </a:r>
          </a:p>
          <a:p>
            <a:endParaRPr lang="ru-RU" dirty="0"/>
          </a:p>
          <a:p>
            <a:r>
              <a:rPr lang="ru-RU" dirty="0"/>
              <a:t>Это может быть набор сущностей,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 или бизнес-правил, которые одинаково важны для всех сторон.</a:t>
            </a:r>
          </a:p>
          <a:p>
            <a:r>
              <a:rPr lang="ru-RU" dirty="0"/>
              <a:t>Преимущество такого подхода — отсутствие дублирования и единый источник истины.</a:t>
            </a:r>
          </a:p>
          <a:p>
            <a:endParaRPr lang="ru-RU" dirty="0"/>
          </a:p>
          <a:p>
            <a:r>
              <a:rPr lang="ru-RU" dirty="0"/>
              <a:t>Недостаток — высокая связанность. Любое изменение в общей части требует координации между командами.</a:t>
            </a:r>
          </a:p>
          <a:p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Kernel</a:t>
            </a:r>
            <a:r>
              <a:rPr lang="ru-RU" dirty="0"/>
              <a:t> хорошо работает только тогда, когда команды тесно взаимодействуют, имеют общий ритм разработки и высокий уровень доверия.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900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модели Customer / </a:t>
            </a:r>
            <a:r>
              <a:rPr lang="ru-RU" dirty="0" err="1"/>
              <a:t>Supplier</a:t>
            </a:r>
            <a:r>
              <a:rPr lang="ru-RU" dirty="0"/>
              <a:t> один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выступает поставщиком модели, а другой — её потребителем.</a:t>
            </a:r>
          </a:p>
          <a:p>
            <a:endParaRPr lang="ru-RU" dirty="0"/>
          </a:p>
          <a:p>
            <a:r>
              <a:rPr lang="ru-RU" dirty="0"/>
              <a:t>Поставщик определяет структуру и правила, а потребитель зависит от них, но при этом может влиять на изменения через договорённости.</a:t>
            </a:r>
          </a:p>
          <a:p>
            <a:endParaRPr lang="ru-RU" dirty="0"/>
          </a:p>
          <a:p>
            <a:r>
              <a:rPr lang="ru-RU" dirty="0"/>
              <a:t>Этот тип интеграции хорошо отражает реальные организационные отношения между командами или подразделениями бизнеса.</a:t>
            </a:r>
          </a:p>
          <a:p>
            <a:r>
              <a:rPr lang="ru-RU" dirty="0"/>
              <a:t>Ключевая идея — зависимость есть, но она осознанная и управляемая.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170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Conformist</a:t>
            </a:r>
            <a:r>
              <a:rPr lang="ru-RU" dirty="0"/>
              <a:t> — это ситуация, когда один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полностью подстраивается под модель другого.</a:t>
            </a:r>
          </a:p>
          <a:p>
            <a:endParaRPr lang="ru-RU" dirty="0"/>
          </a:p>
          <a:p>
            <a:r>
              <a:rPr lang="ru-RU" dirty="0"/>
              <a:t>Потребитель не имеет возможности влиять на модель поставщика и просто принимает её такой, какая она есть.</a:t>
            </a:r>
          </a:p>
          <a:p>
            <a:endParaRPr lang="ru-RU" dirty="0"/>
          </a:p>
          <a:p>
            <a:r>
              <a:rPr lang="ru-RU" dirty="0"/>
              <a:t>С технической точки зрения это самый простой вариант, но с точки зрения домена — самый рискованный.</a:t>
            </a:r>
          </a:p>
          <a:p>
            <a:r>
              <a:rPr lang="ru-RU" dirty="0" err="1"/>
              <a:t>Conformist</a:t>
            </a:r>
            <a:r>
              <a:rPr lang="ru-RU" dirty="0"/>
              <a:t> часто возникает, когда интеграция идёт с внешней системой или когда организационно одна команда не может влиять на другую.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819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Anti-</a:t>
            </a:r>
            <a:r>
              <a:rPr lang="ru-RU" dirty="0" err="1"/>
              <a:t>Corruption</a:t>
            </a:r>
            <a:r>
              <a:rPr lang="ru-RU" dirty="0"/>
              <a:t> Layer — один из самых важных и практичных паттернов DDD.</a:t>
            </a:r>
          </a:p>
          <a:p>
            <a:endParaRPr lang="ru-RU" dirty="0"/>
          </a:p>
          <a:p>
            <a:r>
              <a:rPr lang="ru-RU" dirty="0"/>
              <a:t>Его задача — защитить доменную модель одного контекста от влияния другой, потенциально «враждебной» модели.</a:t>
            </a:r>
          </a:p>
          <a:p>
            <a:endParaRPr lang="ru-RU" dirty="0"/>
          </a:p>
          <a:p>
            <a:r>
              <a:rPr lang="ru-RU" dirty="0"/>
              <a:t>ACL переводит данные, команды и события из внешнего контекста во внутренние термины домена и обратно.</a:t>
            </a:r>
          </a:p>
          <a:p>
            <a:r>
              <a:rPr lang="ru-RU" dirty="0"/>
              <a:t>Да, это добавляет дополнительный слой и усложняет систему, но взамен даёт устойчивость и независимость модели.</a:t>
            </a:r>
          </a:p>
          <a:p>
            <a:r>
              <a:rPr lang="ru-RU" b="1" dirty="0"/>
              <a:t>ACL — это инвестиция в долгосрочное здоровье системы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499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 типа интеграции — это всегда компромисс между скоростью, независимостью и сложностью.</a:t>
            </a:r>
          </a:p>
          <a:p>
            <a:r>
              <a:rPr lang="ru-RU" dirty="0"/>
              <a:t>Важно, чтобы этот выбор был </a:t>
            </a:r>
            <a:r>
              <a:rPr lang="ru-RU" b="1" dirty="0"/>
              <a:t>явным</a:t>
            </a:r>
            <a:r>
              <a:rPr lang="ru-RU" dirty="0"/>
              <a:t>. Даже плохой, но осознанный вариант лучше, чем неявная и неконтролируемая связанность.</a:t>
            </a:r>
          </a:p>
          <a:p>
            <a:r>
              <a:rPr lang="ru-RU" dirty="0"/>
              <a:t>DDD учит не бояться признавать зависимости, а управлять ими.</a:t>
            </a:r>
          </a:p>
          <a:p>
            <a:endParaRPr lang="ru-RU" dirty="0"/>
          </a:p>
          <a:p>
            <a:r>
              <a:rPr lang="ru-RU" dirty="0"/>
              <a:t>Для главный вывод: архитектура — это не только код, но и отражение организационных и бизнес-реалий.</a:t>
            </a:r>
          </a:p>
          <a:p>
            <a:r>
              <a:rPr lang="ru-RU" dirty="0"/>
              <a:t>Именно поэтому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и типы интеграции — одни из самых ценных инструментов стратегического DDD.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67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распространённый миф — что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и микросервисы означают одно и то же. Это не так.</a:t>
            </a:r>
          </a:p>
          <a:p>
            <a:endParaRPr lang="ru-RU" dirty="0"/>
          </a:p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это логическая граница модели и языка. Микросервис — это способ физического развертывания и изоляции кода.</a:t>
            </a:r>
          </a:p>
          <a:p>
            <a:endParaRPr lang="ru-RU" dirty="0"/>
          </a:p>
          <a:p>
            <a:r>
              <a:rPr lang="ru-RU" dirty="0"/>
              <a:t>Иногда один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действительно реализуют как один микросервис, и это может быть удачным решением. Но это не обязательное правило.</a:t>
            </a:r>
          </a:p>
          <a:p>
            <a:endParaRPr lang="ru-RU" dirty="0"/>
          </a:p>
          <a:p>
            <a:r>
              <a:rPr lang="ru-RU" dirty="0"/>
              <a:t>DDD прекрасно работает и в модульном монолите, где контексты разделены на уровне кода, зависимостей и ответственности.</a:t>
            </a:r>
          </a:p>
          <a:p>
            <a:endParaRPr lang="ru-RU" dirty="0"/>
          </a:p>
          <a:p>
            <a:r>
              <a:rPr lang="ru-RU" dirty="0"/>
              <a:t>Ключевая идея DDD: </a:t>
            </a:r>
            <a:r>
              <a:rPr lang="ru-RU" b="1" dirty="0"/>
              <a:t>сначала модель и границы, потом инфраструктурные решения</a:t>
            </a:r>
            <a:r>
              <a:rPr lang="ru-RU" dirty="0"/>
              <a:t>. Не наоборот.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39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550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— это практическая техника из Domain Driven Design, предназначенная для совместного изучения предметной области.</a:t>
            </a:r>
          </a:p>
          <a:p>
            <a:endParaRPr lang="ru-RU" dirty="0"/>
          </a:p>
          <a:p>
            <a:r>
              <a:rPr lang="ru-RU" dirty="0"/>
              <a:t>В отличие от классических диаграмм, Event </a:t>
            </a:r>
            <a:r>
              <a:rPr lang="ru-RU" dirty="0" err="1"/>
              <a:t>Storming</a:t>
            </a:r>
            <a:r>
              <a:rPr lang="ru-RU" dirty="0"/>
              <a:t> не начинается с классов, таблиц или API. Он начинается с обсуждения того, </a:t>
            </a:r>
            <a:r>
              <a:rPr lang="ru-RU" b="1" dirty="0"/>
              <a:t>что реально происходит в бизнесе</a:t>
            </a:r>
            <a:r>
              <a:rPr lang="ru-RU" dirty="0"/>
              <a:t>.</a:t>
            </a:r>
          </a:p>
          <a:p>
            <a:r>
              <a:rPr lang="ru-RU" dirty="0"/>
              <a:t>Главный элемент Event </a:t>
            </a:r>
            <a:r>
              <a:rPr lang="ru-RU" dirty="0" err="1"/>
              <a:t>Storming</a:t>
            </a:r>
            <a:r>
              <a:rPr lang="ru-RU" dirty="0"/>
              <a:t> — это </a:t>
            </a:r>
            <a:r>
              <a:rPr lang="ru-RU" b="1" dirty="0"/>
              <a:t>доменные события</a:t>
            </a:r>
            <a:r>
              <a:rPr lang="ru-RU" dirty="0"/>
              <a:t>, то есть факты, которые уже произошли и имеют бизнес-смысл.</a:t>
            </a:r>
          </a:p>
          <a:p>
            <a:endParaRPr lang="ru-RU" dirty="0"/>
          </a:p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обычно проводится в группе: разработчики, аналитики, представители бизнеса. Все работают вместе, обсуждают и договариваются.</a:t>
            </a:r>
          </a:p>
          <a:p>
            <a:endParaRPr lang="ru-RU" dirty="0"/>
          </a:p>
          <a:p>
            <a:r>
              <a:rPr lang="ru-RU" dirty="0"/>
              <a:t>Цель не в том, чтобы сразу получить «идеальный дизайн», а в том, чтобы прийти к </a:t>
            </a:r>
            <a:r>
              <a:rPr lang="ru-RU" b="1" dirty="0"/>
              <a:t>общему пониманию домена и языка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217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Доменные события — центральное понятие Event </a:t>
            </a:r>
            <a:r>
              <a:rPr lang="ru-RU" dirty="0" err="1"/>
              <a:t>Storming</a:t>
            </a:r>
            <a:r>
              <a:rPr lang="ru-RU" dirty="0"/>
              <a:t>.</a:t>
            </a:r>
          </a:p>
          <a:p>
            <a:r>
              <a:rPr lang="ru-RU" dirty="0"/>
              <a:t>Событие описывает </a:t>
            </a:r>
            <a:r>
              <a:rPr lang="ru-RU" b="1" dirty="0"/>
              <a:t>то, что уже произошло</a:t>
            </a:r>
            <a:r>
              <a:rPr lang="ru-RU" dirty="0"/>
              <a:t> в системе и важно для бизнеса. Оно всегда формулируется в прошедшем времени.</a:t>
            </a:r>
          </a:p>
          <a:p>
            <a:endParaRPr lang="ru-RU" dirty="0"/>
          </a:p>
          <a:p>
            <a:r>
              <a:rPr lang="ru-RU" dirty="0"/>
              <a:t>Для библиотеки примеры доменных событий могут быть такими:</a:t>
            </a:r>
            <a:br>
              <a:rPr lang="ru-RU" dirty="0"/>
            </a:br>
            <a:r>
              <a:rPr lang="ru-RU" i="1" dirty="0"/>
              <a:t>Книга добавлена в каталог</a:t>
            </a:r>
            <a:r>
              <a:rPr lang="ru-RU" dirty="0"/>
              <a:t>, </a:t>
            </a:r>
            <a:r>
              <a:rPr lang="ru-RU" i="1" dirty="0"/>
              <a:t>Читатель зарегистрирован</a:t>
            </a:r>
            <a:r>
              <a:rPr lang="ru-RU" dirty="0"/>
              <a:t>, </a:t>
            </a:r>
            <a:r>
              <a:rPr lang="ru-RU" i="1" dirty="0"/>
              <a:t>Книга выдана</a:t>
            </a:r>
            <a:r>
              <a:rPr lang="ru-RU" dirty="0"/>
              <a:t>, </a:t>
            </a:r>
            <a:r>
              <a:rPr lang="ru-RU" i="1" dirty="0"/>
              <a:t>Книга возвращена</a:t>
            </a:r>
            <a:r>
              <a:rPr lang="ru-RU" dirty="0"/>
              <a:t>, </a:t>
            </a:r>
            <a:r>
              <a:rPr lang="ru-RU" i="1" dirty="0"/>
              <a:t>Срок выдачи истёк</a:t>
            </a:r>
            <a:r>
              <a:rPr lang="ru-RU" dirty="0"/>
              <a:t>.</a:t>
            </a:r>
          </a:p>
          <a:p>
            <a:r>
              <a:rPr lang="ru-RU" dirty="0"/>
              <a:t>Важно не путать событие с действием пользователя. Например, «Выдать книгу» — это команда, а «Книга выдана» — событие.</a:t>
            </a:r>
          </a:p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начинается с того, что команда выписывает такие события и размещает их на временной шкале, обсуждая порядок и смысл.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763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этапе Big Picture Event </a:t>
            </a:r>
            <a:r>
              <a:rPr lang="ru-RU" dirty="0" err="1"/>
              <a:t>Storming</a:t>
            </a:r>
            <a:r>
              <a:rPr lang="ru-RU" dirty="0"/>
              <a:t> мы смотрим на систему библиотеки целиком, не углубляясь в детали реализации.</a:t>
            </a:r>
          </a:p>
          <a:p>
            <a:endParaRPr lang="ru-RU" dirty="0"/>
          </a:p>
          <a:p>
            <a:r>
              <a:rPr lang="ru-RU" dirty="0"/>
              <a:t>Мы берём основные доменные события и выстраиваем их в хронологическом порядке: от появления книги в библиотеке до её выдачи, возврата и возможной просрочки.</a:t>
            </a:r>
          </a:p>
          <a:p>
            <a:r>
              <a:rPr lang="ru-RU" dirty="0"/>
              <a:t>Например: </a:t>
            </a:r>
            <a:r>
              <a:rPr lang="ru-RU" i="1" dirty="0"/>
              <a:t>Книга добавлена</a:t>
            </a:r>
            <a:r>
              <a:rPr lang="ru-RU" dirty="0"/>
              <a:t> → </a:t>
            </a:r>
            <a:r>
              <a:rPr lang="ru-RU" i="1" dirty="0"/>
              <a:t>Экземпляр доступен</a:t>
            </a:r>
            <a:r>
              <a:rPr lang="ru-RU" dirty="0"/>
              <a:t> → </a:t>
            </a:r>
            <a:r>
              <a:rPr lang="ru-RU" i="1" dirty="0"/>
              <a:t>Книга выдана</a:t>
            </a:r>
            <a:r>
              <a:rPr lang="ru-RU" dirty="0"/>
              <a:t> → </a:t>
            </a:r>
            <a:r>
              <a:rPr lang="ru-RU" i="1" dirty="0"/>
              <a:t>Срок выдачи истёк</a:t>
            </a:r>
            <a:r>
              <a:rPr lang="ru-RU" dirty="0"/>
              <a:t> → </a:t>
            </a:r>
            <a:r>
              <a:rPr lang="ru-RU" i="1" dirty="0"/>
              <a:t>Книга возвращена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 этом этапе часто всплывают неожиданные вопросы: а что происходит, если читатель заблокирован? а можно ли продлить срок? а что делать с утерянной книгой?</a:t>
            </a:r>
          </a:p>
          <a:p>
            <a:r>
              <a:rPr lang="ru-RU" dirty="0"/>
              <a:t>Big Picture Event </a:t>
            </a:r>
            <a:r>
              <a:rPr lang="ru-RU" dirty="0" err="1"/>
              <a:t>Storming</a:t>
            </a:r>
            <a:r>
              <a:rPr lang="ru-RU" dirty="0"/>
              <a:t> помогает увидеть, где домен простой, а где скрыта реальная сложность.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153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события начинают группироваться, становится видно, что они относятся к разным частям бизнеса.</a:t>
            </a:r>
          </a:p>
          <a:p>
            <a:endParaRPr lang="ru-RU" dirty="0"/>
          </a:p>
          <a:p>
            <a:r>
              <a:rPr lang="ru-RU" dirty="0"/>
              <a:t>События вроде </a:t>
            </a:r>
            <a:r>
              <a:rPr lang="ru-RU" i="1" dirty="0"/>
              <a:t>Книга добавлена</a:t>
            </a:r>
            <a:r>
              <a:rPr lang="ru-RU" dirty="0"/>
              <a:t>, </a:t>
            </a:r>
            <a:r>
              <a:rPr lang="ru-RU" i="1" dirty="0"/>
              <a:t>Экземпляр списан</a:t>
            </a:r>
            <a:r>
              <a:rPr lang="ru-RU" dirty="0"/>
              <a:t> естественно группируются вокруг каталога книг — это будущий контекст </a:t>
            </a:r>
            <a:r>
              <a:rPr lang="ru-RU" b="1" dirty="0" err="1"/>
              <a:t>Books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События </a:t>
            </a:r>
            <a:r>
              <a:rPr lang="ru-RU" i="1" dirty="0"/>
              <a:t>Читатель зарегистрирован</a:t>
            </a:r>
            <a:r>
              <a:rPr lang="ru-RU" dirty="0"/>
              <a:t>, </a:t>
            </a:r>
            <a:r>
              <a:rPr lang="ru-RU" i="1" dirty="0"/>
              <a:t>Читатель заблокирован</a:t>
            </a:r>
            <a:r>
              <a:rPr lang="ru-RU" dirty="0"/>
              <a:t> относятся к контексту </a:t>
            </a:r>
            <a:r>
              <a:rPr lang="ru-RU" b="1" dirty="0" err="1"/>
              <a:t>Readers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События </a:t>
            </a:r>
            <a:r>
              <a:rPr lang="ru-RU" i="1" dirty="0"/>
              <a:t>Книга выдана</a:t>
            </a:r>
            <a:r>
              <a:rPr lang="ru-RU" dirty="0"/>
              <a:t>, </a:t>
            </a:r>
            <a:r>
              <a:rPr lang="ru-RU" i="1" dirty="0"/>
              <a:t>Книга возвращена</a:t>
            </a:r>
            <a:r>
              <a:rPr lang="ru-RU" dirty="0"/>
              <a:t>, </a:t>
            </a:r>
            <a:r>
              <a:rPr lang="ru-RU" i="1" dirty="0"/>
              <a:t>Срок выдачи истёк</a:t>
            </a:r>
            <a:r>
              <a:rPr lang="ru-RU" dirty="0"/>
              <a:t> образуют контекст </a:t>
            </a:r>
            <a:r>
              <a:rPr lang="ru-RU" b="1" dirty="0" err="1"/>
              <a:t>Loans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 Event </a:t>
            </a:r>
            <a:r>
              <a:rPr lang="ru-RU" dirty="0" err="1"/>
              <a:t>Storming</a:t>
            </a:r>
            <a:r>
              <a:rPr lang="ru-RU" dirty="0"/>
              <a:t> естественным образом подсказывает границы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не «по желанию архитектора», а по смыслу бизнеса.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197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того как мы провели Event </a:t>
            </a:r>
            <a:r>
              <a:rPr lang="ru-RU" dirty="0" err="1"/>
              <a:t>Storming</a:t>
            </a:r>
            <a:r>
              <a:rPr lang="ru-RU" dirty="0"/>
              <a:t> на уровне Big Picture и более-менее поняли границы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появляется следующий логичный шаг: использовать результаты, чтобы перейти к </a:t>
            </a:r>
            <a:r>
              <a:rPr lang="ru-RU" b="1" dirty="0"/>
              <a:t>тактическому дизайну</a:t>
            </a:r>
            <a:r>
              <a:rPr lang="ru-RU" dirty="0"/>
              <a:t> — то есть к тем самым </a:t>
            </a:r>
            <a:r>
              <a:rPr lang="ru-RU" dirty="0" err="1"/>
              <a:t>building</a:t>
            </a:r>
            <a:r>
              <a:rPr lang="ru-RU" dirty="0"/>
              <a:t> </a:t>
            </a:r>
            <a:r>
              <a:rPr lang="ru-RU" dirty="0" err="1"/>
              <a:t>blocks</a:t>
            </a:r>
            <a:r>
              <a:rPr lang="ru-RU" dirty="0"/>
              <a:t> DDD: агрегатам, доменным событиям, инвариантам и методам.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Идея простая: на доске у нас уже есть цепочка </a:t>
            </a:r>
            <a:r>
              <a:rPr lang="ru-RU" b="1" dirty="0"/>
              <a:t>доменных событий</a:t>
            </a:r>
            <a:r>
              <a:rPr lang="ru-RU" dirty="0"/>
              <a:t> — например, для библиотеки это может быть </a:t>
            </a:r>
            <a:r>
              <a:rPr lang="ru-RU" i="1" dirty="0"/>
              <a:t>«Книга выдана»</a:t>
            </a:r>
            <a:r>
              <a:rPr lang="ru-RU" dirty="0"/>
              <a:t>, </a:t>
            </a:r>
            <a:r>
              <a:rPr lang="ru-RU" i="1" dirty="0"/>
              <a:t>«Книга возвращена»</a:t>
            </a:r>
            <a:r>
              <a:rPr lang="ru-RU" dirty="0"/>
              <a:t>, </a:t>
            </a:r>
            <a:r>
              <a:rPr lang="ru-RU" i="1" dirty="0"/>
              <a:t>«Срок выдачи истёк»</a:t>
            </a:r>
            <a:r>
              <a:rPr lang="ru-RU" dirty="0"/>
              <a:t>. Теперь мы задаём практический вопрос: </a:t>
            </a:r>
            <a:r>
              <a:rPr lang="ru-RU" b="1" dirty="0"/>
              <a:t>что должно произойти в системе, чтобы такое событие появилось?</a:t>
            </a:r>
            <a:r>
              <a:rPr lang="ru-RU" dirty="0"/>
              <a:t> Ответ на этот вопрос обычно приводит к </a:t>
            </a:r>
            <a:r>
              <a:rPr lang="ru-RU" b="1" dirty="0"/>
              <a:t>команде</a:t>
            </a:r>
            <a:r>
              <a:rPr lang="ru-RU" dirty="0"/>
              <a:t> — намерению пользователя или системы: </a:t>
            </a:r>
            <a:r>
              <a:rPr lang="ru-RU" i="1" dirty="0"/>
              <a:t>«Выдать книгу»</a:t>
            </a:r>
            <a:r>
              <a:rPr lang="ru-RU" dirty="0"/>
              <a:t>, </a:t>
            </a:r>
            <a:r>
              <a:rPr lang="ru-RU" i="1" dirty="0"/>
              <a:t>«Принять возврат»</a:t>
            </a:r>
            <a:r>
              <a:rPr lang="ru-RU" dirty="0"/>
              <a:t>, </a:t>
            </a:r>
            <a:r>
              <a:rPr lang="ru-RU" i="1" dirty="0"/>
              <a:t>«Продлить срок»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мы уточняем: команда не должна “просто что-то сделать”. Она должна быть обработана так, чтобы доменная модель гарантировала корректность. Это приводит нас к вопросу: </a:t>
            </a:r>
            <a:r>
              <a:rPr lang="ru-RU" b="1" dirty="0"/>
              <a:t>кто владеет изменением и где должна жить проверка правил?</a:t>
            </a:r>
            <a:r>
              <a:rPr lang="ru-RU" dirty="0"/>
              <a:t> Здесь и появляется кандидат на агрегат. В библиотеке естественный агрегат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</a:t>
            </a:r>
            <a:r>
              <a:rPr lang="ru-RU" dirty="0"/>
              <a:t>, потому что выдача — это отдельный бизнес-объект, который имеет жизненный цикл и состояние: выдано, возвращено, просрочено.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Следующий шаг — самый важный: мы формулируем </a:t>
            </a:r>
            <a:r>
              <a:rPr lang="ru-RU" b="1" dirty="0"/>
              <a:t>инварианты</a:t>
            </a:r>
            <a:r>
              <a:rPr lang="ru-RU" dirty="0"/>
              <a:t>, то есть правила, которые нельзя нарушать. В примере выдачи книги это может быть: читатель должен быть активен, экземпляр книги должен быть доступен, лимит книг у читателя не должен быть превышен. Эти правила должны проверяться не в UI и не в контроллере, а внутри доменной логики — обычно внутри метода агрегата.</a:t>
            </a:r>
          </a:p>
          <a:p>
            <a:endParaRPr lang="ru-RU" dirty="0"/>
          </a:p>
          <a:p>
            <a:r>
              <a:rPr lang="ru-RU" dirty="0"/>
              <a:t>Когда команда прошла проверки и бизнес-правила соблюдены, мы фиксируем результат как </a:t>
            </a:r>
            <a:r>
              <a:rPr lang="ru-RU" b="1" dirty="0"/>
              <a:t>Domain Event</a:t>
            </a:r>
            <a:r>
              <a:rPr lang="ru-RU" dirty="0"/>
              <a:t> — то есть как факт из прошлого: </a:t>
            </a:r>
            <a:r>
              <a:rPr lang="ru-RU" i="1" dirty="0"/>
              <a:t>«Книга выдана»</a:t>
            </a:r>
            <a:r>
              <a:rPr lang="ru-RU" dirty="0"/>
              <a:t>. Это событие становится устойчивой точкой: его можно записать в историю, на него можно реагировать в других частях системы (например, отправить уведомление читателю или обновить отчётность).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итоге Event </a:t>
            </a:r>
            <a:r>
              <a:rPr lang="ru-RU" dirty="0" err="1"/>
              <a:t>Storming</a:t>
            </a:r>
            <a:r>
              <a:rPr lang="ru-RU" dirty="0"/>
              <a:t> превращается в очень практичный мост: мы начинаем с общего обсуждения процесса, а заканчиваем понятным наброском тактической модели: какие команды существуют, какие агрегаты их обрабатывают, какие инварианты они защищают и какие доменные события фиксируют результат.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важный акцент: всё это появляется не “в голове архитектора”, а в ходе коллективного обсуждения. Поэтому Event </a:t>
            </a:r>
            <a:r>
              <a:rPr lang="ru-RU" dirty="0" err="1"/>
              <a:t>Storming</a:t>
            </a:r>
            <a:r>
              <a:rPr lang="ru-RU" dirty="0"/>
              <a:t> особенно полезен для студентов — он учит проектировать систему через смысл и правила, а не через классы и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787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875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особенно ценен в учебных проектах, потому что он </a:t>
            </a:r>
            <a:r>
              <a:rPr lang="ru-RU" b="1" dirty="0"/>
              <a:t>меняет точку входа в проектирование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Студенты обычно начинают с вопроса: </a:t>
            </a:r>
            <a:r>
              <a:rPr lang="ru-RU" i="1" dirty="0"/>
              <a:t>«какие классы мне нужны?»</a:t>
            </a:r>
            <a:r>
              <a:rPr lang="ru-RU" dirty="0"/>
              <a:t> или </a:t>
            </a:r>
            <a:r>
              <a:rPr lang="ru-RU" i="1" dirty="0"/>
              <a:t>«какую базу данных выбрать?»</a:t>
            </a:r>
            <a:r>
              <a:rPr lang="ru-RU" dirty="0"/>
              <a:t>. Event </a:t>
            </a:r>
            <a:r>
              <a:rPr lang="ru-RU" dirty="0" err="1"/>
              <a:t>Storming</a:t>
            </a:r>
            <a:r>
              <a:rPr lang="ru-RU" dirty="0"/>
              <a:t> заставляет задать другой, более правильный вопрос: </a:t>
            </a:r>
            <a:r>
              <a:rPr lang="ru-RU" i="1" dirty="0"/>
              <a:t>«что на самом деле происходит в предметной области?»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Через обсуждение доменных событий студенты начинают видеть систему как </a:t>
            </a:r>
            <a:r>
              <a:rPr lang="ru-RU" b="1" dirty="0"/>
              <a:t>набор бизнес-процессов</a:t>
            </a:r>
            <a:r>
              <a:rPr lang="ru-RU" dirty="0"/>
              <a:t>, а не как набор технических сущностей. В библиотечном примере это хорошо видно: вместо абстрактных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BookService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ReaderController</a:t>
            </a:r>
            <a:r>
              <a:rPr lang="ru-RU" dirty="0"/>
              <a:t> появляются понятные вещи — </a:t>
            </a:r>
            <a:r>
              <a:rPr lang="ru-RU" i="1" dirty="0"/>
              <a:t>книга выдана</a:t>
            </a:r>
            <a:r>
              <a:rPr lang="ru-RU" dirty="0"/>
              <a:t>, </a:t>
            </a:r>
            <a:r>
              <a:rPr lang="ru-RU" i="1" dirty="0"/>
              <a:t>книга возвращена</a:t>
            </a:r>
            <a:r>
              <a:rPr lang="ru-RU" dirty="0"/>
              <a:t>, </a:t>
            </a:r>
            <a:r>
              <a:rPr lang="ru-RU" i="1" dirty="0"/>
              <a:t>читатель заблокирован</a:t>
            </a:r>
            <a:r>
              <a:rPr lang="ru-RU" dirty="0"/>
              <a:t>. Это сразу приближает мышление к реальности бизнеса.</a:t>
            </a:r>
          </a:p>
          <a:p>
            <a:r>
              <a:rPr lang="ru-RU" dirty="0"/>
              <a:t>Важный эффект Event </a:t>
            </a:r>
            <a:r>
              <a:rPr lang="ru-RU" dirty="0" err="1"/>
              <a:t>Storming</a:t>
            </a:r>
            <a:r>
              <a:rPr lang="ru-RU" dirty="0"/>
              <a:t> — формирование </a:t>
            </a:r>
            <a:r>
              <a:rPr lang="ru-RU" b="1" dirty="0"/>
              <a:t>общего языка</a:t>
            </a:r>
            <a:r>
              <a:rPr lang="ru-RU" dirty="0"/>
              <a:t>. Когда вся команда обсуждает события и процессы, термины начинают использоваться одинаково. Это помогает избежать ситуации, когда каждый понимает слово «заказ» или «выдача» по-своему. Для студентов это первый опыт осознанной работы с </a:t>
            </a:r>
            <a:r>
              <a:rPr lang="ru-RU" dirty="0" err="1"/>
              <a:t>ubiquitous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Кроме того, Event </a:t>
            </a:r>
            <a:r>
              <a:rPr lang="ru-RU" dirty="0" err="1"/>
              <a:t>Storming</a:t>
            </a:r>
            <a:r>
              <a:rPr lang="ru-RU" dirty="0"/>
              <a:t> естественным образом показывает, </a:t>
            </a:r>
            <a:r>
              <a:rPr lang="ru-RU" b="1" dirty="0"/>
              <a:t>где проходят границы домена</a:t>
            </a:r>
            <a:r>
              <a:rPr lang="ru-RU" dirty="0"/>
              <a:t>. Никто специально не «делит систему на модули» — контексты появляются сами, потому что события группируются по смыслу. В библиотеке это приводит к появлению контекстов </a:t>
            </a:r>
            <a:r>
              <a:rPr lang="ru-RU" dirty="0" err="1"/>
              <a:t>Books</a:t>
            </a:r>
            <a:r>
              <a:rPr lang="ru-RU" dirty="0"/>
              <a:t>, </a:t>
            </a:r>
            <a:r>
              <a:rPr lang="ru-RU" dirty="0" err="1"/>
              <a:t>Readers</a:t>
            </a:r>
            <a:r>
              <a:rPr lang="ru-RU" dirty="0"/>
              <a:t> и </a:t>
            </a:r>
            <a:r>
              <a:rPr lang="ru-RU" dirty="0" err="1"/>
              <a:t>Loans</a:t>
            </a:r>
            <a:r>
              <a:rPr lang="ru-RU" dirty="0"/>
              <a:t>, и становится понятно, почему их нельзя просто слить в одну модель.</a:t>
            </a:r>
          </a:p>
          <a:p>
            <a:endParaRPr lang="ru-RU" dirty="0"/>
          </a:p>
          <a:p>
            <a:r>
              <a:rPr lang="ru-RU" dirty="0"/>
              <a:t>Ещё один важный момент — Event </a:t>
            </a:r>
            <a:r>
              <a:rPr lang="ru-RU" dirty="0" err="1"/>
              <a:t>Storming</a:t>
            </a:r>
            <a:r>
              <a:rPr lang="ru-RU" dirty="0"/>
              <a:t> снижает страх перед архитектурой. Студенты видят, что архитектурные решения не берутся «из головы архитектора», а вырастают из обсуждения процессов и правил. Даже в небольшом учебном проекте становится ясно, почему появляются агрегаты, доменные события и инварианты.</a:t>
            </a:r>
          </a:p>
          <a:p>
            <a:endParaRPr lang="ru-RU" dirty="0"/>
          </a:p>
          <a:p>
            <a:r>
              <a:rPr lang="ru-RU" dirty="0"/>
              <a:t>Именно поэтому Event </a:t>
            </a:r>
            <a:r>
              <a:rPr lang="ru-RU" dirty="0" err="1"/>
              <a:t>Storming</a:t>
            </a:r>
            <a:r>
              <a:rPr lang="ru-RU" dirty="0"/>
              <a:t> часто используют как первый шаг при изучении DDD. Он учит </a:t>
            </a:r>
            <a:r>
              <a:rPr lang="ru-RU" b="1" dirty="0"/>
              <a:t>правильному способу мышления</a:t>
            </a:r>
            <a:r>
              <a:rPr lang="ru-RU" dirty="0"/>
              <a:t>, а не запоминанию терминов и паттернов. После такого опыта DDD перестаёт выглядеть абстрактной теорией и начинает восприниматься как практичный инструмент проектирования.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882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136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Entity</a:t>
            </a:r>
            <a:r>
              <a:rPr lang="ru-RU" dirty="0"/>
              <a:t> — это один из базовых строительных блоков тактического DDD.</a:t>
            </a:r>
          </a:p>
          <a:p>
            <a:r>
              <a:rPr lang="ru-RU" dirty="0"/>
              <a:t>Ключевая характеристика </a:t>
            </a:r>
            <a:r>
              <a:rPr lang="ru-RU" dirty="0" err="1"/>
              <a:t>entity</a:t>
            </a:r>
            <a:r>
              <a:rPr lang="ru-RU" dirty="0"/>
              <a:t> — наличие </a:t>
            </a:r>
            <a:r>
              <a:rPr lang="ru-RU" b="1" dirty="0"/>
              <a:t>идентичности</a:t>
            </a:r>
            <a:r>
              <a:rPr lang="ru-RU" dirty="0"/>
              <a:t>. Мы различаем сущности не по их полям, а по тому, </a:t>
            </a:r>
            <a:r>
              <a:rPr lang="ru-RU" i="1" dirty="0"/>
              <a:t>кто они есть</a:t>
            </a:r>
            <a:r>
              <a:rPr lang="ru-RU" dirty="0"/>
              <a:t> в домене.</a:t>
            </a:r>
          </a:p>
          <a:p>
            <a:r>
              <a:rPr lang="ru-RU" dirty="0"/>
              <a:t>Например, заказ остаётся тем же заказом, даже если меняется его статус, список товаров или адрес доставки.</a:t>
            </a:r>
          </a:p>
          <a:p>
            <a:r>
              <a:rPr lang="ru-RU" dirty="0" err="1"/>
              <a:t>Entity</a:t>
            </a:r>
            <a:r>
              <a:rPr lang="ru-RU" dirty="0"/>
              <a:t> обычно имеет жизненный цикл: создаётся, изменяется, может быть завершена или отменена.</a:t>
            </a:r>
          </a:p>
          <a:p>
            <a:endParaRPr lang="ru-RU" dirty="0"/>
          </a:p>
          <a:p>
            <a:r>
              <a:rPr lang="ru-RU" dirty="0"/>
              <a:t>Типичная ошибка — считать </a:t>
            </a:r>
            <a:r>
              <a:rPr lang="ru-RU" dirty="0" err="1"/>
              <a:t>entity</a:t>
            </a:r>
            <a:r>
              <a:rPr lang="ru-RU" dirty="0"/>
              <a:t> просто «записью в базе данных». В DDD </a:t>
            </a:r>
            <a:r>
              <a:rPr lang="ru-RU" dirty="0" err="1"/>
              <a:t>entity</a:t>
            </a:r>
            <a:r>
              <a:rPr lang="ru-RU" dirty="0"/>
              <a:t> — это бизнес-объект, который инкапсулирует поведение и правила.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476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Value Object описывает </a:t>
            </a:r>
            <a:r>
              <a:rPr lang="ru-RU" b="1" dirty="0"/>
              <a:t>значение</a:t>
            </a:r>
            <a:r>
              <a:rPr lang="ru-RU" dirty="0"/>
              <a:t>, а не сущность.</a:t>
            </a:r>
          </a:p>
          <a:p>
            <a:r>
              <a:rPr lang="ru-RU" dirty="0"/>
              <a:t>Если два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имеют одинаковые значения, они считаются равными и взаимозаменяемыми.</a:t>
            </a:r>
          </a:p>
          <a:p>
            <a:endParaRPr lang="ru-RU" dirty="0"/>
          </a:p>
          <a:p>
            <a:r>
              <a:rPr lang="ru-RU" dirty="0"/>
              <a:t>Классические примеры: деньги, адрес, диапазон дат, количество, процент, </a:t>
            </a:r>
            <a:r>
              <a:rPr lang="ru-RU" dirty="0" err="1"/>
              <a:t>email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Value </a:t>
            </a:r>
            <a:r>
              <a:rPr lang="ru-RU" dirty="0" err="1"/>
              <a:t>object</a:t>
            </a:r>
            <a:r>
              <a:rPr lang="ru-RU" dirty="0"/>
              <a:t> почти всегда делают </a:t>
            </a:r>
            <a:r>
              <a:rPr lang="ru-RU" b="1" dirty="0"/>
              <a:t>неизменяемыми</a:t>
            </a:r>
            <a:r>
              <a:rPr lang="ru-RU" dirty="0"/>
              <a:t>. Это сильно упрощает логику, тестирование и понимание модели.</a:t>
            </a:r>
          </a:p>
          <a:p>
            <a:endParaRPr lang="ru-RU" dirty="0"/>
          </a:p>
          <a:p>
            <a:r>
              <a:rPr lang="ru-RU" dirty="0"/>
              <a:t>Очень важно, что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может и должен содержать валидацию — он не должен существовать в некорректном состоянии.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6622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Различие между </a:t>
            </a:r>
            <a:r>
              <a:rPr lang="ru-RU" dirty="0" err="1"/>
              <a:t>entity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— одно из самых важных в DDD.</a:t>
            </a:r>
          </a:p>
          <a:p>
            <a:r>
              <a:rPr lang="ru-RU" dirty="0" err="1"/>
              <a:t>Entity</a:t>
            </a:r>
            <a:r>
              <a:rPr lang="ru-RU" dirty="0"/>
              <a:t> мы отслеживаем во времени: нам важно, что это «тот же самый объект».</a:t>
            </a:r>
          </a:p>
          <a:p>
            <a:r>
              <a:rPr lang="ru-RU" dirty="0"/>
              <a:t>Value </a:t>
            </a:r>
            <a:r>
              <a:rPr lang="ru-RU" dirty="0" err="1"/>
              <a:t>object</a:t>
            </a:r>
            <a:r>
              <a:rPr lang="ru-RU" dirty="0"/>
              <a:t> мы сравниваем по значению: если значения одинаковые, разницы нет.</a:t>
            </a:r>
          </a:p>
          <a:p>
            <a:endParaRPr lang="ru-RU" dirty="0"/>
          </a:p>
          <a:p>
            <a:r>
              <a:rPr lang="ru-RU" dirty="0"/>
              <a:t>Ошибкой является делать всё </a:t>
            </a:r>
            <a:r>
              <a:rPr lang="ru-RU" dirty="0" err="1"/>
              <a:t>entity</a:t>
            </a:r>
            <a:r>
              <a:rPr lang="ru-RU" dirty="0"/>
              <a:t> «на всякий случай». Это усложняет модель и добавляет лишнюю идентичность там, где она не нужна.</a:t>
            </a:r>
          </a:p>
          <a:p>
            <a:endParaRPr lang="ru-RU" dirty="0"/>
          </a:p>
          <a:p>
            <a:r>
              <a:rPr lang="ru-RU" dirty="0"/>
              <a:t>Хорошая доменная модель обычно содержит </a:t>
            </a:r>
            <a:r>
              <a:rPr lang="ru-RU" b="1" dirty="0"/>
              <a:t>много </a:t>
            </a:r>
            <a:r>
              <a:rPr lang="ru-RU" b="1" dirty="0" err="1"/>
              <a:t>value</a:t>
            </a:r>
            <a:r>
              <a:rPr lang="ru-RU" b="1" dirty="0"/>
              <a:t> </a:t>
            </a:r>
            <a:r>
              <a:rPr lang="ru-RU" b="1" dirty="0" err="1"/>
              <a:t>object</a:t>
            </a:r>
            <a:r>
              <a:rPr lang="ru-RU" b="1" dirty="0"/>
              <a:t> и относительно мало </a:t>
            </a:r>
            <a:r>
              <a:rPr lang="ru-RU" b="1" dirty="0" err="1"/>
              <a:t>entity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34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Aggregate</a:t>
            </a:r>
            <a:r>
              <a:rPr lang="ru-RU" dirty="0"/>
              <a:t> — это группа </a:t>
            </a:r>
            <a:r>
              <a:rPr lang="ru-RU" dirty="0" err="1"/>
              <a:t>entity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, которые логически образуют одно целое.</a:t>
            </a:r>
          </a:p>
          <a:p>
            <a:endParaRPr lang="ru-RU" dirty="0"/>
          </a:p>
          <a:p>
            <a:r>
              <a:rPr lang="ru-RU" dirty="0" err="1"/>
              <a:t>Aggregate</a:t>
            </a:r>
            <a:r>
              <a:rPr lang="ru-RU" dirty="0"/>
              <a:t> определяет </a:t>
            </a:r>
            <a:r>
              <a:rPr lang="ru-RU" b="1" dirty="0"/>
              <a:t>границу согласованности</a:t>
            </a:r>
            <a:r>
              <a:rPr lang="ru-RU" dirty="0"/>
              <a:t>: внутри агрегата все бизнес-правила должны соблюдаться всегда.</a:t>
            </a:r>
          </a:p>
          <a:p>
            <a:endParaRPr lang="ru-RU" dirty="0"/>
          </a:p>
          <a:p>
            <a:r>
              <a:rPr lang="ru-RU" dirty="0" err="1"/>
              <a:t>Aggregate</a:t>
            </a:r>
            <a:r>
              <a:rPr lang="ru-RU" dirty="0"/>
              <a:t> </a:t>
            </a:r>
            <a:r>
              <a:rPr lang="ru-RU" dirty="0" err="1"/>
              <a:t>Root</a:t>
            </a:r>
            <a:r>
              <a:rPr lang="ru-RU" dirty="0"/>
              <a:t> — это главный объект агрегата, через который осуществляется всё взаимодействие снаружи.</a:t>
            </a:r>
          </a:p>
          <a:p>
            <a:endParaRPr lang="ru-RU" dirty="0"/>
          </a:p>
          <a:p>
            <a:r>
              <a:rPr lang="ru-RU" dirty="0"/>
              <a:t>Внешний код не должен напрямую изменять внутренние объекты агрегата — только через </a:t>
            </a:r>
            <a:r>
              <a:rPr lang="ru-RU" dirty="0" err="1"/>
              <a:t>root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правило сильно упрощает поддержку инвариантов и делает модель более надёжной.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7450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Инварианты агрегата — это бизнес-правила, которые </a:t>
            </a:r>
            <a:r>
              <a:rPr lang="ru-RU" b="1" dirty="0"/>
              <a:t>никогда не должны нарушаться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Например: «нельзя добавить товар в подтверждённый заказ», «сумма платежа не может быть отрицательной», «баланс не может уйти ниже лимита».</a:t>
            </a:r>
          </a:p>
          <a:p>
            <a:endParaRPr lang="ru-RU" dirty="0"/>
          </a:p>
          <a:p>
            <a:r>
              <a:rPr lang="ru-RU" dirty="0"/>
              <a:t>DDD требует, чтобы эти правила проверялись </a:t>
            </a:r>
            <a:r>
              <a:rPr lang="ru-RU" b="1" dirty="0"/>
              <a:t>внутри агрегата</a:t>
            </a:r>
            <a:r>
              <a:rPr lang="ru-RU" dirty="0"/>
              <a:t>, а не в контроллерах или сервисах.</a:t>
            </a:r>
          </a:p>
          <a:p>
            <a:endParaRPr lang="ru-RU" dirty="0"/>
          </a:p>
          <a:p>
            <a:r>
              <a:rPr lang="ru-RU" dirty="0"/>
              <a:t>Если инвариант можно нарушить, вызвав метод не с того места — значит агрегат спроектирован неправильно.</a:t>
            </a:r>
          </a:p>
          <a:p>
            <a:r>
              <a:rPr lang="ru-RU" dirty="0"/>
              <a:t>Инварианты — одна из главных причин существования агрегатов в DDD.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9014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DDD одно из ключевых понятий — </a:t>
            </a:r>
            <a:r>
              <a:rPr lang="ru-RU" b="1" dirty="0"/>
              <a:t>идентичность</a:t>
            </a:r>
            <a:r>
              <a:rPr lang="ru-RU" dirty="0"/>
              <a:t>. </a:t>
            </a:r>
            <a:r>
              <a:rPr lang="ru-RU" dirty="0" err="1"/>
              <a:t>Entity</a:t>
            </a:r>
            <a:r>
              <a:rPr lang="ru-RU" dirty="0"/>
              <a:t> — это не просто объект с данными, а объект, который остаётся “тем же самым”, даже если его состояние меняется. Именно поэтому </a:t>
            </a:r>
            <a:r>
              <a:rPr lang="ru-RU" dirty="0" err="1"/>
              <a:t>Entity</a:t>
            </a:r>
            <a:r>
              <a:rPr lang="ru-RU" dirty="0"/>
              <a:t> всегда имеет </a:t>
            </a:r>
            <a:r>
              <a:rPr lang="ru-RU" b="1" dirty="0"/>
              <a:t>устойчивый идентификатор</a:t>
            </a:r>
            <a:r>
              <a:rPr lang="ru-RU" dirty="0"/>
              <a:t>, или ID.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понимать: в DDD </a:t>
            </a:r>
            <a:r>
              <a:rPr lang="ru-RU" b="1" dirty="0"/>
              <a:t>ID — это часть доменной модели</a:t>
            </a:r>
            <a:r>
              <a:rPr lang="ru-RU" dirty="0"/>
              <a:t>, а не просто технический первичный ключ из базы данных. Он используется, чтобы различать сущности, ссылаться на них и отслеживать их жизненный цикл. Часто ID оформляют как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LoanId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ReaderId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SlideId</a:t>
            </a:r>
            <a:r>
              <a:rPr lang="ru-RU" dirty="0"/>
              <a:t>, чтобы избежать путаницы и ошибок.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главный вопрос: </a:t>
            </a:r>
            <a:r>
              <a:rPr lang="ru-RU" b="1" dirty="0"/>
              <a:t>можно ли объектам ссылаться на сущности из других доменов напрямую?</a:t>
            </a:r>
            <a:br>
              <a:rPr lang="ru-RU" dirty="0"/>
            </a:br>
            <a:r>
              <a:rPr lang="ru-RU" dirty="0"/>
              <a:t>Короткий ответ: </a:t>
            </a:r>
            <a:r>
              <a:rPr lang="ru-RU" b="1" dirty="0"/>
              <a:t>нет, не стоит</a:t>
            </a:r>
            <a:r>
              <a:rPr lang="ru-RU" dirty="0"/>
              <a:t> — и вот почему.</a:t>
            </a:r>
          </a:p>
          <a:p>
            <a:r>
              <a:rPr lang="ru-RU" dirty="0"/>
              <a:t>Внутри </a:t>
            </a:r>
            <a:r>
              <a:rPr lang="ru-RU" b="1" dirty="0"/>
              <a:t>одного агрегата</a:t>
            </a:r>
            <a:r>
              <a:rPr lang="ru-RU" dirty="0"/>
              <a:t> допустимы прямые ссылки на сущности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Slide</a:t>
            </a:r>
            <a:r>
              <a:rPr lang="ru-RU" dirty="0"/>
              <a:t> может напрямую содержать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, потому что они живут в одной границе согласованности и изменяются вместе. Это нормально и безопасно.</a:t>
            </a:r>
          </a:p>
          <a:p>
            <a:endParaRPr lang="ru-RU" dirty="0"/>
          </a:p>
          <a:p>
            <a:r>
              <a:rPr lang="ru-RU" dirty="0"/>
              <a:t>Но </a:t>
            </a:r>
            <a:r>
              <a:rPr lang="ru-RU" b="1" dirty="0"/>
              <a:t>между агрегатами</a:t>
            </a:r>
            <a:r>
              <a:rPr lang="ru-RU" dirty="0"/>
              <a:t> и тем более </a:t>
            </a:r>
            <a:r>
              <a:rPr lang="ru-RU" b="1" dirty="0"/>
              <a:t>между 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dirty="0"/>
              <a:t> прямые объектные ссылки считаются </a:t>
            </a:r>
            <a:r>
              <a:rPr lang="ru-RU" dirty="0" err="1"/>
              <a:t>антипаттерном</a:t>
            </a:r>
            <a:r>
              <a:rPr lang="ru-RU" dirty="0"/>
              <a:t>. Если агрегат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</a:t>
            </a:r>
            <a:r>
              <a:rPr lang="ru-RU" dirty="0"/>
              <a:t> будет хранить ссылку на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</a:t>
            </a:r>
            <a:r>
              <a:rPr lang="ru-RU" dirty="0"/>
              <a:t>, мы нарушим границы ответственности: изменения в </a:t>
            </a:r>
            <a:r>
              <a:rPr lang="ru-RU" dirty="0" err="1"/>
              <a:t>Readers</a:t>
            </a:r>
            <a:r>
              <a:rPr lang="ru-RU" dirty="0"/>
              <a:t> начнут напрямую влиять на </a:t>
            </a:r>
            <a:r>
              <a:rPr lang="ru-RU" dirty="0" err="1"/>
              <a:t>Loans</a:t>
            </a:r>
            <a:r>
              <a:rPr lang="ru-RU" dirty="0"/>
              <a:t>, появится жёсткая связанность и риск неконтролируемых изменений.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в DDD используется правило: </a:t>
            </a:r>
            <a:r>
              <a:rPr lang="ru-RU" b="1" dirty="0"/>
              <a:t>ссылки между агрегатами и контекстами — только по ID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</a:t>
            </a:r>
            <a:r>
              <a:rPr lang="ru-RU" dirty="0"/>
              <a:t> хранит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ReaderId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CopyId</a:t>
            </a:r>
            <a:r>
              <a:rPr lang="ru-RU" dirty="0"/>
              <a:t>, а не объекты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BookCopy</a:t>
            </a:r>
            <a:r>
              <a:rPr lang="ru-RU" dirty="0"/>
              <a:t>. Если агрегату нужна дополнительная информация, она запрашивается через репозиторий, сервис или передаётся в команду — но не хранится как прямая ссылка.</a:t>
            </a:r>
          </a:p>
          <a:p>
            <a:endParaRPr lang="ru-RU" dirty="0"/>
          </a:p>
          <a:p>
            <a:r>
              <a:rPr lang="ru-RU" dirty="0"/>
              <a:t>Это правило помогает сохранить </a:t>
            </a:r>
            <a:r>
              <a:rPr lang="ru-RU" b="1" dirty="0"/>
              <a:t>явные границы</a:t>
            </a:r>
            <a:r>
              <a:rPr lang="ru-RU" dirty="0"/>
              <a:t>, снизить связанность и упростить эволюцию системы. Домены могут развиваться независимо, а изменения в одном контексте не “протекают” в другой.</a:t>
            </a:r>
          </a:p>
          <a:p>
            <a:r>
              <a:rPr lang="ru-RU" dirty="0"/>
              <a:t>Хорошая формулировка для запоминания студентам такая:</a:t>
            </a:r>
          </a:p>
          <a:p>
            <a:endParaRPr lang="ru-RU" dirty="0"/>
          </a:p>
          <a:p>
            <a:r>
              <a:rPr lang="ru-RU" b="1" dirty="0"/>
              <a:t>Внутри агрегата — объекты,</a:t>
            </a:r>
            <a:r>
              <a:rPr lang="en-US" b="1" dirty="0"/>
              <a:t> </a:t>
            </a:r>
            <a:r>
              <a:rPr lang="ru-RU" b="1" dirty="0"/>
              <a:t>между агрегатами — ID,</a:t>
            </a:r>
            <a:r>
              <a:rPr lang="en-US" b="1" dirty="0"/>
              <a:t> </a:t>
            </a:r>
            <a:r>
              <a:rPr lang="ru-RU" b="1" dirty="0"/>
              <a:t>между контекстами — только ID и контракты.</a:t>
            </a:r>
            <a:endParaRPr lang="ru-RU" dirty="0"/>
          </a:p>
          <a:p>
            <a:r>
              <a:rPr lang="ru-RU" dirty="0"/>
              <a:t>Этот принцип особенно важен в больших системах и отлично сочетается с DDD, </a:t>
            </a:r>
            <a:r>
              <a:rPr lang="ru-RU" dirty="0" err="1"/>
              <a:t>Hexagonal</a:t>
            </a:r>
            <a:r>
              <a:rPr lang="ru-RU" dirty="0"/>
              <a:t> и </a:t>
            </a:r>
            <a:r>
              <a:rPr lang="ru-RU" dirty="0" err="1"/>
              <a:t>Clean</a:t>
            </a:r>
            <a:r>
              <a:rPr lang="ru-RU" dirty="0"/>
              <a:t> Architecture.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1887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DDD идентичность — это фундаментальное понятие. </a:t>
            </a:r>
            <a:r>
              <a:rPr lang="ru-RU" dirty="0" err="1"/>
              <a:t>Entity</a:t>
            </a:r>
            <a:r>
              <a:rPr lang="ru-RU" dirty="0"/>
              <a:t> отличается от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тем, что она остаётся “той же самой” во времени, даже когда её состояние меняется. Эту непрерывность и обеспечивает </a:t>
            </a:r>
            <a:r>
              <a:rPr lang="ru-RU" b="1" dirty="0"/>
              <a:t>идентификатор</a:t>
            </a:r>
            <a:r>
              <a:rPr lang="ru-RU" dirty="0"/>
              <a:t>, или ID.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Первый важный момент: </a:t>
            </a:r>
            <a:r>
              <a:rPr lang="ru-RU" b="1" dirty="0"/>
              <a:t>DDD не навязывает конкретный тип ID</a:t>
            </a:r>
            <a:r>
              <a:rPr lang="ru-RU" dirty="0"/>
              <a:t>. GUID, </a:t>
            </a:r>
            <a:r>
              <a:rPr lang="ru-RU" dirty="0" err="1"/>
              <a:t>integer</a:t>
            </a:r>
            <a:r>
              <a:rPr lang="ru-RU" dirty="0"/>
              <a:t> или </a:t>
            </a:r>
            <a:r>
              <a:rPr lang="ru-RU" dirty="0" err="1"/>
              <a:t>string</a:t>
            </a:r>
            <a:r>
              <a:rPr lang="ru-RU" dirty="0"/>
              <a:t> — это технические носители. Правильный выбор зависит от требований системы: </a:t>
            </a:r>
            <a:r>
              <a:rPr lang="ru-RU" dirty="0" err="1"/>
              <a:t>распределённость</a:t>
            </a:r>
            <a:r>
              <a:rPr lang="ru-RU" dirty="0"/>
              <a:t>, оффлайн-режим, интеграции, масштабирование и жизненный цикл данных. Именно поэтому нельзя сказать, что “UUID всегда лучше” или “</a:t>
            </a:r>
            <a:r>
              <a:rPr lang="ru-RU" dirty="0" err="1"/>
              <a:t>integer</a:t>
            </a:r>
            <a:r>
              <a:rPr lang="ru-RU" dirty="0"/>
              <a:t> всегда проще” — всё зависит от контекста.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многих современных систем, особенно </a:t>
            </a:r>
            <a:r>
              <a:rPr lang="ru-RU" dirty="0" err="1"/>
              <a:t>desktop</a:t>
            </a:r>
            <a:r>
              <a:rPr lang="ru-RU" dirty="0"/>
              <a:t>-приложений и распределённых решений, хорошим выбором является </a:t>
            </a:r>
            <a:r>
              <a:rPr lang="ru-RU" b="1" dirty="0"/>
              <a:t>UUID или ULID</a:t>
            </a:r>
            <a:r>
              <a:rPr lang="ru-RU" dirty="0"/>
              <a:t>. Они позволяют создавать сущности без обращения к базе данных и хорошо подходят для событий, синхронизации и импорта/экспорта. </a:t>
            </a:r>
            <a:r>
              <a:rPr lang="ru-RU" dirty="0" err="1"/>
              <a:t>Integer</a:t>
            </a:r>
            <a:r>
              <a:rPr lang="ru-RU" dirty="0"/>
              <a:t>-идентификаторы остаются хорошим вариантом для простых монолитов с одной БД, где нет распределённой генерации.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ключевое замечание, которое важно подчеркнуть отдельно:</a:t>
            </a:r>
            <a:br>
              <a:rPr lang="ru-RU" dirty="0"/>
            </a:br>
            <a:r>
              <a:rPr lang="ru-RU" b="1" dirty="0"/>
              <a:t>ID — это не бизнес-ключ.</a:t>
            </a:r>
            <a:br>
              <a:rPr lang="ru-RU" dirty="0"/>
            </a:br>
            <a:r>
              <a:rPr lang="ru-RU" dirty="0"/>
              <a:t>На примере библиотеки это особенно хорошо видно. </a:t>
            </a:r>
            <a:r>
              <a:rPr lang="ru-RU" b="1" dirty="0"/>
              <a:t>ISBN — это доменный атрибут книги</a:t>
            </a:r>
            <a:r>
              <a:rPr lang="ru-RU" dirty="0"/>
              <a:t>, описывающий издание. Он может повторяться у разных экземпляров, может быть ошибочным, может меняться по правилам бизнеса. Поэтому </a:t>
            </a:r>
            <a:r>
              <a:rPr lang="ru-RU" b="1" dirty="0"/>
              <a:t>ISBN — это </a:t>
            </a:r>
            <a:r>
              <a:rPr lang="ru-RU" b="1" dirty="0" err="1"/>
              <a:t>value</a:t>
            </a:r>
            <a:r>
              <a:rPr lang="ru-RU" b="1" dirty="0"/>
              <a:t> </a:t>
            </a:r>
            <a:r>
              <a:rPr lang="ru-RU" b="1" dirty="0" err="1"/>
              <a:t>object</a:t>
            </a:r>
            <a:r>
              <a:rPr lang="ru-RU" dirty="0"/>
              <a:t>, а не идентичность сущности.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Сущность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BookCopy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</a:t>
            </a:r>
            <a:r>
              <a:rPr lang="ru-RU" dirty="0"/>
              <a:t> должна иметь собственный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BookId</a:t>
            </a:r>
            <a:r>
              <a:rPr lang="ru-RU" dirty="0"/>
              <a:t>, который используется для ссылок и жизненного цикла. Смешивание этих понятий приводит к хрупким моделям и проблемам при изменении требований.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И, наконец, независимо от формата, в DDD рекомендуется </a:t>
            </a:r>
            <a:r>
              <a:rPr lang="ru-RU" b="1" dirty="0"/>
              <a:t>типизировать ID явно</a:t>
            </a:r>
            <a:r>
              <a:rPr lang="ru-RU" dirty="0"/>
              <a:t>.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 используются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BookId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LoanId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ReaderId</a:t>
            </a:r>
            <a:r>
              <a:rPr lang="ru-RU" dirty="0"/>
              <a:t>. Это делает код выразительным, снижает количество ошибок и подчёркивает границы доменной модели.</a:t>
            </a:r>
            <a:endParaRPr lang="en-US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423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8048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Repository</a:t>
            </a:r>
            <a:r>
              <a:rPr lang="ru-RU" dirty="0"/>
              <a:t> — это объект, который отвечает за загрузку и сохранение агрегатов.</a:t>
            </a:r>
          </a:p>
          <a:p>
            <a:r>
              <a:rPr lang="ru-RU" dirty="0"/>
              <a:t>Он скрывает детали того, где и как агрегаты хранятся: в базе данных, файле, памяти или удалённом сервисе.</a:t>
            </a:r>
          </a:p>
          <a:p>
            <a:r>
              <a:rPr lang="ru-RU" dirty="0"/>
              <a:t>Важно: </a:t>
            </a:r>
            <a:r>
              <a:rPr lang="ru-RU" dirty="0" err="1"/>
              <a:t>repository</a:t>
            </a:r>
            <a:r>
              <a:rPr lang="ru-RU" dirty="0"/>
              <a:t> работает с </a:t>
            </a:r>
            <a:r>
              <a:rPr lang="ru-RU" b="1" dirty="0"/>
              <a:t>доменными объектами</a:t>
            </a:r>
            <a:r>
              <a:rPr lang="ru-RU" dirty="0"/>
              <a:t>, а не с DTO или ORM-моделями.</a:t>
            </a:r>
          </a:p>
          <a:p>
            <a:r>
              <a:rPr lang="ru-RU" dirty="0"/>
              <a:t>DDD рассматривает </a:t>
            </a:r>
            <a:r>
              <a:rPr lang="ru-RU" dirty="0" err="1"/>
              <a:t>repository</a:t>
            </a:r>
            <a:r>
              <a:rPr lang="ru-RU" dirty="0"/>
              <a:t> как часть домена, а не инфраструктуры, потому что он выражает способ доступа к агрегатам.</a:t>
            </a:r>
          </a:p>
          <a:p>
            <a:r>
              <a:rPr lang="ru-RU" dirty="0"/>
              <a:t>Типичная ошибка — превращать </a:t>
            </a:r>
            <a:r>
              <a:rPr lang="ru-RU" dirty="0" err="1"/>
              <a:t>repository</a:t>
            </a:r>
            <a:r>
              <a:rPr lang="ru-RU" dirty="0"/>
              <a:t> в «универсальный DAO» для любых запросов.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3893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 Service используется тогда, когда бизнес-логика не принадлежит ни одной конкретной сущности.</a:t>
            </a:r>
          </a:p>
          <a:p>
            <a:r>
              <a:rPr lang="ru-RU" dirty="0"/>
              <a:t>Например, правило, которое объединяет несколько агрегатов или вычисляет результат на основе их взаимодействия.</a:t>
            </a:r>
          </a:p>
          <a:p>
            <a:endParaRPr lang="ru-RU" dirty="0"/>
          </a:p>
          <a:p>
            <a:r>
              <a:rPr lang="ru-RU" dirty="0"/>
              <a:t>Важно, что </a:t>
            </a:r>
            <a:r>
              <a:rPr lang="ru-RU" dirty="0" err="1"/>
              <a:t>domain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 всё ещё говорит на языке домена и не знает ничего об инфраструктуре.</a:t>
            </a:r>
          </a:p>
          <a:p>
            <a:r>
              <a:rPr lang="ru-RU" dirty="0"/>
              <a:t>Он не должен быть «мешком логики» — это признак плохого дизайна.</a:t>
            </a:r>
          </a:p>
          <a:p>
            <a:r>
              <a:rPr lang="ru-RU" dirty="0"/>
              <a:t>Domain Service — это способ сохранить чистоту модели, не нарушая принцип богатой доменной модели.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8232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Application Service находится уровнем выше доменной модели.</a:t>
            </a:r>
          </a:p>
          <a:p>
            <a:r>
              <a:rPr lang="ru-RU" dirty="0"/>
              <a:t>Его задача — </a:t>
            </a:r>
            <a:r>
              <a:rPr lang="ru-RU" b="1" dirty="0"/>
              <a:t>координировать сценарий использования</a:t>
            </a:r>
            <a:r>
              <a:rPr lang="ru-RU" dirty="0"/>
              <a:t>: загрузить агрегат, вызвать нужный метод, сохранить результат.</a:t>
            </a:r>
          </a:p>
          <a:p>
            <a:r>
              <a:rPr lang="ru-RU" dirty="0"/>
              <a:t>Application Service не должен содержать бизнес-правила — они живут в домене.</a:t>
            </a:r>
          </a:p>
          <a:p>
            <a:r>
              <a:rPr lang="ru-RU" dirty="0"/>
              <a:t>Если логика попала в </a:t>
            </a:r>
            <a:r>
              <a:rPr lang="ru-RU" dirty="0" err="1"/>
              <a:t>application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, скорее всего, она не на своём месте.</a:t>
            </a:r>
          </a:p>
          <a:p>
            <a:r>
              <a:rPr lang="ru-RU" dirty="0"/>
              <a:t>Application Service — это «клей» между внешним миром и доменной моделью.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519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 Event — это сообщение о том, что в домене произошло важное событие.</a:t>
            </a:r>
          </a:p>
          <a:p>
            <a:r>
              <a:rPr lang="ru-RU" dirty="0"/>
              <a:t>События всегда формулируются в прошедшем времени: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OrderPlaced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PaymentReceived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StudentGraduated</a:t>
            </a:r>
            <a:r>
              <a:rPr lang="ru-RU" dirty="0"/>
              <a:t>.</a:t>
            </a:r>
          </a:p>
          <a:p>
            <a:r>
              <a:rPr lang="ru-RU" dirty="0"/>
              <a:t>Domain Event не говорит </a:t>
            </a:r>
            <a:r>
              <a:rPr lang="ru-RU" i="1" dirty="0"/>
              <a:t>что делать</a:t>
            </a:r>
            <a:r>
              <a:rPr lang="ru-RU" dirty="0"/>
              <a:t>, он говорит </a:t>
            </a:r>
            <a:r>
              <a:rPr lang="ru-RU" i="1" dirty="0"/>
              <a:t>что уже случилось</a:t>
            </a:r>
            <a:r>
              <a:rPr lang="ru-RU" dirty="0"/>
              <a:t>.</a:t>
            </a:r>
          </a:p>
          <a:p>
            <a:r>
              <a:rPr lang="ru-RU" dirty="0"/>
              <a:t>События помогают ослабить связанность и выразить бизнес-процессы более явно.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6476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свяжем всё вместе на концептуальном уровне.</a:t>
            </a:r>
          </a:p>
          <a:p>
            <a:r>
              <a:rPr lang="ru-RU" dirty="0"/>
              <a:t>Агрегат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является </a:t>
            </a:r>
            <a:r>
              <a:rPr lang="ru-RU" dirty="0" err="1"/>
              <a:t>aggregate</a:t>
            </a:r>
            <a:r>
              <a:rPr lang="ru-RU" dirty="0"/>
              <a:t> </a:t>
            </a:r>
            <a:r>
              <a:rPr lang="ru-RU" dirty="0" err="1"/>
              <a:t>root</a:t>
            </a:r>
            <a:r>
              <a:rPr lang="ru-RU" dirty="0"/>
              <a:t>. Он управляет своим состоянием и защищает инварианты.</a:t>
            </a:r>
          </a:p>
          <a:p>
            <a:endParaRPr lang="ru-RU" dirty="0"/>
          </a:p>
          <a:p>
            <a:r>
              <a:rPr lang="ru-RU" dirty="0"/>
              <a:t>Внутри агрегата находятся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OrderItem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Money</a:t>
            </a:r>
            <a:r>
              <a:rPr lang="ru-RU" dirty="0"/>
              <a:t>.</a:t>
            </a:r>
          </a:p>
          <a:p>
            <a:r>
              <a:rPr lang="ru-RU" dirty="0"/>
              <a:t>Внешний код не может напрямую менять позиции заказа — только через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, которые проверяют бизнес-правила.</a:t>
            </a:r>
          </a:p>
          <a:p>
            <a:r>
              <a:rPr lang="ru-RU" dirty="0"/>
              <a:t>Таким образом, агрегат становится единицей согласованности, понятной бизнесу и надёжной для разработки.</a:t>
            </a:r>
          </a:p>
          <a:p>
            <a:r>
              <a:rPr lang="ru-RU" dirty="0"/>
              <a:t>Именно так тактические </a:t>
            </a:r>
            <a:r>
              <a:rPr lang="ru-RU" dirty="0" err="1"/>
              <a:t>building</a:t>
            </a:r>
            <a:r>
              <a:rPr lang="ru-RU" dirty="0"/>
              <a:t> </a:t>
            </a:r>
            <a:r>
              <a:rPr lang="ru-RU" dirty="0" err="1"/>
              <a:t>blocks</a:t>
            </a:r>
            <a:r>
              <a:rPr lang="ru-RU" dirty="0"/>
              <a:t> DDD превращаются из терминов в работающую модель.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503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6182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CQRS расшифровывается как </a:t>
            </a:r>
            <a:r>
              <a:rPr lang="ru-RU" i="1" dirty="0"/>
              <a:t>Command </a:t>
            </a:r>
            <a:r>
              <a:rPr lang="ru-RU" i="1" dirty="0" err="1"/>
              <a:t>Query</a:t>
            </a:r>
            <a:r>
              <a:rPr lang="ru-RU" i="1" dirty="0"/>
              <a:t> </a:t>
            </a:r>
            <a:r>
              <a:rPr lang="ru-RU" i="1" dirty="0" err="1"/>
              <a:t>Responsibility</a:t>
            </a:r>
            <a:r>
              <a:rPr lang="ru-RU" i="1" dirty="0"/>
              <a:t> </a:t>
            </a:r>
            <a:r>
              <a:rPr lang="ru-RU" i="1" dirty="0" err="1"/>
              <a:t>Segregation</a:t>
            </a:r>
            <a:r>
              <a:rPr lang="ru-RU" dirty="0"/>
              <a:t> — разделение ответственности между командами и запросами.</a:t>
            </a:r>
          </a:p>
          <a:p>
            <a:endParaRPr lang="ru-RU" dirty="0"/>
          </a:p>
          <a:p>
            <a:r>
              <a:rPr lang="ru-RU" dirty="0"/>
              <a:t>Идея очень простая: операции, которые </a:t>
            </a:r>
            <a:r>
              <a:rPr lang="ru-RU" b="1" dirty="0"/>
              <a:t>изменяют состояние</a:t>
            </a:r>
            <a:r>
              <a:rPr lang="ru-RU" dirty="0"/>
              <a:t>, и операции, которые </a:t>
            </a:r>
            <a:r>
              <a:rPr lang="ru-RU" b="1" dirty="0"/>
              <a:t>читают данные</a:t>
            </a:r>
            <a:r>
              <a:rPr lang="ru-RU" dirty="0"/>
              <a:t>, имеют разные цели, разные требования и часто разную сложность. Поэтому их стоит разделять.</a:t>
            </a:r>
          </a:p>
          <a:p>
            <a:endParaRPr lang="ru-RU" dirty="0"/>
          </a:p>
          <a:p>
            <a:r>
              <a:rPr lang="ru-RU" dirty="0"/>
              <a:t>Важно сразу подчеркнуть: CQRS — это </a:t>
            </a:r>
            <a:r>
              <a:rPr lang="ru-RU" b="1" dirty="0"/>
              <a:t>не фреймворк и не инфраструктура</a:t>
            </a:r>
            <a:r>
              <a:rPr lang="ru-RU" dirty="0"/>
              <a:t>. Это архитектурный принцип, который можно применять в разных масштабах: от одного модуля до всей системы.</a:t>
            </a:r>
          </a:p>
          <a:p>
            <a:endParaRPr lang="ru-RU" dirty="0"/>
          </a:p>
          <a:p>
            <a:r>
              <a:rPr lang="ru-RU" dirty="0"/>
              <a:t>CQRS не говорит, как хранить данные и не требует Event </a:t>
            </a:r>
            <a:r>
              <a:rPr lang="ru-RU" dirty="0" err="1"/>
              <a:t>Sourcing</a:t>
            </a:r>
            <a:r>
              <a:rPr lang="ru-RU" dirty="0"/>
              <a:t>. Он говорит только о том, что </a:t>
            </a:r>
            <a:r>
              <a:rPr lang="ru-RU" b="1" dirty="0"/>
              <a:t>запись и чтение — это разные задачи</a:t>
            </a:r>
            <a:r>
              <a:rPr lang="ru-RU" dirty="0"/>
              <a:t>, и им не обязательно использовать одну и ту же модель.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6479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CQRS мы строго разделяем два типа операций.</a:t>
            </a:r>
          </a:p>
          <a:p>
            <a:endParaRPr lang="ru-RU" dirty="0"/>
          </a:p>
          <a:p>
            <a:r>
              <a:rPr lang="ru-RU" b="1" dirty="0"/>
              <a:t>Команда</a:t>
            </a:r>
            <a:r>
              <a:rPr lang="ru-RU" dirty="0"/>
              <a:t> выражает намерение что-то изменить: </a:t>
            </a:r>
            <a:r>
              <a:rPr lang="ru-RU" i="1" dirty="0"/>
              <a:t>выдать книгу</a:t>
            </a:r>
            <a:r>
              <a:rPr lang="ru-RU" dirty="0"/>
              <a:t>, </a:t>
            </a:r>
            <a:r>
              <a:rPr lang="ru-RU" i="1" dirty="0"/>
              <a:t>зарегистрировать читателя</a:t>
            </a:r>
            <a:r>
              <a:rPr lang="ru-RU" dirty="0"/>
              <a:t>, </a:t>
            </a:r>
            <a:r>
              <a:rPr lang="ru-RU" i="1" dirty="0"/>
              <a:t>изменить адрес</a:t>
            </a:r>
            <a:r>
              <a:rPr lang="ru-RU" dirty="0"/>
              <a:t>.</a:t>
            </a:r>
          </a:p>
          <a:p>
            <a:r>
              <a:rPr lang="ru-RU" dirty="0"/>
              <a:t>Команда либо успешно выполняется, либо нет. В идеале команда </a:t>
            </a:r>
            <a:r>
              <a:rPr lang="ru-RU" b="1" dirty="0"/>
              <a:t>не возвращает данные</a:t>
            </a:r>
            <a:r>
              <a:rPr lang="ru-RU" dirty="0"/>
              <a:t>, максимум — подтверждение успеха или идентификатор.</a:t>
            </a:r>
          </a:p>
          <a:p>
            <a:endParaRPr lang="ru-RU" b="1" dirty="0"/>
          </a:p>
          <a:p>
            <a:r>
              <a:rPr lang="ru-RU" b="1" dirty="0"/>
              <a:t>Запрос</a:t>
            </a:r>
            <a:r>
              <a:rPr lang="ru-RU" dirty="0"/>
              <a:t> предназначен только для чтения. Он не должен менять состояние системы и не должен запускать бизнес-логику. Запрос просто отвечает на вопрос: </a:t>
            </a:r>
            <a:r>
              <a:rPr lang="ru-RU" i="1" dirty="0"/>
              <a:t>какие книги сейчас выданы?</a:t>
            </a:r>
            <a:r>
              <a:rPr lang="ru-RU" dirty="0"/>
              <a:t>, </a:t>
            </a:r>
            <a:r>
              <a:rPr lang="ru-RU" i="1" dirty="0"/>
              <a:t>есть ли просрочки?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Такое разделение делает API более понятным: по имени операции сразу видно, чего от неё ожидать.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7117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классических CRUD-приложениях часто используется одна и та же модель и для записи, и для чтения. Это удобно на старте, но плохо масштабируется.</a:t>
            </a:r>
          </a:p>
          <a:p>
            <a:endParaRPr lang="ru-RU" dirty="0"/>
          </a:p>
          <a:p>
            <a:r>
              <a:rPr lang="ru-RU" dirty="0"/>
              <a:t>Для записи нам нужна строгая модель с инвариантами, транзакциями и бизнес-правилами. Для чтения нам нужна простая, </a:t>
            </a:r>
            <a:r>
              <a:rPr lang="ru-RU" dirty="0" err="1"/>
              <a:t>денормализованная</a:t>
            </a:r>
            <a:r>
              <a:rPr lang="ru-RU" dirty="0"/>
              <a:t> структура, оптимизированная под запросы и отчёты.</a:t>
            </a:r>
          </a:p>
          <a:p>
            <a:endParaRPr lang="ru-RU" dirty="0"/>
          </a:p>
          <a:p>
            <a:r>
              <a:rPr lang="ru-RU" dirty="0"/>
              <a:t>Когда мы пытаемся совместить эти требования в одной модели, она быстро раздувается и становится сложной. CQRS решает эту проблему, позволяя </a:t>
            </a:r>
            <a:r>
              <a:rPr lang="ru-RU" b="1" dirty="0"/>
              <a:t>разным моделям быть хорошими в своём деле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483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— это модель данных, предназначенная </a:t>
            </a:r>
            <a:r>
              <a:rPr lang="ru-RU" b="1" dirty="0"/>
              <a:t>только для чтения</a:t>
            </a:r>
            <a:r>
              <a:rPr lang="ru-RU" dirty="0"/>
              <a:t>.</a:t>
            </a:r>
          </a:p>
          <a:p>
            <a:r>
              <a:rPr lang="ru-RU" dirty="0"/>
              <a:t>Она не обязана отражать бизнес-смысл домена и не должна защищать инварианты. Её задача — быстро и удобно отвечать на запросы.</a:t>
            </a:r>
          </a:p>
          <a:p>
            <a:r>
              <a:rPr lang="ru-RU" dirty="0"/>
              <a:t>В 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нормально дублировать данные, объединять несколько сущностей в одну таблицу или хранить агрегированные значения. Это не нарушение принципов — потому что это не доменная модель.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911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ru-RU" dirty="0" err="1"/>
              <a:t>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должна каким-то образом обновляться после команд.</a:t>
            </a:r>
          </a:p>
          <a:p>
            <a:r>
              <a:rPr lang="ru-RU" dirty="0"/>
              <a:t>Самый простой вариант — обновлять 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</a:t>
            </a:r>
            <a:r>
              <a:rPr lang="ru-RU" b="1" dirty="0"/>
              <a:t>в том же </a:t>
            </a:r>
            <a:r>
              <a:rPr lang="ru-RU" b="1" dirty="0" err="1"/>
              <a:t>use-case</a:t>
            </a:r>
            <a:r>
              <a:rPr lang="ru-RU" dirty="0"/>
              <a:t>, где выполняется команда. Более продвинутый вариант — обновлять её асинхронно через события или сообщения.</a:t>
            </a:r>
          </a:p>
          <a:p>
            <a:r>
              <a:rPr lang="ru-RU" dirty="0"/>
              <a:t>Важно понимать, что CQRS допускает </a:t>
            </a:r>
            <a:r>
              <a:rPr lang="ru-RU" b="1" dirty="0" err="1"/>
              <a:t>eventual</a:t>
            </a:r>
            <a:r>
              <a:rPr lang="ru-RU" b="1" dirty="0"/>
              <a:t> </a:t>
            </a:r>
            <a:r>
              <a:rPr lang="ru-RU" b="1" dirty="0" err="1"/>
              <a:t>consistency</a:t>
            </a:r>
            <a:r>
              <a:rPr lang="ru-RU" dirty="0"/>
              <a:t>, когда данные на чтение могут отставать от данных на запись. Это не ошибка, а архитектурный компромисс, который нужно учитывать при проектировании пользовательского интерфейса.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2498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CQRS имеет смысл, когда </a:t>
            </a:r>
            <a:r>
              <a:rPr lang="ru-RU" dirty="0" err="1"/>
              <a:t>write-side</a:t>
            </a:r>
            <a:r>
              <a:rPr lang="ru-RU" dirty="0"/>
              <a:t> и </a:t>
            </a:r>
            <a:r>
              <a:rPr lang="ru-RU" dirty="0" err="1"/>
              <a:t>read-side</a:t>
            </a:r>
            <a:r>
              <a:rPr lang="ru-RU" dirty="0"/>
              <a:t> реально отличаются по сложности и нагрузке.</a:t>
            </a:r>
          </a:p>
          <a:p>
            <a:r>
              <a:rPr lang="ru-RU" dirty="0"/>
              <a:t>Если система простая и состоит из пары CRUD-форм — CQRS, скорее всего, будет избыточным. Но если бизнес-логика сложная, а запросов много и они разнообразны, CQRS может значительно упростить дизайн.</a:t>
            </a:r>
          </a:p>
          <a:p>
            <a:endParaRPr lang="ru-RU" dirty="0"/>
          </a:p>
          <a:p>
            <a:r>
              <a:rPr lang="ru-RU" dirty="0"/>
              <a:t>CQRS — это не серебряная пуля.</a:t>
            </a:r>
          </a:p>
          <a:p>
            <a:r>
              <a:rPr lang="ru-RU" dirty="0"/>
              <a:t>Он добавляет сложность: больше моделей, больше кода, больше точек согласования. Поэтому применять его стоит </a:t>
            </a:r>
            <a:r>
              <a:rPr lang="ru-RU" b="1" dirty="0"/>
              <a:t>только при наличии реальной проблемы</a:t>
            </a:r>
            <a:r>
              <a:rPr lang="ru-RU" dirty="0"/>
              <a:t>, а не потому что “так модно”.</a:t>
            </a:r>
          </a:p>
          <a:p>
            <a:r>
              <a:rPr lang="ru-RU" dirty="0"/>
              <a:t>Очень важно донести до студентов: хороший архитектор — это не тот, кто использует больше паттернов, а тот, кто выбирает их осознанно.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5719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6321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говорим о DDD, важно понимать, что сам по себе DDD не диктует конкретную архитектуру.</a:t>
            </a:r>
          </a:p>
          <a:p>
            <a:r>
              <a:rPr lang="ru-RU" dirty="0"/>
              <a:t>Однако DDD накладывает определённые требования: доменная модель должна быть изолирована, понятна и защищена от инфраструктурных деталей.</a:t>
            </a:r>
          </a:p>
          <a:p>
            <a:r>
              <a:rPr lang="ru-RU" dirty="0"/>
              <a:t>Поэтому не любая архитектура одинаково хорошо подходит для DDD. На практике лучше всего работают архитектуры, где домен находится в центре, а всё остальное — на периферии.</a:t>
            </a:r>
          </a:p>
          <a:p>
            <a:r>
              <a:rPr lang="ru-RU" dirty="0"/>
              <a:t>Мы сейчас рассмотрим несколько популярных архитектурных подходов и посмотрим, почему они хорошо сочетаются с DDD.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1366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Layered</a:t>
            </a:r>
            <a:r>
              <a:rPr lang="ru-RU" dirty="0"/>
              <a:t> Architecture — это, пожалуй, самый известный и интуитивно понятный архитектурный стиль.</a:t>
            </a:r>
          </a:p>
          <a:p>
            <a:endParaRPr lang="ru-RU" dirty="0"/>
          </a:p>
          <a:p>
            <a:r>
              <a:rPr lang="ru-RU" dirty="0"/>
              <a:t>Система разделяется на слои: пользовательский интерфейс, слой приложения, доменный слой и инфраструктура.</a:t>
            </a:r>
          </a:p>
          <a:p>
            <a:r>
              <a:rPr lang="ru-RU" dirty="0"/>
              <a:t>DDD хорошо ложится на такую архитектуру, если соблюдается ключевое правило: </a:t>
            </a:r>
            <a:r>
              <a:rPr lang="ru-RU" b="1" dirty="0"/>
              <a:t>доменный слой не зависит от остальных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 практике именно здесь часто допускаются ошибки: в домен проникают аннотации ORM, зависимости от фреймворков или логика контроллеров.</a:t>
            </a:r>
          </a:p>
          <a:p>
            <a:r>
              <a:rPr lang="ru-RU" dirty="0"/>
              <a:t>Для студентов </a:t>
            </a:r>
            <a:r>
              <a:rPr lang="ru-RU" dirty="0" err="1"/>
              <a:t>layered</a:t>
            </a:r>
            <a:r>
              <a:rPr lang="ru-RU" dirty="0"/>
              <a:t> </a:t>
            </a:r>
            <a:r>
              <a:rPr lang="ru-RU" dirty="0" err="1"/>
              <a:t>architecture</a:t>
            </a:r>
            <a:r>
              <a:rPr lang="ru-RU" dirty="0"/>
              <a:t> — хороший старт, но важно сразу привыкать к строгому разделению ответственности.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3700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Hexagonal</a:t>
            </a:r>
            <a:r>
              <a:rPr lang="ru-RU" dirty="0"/>
              <a:t> Architecture, или </a:t>
            </a:r>
            <a:r>
              <a:rPr lang="ru-RU" dirty="0" err="1"/>
              <a:t>Ports</a:t>
            </a:r>
            <a:r>
              <a:rPr lang="ru-RU" dirty="0"/>
              <a:t> &amp; </a:t>
            </a:r>
            <a:r>
              <a:rPr lang="ru-RU" dirty="0" err="1"/>
              <a:t>Adapters</a:t>
            </a:r>
            <a:r>
              <a:rPr lang="ru-RU" dirty="0"/>
              <a:t>, появилась как практический ответ на типичные проблемы классической слоистой архитектуры. В </a:t>
            </a:r>
            <a:r>
              <a:rPr lang="ru-RU" dirty="0" err="1"/>
              <a:t>layered</a:t>
            </a:r>
            <a:r>
              <a:rPr lang="ru-RU" dirty="0"/>
              <a:t>-подходе доменная логика часто “заражается” инфраструктурой: в домене появляются ORM-аннотации, логика начинает зависеть от фреймворков, а тестирование превращается в запуск половины системы.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hexagonal</a:t>
            </a:r>
            <a:r>
              <a:rPr lang="ru-RU" dirty="0"/>
              <a:t> архитектуре идея другая: мы рассматриваем приложение как “ядро”, которое содержит </a:t>
            </a:r>
            <a:r>
              <a:rPr lang="ru-RU" b="1" dirty="0"/>
              <a:t>доменную модель и сценарии использования</a:t>
            </a:r>
            <a:r>
              <a:rPr lang="ru-RU" dirty="0"/>
              <a:t>. Всё, что относится к внешнему миру — базы данных, UI, HTTP, очереди сообщений, файловая система — это просто способы взаимодействия с этим ядром и должны быть вынесены наружу.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Чтобы это работало, вводятся понятия </a:t>
            </a:r>
            <a:r>
              <a:rPr lang="ru-RU" b="1" dirty="0"/>
              <a:t>портов</a:t>
            </a:r>
            <a:r>
              <a:rPr lang="ru-RU" dirty="0"/>
              <a:t> и </a:t>
            </a:r>
            <a:r>
              <a:rPr lang="ru-RU" b="1" dirty="0"/>
              <a:t>адаптеров</a:t>
            </a:r>
            <a:r>
              <a:rPr lang="ru-RU" dirty="0"/>
              <a:t>.</a:t>
            </a:r>
            <a:br>
              <a:rPr lang="ru-RU" dirty="0"/>
            </a:br>
            <a:r>
              <a:rPr lang="ru-RU" b="1" dirty="0"/>
              <a:t>Порт</a:t>
            </a:r>
            <a:r>
              <a:rPr lang="ru-RU" dirty="0"/>
              <a:t> — это интерфейс, который описывает, что нужно ядру от внешнего мира или что ядро предоставляет наружу.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LoanRepository</a:t>
            </a:r>
            <a:r>
              <a:rPr lang="ru-RU" dirty="0"/>
              <a:t> — порт для хранения,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PaymentGateway</a:t>
            </a:r>
            <a:r>
              <a:rPr lang="ru-RU" dirty="0"/>
              <a:t> — порт для внешнего сервиса,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NotificationSender</a:t>
            </a:r>
            <a:r>
              <a:rPr lang="ru-RU" dirty="0"/>
              <a:t> — порт для уведомлений. Важно: порт — это не “деталь базы данных”, а контракт в терминах приложения.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Адаптер</a:t>
            </a:r>
            <a:r>
              <a:rPr lang="ru-RU" dirty="0"/>
              <a:t> — это конкретная реализация порта.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SqlLoanRepository</a:t>
            </a:r>
            <a:r>
              <a:rPr lang="ru-RU" dirty="0"/>
              <a:t> реализует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LoanRepository</a:t>
            </a:r>
            <a:r>
              <a:rPr lang="ru-RU" dirty="0"/>
              <a:t> через SQL,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HttpNotificationSender</a:t>
            </a:r>
            <a:r>
              <a:rPr lang="ru-RU" dirty="0"/>
              <a:t> отправляет уведомления по HTTP, а UI-адаптер превращает нажатие кнопки в вызов </a:t>
            </a:r>
            <a:r>
              <a:rPr lang="ru-RU" dirty="0" err="1"/>
              <a:t>use-case</a:t>
            </a:r>
            <a:r>
              <a:rPr lang="ru-RU" dirty="0"/>
              <a:t>. Адаптеры находятся снаружи, поэтому их можно менять без изменения доменной модели.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Ключевое техническое правило, которое обеспечивает эту структуру, — </a:t>
            </a:r>
            <a:r>
              <a:rPr lang="ru-RU" b="1" dirty="0"/>
              <a:t>инверсия зависимостей</a:t>
            </a:r>
            <a:r>
              <a:rPr lang="ru-RU" dirty="0"/>
              <a:t>. Домен и </a:t>
            </a:r>
            <a:r>
              <a:rPr lang="ru-RU" dirty="0" err="1"/>
              <a:t>application</a:t>
            </a:r>
            <a:r>
              <a:rPr lang="ru-RU" dirty="0"/>
              <a:t> слой зависят только от интерфейсов (портов), а инфраструктура зависит от этих интерфейсов и предоставляет реализации. В итоге зависимости направлены </a:t>
            </a:r>
            <a:r>
              <a:rPr lang="ru-RU" b="1" dirty="0"/>
              <a:t>внутрь</a:t>
            </a:r>
            <a:r>
              <a:rPr lang="ru-RU" dirty="0"/>
              <a:t>, к домену, а домен остаётся чистым и независимым.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Почему это особенно хорошо сочетается с DDD? Потому что DDD требует, чтобы доменная модель была центром системы и не зависела от деталей реализации. </a:t>
            </a:r>
            <a:r>
              <a:rPr lang="ru-RU" dirty="0" err="1"/>
              <a:t>Hexagonal</a:t>
            </a:r>
            <a:r>
              <a:rPr lang="ru-RU" dirty="0"/>
              <a:t> архитектура делает это естественным: она буквально “оборачивает” домен адаптерами, позволяя развивать бизнес-логику независимо от технологий.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Практический бонус: такую систему легче тестировать. Можно подменить адаптеры на </a:t>
            </a:r>
            <a:r>
              <a:rPr lang="ru-RU" dirty="0" err="1"/>
              <a:t>in-memory</a:t>
            </a:r>
            <a:r>
              <a:rPr lang="ru-RU" dirty="0"/>
              <a:t> реализации и тестировать доменную логику и </a:t>
            </a:r>
            <a:r>
              <a:rPr lang="ru-RU" dirty="0" err="1"/>
              <a:t>use-cases</a:t>
            </a:r>
            <a:r>
              <a:rPr lang="ru-RU" dirty="0"/>
              <a:t> без базы данных, UI и сети. Это делает архитектуру не только красивой на диаграмме, но и реально удобной в разработке.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758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Clean</a:t>
            </a:r>
            <a:r>
              <a:rPr lang="ru-RU" dirty="0"/>
              <a:t> Architecture и </a:t>
            </a:r>
            <a:r>
              <a:rPr lang="ru-RU" dirty="0" err="1"/>
              <a:t>Onion</a:t>
            </a:r>
            <a:r>
              <a:rPr lang="ru-RU" dirty="0"/>
              <a:t> Architecture — это близкие архитектурные подходы, которые развивают идею </a:t>
            </a:r>
            <a:r>
              <a:rPr lang="ru-RU" dirty="0" err="1"/>
              <a:t>Hexagonal</a:t>
            </a:r>
            <a:r>
              <a:rPr lang="ru-RU" dirty="0"/>
              <a:t> Architecture. В основе одна мысль: </a:t>
            </a:r>
            <a:r>
              <a:rPr lang="ru-RU" b="1" dirty="0"/>
              <a:t>бизнес-логика должна быть в центре</a:t>
            </a:r>
            <a:r>
              <a:rPr lang="ru-RU" dirty="0"/>
              <a:t>, а технологии — по краям. Различия между ними чаще всего в терминологии и в том, как команды рисуют слои, но принцип остаётся одинаковым.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архитектуры удобно представлять как </a:t>
            </a:r>
            <a:r>
              <a:rPr lang="ru-RU" b="1" dirty="0"/>
              <a:t>концентрические кольца</a:t>
            </a:r>
            <a:r>
              <a:rPr lang="ru-RU" dirty="0"/>
              <a:t>. Самое внутреннее кольцо — это домен. Там живут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события и инварианты. Это самый “дорогой” и стабильный код: он отражает смысл бизнеса и должен меняться реже всего.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Следующее кольцо — </a:t>
            </a:r>
            <a:r>
              <a:rPr lang="ru-RU" b="1" dirty="0" err="1"/>
              <a:t>application</a:t>
            </a:r>
            <a:r>
              <a:rPr lang="ru-RU" b="1" dirty="0"/>
              <a:t> </a:t>
            </a:r>
            <a:r>
              <a:rPr lang="ru-RU" b="1" dirty="0" err="1"/>
              <a:t>layer</a:t>
            </a:r>
            <a:r>
              <a:rPr lang="ru-RU" dirty="0"/>
              <a:t>. Он отвечает за сценарии использования: “выдать книгу”, “зарегистрировать читателя”, “оплатить заказ”. Здесь находится </a:t>
            </a:r>
            <a:r>
              <a:rPr lang="ru-RU" dirty="0" err="1"/>
              <a:t>оркестрация</a:t>
            </a:r>
            <a:r>
              <a:rPr lang="ru-RU" dirty="0"/>
              <a:t>: загрузить агрегат, вызвать доменный метод, сохранить, опубликовать событие. Важно, что </a:t>
            </a:r>
            <a:r>
              <a:rPr lang="ru-RU" dirty="0" err="1"/>
              <a:t>application</a:t>
            </a:r>
            <a:r>
              <a:rPr lang="ru-RU" dirty="0"/>
              <a:t> слой координирует, но не подменяет домен: бизнес-правила остаются внутри доменной модели.</a:t>
            </a:r>
          </a:p>
          <a:p>
            <a:r>
              <a:rPr lang="ru-RU" dirty="0"/>
              <a:t>Дальше идут интерфейсы и “доставка” в мир: контроллеры, UI, API, обработчики сообщений — то есть всё, что принимает запрос извне и преобразует его в вызов </a:t>
            </a:r>
            <a:r>
              <a:rPr lang="ru-RU" dirty="0" err="1"/>
              <a:t>use-case</a:t>
            </a:r>
            <a:r>
              <a:rPr lang="ru-RU" dirty="0"/>
              <a:t>. А ещё дальше — инфраструктура: базы данных, брокеры, внешние сервисы, файловая система.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Ключевое правило здесь называется </a:t>
            </a:r>
            <a:r>
              <a:rPr lang="ru-RU" b="1" dirty="0" err="1"/>
              <a:t>Dependency</a:t>
            </a:r>
            <a:r>
              <a:rPr lang="ru-RU" b="1" dirty="0"/>
              <a:t> </a:t>
            </a:r>
            <a:r>
              <a:rPr lang="ru-RU" b="1" dirty="0" err="1"/>
              <a:t>Rule</a:t>
            </a:r>
            <a:r>
              <a:rPr lang="ru-RU" dirty="0"/>
              <a:t>: зависимости могут быть направлены только </a:t>
            </a:r>
            <a:r>
              <a:rPr lang="ru-RU" b="1" dirty="0"/>
              <a:t>внутрь</a:t>
            </a:r>
            <a:r>
              <a:rPr lang="ru-RU" dirty="0"/>
              <a:t>, к центру. Это означает, что домен ничего не знает о базе данных, HTTP или UI-фреймворке. Если домену нужно “сохраниться” или “отправить уведомление”, он выражает это через интерфейс, а конкретная реализация находится снаружи.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Почему это идеально сочетается с DDD? Потому что DDD требует изоляции доменной модели и защищённости бизнес-логики от технических деталей. </a:t>
            </a:r>
            <a:r>
              <a:rPr lang="ru-RU" dirty="0" err="1"/>
              <a:t>Clean</a:t>
            </a:r>
            <a:r>
              <a:rPr lang="ru-RU" dirty="0"/>
              <a:t>/</a:t>
            </a:r>
            <a:r>
              <a:rPr lang="ru-RU" dirty="0" err="1"/>
              <a:t>Onion</a:t>
            </a:r>
            <a:r>
              <a:rPr lang="ru-RU" dirty="0"/>
              <a:t> архитектуры делают это структурно: они специально устроены так, чтобы фреймворки не определяли дизайн домена. В идеале фреймворк становится “подключаемой деталью”, которую можно заменить, не переписывая бизнес-код.</a:t>
            </a:r>
          </a:p>
          <a:p>
            <a:r>
              <a:rPr lang="ru-RU" dirty="0"/>
              <a:t>Практический плюс для разработки и обучения: домен становится легко тестируемым. Большую часть поведения можно проверять юнит-тестами без поднятия базы данных, сервера или UI. Это делает систему более устойчивой к изменениям и снижает цену эволюции — что особенно важно в больших и долгоживущих проектах.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3788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 </a:t>
            </a:r>
            <a:r>
              <a:rPr lang="ru-RU" dirty="0" err="1"/>
              <a:t>layer</a:t>
            </a:r>
            <a:r>
              <a:rPr lang="ru-RU" dirty="0"/>
              <a:t> — это сердце приложения в DDD.</a:t>
            </a:r>
          </a:p>
          <a:p>
            <a:r>
              <a:rPr lang="ru-RU" dirty="0"/>
              <a:t>Именно здесь находятся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сервисы и доменные события.</a:t>
            </a:r>
          </a:p>
          <a:p>
            <a:r>
              <a:rPr lang="ru-RU" dirty="0"/>
              <a:t>Этот слой содержит самую ценную и самую стабильную часть системы — бизнес-логику.</a:t>
            </a:r>
          </a:p>
          <a:p>
            <a:r>
              <a:rPr lang="ru-RU" dirty="0"/>
              <a:t>Поэтому его нужно максимально защищать от изменений, связанных с инфраструктурой, UI или внешними API.</a:t>
            </a:r>
          </a:p>
          <a:p>
            <a:r>
              <a:rPr lang="ru-RU" dirty="0"/>
              <a:t>Для студентов важно усвоить: если доменный слой загрязнён техническими деталями, DDD теряет смысл.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1778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самых важных практических принципов DDD — доменный слой не должен зависеть от фреймворков и инфраструктуры.</a:t>
            </a:r>
          </a:p>
          <a:p>
            <a:r>
              <a:rPr lang="ru-RU" dirty="0"/>
              <a:t>Это означает, что в домене не должно быть аннотаций ORM, HTTP-статусов, логирования, сериализации и прочих технических деталей.</a:t>
            </a:r>
          </a:p>
          <a:p>
            <a:r>
              <a:rPr lang="ru-RU" dirty="0"/>
              <a:t>Все зависимости направляются </a:t>
            </a:r>
            <a:r>
              <a:rPr lang="ru-RU" b="1" dirty="0"/>
              <a:t>к домену</a:t>
            </a:r>
            <a:r>
              <a:rPr lang="ru-RU" dirty="0"/>
              <a:t>, а не от него. Это реализуется через интерфейсы, порты и инверсию зависимостей.</a:t>
            </a:r>
          </a:p>
          <a:p>
            <a:r>
              <a:rPr lang="ru-RU" dirty="0"/>
              <a:t>В результате доменную модель можно тестировать изолированно, без базы данных и веб-сервера.</a:t>
            </a:r>
          </a:p>
          <a:p>
            <a:r>
              <a:rPr lang="ru-RU" dirty="0"/>
              <a:t>Хорошая архитектура делает код проще, а не сложнее, даже если сначала кажется наоборот.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9888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важен, потому что он разрушает распространённый миф: будто DDD применим только к серверным системам и микросервисам. На самом деле DDD отлично работает и в сложных </a:t>
            </a:r>
            <a:r>
              <a:rPr lang="ru-RU" dirty="0" err="1"/>
              <a:t>desktop</a:t>
            </a:r>
            <a:r>
              <a:rPr lang="ru-RU" dirty="0"/>
              <a:t>-приложениях, например в редакторе презентаций уровня PowerPoint.</a:t>
            </a:r>
          </a:p>
          <a:p>
            <a:endParaRPr lang="ru-RU" dirty="0"/>
          </a:p>
          <a:p>
            <a:r>
              <a:rPr lang="ru-RU" dirty="0"/>
              <a:t>В таком приложении </a:t>
            </a:r>
            <a:r>
              <a:rPr lang="ru-RU" b="1" dirty="0"/>
              <a:t>домен — это не файл и не пользовательский интерфейс</a:t>
            </a:r>
            <a:r>
              <a:rPr lang="ru-RU" dirty="0"/>
              <a:t>. Доменом является сама модель презентации и правила её изменения. Это то, что пользователь редактирует: презентация как целое, слайды, элементы на слайдах, группы, темы, мастер-слайды.</a:t>
            </a:r>
          </a:p>
          <a:p>
            <a:endParaRPr lang="ru-RU" dirty="0"/>
          </a:p>
          <a:p>
            <a:r>
              <a:rPr lang="ru-RU" dirty="0"/>
              <a:t>Именно здесь возникают бизнес-правила и инварианты: элемент не может находиться в двух группах, слайд имеет определённый порядок, тема применяется ко всем слайдам согласованно.</a:t>
            </a:r>
          </a:p>
          <a:p>
            <a:endParaRPr lang="ru-RU" dirty="0"/>
          </a:p>
          <a:p>
            <a:r>
              <a:rPr lang="ru-RU" dirty="0"/>
              <a:t>Очень важно понимать, что </a:t>
            </a:r>
            <a:r>
              <a:rPr lang="ru-RU" b="1" dirty="0"/>
              <a:t>агрегаты определяются не форматом хранения</a:t>
            </a:r>
            <a:r>
              <a:rPr lang="ru-RU" dirty="0"/>
              <a:t>. Хотя презентация сохраняется в один файл, это не означает, что вся презентация обязана быть одним агрегатом. Агрегат — это граница согласованности и ответственности. В таком домене агрегатами могут быть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Slide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</a:t>
            </a:r>
            <a:r>
              <a:rPr lang="ru-RU" dirty="0"/>
              <a:t>, каждый со своими правилами и операциями.</a:t>
            </a:r>
          </a:p>
          <a:p>
            <a:endParaRPr lang="ru-RU" dirty="0"/>
          </a:p>
          <a:p>
            <a:r>
              <a:rPr lang="ru-RU" dirty="0"/>
              <a:t>Файл презентации — это </a:t>
            </a:r>
            <a:r>
              <a:rPr lang="ru-RU" b="1" dirty="0"/>
              <a:t>инфраструктурная деталь</a:t>
            </a:r>
            <a:r>
              <a:rPr lang="ru-RU" dirty="0"/>
              <a:t>. Через репозиторий доменная модель сохраняется и загружается целиком, но при этом домен ничего не знает о формате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pptx</a:t>
            </a:r>
            <a:r>
              <a:rPr lang="ru-RU" dirty="0"/>
              <a:t>, сериализации или файловой системе. Это позволяет развивать доменную модель независимо от способа хранения.</a:t>
            </a:r>
          </a:p>
          <a:p>
            <a:endParaRPr lang="ru-RU" dirty="0"/>
          </a:p>
          <a:p>
            <a:r>
              <a:rPr lang="ru-RU" dirty="0"/>
              <a:t>Наконец, наличие таких функций, как </a:t>
            </a:r>
            <a:r>
              <a:rPr lang="ru-RU" dirty="0" err="1"/>
              <a:t>Undo</a:t>
            </a:r>
            <a:r>
              <a:rPr lang="ru-RU" dirty="0"/>
              <a:t>/</a:t>
            </a:r>
            <a:r>
              <a:rPr lang="ru-RU" dirty="0" err="1"/>
              <a:t>Redo</a:t>
            </a:r>
            <a:r>
              <a:rPr lang="ru-RU" dirty="0"/>
              <a:t>, — сильный сигнал сложного домена. Операции редактирования имеют смысл, историю и правила, а значит их удобно моделировать через команды и доменные события. Именно поэтому DDD и связанные с ним архитектурные подходы хорошо подходят для сложных и долгоживущих </a:t>
            </a:r>
            <a:r>
              <a:rPr lang="ru-RU" dirty="0" err="1"/>
              <a:t>desktop</a:t>
            </a:r>
            <a:r>
              <a:rPr lang="ru-RU" dirty="0"/>
              <a:t>-приложений.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5535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конце лекции важно сделать шаг назад и посмотреть на DDD не как на набор терминов — </a:t>
            </a:r>
            <a:r>
              <a:rPr lang="ru-RU" i="1" dirty="0" err="1"/>
              <a:t>entity</a:t>
            </a:r>
            <a:r>
              <a:rPr lang="ru-RU" i="1" dirty="0"/>
              <a:t>, </a:t>
            </a:r>
            <a:r>
              <a:rPr lang="ru-RU" i="1" dirty="0" err="1"/>
              <a:t>aggregate</a:t>
            </a:r>
            <a:r>
              <a:rPr lang="ru-RU" i="1" dirty="0"/>
              <a:t>, </a:t>
            </a:r>
            <a:r>
              <a:rPr lang="ru-RU" i="1" dirty="0" err="1"/>
              <a:t>repository</a:t>
            </a:r>
            <a:r>
              <a:rPr lang="ru-RU" dirty="0"/>
              <a:t> — а как на </a:t>
            </a:r>
            <a:r>
              <a:rPr lang="ru-RU" b="1" dirty="0"/>
              <a:t>подход к мышлению о программных системах</a:t>
            </a:r>
            <a:r>
              <a:rPr lang="ru-RU" dirty="0"/>
              <a:t>. DDD начинается не с кода и не с архитектуры, а с попытки понять предметную область и выразить это понимание максимально честно и точно.</a:t>
            </a:r>
          </a:p>
          <a:p>
            <a:endParaRPr lang="ru-RU" dirty="0"/>
          </a:p>
          <a:p>
            <a:r>
              <a:rPr lang="ru-RU" dirty="0"/>
              <a:t>Одна из главных идей, которую стоит унести, — </a:t>
            </a:r>
            <a:r>
              <a:rPr lang="ru-RU" b="1" dirty="0"/>
              <a:t>технически хороший код ещё не означает хороший бизнес-код</a:t>
            </a:r>
            <a:r>
              <a:rPr lang="ru-RU" dirty="0"/>
              <a:t>. Код может быть аккуратным, покрытым тестами и соответствовать всем </a:t>
            </a:r>
            <a:r>
              <a:rPr lang="ru-RU" dirty="0" err="1"/>
              <a:t>best</a:t>
            </a:r>
            <a:r>
              <a:rPr lang="ru-RU" dirty="0"/>
              <a:t> </a:t>
            </a:r>
            <a:r>
              <a:rPr lang="ru-RU" dirty="0" err="1"/>
              <a:t>practices</a:t>
            </a:r>
            <a:r>
              <a:rPr lang="ru-RU" dirty="0"/>
              <a:t>, но при этом плохо отражать реальность бизнеса. DDD учит ставить бизнес-смысл в центр и строить архитектуру вокруг него.</a:t>
            </a:r>
          </a:p>
          <a:p>
            <a:endParaRPr lang="ru-RU" dirty="0"/>
          </a:p>
          <a:p>
            <a:r>
              <a:rPr lang="ru-RU" dirty="0"/>
              <a:t>Мы увидели, что </a:t>
            </a:r>
            <a:r>
              <a:rPr lang="ru-RU" b="1" dirty="0"/>
              <a:t>стратегический DDD</a:t>
            </a:r>
            <a:r>
              <a:rPr lang="ru-RU" dirty="0"/>
              <a:t> помогает работать с большими системами: находить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договариваться о языке, управлять зависимостями между частями системы. А </a:t>
            </a:r>
            <a:r>
              <a:rPr lang="ru-RU" b="1" dirty="0"/>
              <a:t>тактический DDD</a:t>
            </a:r>
            <a:r>
              <a:rPr lang="ru-RU" dirty="0"/>
              <a:t> даёт инструменты, чтобы это понимание превратилось в код: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события, репозитории.</a:t>
            </a:r>
          </a:p>
          <a:p>
            <a:endParaRPr lang="ru-RU" dirty="0"/>
          </a:p>
          <a:p>
            <a:r>
              <a:rPr lang="ru-RU" dirty="0"/>
              <a:t>Отдельно важно помнить про </a:t>
            </a:r>
            <a:r>
              <a:rPr lang="ru-RU" b="1" dirty="0"/>
              <a:t>границы</a:t>
            </a:r>
            <a:r>
              <a:rPr lang="ru-RU" dirty="0"/>
              <a:t>. Границы контекстов, границы агрегатов, границы слоёв — это не формальность, а основной способ держать сложность под контролем. Чем яснее границы, тем легче системе эволюционировать и тем дешевле изменения.</a:t>
            </a:r>
          </a:p>
          <a:p>
            <a:endParaRPr lang="ru-RU" dirty="0"/>
          </a:p>
          <a:p>
            <a:r>
              <a:rPr lang="ru-RU" dirty="0"/>
              <a:t>Наконец, мы обсудили, что DDD — это не “про микросервисы” и не “только для серверов”. Он одинаково применим к </a:t>
            </a:r>
            <a:r>
              <a:rPr lang="ru-RU" dirty="0" err="1"/>
              <a:t>backend</a:t>
            </a:r>
            <a:r>
              <a:rPr lang="ru-RU" dirty="0"/>
              <a:t>-системам, </a:t>
            </a:r>
            <a:r>
              <a:rPr lang="ru-RU" dirty="0" err="1"/>
              <a:t>desktop</a:t>
            </a:r>
            <a:r>
              <a:rPr lang="ru-RU" dirty="0"/>
              <a:t>-приложениям, продуктам с долгой жизнью и сложной логикой. Везде, где есть сложный домен и меняющиеся требования, DDD остаётся полезным инструментом.</a:t>
            </a:r>
          </a:p>
          <a:p>
            <a:endParaRPr lang="ru-RU" dirty="0"/>
          </a:p>
          <a:p>
            <a:r>
              <a:rPr lang="ru-RU" dirty="0"/>
              <a:t>И если после этой лекции вы начнёте задавать вопросы не только </a:t>
            </a:r>
            <a:r>
              <a:rPr lang="ru-RU" i="1" dirty="0"/>
              <a:t>«как реализовать?»</a:t>
            </a:r>
            <a:r>
              <a:rPr lang="ru-RU" dirty="0"/>
              <a:t>, но и </a:t>
            </a:r>
            <a:r>
              <a:rPr lang="ru-RU" i="1" dirty="0"/>
              <a:t>«что именно мы моделируем и почему?»</a:t>
            </a:r>
            <a:r>
              <a:rPr lang="ru-RU" dirty="0"/>
              <a:t> — значит цель лекции достигнута.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261A-6281-E159-5A4B-11F792834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1480A-3C44-8930-32CB-D08717D90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4874E-0102-0597-A092-C1B74E67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43C92-D0FE-33B8-F249-A83CFCC0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9AC83-C999-B7C4-4852-F2CB6093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FEB6-EC21-82AE-5806-54386FF8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3F1CB-170F-FD20-5DDF-A0F1FF2C3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748AF-0912-FBD2-5919-AA62113A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9E7F5-9475-3A09-0B71-C6BE8A3D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AEF32-AED5-F091-5237-D3BB132E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1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2C21-773B-27A3-9A7D-4839A45A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21637-DEE9-38A5-74B5-75E2CDB36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F36E-1D25-A0B7-B075-FE02D741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A3405-95A6-A4C6-7B48-D9F738D1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16DD0-DF4F-A2F9-1557-D83CACC8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8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1AF7-9FC3-14B1-C9B2-7F203929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55B74-1EE1-2F39-F17C-7ECC33B6E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E1CC7-D212-92D8-04F1-8907332E7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C5736-BF8E-D70D-E03E-73E3D908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3A3CE-38C0-DB62-ED9C-4D5B8A1B9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D171B-2884-0EF5-C0EF-305F35C0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42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FC6D2-1624-17EA-7122-D568CFFC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275CF-16BF-8BBC-F7E2-3E2BF39F6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8ACEE-87E2-E71A-FD4A-C2D10322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501A4-6E9C-D080-C3C7-91666DB14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7078E-1BE7-CFEF-F783-0200B11B1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A3D51A-227E-57AC-146D-0CEB67AD1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39D17-ADDE-10D2-BD54-3D1131D7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C16CE6-571B-2CE8-DDEA-1E0A033E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0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7915-FDB6-DC70-E7D0-487B7D78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87F168-CC2A-C2B7-CB0D-426E9540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D35872-13E2-0C05-6589-B0B3800B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E1203-59D8-5DBF-4E54-B086DD4D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1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73DAE-3892-84E8-30EA-A93453E7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DB6B3-65A9-02D7-7CBB-E1ACAC03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1E32F-29BD-672F-549C-AB1227E5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4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E9C-A917-9CE6-70D6-8B89BDB7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56BB-8E09-2055-BD0E-F322F27AA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96379-4AE4-8DC9-7601-2F0D473D4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DAD95-9E35-725D-0CA9-A83D9A1C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51413-9894-8CA2-B5A3-E9657B4A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1948-3921-4508-9460-C8B70090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9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9E7CD-63BD-3EB7-5CFC-C041127D8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F0683-6534-3CF2-3A01-38EE8310D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A45CB-D41E-339F-F228-5C6ABD304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F7AB5-5FA7-1DB3-5D1E-31BA1208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A1DD5-E962-3702-0910-78F7F317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016F5-2EC7-D3B4-FEFE-3CA477DE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4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670E-9C84-AB97-8D86-BCA7F175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93913-CC8F-12F5-8CCC-99F9D072B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4F6C7-D660-1338-61CF-D57E70B72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594D9-2C18-302E-A9EB-7FAFD0F9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B01B5-10FB-CA76-4E01-14368B4E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1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0F6FD-89AE-1272-B294-9BA74BD1A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FE448-512A-3CC4-DBCC-883C62A32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0C10E-CE93-990E-5C08-BCFB32BB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3DD6-21B0-B23C-0CAB-44918E70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53C67-1218-2A45-E7F4-9209B616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7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0F338-CE4E-57B4-372C-6A554EA2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E7952-5C5C-C113-8442-44FD300CF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3A27-FEA6-A612-BFB3-C3B46C707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24DCF-312A-427E-88A6-6FD9141D1EB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86693-ED00-B9DE-BBB9-AEB6B3CF6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39855-B8E7-9D19-468B-4220C0EE8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7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10CE-B086-48D0-6AFF-221654151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Domain Driven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BD2ED-7958-505C-3620-F4071EB468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CDC4-93CD-6E78-A5B4-BCCF120B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Domain Driven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9667D-DB4D-2C2E-86DA-AE2CE510A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Подход к проектированию, в котором предметная область становится центральным элементом всей архитектуры.</a:t>
            </a:r>
          </a:p>
          <a:p>
            <a:r>
              <a:rPr lang="ru-RU" dirty="0"/>
              <a:t>Фокус на бизнес-логике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архитектура и код приложения должны отражать бизнес-логику и предметную область, </a:t>
            </a:r>
          </a:p>
          <a:p>
            <a:r>
              <a:rPr lang="ru-RU" dirty="0"/>
              <a:t>То, как думать о системе и как общаться, чтобы превращать знания бизнеса в код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4526-31C7-98A4-1D50-F735907C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Типичные проблемы больших проектов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A0E58-32A4-AC42-EA51-9B75BC49A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Почему проблема возникает</a:t>
            </a:r>
            <a:endParaRPr lang="ru-RU" dirty="0"/>
          </a:p>
          <a:p>
            <a:pPr lvl="1"/>
            <a:r>
              <a:rPr lang="ru-RU" dirty="0"/>
              <a:t>Сложность растёт со временем</a:t>
            </a:r>
          </a:p>
          <a:p>
            <a:pPr lvl="1"/>
            <a:r>
              <a:rPr lang="ru-RU" dirty="0"/>
              <a:t>Требования нестабильны и уточняются</a:t>
            </a:r>
          </a:p>
          <a:p>
            <a:pPr lvl="1"/>
            <a:r>
              <a:rPr lang="ru-RU" dirty="0"/>
              <a:t>Бизнес-правил становится больше</a:t>
            </a:r>
          </a:p>
          <a:p>
            <a:r>
              <a:rPr lang="ru-RU" b="1" dirty="0"/>
              <a:t>Как это видно в коде</a:t>
            </a:r>
            <a:endParaRPr lang="ru-RU" dirty="0"/>
          </a:p>
          <a:p>
            <a:pPr lvl="1"/>
            <a:r>
              <a:rPr lang="ru-RU" dirty="0"/>
              <a:t>Логика размазана по слоям (UI/сервисы/БД)</a:t>
            </a:r>
          </a:p>
          <a:p>
            <a:pPr lvl="1"/>
            <a:r>
              <a:rPr lang="ru-RU" dirty="0"/>
              <a:t>«Божественные» сервисы (</a:t>
            </a:r>
            <a:r>
              <a:rPr lang="ru-RU" dirty="0" err="1"/>
              <a:t>God</a:t>
            </a:r>
            <a:r>
              <a:rPr lang="ru-RU" dirty="0"/>
              <a:t> </a:t>
            </a:r>
            <a:r>
              <a:rPr lang="ru-RU" dirty="0" err="1"/>
              <a:t>services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Логика в контроллерах и SQL/процедурах</a:t>
            </a:r>
          </a:p>
          <a:p>
            <a:pPr lvl="1"/>
            <a:r>
              <a:rPr lang="ru-RU" dirty="0"/>
              <a:t>Анемичная доменная модель (объекты без поведения)</a:t>
            </a:r>
          </a:p>
          <a:p>
            <a:r>
              <a:rPr lang="ru-RU" b="1" dirty="0"/>
              <a:t>К чему это приводит</a:t>
            </a:r>
            <a:endParaRPr lang="ru-RU" dirty="0"/>
          </a:p>
          <a:p>
            <a:pPr lvl="1"/>
            <a:r>
              <a:rPr lang="ru-RU" dirty="0"/>
              <a:t>Код трудно читать и обсуждать</a:t>
            </a:r>
          </a:p>
          <a:p>
            <a:pPr lvl="1"/>
            <a:r>
              <a:rPr lang="ru-RU" dirty="0"/>
              <a:t>Изменения становятся дорогими и рискованными</a:t>
            </a:r>
          </a:p>
        </p:txBody>
      </p:sp>
    </p:spTree>
    <p:extLst>
      <p:ext uri="{BB962C8B-B14F-4D97-AF65-F5344CB8AC3E}">
        <p14:creationId xmlns:p14="http://schemas.microsoft.com/office/powerpoint/2010/main" val="337386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95A3-A319-0C49-0FD0-49E81A30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хороший код ≠ хороший бизнес-код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688D-0E72-6550-6030-FC61CE481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Техническая корректность ≠ бизнес-смысл</a:t>
            </a:r>
          </a:p>
          <a:p>
            <a:r>
              <a:rPr lang="ru-RU" dirty="0"/>
              <a:t>Чистая архитектура не гарантирует понимания</a:t>
            </a:r>
          </a:p>
          <a:p>
            <a:r>
              <a:rPr lang="ru-RU" dirty="0"/>
              <a:t>Код может не всегда отражать язык бизнеса</a:t>
            </a:r>
          </a:p>
          <a:p>
            <a:r>
              <a:rPr lang="ru-RU" dirty="0"/>
              <a:t>Бизнес-правила скрыты</a:t>
            </a:r>
          </a:p>
          <a:p>
            <a:r>
              <a:rPr lang="ru-RU" dirty="0"/>
              <a:t>Сложно обсуждать систему с бизнесом</a:t>
            </a:r>
          </a:p>
        </p:txBody>
      </p:sp>
    </p:spTree>
    <p:extLst>
      <p:ext uri="{BB962C8B-B14F-4D97-AF65-F5344CB8AC3E}">
        <p14:creationId xmlns:p14="http://schemas.microsoft.com/office/powerpoint/2010/main" val="3447821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B6D7-362B-765D-F1A5-93A0DB86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Domain ≠ DDD (но DDD всегда про Domain)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C2E2F-E136-7589-FAC3-812147A0A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Domain есть почти в любой системе с бизнес-смыслом</a:t>
            </a:r>
          </a:p>
          <a:p>
            <a:r>
              <a:rPr lang="ru-RU" dirty="0"/>
              <a:t>Наличие </a:t>
            </a:r>
            <a:r>
              <a:rPr lang="ru-RU" dirty="0" err="1"/>
              <a:t>domain</a:t>
            </a:r>
            <a:r>
              <a:rPr lang="ru-RU" dirty="0"/>
              <a:t> ≠ использование DDD</a:t>
            </a:r>
          </a:p>
          <a:p>
            <a:r>
              <a:rPr lang="ru-RU" dirty="0"/>
              <a:t>DDD — это осознанная работа с доменом</a:t>
            </a:r>
          </a:p>
          <a:p>
            <a:r>
              <a:rPr lang="ru-RU" dirty="0"/>
              <a:t>Domain становится центром архитектуры</a:t>
            </a:r>
          </a:p>
          <a:p>
            <a:r>
              <a:rPr lang="ru-RU" dirty="0"/>
              <a:t>DDD = мышление + язык + границы + модель</a:t>
            </a:r>
            <a:endParaRPr lang="en-US" dirty="0"/>
          </a:p>
          <a:p>
            <a:r>
              <a:rPr lang="ru-RU" b="1" dirty="0"/>
              <a:t>Domain есть везде.</a:t>
            </a:r>
            <a:br>
              <a:rPr lang="ru-RU" b="1" dirty="0"/>
            </a:br>
            <a:r>
              <a:rPr lang="ru-RU" b="1" dirty="0"/>
              <a:t>DDD — это когда вы делаете его главным.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15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7CED-4E9B-4FDF-7779-0E1CA851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DDD и краткая история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8CF7-E816-6A2A-4BC6-28A05D098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Фокус на предметной области (</a:t>
            </a:r>
            <a:r>
              <a:rPr lang="ru-RU" dirty="0" err="1"/>
              <a:t>domain</a:t>
            </a:r>
            <a:r>
              <a:rPr lang="ru-RU" dirty="0"/>
              <a:t>)</a:t>
            </a:r>
          </a:p>
          <a:p>
            <a:r>
              <a:rPr lang="ru-RU" dirty="0"/>
              <a:t>Модель — центр системы</a:t>
            </a:r>
          </a:p>
          <a:p>
            <a:r>
              <a:rPr lang="ru-RU" dirty="0"/>
              <a:t>Язык бизнеса в коде</a:t>
            </a:r>
          </a:p>
          <a:p>
            <a:r>
              <a:rPr lang="ru-RU" dirty="0"/>
              <a:t>Эрик Эванс</a:t>
            </a:r>
          </a:p>
          <a:p>
            <a:r>
              <a:rPr lang="ru-RU" dirty="0"/>
              <a:t>Книга </a:t>
            </a:r>
            <a:r>
              <a:rPr lang="ru-RU" i="1" dirty="0"/>
              <a:t>Domain-Driven Design</a:t>
            </a:r>
            <a:r>
              <a:rPr lang="ru-RU" dirty="0"/>
              <a:t> (2003)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62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BA4B2D-6211-FC89-0171-6C92FE69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</a:t>
            </a:r>
            <a:r>
              <a:rPr lang="ru-RU" dirty="0"/>
              <a:t>и </a:t>
            </a:r>
            <a:r>
              <a:rPr lang="en-US" dirty="0"/>
              <a:t>Domain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99184-5D3F-D73C-86F9-5E74595E5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20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DBF7E7-C120-0CEA-C6CE-CE3B1AA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Domain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C71DBB-96DA-D182-E80F-7005EC023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Предметная область, ради которой создается программная система</a:t>
            </a:r>
          </a:p>
          <a:p>
            <a:r>
              <a:rPr lang="ru-RU" dirty="0"/>
              <a:t>Мы говорим о бизнесе: правила, процессы, ограничения, термины</a:t>
            </a:r>
          </a:p>
          <a:p>
            <a:r>
              <a:rPr lang="ru-RU" dirty="0"/>
              <a:t>Наша задача – понять домен и корректно отразить его в коде</a:t>
            </a:r>
          </a:p>
        </p:txBody>
      </p:sp>
    </p:spTree>
    <p:extLst>
      <p:ext uri="{BB962C8B-B14F-4D97-AF65-F5344CB8AC3E}">
        <p14:creationId xmlns:p14="http://schemas.microsoft.com/office/powerpoint/2010/main" val="2955705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A746-0897-6451-CCBD-C087155C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доменов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52D3-D19E-545B-11B6-91F224ECC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E-</a:t>
            </a:r>
            <a:r>
              <a:rPr lang="ru-RU" dirty="0" err="1"/>
              <a:t>commerce</a:t>
            </a:r>
            <a:endParaRPr lang="ru-RU" dirty="0"/>
          </a:p>
          <a:p>
            <a:pPr lvl="1"/>
            <a:r>
              <a:rPr lang="ru-RU" dirty="0"/>
              <a:t>Заказы, товары, цены, скидки, доставка, возвраты</a:t>
            </a:r>
          </a:p>
          <a:p>
            <a:r>
              <a:rPr lang="ru-RU" dirty="0"/>
              <a:t>Финансы и банкинг</a:t>
            </a:r>
          </a:p>
          <a:p>
            <a:pPr lvl="1"/>
            <a:r>
              <a:rPr lang="ru-RU" dirty="0"/>
              <a:t>Счета, транзакции, лимиты, проценты, регуляторные ограничения</a:t>
            </a:r>
          </a:p>
          <a:p>
            <a:r>
              <a:rPr lang="ru-RU" dirty="0"/>
              <a:t>Образование</a:t>
            </a:r>
          </a:p>
          <a:p>
            <a:pPr lvl="1"/>
            <a:r>
              <a:rPr lang="ru-RU" dirty="0"/>
              <a:t>Курсы, студенты, оценки, расписания, правила аттестации</a:t>
            </a:r>
          </a:p>
          <a:p>
            <a:r>
              <a:rPr lang="ru-RU" dirty="0"/>
              <a:t>Медицина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7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CF44-C617-7347-8E97-1E2F58AE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Domain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EDD2-9B72-0EBC-743B-BCBC045B1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Модель предметной области</a:t>
            </a:r>
          </a:p>
          <a:p>
            <a:r>
              <a:rPr lang="ru-RU" dirty="0"/>
              <a:t>Представлена в коде</a:t>
            </a:r>
          </a:p>
          <a:p>
            <a:r>
              <a:rPr lang="ru-RU" dirty="0"/>
              <a:t>Объекты и поведение</a:t>
            </a:r>
          </a:p>
          <a:p>
            <a:r>
              <a:rPr lang="ru-RU" dirty="0"/>
              <a:t>Бизнес-правила должны быть описаны здесь</a:t>
            </a:r>
          </a:p>
          <a:p>
            <a:r>
              <a:rPr lang="ru-RU" dirty="0"/>
              <a:t>Инварианты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55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0B57-7651-EFB9-5034-88C1DAB0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Domain Model ≠ Database / DTO / API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FC44-605A-C0B8-CCD2-C945E4A0B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Domain Model — про смысл и правила</a:t>
            </a:r>
          </a:p>
          <a:p>
            <a:pPr lvl="1"/>
            <a:r>
              <a:rPr lang="ru-RU" dirty="0"/>
              <a:t>Бизнес-логика и инварианты</a:t>
            </a:r>
          </a:p>
          <a:p>
            <a:pPr lvl="1"/>
            <a:r>
              <a:rPr lang="ru-RU" dirty="0"/>
              <a:t>Поведение объектов, а не только данные</a:t>
            </a:r>
          </a:p>
          <a:p>
            <a:r>
              <a:rPr lang="ru-RU" dirty="0"/>
              <a:t>Database Model — про хранение</a:t>
            </a:r>
          </a:p>
          <a:p>
            <a:pPr lvl="1"/>
            <a:r>
              <a:rPr lang="ru-RU" dirty="0"/>
              <a:t>Таблицы, связи, индексы</a:t>
            </a:r>
          </a:p>
          <a:p>
            <a:pPr lvl="1"/>
            <a:r>
              <a:rPr lang="ru-RU" dirty="0"/>
              <a:t>Оптимизация под запросы и запись</a:t>
            </a:r>
          </a:p>
          <a:p>
            <a:pPr lvl="1"/>
            <a:r>
              <a:rPr lang="ru-RU" dirty="0"/>
              <a:t>Структура ≠ доменная модель</a:t>
            </a:r>
          </a:p>
          <a:p>
            <a:r>
              <a:rPr lang="ru-RU" dirty="0"/>
              <a:t>DTO / API Model — про передачу и контракты</a:t>
            </a:r>
          </a:p>
          <a:p>
            <a:pPr lvl="1"/>
            <a:r>
              <a:rPr lang="ru-RU" dirty="0"/>
              <a:t>DTO: обмен данными между слоями/сервисами</a:t>
            </a:r>
          </a:p>
          <a:p>
            <a:pPr lvl="1"/>
            <a:r>
              <a:rPr lang="ru-RU" dirty="0"/>
              <a:t>API </a:t>
            </a:r>
            <a:r>
              <a:rPr lang="ru-RU" dirty="0" err="1"/>
              <a:t>model</a:t>
            </a:r>
            <a:r>
              <a:rPr lang="ru-RU" dirty="0"/>
              <a:t>: внешний контракт системы</a:t>
            </a:r>
          </a:p>
          <a:p>
            <a:pPr lvl="1"/>
            <a:r>
              <a:rPr lang="ru-RU" dirty="0"/>
              <a:t>Не содержит доменных правил</a:t>
            </a:r>
          </a:p>
          <a:p>
            <a:r>
              <a:rPr lang="ru-RU" dirty="0"/>
              <a:t>Почему нельзя смешивать</a:t>
            </a:r>
          </a:p>
          <a:p>
            <a:pPr lvl="1"/>
            <a:r>
              <a:rPr lang="ru-RU" dirty="0"/>
              <a:t>Утечка бизнес-логики наружу</a:t>
            </a:r>
          </a:p>
          <a:p>
            <a:pPr lvl="1"/>
            <a:r>
              <a:rPr lang="ru-RU" dirty="0"/>
              <a:t>Сложнее изменять и тестировать</a:t>
            </a:r>
          </a:p>
          <a:p>
            <a:pPr lvl="1"/>
            <a:r>
              <a:rPr lang="ru-RU" dirty="0"/>
              <a:t>Модель становится противоречивой</a:t>
            </a:r>
          </a:p>
        </p:txBody>
      </p:sp>
    </p:spTree>
    <p:extLst>
      <p:ext uri="{BB962C8B-B14F-4D97-AF65-F5344CB8AC3E}">
        <p14:creationId xmlns:p14="http://schemas.microsoft.com/office/powerpoint/2010/main" val="3988865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5E70-B829-D096-8100-F149422D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Domain Model — центр приложения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10F8E-9D85-0E25-CBC8-A3957000C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Бизнес-логика — главная ценность системы</a:t>
            </a:r>
          </a:p>
          <a:p>
            <a:r>
              <a:rPr lang="ru-RU" dirty="0"/>
              <a:t>Домен живёт дольше технологий</a:t>
            </a:r>
          </a:p>
          <a:p>
            <a:r>
              <a:rPr lang="ru-RU" dirty="0"/>
              <a:t>Код отражает реальность</a:t>
            </a:r>
          </a:p>
          <a:p>
            <a:r>
              <a:rPr lang="ru-RU" dirty="0"/>
              <a:t>Когда код отражает предметную область, проще менять систему</a:t>
            </a:r>
          </a:p>
          <a:p>
            <a:r>
              <a:rPr lang="ru-RU" dirty="0"/>
              <a:t>Проще обсуждать с бизнесом (доменными экспертами)</a:t>
            </a:r>
          </a:p>
        </p:txBody>
      </p:sp>
    </p:spTree>
    <p:extLst>
      <p:ext uri="{BB962C8B-B14F-4D97-AF65-F5344CB8AC3E}">
        <p14:creationId xmlns:p14="http://schemas.microsoft.com/office/powerpoint/2010/main" val="3236825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CC1D71-2737-A743-4730-7B828763C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имеет смысл в </a:t>
            </a:r>
            <a:r>
              <a:rPr lang="en-US" dirty="0"/>
              <a:t>DDD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79EBB-FA8E-1272-5DD5-050882A5B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13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5DB0-6C36-836C-76D8-70A0AF01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DDD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«за» и «против»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4AEED-1B04-3842-D26A-619E7EC90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en-US" dirty="0"/>
              <a:t>DDD </a:t>
            </a:r>
            <a:r>
              <a:rPr lang="ru-RU" dirty="0"/>
              <a:t>оправдан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8F09C-4ECA-AC13-77DE-07DB5C2F6C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Сложная бизнес-логика</a:t>
            </a:r>
          </a:p>
          <a:p>
            <a:r>
              <a:rPr lang="ru-RU" dirty="0"/>
              <a:t>Много правил и исключений</a:t>
            </a:r>
          </a:p>
          <a:p>
            <a:r>
              <a:rPr lang="ru-RU" dirty="0"/>
              <a:t>Требования часто меняются</a:t>
            </a:r>
          </a:p>
          <a:p>
            <a:r>
              <a:rPr lang="ru-RU" dirty="0"/>
              <a:t>Долгий срок жизни продукта</a:t>
            </a:r>
          </a:p>
          <a:p>
            <a:r>
              <a:rPr lang="ru-RU" dirty="0"/>
              <a:t>Несколько команд / модулей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08765-CBAF-63C5-FBF5-3493047E4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Когда DDD не нужен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EB4BE-58BC-21C5-7A65-DBCEDAFD05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Почти чистый CRUD</a:t>
            </a:r>
          </a:p>
          <a:p>
            <a:r>
              <a:rPr lang="ru-RU" dirty="0"/>
              <a:t>Простой домен, мало правил</a:t>
            </a:r>
          </a:p>
          <a:p>
            <a:r>
              <a:rPr lang="ru-RU" dirty="0"/>
              <a:t>Быстрый MVP / прототип</a:t>
            </a:r>
          </a:p>
          <a:p>
            <a:r>
              <a:rPr lang="ru-RU" dirty="0"/>
              <a:t>Маленькая команда</a:t>
            </a:r>
          </a:p>
          <a:p>
            <a:r>
              <a:rPr lang="ru-RU" dirty="0"/>
              <a:t>Короткий срок жизни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37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27C2-0760-7429-48AB-1838CA28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Стоимость DDD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2EE2-F5A1-897B-4274-DF8ABABC2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Больше времени на анализ</a:t>
            </a:r>
          </a:p>
          <a:p>
            <a:r>
              <a:rPr lang="ru-RU" dirty="0"/>
              <a:t>Нужен общий язык (</a:t>
            </a:r>
            <a:r>
              <a:rPr lang="en-US" dirty="0"/>
              <a:t>ubiquitous language)</a:t>
            </a:r>
            <a:endParaRPr lang="ru-RU" dirty="0"/>
          </a:p>
          <a:p>
            <a:r>
              <a:rPr lang="ru-RU" dirty="0"/>
              <a:t>Сложнее дизайн и код, что увеличивает порог входа</a:t>
            </a:r>
          </a:p>
          <a:p>
            <a:r>
              <a:rPr lang="ru-RU" dirty="0"/>
              <a:t>Требует дисциплины и смены привычек</a:t>
            </a:r>
          </a:p>
          <a:p>
            <a:r>
              <a:rPr lang="ru-RU" dirty="0"/>
              <a:t>Ошибки в модели дорого стоят</a:t>
            </a:r>
          </a:p>
        </p:txBody>
      </p:sp>
    </p:spTree>
    <p:extLst>
      <p:ext uri="{BB962C8B-B14F-4D97-AF65-F5344CB8AC3E}">
        <p14:creationId xmlns:p14="http://schemas.microsoft.com/office/powerpoint/2010/main" val="1453338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A22C-90D4-98B8-5455-B5526896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Tactical vs Strategic DDD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385B-D9A5-5798-750F-F05B34B7F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Strategic: </a:t>
            </a:r>
            <a:r>
              <a:rPr lang="ru-RU" dirty="0"/>
              <a:t>как разделить систему на границы и контексты</a:t>
            </a:r>
          </a:p>
          <a:p>
            <a:r>
              <a:rPr lang="en-US" dirty="0"/>
              <a:t>Tactical: </a:t>
            </a:r>
            <a:r>
              <a:rPr lang="ru-RU" dirty="0"/>
              <a:t>как писать код и какие паттерны использовать</a:t>
            </a:r>
          </a:p>
          <a:p>
            <a:r>
              <a:rPr lang="ru-RU" dirty="0"/>
              <a:t>Можно внедрять поэтапно</a:t>
            </a:r>
          </a:p>
          <a:p>
            <a:r>
              <a:rPr lang="ru-RU" dirty="0"/>
              <a:t>Часто начинают со стратегической части</a:t>
            </a:r>
          </a:p>
          <a:p>
            <a:pPr lvl="1"/>
            <a:r>
              <a:rPr lang="ru-RU" dirty="0"/>
              <a:t>Видеть границы и говорить на общем языке</a:t>
            </a:r>
          </a:p>
          <a:p>
            <a:pPr lvl="1"/>
            <a:r>
              <a:rPr lang="ru-RU" dirty="0"/>
              <a:t>Тактические паттерны подключать по мере сложности</a:t>
            </a:r>
          </a:p>
        </p:txBody>
      </p:sp>
    </p:spTree>
    <p:extLst>
      <p:ext uri="{BB962C8B-B14F-4D97-AF65-F5344CB8AC3E}">
        <p14:creationId xmlns:p14="http://schemas.microsoft.com/office/powerpoint/2010/main" val="203941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A064-BA15-176B-F216-F86BD78B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Простая система </a:t>
            </a:r>
            <a:r>
              <a:rPr lang="ru-RU" dirty="0" err="1"/>
              <a:t>vs</a:t>
            </a:r>
            <a:r>
              <a:rPr lang="ru-RU" dirty="0"/>
              <a:t> сложная система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ECDA-5996-C3FE-84B8-602199F5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Простая: «данные + формы»</a:t>
            </a:r>
          </a:p>
          <a:p>
            <a:pPr lvl="1"/>
            <a:r>
              <a:rPr lang="ru-RU" dirty="0"/>
              <a:t>Хранить данные и показывать пользователю</a:t>
            </a:r>
          </a:p>
          <a:p>
            <a:pPr lvl="1"/>
            <a:r>
              <a:rPr lang="ru-RU" dirty="0"/>
              <a:t>минимум логики</a:t>
            </a:r>
          </a:p>
          <a:p>
            <a:r>
              <a:rPr lang="ru-RU" dirty="0"/>
              <a:t>Сложная:</a:t>
            </a:r>
          </a:p>
          <a:p>
            <a:pPr lvl="1"/>
            <a:r>
              <a:rPr lang="ru-RU" dirty="0"/>
              <a:t>ценность несут «правила + процессы»,</a:t>
            </a:r>
          </a:p>
          <a:p>
            <a:pPr lvl="1"/>
            <a:r>
              <a:rPr lang="ru-RU" dirty="0"/>
              <a:t>ошибка стоит дорого</a:t>
            </a:r>
          </a:p>
          <a:p>
            <a:pPr lvl="1"/>
            <a:r>
              <a:rPr lang="ru-RU" dirty="0"/>
              <a:t>Где нужны инварианты</a:t>
            </a:r>
          </a:p>
          <a:p>
            <a:r>
              <a:rPr lang="en-US" dirty="0"/>
              <a:t>DDD </a:t>
            </a:r>
            <a:r>
              <a:rPr lang="ru-RU" dirty="0"/>
              <a:t>делает сложность явной, локализует правила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647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9A53-9755-6453-3363-0A785667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DDD и жизненный цикл продукта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DCFA4-6038-F541-2DD4-4D587117F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Ранний этап: скорость</a:t>
            </a:r>
          </a:p>
          <a:p>
            <a:r>
              <a:rPr lang="ru-RU" dirty="0"/>
              <a:t>Рост: структура и границы</a:t>
            </a:r>
          </a:p>
          <a:p>
            <a:r>
              <a:rPr lang="ru-RU" dirty="0"/>
              <a:t>Масштаб: несколько команд</a:t>
            </a:r>
          </a:p>
          <a:p>
            <a:r>
              <a:rPr lang="ru-RU" dirty="0"/>
              <a:t>Зрелость: устойчивость модели</a:t>
            </a:r>
          </a:p>
          <a:p>
            <a:r>
              <a:rPr lang="ru-RU" dirty="0"/>
              <a:t>Рефакторинг неизбежен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37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4D118-82C2-1F96-77B2-122CFBF6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</a:t>
            </a:r>
            <a:r>
              <a:rPr lang="en-US" dirty="0"/>
              <a:t>DDD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D446B9-1FEB-0130-AC08-42F8D9254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34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4218F-ACE3-B764-889F-DB22FE58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Domain-</a:t>
            </a:r>
            <a:r>
              <a:rPr lang="ru-RU" dirty="0" err="1"/>
              <a:t>first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614B69-9648-8F1A-3D49-BA3BDDF71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89922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Начинаем с предметной области, не с БД/фреймворка</a:t>
            </a:r>
          </a:p>
          <a:p>
            <a:r>
              <a:rPr lang="ru-RU" dirty="0"/>
              <a:t>Выясняем термины предметной области</a:t>
            </a:r>
          </a:p>
          <a:p>
            <a:pPr lvl="1"/>
            <a:r>
              <a:rPr lang="ru-RU" dirty="0"/>
              <a:t>Например: </a:t>
            </a:r>
            <a:r>
              <a:rPr lang="ru-RU" dirty="0" err="1"/>
              <a:t>Order</a:t>
            </a:r>
            <a:r>
              <a:rPr lang="ru-RU" dirty="0"/>
              <a:t>, </a:t>
            </a:r>
            <a:r>
              <a:rPr lang="ru-RU" dirty="0" err="1"/>
              <a:t>Payment</a:t>
            </a:r>
            <a:r>
              <a:rPr lang="ru-RU" dirty="0"/>
              <a:t>, </a:t>
            </a:r>
            <a:r>
              <a:rPr lang="ru-RU" dirty="0" err="1"/>
              <a:t>Shipment</a:t>
            </a:r>
            <a:endParaRPr lang="ru-RU" dirty="0"/>
          </a:p>
          <a:p>
            <a:r>
              <a:rPr lang="ru-RU" dirty="0"/>
              <a:t>Фиксируем бизнес-правила и ограничения</a:t>
            </a:r>
          </a:p>
          <a:p>
            <a:r>
              <a:rPr lang="ru-RU" dirty="0"/>
              <a:t>Только потом выбираем технологии и хранение</a:t>
            </a:r>
          </a:p>
          <a:p>
            <a:r>
              <a:rPr lang="ru-RU" dirty="0"/>
              <a:t>Архитектура следует домену (а не наоборот)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B7369-643D-9953-8562-D3E515E950FE}"/>
              </a:ext>
            </a:extLst>
          </p:cNvPr>
          <p:cNvSpPr txBox="1"/>
          <p:nvPr/>
        </p:nvSpPr>
        <p:spPr>
          <a:xfrm>
            <a:off x="8276095" y="1789834"/>
            <a:ext cx="37751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Cancel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ChangeAddress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66930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E4952-51E1-C801-2D04-85BF447E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Богатая доменная модель </a:t>
            </a:r>
            <a:r>
              <a:rPr lang="ru-RU" dirty="0" err="1"/>
              <a:t>vs</a:t>
            </a:r>
            <a:r>
              <a:rPr lang="ru-RU" dirty="0"/>
              <a:t> анемичная модель (пример)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778C5-1962-9EAC-3262-84A9FC2CD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Богатая модель: данные + поведение рядом</a:t>
            </a:r>
          </a:p>
          <a:p>
            <a:pPr lvl="1"/>
            <a:r>
              <a:rPr lang="ru-RU" dirty="0"/>
              <a:t>Инварианты защищены внутри объекта</a:t>
            </a:r>
          </a:p>
          <a:p>
            <a:pPr lvl="1"/>
            <a:r>
              <a:rPr lang="ru-RU" dirty="0"/>
              <a:t>Внешний код вызывает доменные методы</a:t>
            </a:r>
          </a:p>
          <a:p>
            <a:r>
              <a:rPr lang="ru-RU" dirty="0"/>
              <a:t>Анемичная модель: только поля, логика снаружи</a:t>
            </a:r>
          </a:p>
          <a:p>
            <a:pPr lvl="1"/>
            <a:r>
              <a:rPr lang="ru-RU" dirty="0"/>
              <a:t>Симптом: «бог-сервис» с кучей </a:t>
            </a:r>
            <a:r>
              <a:rPr lang="ru-RU" dirty="0" err="1"/>
              <a:t>if</a:t>
            </a:r>
            <a:r>
              <a:rPr lang="ru-RU" dirty="0"/>
              <a:t>/</a:t>
            </a:r>
            <a:r>
              <a:rPr lang="ru-RU" dirty="0" err="1"/>
              <a:t>else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8717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AF491E-CA77-E3BB-23E8-506EB897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анемичной модели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D7A0D-1EBC-7F2E-7E09-68CA4397448F}"/>
              </a:ext>
            </a:extLst>
          </p:cNvPr>
          <p:cNvSpPr txBox="1"/>
          <p:nvPr/>
        </p:nvSpPr>
        <p:spPr>
          <a:xfrm>
            <a:off x="838201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Анемичная модель: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Order -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просто контейнер данных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std::string id;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std::string address;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paid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shipped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cancelled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OrderService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CancelOrder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Логика живёт снаружи -&gt; размазывается по сервисам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.shipped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Cannot cancel shipped order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.cancelled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.cancelled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ChangeAddress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.shipped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Cannot change address after shipment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39845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46257D-5A29-F86B-E110-2065ACFE79F8}"/>
              </a:ext>
            </a:extLst>
          </p:cNvPr>
          <p:cNvSpPr txBox="1"/>
          <p:nvPr/>
        </p:nvSpPr>
        <p:spPr>
          <a:xfrm>
            <a:off x="247650" y="365125"/>
            <a:ext cx="1114425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Draft, Placed, Paid, Shipped, Cancelled };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::Draft)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Order already placed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::Placed;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::Placed)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Pay only after placing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::Paid;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Ship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::Paid)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Ship only after payment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::Shipped;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Cancel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::Shipped)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Cannot cancel shipped order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::Cancelled)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::Cancelled;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ChangeAddress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::Shipped)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Cannot change address after shipment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::Draft;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07075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C512-10AF-295D-D834-F50B4889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Инварианты и бизнес-правила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55668-0FD2-F0B5-11C1-C7AF96CF4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Инвариант: правило, которое всегда должно быть истинным</a:t>
            </a:r>
          </a:p>
          <a:p>
            <a:r>
              <a:rPr lang="ru-RU" dirty="0"/>
              <a:t>Проверяется внутри домена, а не в </a:t>
            </a:r>
            <a:r>
              <a:rPr lang="en-US" dirty="0"/>
              <a:t>UI/</a:t>
            </a:r>
            <a:r>
              <a:rPr lang="ru-RU" dirty="0"/>
              <a:t>контроллере</a:t>
            </a:r>
          </a:p>
          <a:p>
            <a:r>
              <a:rPr lang="ru-RU" dirty="0"/>
              <a:t>Нельзя нарушить извне.</a:t>
            </a:r>
          </a:p>
          <a:p>
            <a:pPr lvl="1"/>
            <a:r>
              <a:rPr lang="ru-RU" dirty="0"/>
              <a:t>Доступ к состоянию возможен только через доменные операции</a:t>
            </a:r>
          </a:p>
          <a:p>
            <a:r>
              <a:rPr lang="ru-RU" dirty="0"/>
              <a:t>Проверяем сразу при изменении состояния и рано ловим ошибки</a:t>
            </a:r>
          </a:p>
          <a:p>
            <a:r>
              <a:rPr lang="ru-RU" dirty="0"/>
              <a:t>Агрегаты защищают правила</a:t>
            </a:r>
          </a:p>
          <a:p>
            <a:pPr lvl="1"/>
            <a:r>
              <a:rPr lang="ru-RU" dirty="0"/>
              <a:t>Корень агрегата – единственная точка изменения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71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0643-1448-C0B7-37B8-9EBCD88D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Явные границы ответственности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968C-0DCB-7D29-696A-058C3DF48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Без границ система превращается в комок</a:t>
            </a:r>
          </a:p>
          <a:p>
            <a:r>
              <a:rPr lang="en-US" dirty="0"/>
              <a:t>Bounded Context </a:t>
            </a:r>
            <a:r>
              <a:rPr lang="ru-RU" dirty="0"/>
              <a:t>задаёт стратегические границы моделей</a:t>
            </a:r>
          </a:p>
          <a:p>
            <a:pPr lvl="1"/>
            <a:r>
              <a:rPr lang="ru-RU" dirty="0"/>
              <a:t>Где начинается одна модель, и начинается другая,</a:t>
            </a:r>
            <a:r>
              <a:rPr lang="en-US" dirty="0"/>
              <a:t>?</a:t>
            </a:r>
            <a:endParaRPr lang="ru-RU" dirty="0"/>
          </a:p>
          <a:p>
            <a:r>
              <a:rPr lang="en-US" dirty="0"/>
              <a:t>Aggregate</a:t>
            </a:r>
            <a:r>
              <a:rPr lang="ru-RU" dirty="0"/>
              <a:t> задаёт тактические границы</a:t>
            </a:r>
          </a:p>
          <a:p>
            <a:pPr lvl="1"/>
            <a:r>
              <a:rPr lang="ru-RU" dirty="0"/>
              <a:t>Что должно изменяться согласованно в рамках одной транзакции</a:t>
            </a:r>
            <a:r>
              <a:rPr lang="en-US" dirty="0"/>
              <a:t>?</a:t>
            </a:r>
          </a:p>
          <a:p>
            <a:r>
              <a:rPr lang="ru-RU" dirty="0"/>
              <a:t>У каждого компонента есть понятная ответственность, очевидная из кода</a:t>
            </a:r>
          </a:p>
        </p:txBody>
      </p:sp>
    </p:spTree>
    <p:extLst>
      <p:ext uri="{BB962C8B-B14F-4D97-AF65-F5344CB8AC3E}">
        <p14:creationId xmlns:p14="http://schemas.microsoft.com/office/powerpoint/2010/main" val="3939940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84D1-7057-A006-6409-0057BF950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Изоляция домена от инфраструктуры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EABDE-EE55-D5A9-DBB5-36A6C54A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Доменная модель должна быть чистой</a:t>
            </a:r>
            <a:endParaRPr lang="en-US" dirty="0"/>
          </a:p>
          <a:p>
            <a:pPr lvl="1"/>
            <a:r>
              <a:rPr lang="ru-RU" dirty="0"/>
              <a:t>Домен не знает про БД</a:t>
            </a:r>
          </a:p>
          <a:p>
            <a:pPr lvl="1"/>
            <a:r>
              <a:rPr lang="ru-RU" dirty="0"/>
              <a:t>Домен не знает про HTTP</a:t>
            </a:r>
          </a:p>
          <a:p>
            <a:pPr lvl="1"/>
            <a:r>
              <a:rPr lang="ru-RU" dirty="0"/>
              <a:t>Домен не знает про фреймворк</a:t>
            </a:r>
          </a:p>
          <a:p>
            <a:r>
              <a:rPr lang="ru-RU" dirty="0"/>
              <a:t>Инфраструктура — детали</a:t>
            </a:r>
          </a:p>
          <a:p>
            <a:r>
              <a:rPr lang="ru-RU" dirty="0"/>
              <a:t>Модель легче тестировать и менять</a:t>
            </a:r>
          </a:p>
        </p:txBody>
      </p:sp>
    </p:spTree>
    <p:extLst>
      <p:ext uri="{BB962C8B-B14F-4D97-AF65-F5344CB8AC3E}">
        <p14:creationId xmlns:p14="http://schemas.microsoft.com/office/powerpoint/2010/main" val="3581261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1CEB-4601-35B5-7BAD-718B73557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модели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D0DE-07F5-2C29-68A0-1A859A7E4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Понимание домена улучшается со временем</a:t>
            </a:r>
          </a:p>
          <a:p>
            <a:pPr lvl="1"/>
            <a:r>
              <a:rPr lang="ru-RU" dirty="0"/>
              <a:t>С первого раза модель не бывает идеальной, так как знаний о домене мало</a:t>
            </a:r>
          </a:p>
          <a:p>
            <a:r>
              <a:rPr lang="ru-RU" dirty="0"/>
              <a:t>Бизнес меняется и уточняет правила</a:t>
            </a:r>
          </a:p>
          <a:p>
            <a:pPr lvl="1"/>
            <a:r>
              <a:rPr lang="ru-RU" dirty="0"/>
              <a:t>Модель должна успевать за этими изменениями</a:t>
            </a:r>
          </a:p>
          <a:p>
            <a:r>
              <a:rPr lang="ru-RU" dirty="0"/>
              <a:t>Рефакторинг — нормальный способ развития модели, а не признак ошибки</a:t>
            </a:r>
          </a:p>
          <a:p>
            <a:r>
              <a:rPr lang="ru-RU" dirty="0"/>
              <a:t>«Первые версии» почти всегда неточны</a:t>
            </a:r>
          </a:p>
          <a:p>
            <a:r>
              <a:rPr lang="ru-RU" dirty="0"/>
              <a:t>Обратная связь и явные границы помогают менять модель безопасно, не ломая систему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666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5E25-ED72-024F-6052-51141FAC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DDD: мышление, а не фреймворк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FF748-A8A5-DB57-7911-F944D130B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набор классов</a:t>
            </a:r>
          </a:p>
          <a:p>
            <a:r>
              <a:rPr lang="ru-RU" dirty="0"/>
              <a:t>Не </a:t>
            </a:r>
            <a:r>
              <a:rPr lang="ru-RU" dirty="0" err="1"/>
              <a:t>чеклист</a:t>
            </a:r>
            <a:r>
              <a:rPr lang="ru-RU" dirty="0"/>
              <a:t> паттернов</a:t>
            </a:r>
          </a:p>
          <a:p>
            <a:r>
              <a:rPr lang="ru-RU" dirty="0"/>
              <a:t>Про коммуникацию и модель</a:t>
            </a:r>
          </a:p>
          <a:p>
            <a:r>
              <a:rPr lang="ru-RU" dirty="0"/>
              <a:t>Про решения под домен</a:t>
            </a:r>
          </a:p>
          <a:p>
            <a:r>
              <a:rPr lang="ru-RU" dirty="0"/>
              <a:t>Про осознанный дизайн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15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D95E5-1B72-48BB-0754-678532E4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Ubiquitous Language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8EB1C-6A8F-8467-6FB6-873BB6139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028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E1192F-CED8-5518-BCE2-8A941A48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Ubiquitous</a:t>
            </a:r>
            <a:r>
              <a:rPr lang="ru-RU" dirty="0"/>
              <a:t> Language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1FA2AE-DF7E-771F-0F6C-8A711D701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Общий язык команды</a:t>
            </a:r>
          </a:p>
          <a:p>
            <a:r>
              <a:rPr lang="ru-RU" dirty="0"/>
              <a:t>Язык бизнеса и разработки</a:t>
            </a:r>
          </a:p>
          <a:p>
            <a:r>
              <a:rPr lang="ru-RU" dirty="0"/>
              <a:t>Используется везде: в коде, в обсуждениях, в документации, тестах</a:t>
            </a:r>
          </a:p>
          <a:p>
            <a:r>
              <a:rPr lang="ru-RU" dirty="0"/>
              <a:t>Часть доменной модели</a:t>
            </a:r>
          </a:p>
          <a:p>
            <a:r>
              <a:rPr lang="ru-RU" dirty="0"/>
              <a:t>Основа DDD</a:t>
            </a:r>
          </a:p>
        </p:txBody>
      </p:sp>
    </p:spTree>
    <p:extLst>
      <p:ext uri="{BB962C8B-B14F-4D97-AF65-F5344CB8AC3E}">
        <p14:creationId xmlns:p14="http://schemas.microsoft.com/office/powerpoint/2010/main" val="1281242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14B0-4527-EE38-9EA1-E0E8EEB7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 как продолжение речи бизнеса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04928-4553-C437-7CF0-2330164D6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Термины бизнеса в коде</a:t>
            </a:r>
          </a:p>
          <a:p>
            <a:pPr lvl="1"/>
            <a:r>
              <a:rPr lang="ru-RU" dirty="0"/>
              <a:t>Имена классов и методов</a:t>
            </a:r>
          </a:p>
          <a:p>
            <a:pPr lvl="1"/>
            <a:r>
              <a:rPr lang="ru-RU" dirty="0"/>
              <a:t>Примеры: </a:t>
            </a:r>
            <a:r>
              <a:rPr lang="en-US" dirty="0"/>
              <a:t>PlaceOrder, </a:t>
            </a:r>
            <a:r>
              <a:rPr lang="en-US" dirty="0" err="1"/>
              <a:t>CancelOrder</a:t>
            </a:r>
            <a:r>
              <a:rPr lang="en-US" dirty="0"/>
              <a:t>, </a:t>
            </a:r>
            <a:r>
              <a:rPr lang="en-US" dirty="0" err="1"/>
              <a:t>PaymentsReceived</a:t>
            </a:r>
            <a:endParaRPr lang="ru-RU" dirty="0"/>
          </a:p>
          <a:p>
            <a:r>
              <a:rPr lang="ru-RU" dirty="0"/>
              <a:t>Нет «технических» суррогатов (они не несу бизнес-смысла):</a:t>
            </a:r>
          </a:p>
          <a:p>
            <a:pPr lvl="1"/>
            <a:r>
              <a:rPr lang="en-US" dirty="0" err="1"/>
              <a:t>HandleRequest</a:t>
            </a:r>
            <a:r>
              <a:rPr lang="en-US" dirty="0"/>
              <a:t>, </a:t>
            </a:r>
            <a:r>
              <a:rPr lang="en-US" dirty="0" err="1"/>
              <a:t>EntityManager</a:t>
            </a:r>
            <a:r>
              <a:rPr lang="en-US" dirty="0"/>
              <a:t>, </a:t>
            </a:r>
            <a:r>
              <a:rPr lang="en-US" dirty="0" err="1"/>
              <a:t>DataObject</a:t>
            </a:r>
            <a:endParaRPr lang="ru-RU" dirty="0"/>
          </a:p>
          <a:p>
            <a:r>
              <a:rPr lang="ru-RU" dirty="0"/>
              <a:t>Код читается как текст</a:t>
            </a:r>
          </a:p>
          <a:p>
            <a:r>
              <a:rPr lang="ru-RU" dirty="0"/>
              <a:t>Минимум перевода в голове</a:t>
            </a:r>
          </a:p>
        </p:txBody>
      </p:sp>
    </p:spTree>
    <p:extLst>
      <p:ext uri="{BB962C8B-B14F-4D97-AF65-F5344CB8AC3E}">
        <p14:creationId xmlns:p14="http://schemas.microsoft.com/office/powerpoint/2010/main" val="1444889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C540-B3C8-3062-F4BB-BB0A2D4C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Плохие и хорошие названия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71C49-0C27-C1C9-C916-310B3EB3B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Плохие имена: обобщённые и технические</a:t>
            </a:r>
          </a:p>
          <a:p>
            <a:pPr lvl="1"/>
            <a:r>
              <a:rPr lang="en-US" dirty="0"/>
              <a:t>Manager, Processor, Helper, Data, Info</a:t>
            </a:r>
            <a:endParaRPr lang="ru-RU" dirty="0"/>
          </a:p>
          <a:p>
            <a:r>
              <a:rPr lang="ru-RU" dirty="0"/>
              <a:t>Хорошие: доменные, конкретные, отражают происходящее</a:t>
            </a:r>
          </a:p>
          <a:p>
            <a:pPr lvl="1"/>
            <a:r>
              <a:rPr lang="en-US" dirty="0"/>
              <a:t>Order, </a:t>
            </a:r>
            <a:r>
              <a:rPr lang="en-US" dirty="0" err="1"/>
              <a:t>OrderItem</a:t>
            </a:r>
            <a:r>
              <a:rPr lang="en-US" dirty="0"/>
              <a:t>, PlaceOrder, </a:t>
            </a:r>
            <a:r>
              <a:rPr lang="en-US" dirty="0" err="1"/>
              <a:t>ApplyDiscount</a:t>
            </a:r>
            <a:r>
              <a:rPr lang="en-US" dirty="0"/>
              <a:t>, </a:t>
            </a:r>
            <a:r>
              <a:rPr lang="en-US" dirty="0" err="1"/>
              <a:t>CalculateShippingCost</a:t>
            </a:r>
            <a:endParaRPr lang="en-US" dirty="0"/>
          </a:p>
          <a:p>
            <a:r>
              <a:rPr lang="ru-RU" dirty="0"/>
              <a:t>Если название можно использовать почти в любом проекте –скорее всего, оно плохое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20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29AA-F157-D653-2699-B25578F6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Один термин — одно значение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DA525-A67B-592F-76A7-6A5AFBD69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Каждый термин в модели имеет один чёткий смысл, чтобы код читался однозначно</a:t>
            </a:r>
          </a:p>
          <a:p>
            <a:r>
              <a:rPr lang="ru-RU" dirty="0"/>
              <a:t>Если одно слово значит разное — возникает путаница и противоречивые правила в системе</a:t>
            </a:r>
          </a:p>
          <a:p>
            <a:r>
              <a:rPr lang="ru-RU" dirty="0"/>
              <a:t>Мы не перегружаем термины: разные понятия → разные названия</a:t>
            </a:r>
          </a:p>
          <a:p>
            <a:r>
              <a:rPr lang="ru-RU" dirty="0"/>
              <a:t>Правило действует внутри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: в разных контекстах смысл может отличаться</a:t>
            </a:r>
          </a:p>
          <a:p>
            <a:r>
              <a:rPr lang="ru-RU" dirty="0"/>
              <a:t>Язык фиксируется командой через договорённости и регулярно уточняется по мере работы</a:t>
            </a:r>
          </a:p>
        </p:txBody>
      </p:sp>
    </p:spTree>
    <p:extLst>
      <p:ext uri="{BB962C8B-B14F-4D97-AF65-F5344CB8AC3E}">
        <p14:creationId xmlns:p14="http://schemas.microsoft.com/office/powerpoint/2010/main" val="1843694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2F3D-6211-7E45-9398-7BD77A07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Язык, документация и 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4408-6CF1-D043-44F9-1BFCDBC2A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и тот же язык используется в обсуждениях, документации, тестах и коде</a:t>
            </a:r>
          </a:p>
          <a:p>
            <a:r>
              <a:rPr lang="ru-RU" dirty="0"/>
              <a:t>Документация читается без “перевода” на технические термины, потому что слова совпадают с кодом</a:t>
            </a:r>
          </a:p>
          <a:p>
            <a:r>
              <a:rPr lang="ru-RU" dirty="0"/>
              <a:t>Код закрепляет договорённости команды</a:t>
            </a:r>
            <a:endParaRPr lang="en-US" dirty="0"/>
          </a:p>
          <a:p>
            <a:pPr lvl="1"/>
            <a:r>
              <a:rPr lang="ru-RU" dirty="0"/>
              <a:t>Названия отражают бизнес-смысл, а не детали реализации</a:t>
            </a:r>
          </a:p>
          <a:p>
            <a:r>
              <a:rPr lang="ru-RU" dirty="0"/>
              <a:t>Тесты, написанные на языке домена, становятся живой спецификацией и показывают правила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4032001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DA8366-439E-7A90-A198-41F2A7CC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Context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8ABB7-D2A4-32DA-B938-86329EDBE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4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226092-FFB8-AA7C-9F9A-181EF6CB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«одна модель на весь бизнес» ломается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C1AABB-37CF-088D-3A0B-8F3FEEA00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 ростом продукта бизнес перестаёт быть однородным, и сложность быстро накапливается</a:t>
            </a:r>
          </a:p>
          <a:p>
            <a:r>
              <a:rPr lang="ru-RU" dirty="0"/>
              <a:t>Одна общая модель раздувается: флаги, режимы, ветвления, “особые случаи”</a:t>
            </a:r>
          </a:p>
          <a:p>
            <a:r>
              <a:rPr lang="ru-RU" dirty="0"/>
              <a:t>Один и тот же термин начинает значить разное в разных частях системы (перегрузка слов)</a:t>
            </a:r>
          </a:p>
          <a:p>
            <a:r>
              <a:rPr lang="ru-RU" dirty="0"/>
              <a:t>Попытка объединить разные смыслы в один класс делает модель противоречивой и запутанной</a:t>
            </a:r>
          </a:p>
          <a:p>
            <a:r>
              <a:rPr lang="ru-RU" dirty="0"/>
              <a:t>Изменения становятся рискованными, потому что «зацепляют» не те части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476279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300C-911A-1705-D3F3-623C7E51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E0AF6-4476-6AC1-4AAF-B4CEECB78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«контейнер смысла», где термины и правила однозначны</a:t>
            </a:r>
          </a:p>
          <a:p>
            <a:r>
              <a:rPr lang="ru-RU" dirty="0"/>
              <a:t>Контекст задаёт значение слов: один термин = одно значение </a:t>
            </a:r>
            <a:r>
              <a:rPr lang="ru-RU" b="1" dirty="0"/>
              <a:t>внутри</a:t>
            </a:r>
            <a:r>
              <a:rPr lang="ru-RU" dirty="0"/>
              <a:t> границы</a:t>
            </a:r>
          </a:p>
          <a:p>
            <a:r>
              <a:rPr lang="ru-RU" dirty="0"/>
              <a:t>У каждого контекста свой язык и свои правила, согласованные внутри команды</a:t>
            </a:r>
          </a:p>
          <a:p>
            <a:r>
              <a:rPr lang="ru-RU" dirty="0"/>
              <a:t>Это концептуальная граница, а не папка в коде (не просто </a:t>
            </a:r>
            <a:r>
              <a:rPr lang="ru-RU" dirty="0" err="1"/>
              <a:t>namespace</a:t>
            </a:r>
            <a:r>
              <a:rPr lang="ru-RU" dirty="0"/>
              <a:t>/модуль)</a:t>
            </a:r>
          </a:p>
          <a:p>
            <a:r>
              <a:rPr lang="ru-RU" dirty="0"/>
              <a:t>Сначала определяем контексты, потом проектируем код и интеграции</a:t>
            </a:r>
          </a:p>
        </p:txBody>
      </p:sp>
    </p:spTree>
    <p:extLst>
      <p:ext uri="{BB962C8B-B14F-4D97-AF65-F5344CB8AC3E}">
        <p14:creationId xmlns:p14="http://schemas.microsoft.com/office/powerpoint/2010/main" val="3999250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1E6C-0AB2-42DC-3FFC-9CF9197A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</a:t>
            </a:r>
            <a:r>
              <a:rPr lang="en-US" dirty="0"/>
              <a:t>Bounded Context </a:t>
            </a:r>
            <a:r>
              <a:rPr lang="ru-RU" dirty="0"/>
              <a:t>в системе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E9CA-B8A4-5B70-99EC-A6730E770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Sales</a:t>
            </a:r>
            <a:r>
              <a:rPr lang="en-US" dirty="0"/>
              <a:t> — </a:t>
            </a:r>
            <a:r>
              <a:rPr lang="ru-RU" dirty="0"/>
              <a:t>оформление и управление заказами</a:t>
            </a:r>
            <a:endParaRPr lang="en-US" dirty="0"/>
          </a:p>
          <a:p>
            <a:pPr lvl="1"/>
            <a:r>
              <a:rPr lang="ru-RU" dirty="0"/>
              <a:t>«Заказ» – намерение клиента купить товары</a:t>
            </a:r>
          </a:p>
          <a:p>
            <a:r>
              <a:rPr lang="en-US" b="1" dirty="0"/>
              <a:t>Billing</a:t>
            </a:r>
            <a:r>
              <a:rPr lang="en-US" dirty="0"/>
              <a:t> — </a:t>
            </a:r>
            <a:r>
              <a:rPr lang="ru-RU" dirty="0"/>
              <a:t>платежи и расчёты</a:t>
            </a:r>
          </a:p>
          <a:p>
            <a:pPr lvl="1"/>
            <a:r>
              <a:rPr lang="ru-RU" dirty="0"/>
              <a:t>«Заказ» – основание для выставления счёта и проведения платежей</a:t>
            </a:r>
          </a:p>
          <a:p>
            <a:r>
              <a:rPr lang="en-US" b="1" dirty="0"/>
              <a:t>Shipping</a:t>
            </a:r>
            <a:r>
              <a:rPr lang="en-US" dirty="0"/>
              <a:t> — </a:t>
            </a:r>
            <a:r>
              <a:rPr lang="ru-RU" dirty="0"/>
              <a:t>доставка и логистика</a:t>
            </a:r>
          </a:p>
          <a:p>
            <a:pPr lvl="1"/>
            <a:r>
              <a:rPr lang="ru-RU" dirty="0"/>
              <a:t>«Заказ» – набор товаров, которые нужно доставить по конкретному адресу к конкретному сроку</a:t>
            </a:r>
          </a:p>
          <a:p>
            <a:r>
              <a:rPr lang="en-US" b="1" dirty="0"/>
              <a:t>Inventory</a:t>
            </a:r>
            <a:r>
              <a:rPr lang="en-US" dirty="0"/>
              <a:t> — </a:t>
            </a:r>
            <a:r>
              <a:rPr lang="ru-RU" dirty="0"/>
              <a:t>склад и остатки</a:t>
            </a:r>
          </a:p>
          <a:p>
            <a:pPr lvl="1"/>
            <a:r>
              <a:rPr lang="ru-RU" dirty="0"/>
              <a:t>«Заказ» – сигнал для изменения складских остатков</a:t>
            </a:r>
          </a:p>
          <a:p>
            <a:r>
              <a:rPr lang="en-US" b="1" dirty="0"/>
              <a:t>Reporting</a:t>
            </a:r>
            <a:r>
              <a:rPr lang="en-US" dirty="0"/>
              <a:t> — </a:t>
            </a:r>
            <a:r>
              <a:rPr lang="ru-RU" dirty="0"/>
              <a:t>аналитика и отчёты</a:t>
            </a:r>
          </a:p>
          <a:p>
            <a:pPr lvl="1"/>
            <a:r>
              <a:rPr lang="ru-RU" dirty="0"/>
              <a:t>«Заказ» – это факт из истории</a:t>
            </a:r>
          </a:p>
        </p:txBody>
      </p:sp>
    </p:spTree>
    <p:extLst>
      <p:ext uri="{BB962C8B-B14F-4D97-AF65-F5344CB8AC3E}">
        <p14:creationId xmlns:p14="http://schemas.microsoft.com/office/powerpoint/2010/main" val="1701673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E40CE-C284-A8ED-7DE2-06716F47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Карта контекстов)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33531-81B5-BEDC-1B51-09B67597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показывает систему целиком:</a:t>
            </a:r>
            <a:endParaRPr lang="en-US" dirty="0"/>
          </a:p>
          <a:p>
            <a:pPr lvl="1"/>
            <a:r>
              <a:rPr lang="ru-RU" dirty="0"/>
              <a:t>все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и их границы</a:t>
            </a:r>
          </a:p>
          <a:p>
            <a:r>
              <a:rPr lang="ru-RU" dirty="0"/>
              <a:t>Отвечает на вопрос “как контексты взаимодействуют”, а не “какие классы внутри”</a:t>
            </a:r>
          </a:p>
          <a:p>
            <a:r>
              <a:rPr lang="ru-RU" dirty="0"/>
              <a:t>Связи всегда направленные:</a:t>
            </a:r>
          </a:p>
          <a:p>
            <a:pPr lvl="1"/>
            <a:r>
              <a:rPr lang="ru-RU" dirty="0"/>
              <a:t>видно, кто от кого зависит и кто влияет на изменения</a:t>
            </a:r>
          </a:p>
          <a:p>
            <a:r>
              <a:rPr lang="ru-RU" dirty="0"/>
              <a:t>Фиксирует договорённости между командами</a:t>
            </a:r>
          </a:p>
          <a:p>
            <a:pPr lvl="1"/>
            <a:r>
              <a:rPr lang="ru-RU" dirty="0"/>
              <a:t>что передаём, в каком виде и на каких условиях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Помогает управлять сложностью и планировать изменения</a:t>
            </a:r>
          </a:p>
          <a:p>
            <a:pPr lvl="1"/>
            <a:r>
              <a:rPr lang="ru-RU" dirty="0"/>
              <a:t>где риски, где нужна изоляция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Это стратегический артефакт, не UML:</a:t>
            </a:r>
            <a:endParaRPr lang="en-US" dirty="0"/>
          </a:p>
          <a:p>
            <a:pPr lvl="1"/>
            <a:r>
              <a:rPr lang="ru-RU" dirty="0"/>
              <a:t>отражает структуру бизнеса и ответственности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4075561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6ACAE-AC36-9984-18E2-760F993F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Contexts</a:t>
            </a:r>
            <a:r>
              <a:rPr lang="ru-RU" dirty="0"/>
              <a:t> на примере Библиотеки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E9DD-CF5D-5A24-B4BA-6A53E9486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81700" cy="435133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Книги (</a:t>
            </a:r>
            <a:r>
              <a:rPr lang="en-US" dirty="0"/>
              <a:t>Catalog / Books)</a:t>
            </a:r>
            <a:endParaRPr lang="ru-RU" dirty="0"/>
          </a:p>
          <a:p>
            <a:pPr lvl="1"/>
            <a:r>
              <a:rPr lang="ru-RU" dirty="0"/>
              <a:t>информация о книгах как об объектах библиотеки</a:t>
            </a:r>
          </a:p>
          <a:p>
            <a:pPr lvl="1"/>
            <a:r>
              <a:rPr lang="ru-RU" dirty="0"/>
              <a:t>ISBN, авторы, названия, издания</a:t>
            </a:r>
          </a:p>
          <a:p>
            <a:pPr lvl="1"/>
            <a:r>
              <a:rPr lang="ru-RU" dirty="0"/>
              <a:t>количество экземпляров</a:t>
            </a:r>
          </a:p>
          <a:p>
            <a:pPr lvl="1"/>
            <a:r>
              <a:rPr lang="ru-RU" dirty="0"/>
              <a:t>статус экземпляра (доступен / списан / на ремонте)</a:t>
            </a:r>
          </a:p>
          <a:p>
            <a:pPr lvl="1"/>
            <a:r>
              <a:rPr lang="ru-RU" dirty="0"/>
              <a:t>Этот контекст </a:t>
            </a:r>
            <a:r>
              <a:rPr lang="ru-RU" b="1" dirty="0"/>
              <a:t>не знает</a:t>
            </a:r>
            <a:r>
              <a:rPr lang="ru-RU" dirty="0"/>
              <a:t>, кто и когда взял книгу. Он отвечает только за каталог и наличие.</a:t>
            </a:r>
            <a:endParaRPr lang="en-US" dirty="0"/>
          </a:p>
          <a:p>
            <a:r>
              <a:rPr lang="ru-RU" dirty="0"/>
              <a:t>Читатели (</a:t>
            </a:r>
            <a:r>
              <a:rPr lang="en-US" dirty="0"/>
              <a:t>Readers / Patrons / Members)</a:t>
            </a:r>
            <a:endParaRPr lang="ru-RU" dirty="0"/>
          </a:p>
          <a:p>
            <a:pPr lvl="1"/>
            <a:r>
              <a:rPr lang="ru-RU" dirty="0"/>
              <a:t>регистрация читателей</a:t>
            </a:r>
          </a:p>
          <a:p>
            <a:pPr lvl="1"/>
            <a:r>
              <a:rPr lang="ru-RU" dirty="0"/>
              <a:t>их данные (имя, номер билета, статус)</a:t>
            </a:r>
          </a:p>
          <a:p>
            <a:pPr lvl="1"/>
            <a:r>
              <a:rPr lang="ru-RU" dirty="0"/>
              <a:t>ограничения (активен / заблокирован / штрафы)</a:t>
            </a:r>
          </a:p>
          <a:p>
            <a:pPr lvl="1"/>
            <a:r>
              <a:rPr lang="ru-RU" dirty="0"/>
              <a:t>Этот контекст </a:t>
            </a:r>
            <a:r>
              <a:rPr lang="ru-RU" b="1" dirty="0"/>
              <a:t>не знает</a:t>
            </a:r>
            <a:r>
              <a:rPr lang="ru-RU" dirty="0"/>
              <a:t>, какие именно книги сейчас у читателя. Он отвечает за самих людей и их правила.</a:t>
            </a:r>
          </a:p>
          <a:p>
            <a:r>
              <a:rPr lang="ru-RU" dirty="0"/>
              <a:t>Взятые книги (</a:t>
            </a:r>
            <a:r>
              <a:rPr lang="en-US" dirty="0"/>
              <a:t>Loans)</a:t>
            </a:r>
          </a:p>
          <a:p>
            <a:pPr lvl="1"/>
            <a:r>
              <a:rPr lang="ru-RU" dirty="0" err="1"/>
              <a:t>Loan</a:t>
            </a:r>
            <a:r>
              <a:rPr lang="ru-RU" dirty="0"/>
              <a:t> — факт выдачи книги читателю</a:t>
            </a:r>
          </a:p>
          <a:p>
            <a:pPr lvl="1"/>
            <a:r>
              <a:rPr lang="ru-RU" dirty="0" err="1"/>
              <a:t>Loan</a:t>
            </a:r>
            <a:r>
              <a:rPr lang="ru-RU" dirty="0"/>
              <a:t> </a:t>
            </a:r>
            <a:r>
              <a:rPr lang="ru-RU" dirty="0" err="1"/>
              <a:t>period</a:t>
            </a:r>
            <a:endParaRPr lang="ru-RU" dirty="0"/>
          </a:p>
          <a:p>
            <a:pPr lvl="1"/>
            <a:r>
              <a:rPr lang="ru-RU" dirty="0" err="1"/>
              <a:t>Due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  <a:p>
            <a:pPr lvl="1"/>
            <a:r>
              <a:rPr lang="ru-RU" dirty="0"/>
              <a:t>Return </a:t>
            </a:r>
            <a:r>
              <a:rPr lang="ru-RU" dirty="0" err="1"/>
              <a:t>date</a:t>
            </a:r>
            <a:endParaRPr lang="ru-RU" dirty="0"/>
          </a:p>
          <a:p>
            <a:pPr lvl="1"/>
            <a:r>
              <a:rPr lang="ru-RU" dirty="0" err="1"/>
              <a:t>Overdue</a:t>
            </a:r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4F3F33-E4E3-DE91-8B9C-B8F67154C6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6550" y="2218189"/>
            <a:ext cx="5181600" cy="196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81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1685-0769-F9FA-5E75-F4C1BD62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взаимодействия контекстов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DEF9F-63C7-1DEF-71EB-147374540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026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EDC4-5975-188A-064F-EA8BFC05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Kernel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2798-D3E8-4450-75A4-D1C9680E6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Общая часть модели</a:t>
            </a:r>
          </a:p>
          <a:p>
            <a:r>
              <a:rPr lang="ru-RU" dirty="0"/>
              <a:t>Совместная ответственность</a:t>
            </a:r>
          </a:p>
          <a:p>
            <a:r>
              <a:rPr lang="ru-RU" dirty="0"/>
              <a:t>Требует тесной координации</a:t>
            </a:r>
          </a:p>
          <a:p>
            <a:r>
              <a:rPr lang="ru-RU" dirty="0"/>
              <a:t>Высокая связанность</a:t>
            </a:r>
          </a:p>
          <a:p>
            <a:r>
              <a:rPr lang="ru-RU" dirty="0"/>
              <a:t>Подходит для близких команд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47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A545-7FAC-2017-24D5-14BBD891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Customer / </a:t>
            </a:r>
            <a:r>
              <a:rPr lang="ru-RU" dirty="0" err="1"/>
              <a:t>Supplier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BE8C-5540-DDC1-9095-7B5BE7A5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Два контекста с чётко выделенной ролью</a:t>
            </a:r>
          </a:p>
          <a:p>
            <a:pPr lvl="1"/>
            <a:r>
              <a:rPr lang="ru-RU" dirty="0"/>
              <a:t>Явный поставщик модели</a:t>
            </a:r>
          </a:p>
          <a:p>
            <a:pPr lvl="1"/>
            <a:r>
              <a:rPr lang="ru-RU" dirty="0"/>
              <a:t>Явный потребитель</a:t>
            </a:r>
          </a:p>
          <a:p>
            <a:r>
              <a:rPr lang="ru-RU" dirty="0"/>
              <a:t>Управляемая зависимость</a:t>
            </a:r>
          </a:p>
          <a:p>
            <a:r>
              <a:rPr lang="ru-RU" dirty="0"/>
              <a:t>Возможность согласования изменений</a:t>
            </a:r>
          </a:p>
          <a:p>
            <a:r>
              <a:rPr lang="ru-RU" dirty="0"/>
              <a:t>Чёткое направление влияния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382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F1C1-8F3D-655E-EF1F-F27451CF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Conformist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04A82-6FB9-F096-1650-E44F46275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Подчинение чужой модели</a:t>
            </a:r>
          </a:p>
          <a:p>
            <a:r>
              <a:rPr lang="ru-RU" dirty="0"/>
              <a:t>Нет влияния на изменения</a:t>
            </a:r>
          </a:p>
          <a:p>
            <a:r>
              <a:rPr lang="ru-RU" dirty="0"/>
              <a:t>Минимальные затраты</a:t>
            </a:r>
          </a:p>
          <a:p>
            <a:r>
              <a:rPr lang="ru-RU" dirty="0"/>
              <a:t>Высокие риски</a:t>
            </a:r>
          </a:p>
          <a:p>
            <a:r>
              <a:rPr lang="ru-RU" dirty="0"/>
              <a:t>Часто вынужденное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94141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9178-6E21-DBDB-1B7F-C9937B41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Anti-</a:t>
            </a:r>
            <a:r>
              <a:rPr lang="ru-RU" dirty="0" err="1"/>
              <a:t>Corruption</a:t>
            </a:r>
            <a:r>
              <a:rPr lang="ru-RU" dirty="0"/>
              <a:t> Layer (ACL)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94242-FB2E-E5B0-1AC5-06267FD2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Защитный слой</a:t>
            </a:r>
          </a:p>
          <a:p>
            <a:r>
              <a:rPr lang="ru-RU" dirty="0"/>
              <a:t>Перевод чужой модели</a:t>
            </a:r>
          </a:p>
          <a:p>
            <a:r>
              <a:rPr lang="ru-RU" dirty="0"/>
              <a:t>Изоляция домена</a:t>
            </a:r>
          </a:p>
          <a:p>
            <a:r>
              <a:rPr lang="ru-RU" dirty="0"/>
              <a:t>Дополнительная сложность</a:t>
            </a:r>
          </a:p>
          <a:p>
            <a:r>
              <a:rPr lang="ru-RU" dirty="0"/>
              <a:t>Повышает устойчивость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6412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98E9-C719-8092-8EB9-000ED9B6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и вывод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E6CDD-2C53-73AE-C393-71008A11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Нет универсального решения</a:t>
            </a:r>
          </a:p>
          <a:p>
            <a:r>
              <a:rPr lang="ru-RU" dirty="0"/>
              <a:t>Выбор зависит от контекста</a:t>
            </a:r>
          </a:p>
          <a:p>
            <a:r>
              <a:rPr lang="ru-RU" dirty="0"/>
              <a:t>Организация важнее технологий</a:t>
            </a:r>
          </a:p>
          <a:p>
            <a:r>
              <a:rPr lang="ru-RU" dirty="0"/>
              <a:t>Связанность — осознанный компромисс</a:t>
            </a:r>
          </a:p>
          <a:p>
            <a:r>
              <a:rPr lang="ru-RU" dirty="0"/>
              <a:t>Лучше явно, чем случайно</a:t>
            </a:r>
          </a:p>
        </p:txBody>
      </p:sp>
    </p:spTree>
    <p:extLst>
      <p:ext uri="{BB962C8B-B14F-4D97-AF65-F5344CB8AC3E}">
        <p14:creationId xmlns:p14="http://schemas.microsoft.com/office/powerpoint/2010/main" val="190014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7D0B-8409-4BD5-FDEF-0BEAFF35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и микросервисы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182C-2DB3-9345-5978-DDB5A3EF7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Bounded Context </a:t>
            </a:r>
            <a:r>
              <a:rPr lang="ru-RU" dirty="0"/>
              <a:t>и микросервис - не синонимы</a:t>
            </a:r>
          </a:p>
          <a:p>
            <a:pPr lvl="1"/>
            <a:r>
              <a:rPr lang="ru-RU" dirty="0"/>
              <a:t>Контекст — логическая граница</a:t>
            </a:r>
          </a:p>
          <a:p>
            <a:pPr lvl="1"/>
            <a:r>
              <a:rPr lang="ru-RU" dirty="0"/>
              <a:t>Микросервис — физическая граница</a:t>
            </a:r>
          </a:p>
          <a:p>
            <a:r>
              <a:rPr lang="ru-RU" dirty="0"/>
              <a:t>DDD возможно в монолите</a:t>
            </a:r>
          </a:p>
          <a:p>
            <a:r>
              <a:rPr lang="ru-RU" dirty="0"/>
              <a:t>Ключевая идея: архитектура должна следовать модели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8604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F26D9D-9BBE-BA8F-2CD5-AB56DEAD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Storming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B1869-DD1A-1D52-9322-EA53EA050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781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1A046-C80D-3037-C528-5C9A495A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Event </a:t>
            </a:r>
            <a:r>
              <a:rPr lang="ru-RU" dirty="0" err="1"/>
              <a:t>Storming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C2B48C-E8CE-45C5-FA3A-FA38D358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Практика совместного анализа домена</a:t>
            </a:r>
          </a:p>
          <a:p>
            <a:r>
              <a:rPr lang="ru-RU" dirty="0"/>
              <a:t>Фокус на бизнес-событиях</a:t>
            </a:r>
          </a:p>
          <a:p>
            <a:r>
              <a:rPr lang="ru-RU" dirty="0"/>
              <a:t>Работают разработчики и бизнес</a:t>
            </a:r>
          </a:p>
          <a:p>
            <a:r>
              <a:rPr lang="ru-RU" dirty="0"/>
              <a:t>Минимум формализма</a:t>
            </a:r>
          </a:p>
          <a:p>
            <a:r>
              <a:rPr lang="ru-RU" dirty="0"/>
              <a:t>Цель — общее понимание</a:t>
            </a:r>
            <a:r>
              <a:rPr lang="en-US" dirty="0"/>
              <a:t> </a:t>
            </a:r>
            <a:r>
              <a:rPr lang="ru-RU" dirty="0"/>
              <a:t>домена и языка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555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031B-5F2A-8C1E-8336-84EFF4E6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Доменные события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E974-2A31-672A-EEF0-9FB8FDFE1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Событие - факт из прошлого</a:t>
            </a:r>
          </a:p>
          <a:p>
            <a:r>
              <a:rPr lang="ru-RU" dirty="0"/>
              <a:t>Формулируется в прошедшем времени</a:t>
            </a:r>
          </a:p>
          <a:p>
            <a:r>
              <a:rPr lang="ru-RU" dirty="0"/>
              <a:t>Отражает бизнес-смысл</a:t>
            </a:r>
          </a:p>
          <a:p>
            <a:pPr lvl="1"/>
            <a:r>
              <a:rPr lang="ru-RU" dirty="0"/>
              <a:t>Книга добавлена в каталог</a:t>
            </a:r>
          </a:p>
          <a:p>
            <a:pPr lvl="1"/>
            <a:r>
              <a:rPr lang="ru-RU" dirty="0"/>
              <a:t>Читатель зарегистрирован</a:t>
            </a:r>
          </a:p>
          <a:p>
            <a:pPr lvl="1"/>
            <a:r>
              <a:rPr lang="ru-RU" dirty="0"/>
              <a:t>Книга выдана</a:t>
            </a:r>
          </a:p>
          <a:p>
            <a:pPr lvl="1"/>
            <a:r>
              <a:rPr lang="ru-RU" dirty="0"/>
              <a:t>Книга возвращена</a:t>
            </a:r>
          </a:p>
          <a:p>
            <a:pPr lvl="1"/>
            <a:r>
              <a:rPr lang="ru-RU" dirty="0"/>
              <a:t>Срок выдачи истёк</a:t>
            </a:r>
          </a:p>
          <a:p>
            <a:r>
              <a:rPr lang="ru-RU" dirty="0"/>
              <a:t>Не команда и не действие пользователя</a:t>
            </a:r>
          </a:p>
          <a:p>
            <a:pPr lvl="1"/>
            <a:r>
              <a:rPr lang="ru-RU" dirty="0"/>
              <a:t>Выдать книгу – команда, «Книга выдана» –событие</a:t>
            </a:r>
          </a:p>
          <a:p>
            <a:r>
              <a:rPr lang="ru-RU" dirty="0"/>
              <a:t>Основа Event </a:t>
            </a:r>
            <a:r>
              <a:rPr lang="ru-RU" dirty="0" err="1"/>
              <a:t>Storming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6275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9579-7C41-7C16-0A91-14DFF797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Big Picture Event </a:t>
            </a:r>
            <a:r>
              <a:rPr lang="ru-RU" dirty="0" err="1"/>
              <a:t>Storming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D6FEB-8999-2561-F14D-12AA9C840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Рассматриваем систему целиком, не углубляясь в детали реализации</a:t>
            </a:r>
          </a:p>
          <a:p>
            <a:r>
              <a:rPr lang="ru-RU" dirty="0"/>
              <a:t>Берем основные события и выстраиваем в хронологическом порядке</a:t>
            </a:r>
          </a:p>
          <a:p>
            <a:pPr lvl="1"/>
            <a:r>
              <a:rPr lang="ru-RU" dirty="0"/>
              <a:t>От появления книги до ее выдачи, возврата и возможной просрочки</a:t>
            </a:r>
          </a:p>
          <a:p>
            <a:r>
              <a:rPr lang="ru-RU" dirty="0"/>
              <a:t>Обнаруживаем сложности и проблемные места</a:t>
            </a:r>
          </a:p>
          <a:p>
            <a:pPr lvl="1"/>
            <a:r>
              <a:rPr lang="ru-RU" dirty="0"/>
              <a:t>Что если читатель заблокирован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Можно ли продлить срок аренды книги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Что делать с утерянной книгой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70A3-2882-F868-C1DB-7E839199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и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(библиотека)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A629-99F2-6ECF-F20E-9B9B1B645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События группируются по смыслу</a:t>
            </a:r>
          </a:p>
          <a:p>
            <a:pPr lvl="1"/>
            <a:r>
              <a:rPr lang="ru-RU" dirty="0"/>
              <a:t>«Книга добавлена», «Экземпляр списан» группируются вокруг каталога книг (контекст </a:t>
            </a:r>
            <a:r>
              <a:rPr lang="en-US" b="1" dirty="0"/>
              <a:t>Book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«Читатель зарегистрирован», «Читатель заблокирован» – контекст </a:t>
            </a:r>
            <a:r>
              <a:rPr lang="en-US" b="1" dirty="0"/>
              <a:t>Readers</a:t>
            </a:r>
          </a:p>
          <a:p>
            <a:pPr lvl="1"/>
            <a:r>
              <a:rPr lang="ru-RU" dirty="0"/>
              <a:t>«Книга выдана», «Книга возвращена», «Срок выдачи истёк» – контекст </a:t>
            </a:r>
            <a:r>
              <a:rPr lang="en-US" dirty="0"/>
              <a:t>Loans</a:t>
            </a:r>
            <a:endParaRPr lang="ru-RU" dirty="0"/>
          </a:p>
          <a:p>
            <a:r>
              <a:rPr lang="ru-RU" dirty="0"/>
              <a:t>Появляются границы</a:t>
            </a:r>
            <a:r>
              <a:rPr lang="en-US" dirty="0"/>
              <a:t> </a:t>
            </a:r>
            <a:r>
              <a:rPr lang="ru-RU" dirty="0"/>
              <a:t>контекстов по смыслу бизнеса</a:t>
            </a:r>
          </a:p>
          <a:p>
            <a:r>
              <a:rPr lang="ru-RU" dirty="0"/>
              <a:t>Основа для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67664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8178D-70D4-0EE3-502E-E786AA96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 </a:t>
            </a:r>
            <a:r>
              <a:rPr lang="en-US" dirty="0"/>
              <a:t>Event Storming </a:t>
            </a:r>
            <a:r>
              <a:rPr lang="ru-RU" dirty="0"/>
              <a:t>к тактическому дизайну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9C907-E8E7-08BD-1240-3A347400A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Из событий строим сценарии:</a:t>
            </a:r>
            <a:endParaRPr lang="en-US" dirty="0"/>
          </a:p>
          <a:p>
            <a:pPr lvl="1"/>
            <a:r>
              <a:rPr lang="ru-RU" dirty="0"/>
              <a:t>что происходит шаг за шагом в процессе</a:t>
            </a:r>
          </a:p>
          <a:p>
            <a:r>
              <a:rPr lang="ru-RU" dirty="0"/>
              <a:t>Команды появляются перед событиями:</a:t>
            </a:r>
            <a:endParaRPr lang="en-US" dirty="0"/>
          </a:p>
          <a:p>
            <a:pPr lvl="1"/>
            <a:r>
              <a:rPr lang="ru-RU" dirty="0"/>
              <a:t>что запускает изменение (например, </a:t>
            </a:r>
            <a:r>
              <a:rPr lang="ru-RU" i="1" dirty="0"/>
              <a:t>«Выдать книгу»</a:t>
            </a:r>
            <a:r>
              <a:rPr lang="ru-RU" dirty="0"/>
              <a:t>)</a:t>
            </a:r>
          </a:p>
          <a:p>
            <a:r>
              <a:rPr lang="ru-RU" dirty="0"/>
              <a:t>Агрегаты определяем по границам согласованности:</a:t>
            </a:r>
            <a:endParaRPr lang="en-US" dirty="0"/>
          </a:p>
          <a:p>
            <a:pPr lvl="1"/>
            <a:r>
              <a:rPr lang="ru-RU" dirty="0"/>
              <a:t>кто “владеет” изменением (например, </a:t>
            </a:r>
            <a:r>
              <a:rPr lang="ru-RU" dirty="0" err="1"/>
              <a:t>Loan</a:t>
            </a:r>
            <a:r>
              <a:rPr lang="ru-RU" dirty="0"/>
              <a:t>)</a:t>
            </a:r>
          </a:p>
          <a:p>
            <a:r>
              <a:rPr lang="ru-RU" dirty="0"/>
              <a:t>Инварианты формулируем из правил:</a:t>
            </a:r>
            <a:endParaRPr lang="en-US" dirty="0"/>
          </a:p>
          <a:p>
            <a:pPr lvl="1"/>
            <a:r>
              <a:rPr lang="ru-RU" dirty="0"/>
              <a:t>что нельзя нарушить (активный читатель, доступная книга, лимит)</a:t>
            </a:r>
          </a:p>
          <a:p>
            <a:r>
              <a:rPr lang="ru-RU" dirty="0"/>
              <a:t>Domain </a:t>
            </a:r>
            <a:r>
              <a:rPr lang="ru-RU" dirty="0" err="1"/>
              <a:t>Events</a:t>
            </a:r>
            <a:r>
              <a:rPr lang="ru-RU" dirty="0"/>
              <a:t> фиксируют результат:</a:t>
            </a:r>
            <a:endParaRPr lang="en-US" dirty="0"/>
          </a:p>
          <a:p>
            <a:pPr lvl="1"/>
            <a:r>
              <a:rPr lang="ru-RU" dirty="0"/>
              <a:t>что случилось в домене (</a:t>
            </a:r>
            <a:r>
              <a:rPr lang="ru-RU" i="1" dirty="0"/>
              <a:t>«Книга выдана»</a:t>
            </a:r>
            <a:r>
              <a:rPr lang="ru-RU" dirty="0"/>
              <a:t>)</a:t>
            </a:r>
          </a:p>
          <a:p>
            <a:r>
              <a:rPr lang="ru-RU" dirty="0"/>
              <a:t>Итог — черновик тактической модели:</a:t>
            </a:r>
            <a:endParaRPr lang="en-US" dirty="0"/>
          </a:p>
          <a:p>
            <a:pPr lvl="1"/>
            <a:r>
              <a:rPr lang="ru-RU" dirty="0"/>
              <a:t>методы, события, правила внутри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3658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347F3E-C64E-BDFE-DAEB-5C295A25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Event Storming</a:t>
            </a:r>
            <a:r>
              <a:rPr lang="ru-RU" dirty="0"/>
              <a:t> «Выдача книги»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9ED202-F790-3746-96F6-0D2EF967E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46" y="2316998"/>
            <a:ext cx="11135268" cy="271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1739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B269-9AB2-6FB3-D435-AFB08D21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Event </a:t>
            </a:r>
            <a:r>
              <a:rPr lang="ru-RU" dirty="0" err="1"/>
              <a:t>Storming</a:t>
            </a:r>
            <a:r>
              <a:rPr lang="ru-RU" dirty="0"/>
              <a:t> в учебном проекте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60DE-91A0-5FB2-5619-ACF326AF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Переключить мышление студентов с “классов” на “процессы домена”:</a:t>
            </a:r>
          </a:p>
          <a:p>
            <a:pPr lvl="1"/>
            <a:r>
              <a:rPr lang="ru-RU" dirty="0"/>
              <a:t>что реально происходит в предметной области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Договориться об общем языке и связать слова бизнеса с будущим кодом</a:t>
            </a:r>
          </a:p>
          <a:p>
            <a:r>
              <a:rPr lang="ru-RU" dirty="0"/>
              <a:t>Выявить границы домена (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) и зоны ответственности</a:t>
            </a:r>
          </a:p>
          <a:p>
            <a:r>
              <a:rPr lang="ru-RU" dirty="0"/>
              <a:t>Подсказать элементы тактического дизайна:</a:t>
            </a:r>
            <a:endParaRPr lang="en-US" dirty="0"/>
          </a:p>
          <a:p>
            <a:pPr lvl="1"/>
            <a:r>
              <a:rPr lang="ru-RU" dirty="0"/>
              <a:t>команды, события, агрегаты и инварианты</a:t>
            </a:r>
          </a:p>
          <a:p>
            <a:r>
              <a:rPr lang="ru-RU" dirty="0"/>
              <a:t>Показать, что архитектура — следствие понимания бизнеса, даже в маленьком проекте вроде библиотеки</a:t>
            </a:r>
          </a:p>
        </p:txBody>
      </p:sp>
    </p:spTree>
    <p:extLst>
      <p:ext uri="{BB962C8B-B14F-4D97-AF65-F5344CB8AC3E}">
        <p14:creationId xmlns:p14="http://schemas.microsoft.com/office/powerpoint/2010/main" val="34189888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1C8E76-D871-B2B7-7AA7-7A758EEA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Тактические паттерны </a:t>
            </a:r>
            <a:r>
              <a:rPr lang="en-US" dirty="0"/>
              <a:t>DDD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81880-0218-68B1-2C44-B02E60404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043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70C373-78D0-867D-E9A3-59B4E8D3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Entity</a:t>
            </a:r>
            <a:r>
              <a:rPr lang="en-US" dirty="0"/>
              <a:t> (</a:t>
            </a:r>
            <a:r>
              <a:rPr lang="ru-RU" dirty="0"/>
              <a:t>Сущность)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740C2B-5167-49E6-6AAB-0C869F68B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Имеет идентичность</a:t>
            </a:r>
          </a:p>
          <a:p>
            <a:r>
              <a:rPr lang="ru-RU" dirty="0"/>
              <a:t>Меняется со временем</a:t>
            </a:r>
          </a:p>
          <a:p>
            <a:r>
              <a:rPr lang="ru-RU" dirty="0"/>
              <a:t>Равенство по ID</a:t>
            </a:r>
          </a:p>
          <a:p>
            <a:r>
              <a:rPr lang="ru-RU" dirty="0"/>
              <a:t>Есть жизненный цикл</a:t>
            </a:r>
          </a:p>
          <a:p>
            <a:r>
              <a:rPr lang="ru-RU" dirty="0"/>
              <a:t>Представляет бизнес-объект</a:t>
            </a:r>
          </a:p>
        </p:txBody>
      </p:sp>
    </p:spTree>
    <p:extLst>
      <p:ext uri="{BB962C8B-B14F-4D97-AF65-F5344CB8AC3E}">
        <p14:creationId xmlns:p14="http://schemas.microsoft.com/office/powerpoint/2010/main" val="1454291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400D-2193-5C9B-5B25-B2A41CEF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Value Object (Объект-значение)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90AD9-E56C-CB4A-6A87-2F58F37B1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Нет идентичности</a:t>
            </a:r>
          </a:p>
          <a:p>
            <a:r>
              <a:rPr lang="ru-RU" dirty="0"/>
              <a:t>Неизменяемый</a:t>
            </a:r>
          </a:p>
          <a:p>
            <a:r>
              <a:rPr lang="ru-RU" dirty="0"/>
              <a:t>Равенство по значению</a:t>
            </a:r>
          </a:p>
          <a:p>
            <a:r>
              <a:rPr lang="ru-RU" dirty="0"/>
              <a:t>Часто маленький</a:t>
            </a:r>
          </a:p>
          <a:p>
            <a:r>
              <a:rPr lang="ru-RU" dirty="0"/>
              <a:t>Содержит валидацию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8125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161B-E544-08B0-A2E9-96E68BCD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vs Value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F9744-5AD7-B492-79B0-427D1264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Entity: identity</a:t>
            </a:r>
          </a:p>
          <a:p>
            <a:r>
              <a:rPr lang="en-US" dirty="0"/>
              <a:t>Value Object: value</a:t>
            </a:r>
          </a:p>
          <a:p>
            <a:r>
              <a:rPr lang="en-US" dirty="0"/>
              <a:t>Entity — mutable</a:t>
            </a:r>
          </a:p>
          <a:p>
            <a:r>
              <a:rPr lang="en-US" dirty="0"/>
              <a:t>VO — immutable</a:t>
            </a:r>
          </a:p>
          <a:p>
            <a:r>
              <a:rPr lang="ru-RU" dirty="0"/>
              <a:t>Разные роли в модели</a:t>
            </a:r>
          </a:p>
        </p:txBody>
      </p:sp>
    </p:spTree>
    <p:extLst>
      <p:ext uri="{BB962C8B-B14F-4D97-AF65-F5344CB8AC3E}">
        <p14:creationId xmlns:p14="http://schemas.microsoft.com/office/powerpoint/2010/main" val="13533375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6494-F56B-73D2-6A96-F21CC55BB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Aggregate</a:t>
            </a:r>
            <a:r>
              <a:rPr lang="ru-RU" dirty="0"/>
              <a:t> и </a:t>
            </a:r>
            <a:r>
              <a:rPr lang="ru-RU" dirty="0" err="1"/>
              <a:t>Aggregate</a:t>
            </a:r>
            <a:r>
              <a:rPr lang="ru-RU" dirty="0"/>
              <a:t> </a:t>
            </a:r>
            <a:r>
              <a:rPr lang="ru-RU" dirty="0" err="1"/>
              <a:t>Root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0486-22B7-4455-4446-FAF71E3C3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Группа связанных объектов (</a:t>
            </a:r>
            <a:r>
              <a:rPr lang="en-US" dirty="0"/>
              <a:t>entity </a:t>
            </a:r>
            <a:r>
              <a:rPr lang="ru-RU" dirty="0"/>
              <a:t>и </a:t>
            </a:r>
            <a:r>
              <a:rPr lang="en-US" dirty="0"/>
              <a:t>value object)</a:t>
            </a:r>
            <a:endParaRPr lang="ru-RU" dirty="0"/>
          </a:p>
          <a:p>
            <a:r>
              <a:rPr lang="ru-RU" dirty="0"/>
              <a:t>Единая транзакционная граница</a:t>
            </a:r>
          </a:p>
          <a:p>
            <a:r>
              <a:rPr lang="ru-RU" dirty="0" err="1"/>
              <a:t>Aggregate</a:t>
            </a:r>
            <a:r>
              <a:rPr lang="ru-RU" dirty="0"/>
              <a:t> </a:t>
            </a:r>
            <a:r>
              <a:rPr lang="ru-RU" dirty="0" err="1"/>
              <a:t>Root</a:t>
            </a:r>
            <a:r>
              <a:rPr lang="ru-RU" dirty="0"/>
              <a:t> — точка входа</a:t>
            </a:r>
          </a:p>
          <a:p>
            <a:r>
              <a:rPr lang="ru-RU" dirty="0"/>
              <a:t>Внешний код работает только с </a:t>
            </a:r>
            <a:r>
              <a:rPr lang="ru-RU" dirty="0" err="1"/>
              <a:t>root</a:t>
            </a:r>
            <a:endParaRPr lang="ru-RU" dirty="0"/>
          </a:p>
          <a:p>
            <a:r>
              <a:rPr lang="en-US" dirty="0" err="1"/>
              <a:t>AggregateRoot</a:t>
            </a:r>
            <a:r>
              <a:rPr lang="en-US" dirty="0"/>
              <a:t> </a:t>
            </a:r>
            <a:r>
              <a:rPr lang="ru-RU" dirty="0"/>
              <a:t>контролирует целостность и соблюдение инвариантов</a:t>
            </a:r>
          </a:p>
        </p:txBody>
      </p:sp>
    </p:spTree>
    <p:extLst>
      <p:ext uri="{BB962C8B-B14F-4D97-AF65-F5344CB8AC3E}">
        <p14:creationId xmlns:p14="http://schemas.microsoft.com/office/powerpoint/2010/main" val="7184811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5E75-C7A0-B3BC-00D1-688A6166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Инварианты агрегата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FB495-9CB5-347D-736D-38B305C2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Бизнес-правила, которые никогда не должны нарушаться</a:t>
            </a:r>
          </a:p>
          <a:p>
            <a:r>
              <a:rPr lang="ru-RU" dirty="0"/>
              <a:t>Проверяются внутри агрегата, а не в контроллерах или сервисах</a:t>
            </a:r>
          </a:p>
          <a:p>
            <a:r>
              <a:rPr lang="ru-RU" dirty="0"/>
              <a:t>Если инвариант можно нарушить, значит, агрегат спроектирован неправильно</a:t>
            </a:r>
          </a:p>
          <a:p>
            <a:r>
              <a:rPr lang="ru-RU" dirty="0"/>
              <a:t>Инварианты – одна из главных причин существования агрегатов в </a:t>
            </a:r>
            <a:r>
              <a:rPr lang="en-US" dirty="0"/>
              <a:t>DDD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175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C57F-8E8A-D048-1700-21F335CF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Идентичность (ID) и ссылки между доменами в DDD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806D9-F250-4302-968B-EA7CA07EF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Entity</a:t>
            </a:r>
            <a:r>
              <a:rPr lang="ru-RU" dirty="0"/>
              <a:t> определяется идентичностью, а не набором полей</a:t>
            </a:r>
          </a:p>
          <a:p>
            <a:r>
              <a:rPr lang="ru-RU" dirty="0"/>
              <a:t>ID — часть доменной модели, а не техническая деталь</a:t>
            </a:r>
          </a:p>
          <a:p>
            <a:r>
              <a:rPr lang="ru-RU" dirty="0"/>
              <a:t>Внутри агрегата — прямые ссылки допустимы</a:t>
            </a:r>
          </a:p>
          <a:p>
            <a:r>
              <a:rPr lang="ru-RU" dirty="0"/>
              <a:t>Между агрегатами и контекстами — только по ID</a:t>
            </a:r>
          </a:p>
          <a:p>
            <a:r>
              <a:rPr lang="ru-RU" dirty="0"/>
              <a:t>Прямые ссылки между доменами ломают границы и связность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7748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742E-F79C-2F45-A06C-3DF77F1E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ID в DDD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17FE-AB0B-017F-53D4-EDE9157FE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Entity</a:t>
            </a:r>
            <a:r>
              <a:rPr lang="ru-RU" dirty="0"/>
              <a:t> определяется идентичностью, а не значениями полей</a:t>
            </a:r>
          </a:p>
          <a:p>
            <a:r>
              <a:rPr lang="ru-RU" dirty="0"/>
              <a:t>Тип ID выбирается по требованиям системы, а не по моде</a:t>
            </a:r>
          </a:p>
          <a:p>
            <a:pPr lvl="1"/>
            <a:r>
              <a:rPr lang="ru-RU" dirty="0"/>
              <a:t>UUID / ULID — безопасный дефолт для распределённых и </a:t>
            </a:r>
            <a:r>
              <a:rPr lang="ru-RU" dirty="0" err="1"/>
              <a:t>offline</a:t>
            </a:r>
            <a:r>
              <a:rPr lang="ru-RU" dirty="0"/>
              <a:t>-сценариев</a:t>
            </a:r>
          </a:p>
          <a:p>
            <a:pPr lvl="1"/>
            <a:r>
              <a:rPr lang="ru-RU" dirty="0" err="1"/>
              <a:t>Integer</a:t>
            </a:r>
            <a:r>
              <a:rPr lang="ru-RU" dirty="0"/>
              <a:t> подходит для простых монолитов с одной БД</a:t>
            </a:r>
          </a:p>
          <a:p>
            <a:r>
              <a:rPr lang="ru-RU" dirty="0"/>
              <a:t>ID — это не бизнес-ключ: ISBN ≠ ID сущности</a:t>
            </a:r>
          </a:p>
          <a:p>
            <a:r>
              <a:rPr lang="ru-RU" dirty="0"/>
              <a:t>ID всегда оформляется как отдельный тип (Value Object)</a:t>
            </a:r>
          </a:p>
        </p:txBody>
      </p:sp>
    </p:spTree>
    <p:extLst>
      <p:ext uri="{BB962C8B-B14F-4D97-AF65-F5344CB8AC3E}">
        <p14:creationId xmlns:p14="http://schemas.microsoft.com/office/powerpoint/2010/main" val="6134355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194D4B-E142-6DBC-5CCE-BA679577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 err="1"/>
              <a:t>ReaderId</a:t>
            </a:r>
            <a:r>
              <a:rPr lang="ru-RU" dirty="0"/>
              <a:t> и </a:t>
            </a:r>
            <a:r>
              <a:rPr lang="en-US" dirty="0" err="1"/>
              <a:t>LoadId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C26DF-5036-ABE5-7EE2-4E1AC0CECC4C}"/>
              </a:ext>
            </a:extLst>
          </p:cNvPr>
          <p:cNvSpPr txBox="1"/>
          <p:nvPr/>
        </p:nvSpPr>
        <p:spPr>
          <a:xfrm>
            <a:off x="714213" y="1690688"/>
            <a:ext cx="1112649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value(std::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cannot be empty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operator==(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value(std::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cannot be empty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operator==(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938500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14C1-B03C-80BC-275B-EF7D66AA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Repository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CAF2-30A4-6058-AE2B-9F7B32765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Объект, отвечающий за загрузку и сохранение агрегатов</a:t>
            </a:r>
          </a:p>
          <a:p>
            <a:r>
              <a:rPr lang="ru-RU" dirty="0"/>
              <a:t>Работает с доменными объектами, а не </a:t>
            </a:r>
            <a:r>
              <a:rPr lang="en-US" dirty="0"/>
              <a:t>DTO/ORM</a:t>
            </a:r>
            <a:endParaRPr lang="ru-RU" dirty="0"/>
          </a:p>
          <a:p>
            <a:r>
              <a:rPr lang="ru-RU" dirty="0"/>
              <a:t>Часть доменного слоя</a:t>
            </a:r>
          </a:p>
          <a:p>
            <a:r>
              <a:rPr lang="ru-RU" dirty="0"/>
              <a:t>Похоже на коллекцию</a:t>
            </a:r>
          </a:p>
        </p:txBody>
      </p:sp>
    </p:spTree>
    <p:extLst>
      <p:ext uri="{BB962C8B-B14F-4D97-AF65-F5344CB8AC3E}">
        <p14:creationId xmlns:p14="http://schemas.microsoft.com/office/powerpoint/2010/main" val="11476336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C2089-D14B-8E76-450D-982721F3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Domain Service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E667-C68B-B699-2611-2FE0A7939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Сервис, содержащий бизнес-логику, не принадлежащую ни одной конкретной сущности</a:t>
            </a:r>
          </a:p>
          <a:p>
            <a:pPr lvl="1"/>
            <a:r>
              <a:rPr lang="ru-RU" dirty="0" err="1"/>
              <a:t>Напрмер</a:t>
            </a:r>
            <a:r>
              <a:rPr lang="ru-RU" dirty="0"/>
              <a:t>, работает с несколькими агрегатами</a:t>
            </a:r>
          </a:p>
          <a:p>
            <a:r>
              <a:rPr lang="ru-RU" dirty="0"/>
              <a:t>Использует язык домена и ничего не знает про инфраструктуру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2568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5DD3-1AB9-6155-3747-212705D4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Application Service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343D4-E0EF-B66F-1EE4-AC1B7A148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Оркестрация</a:t>
            </a:r>
            <a:r>
              <a:rPr lang="ru-RU" dirty="0"/>
              <a:t> сценариев</a:t>
            </a:r>
          </a:p>
          <a:p>
            <a:pPr lvl="1"/>
            <a:r>
              <a:rPr lang="ru-RU" dirty="0"/>
              <a:t>Загрузить агрегат, вызвать нужный метод, сохранить результат</a:t>
            </a:r>
          </a:p>
          <a:p>
            <a:r>
              <a:rPr lang="ru-RU" dirty="0"/>
              <a:t>Не содержит бизнес-правил (они живут в домене)</a:t>
            </a:r>
          </a:p>
          <a:p>
            <a:r>
              <a:rPr lang="ru-RU" dirty="0"/>
              <a:t>Вызывает агрегаты</a:t>
            </a:r>
          </a:p>
          <a:p>
            <a:r>
              <a:rPr lang="ru-RU" dirty="0"/>
              <a:t>Использует репозитории</a:t>
            </a:r>
          </a:p>
          <a:p>
            <a:r>
              <a:rPr lang="ru-RU" dirty="0"/>
              <a:t>Граница слоя приложения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2744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7AE8-2A99-5449-BC22-F4135F58C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Domain Event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62EA-DA39-5B35-B6F3-4E0A53CE9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Сообщение о том, что в домене произошло важное событие</a:t>
            </a:r>
            <a:endParaRPr lang="en-US" dirty="0"/>
          </a:p>
          <a:p>
            <a:r>
              <a:rPr lang="ru-RU" dirty="0"/>
              <a:t>Имеет бизнес-смысл</a:t>
            </a:r>
          </a:p>
          <a:p>
            <a:pPr lvl="1"/>
            <a:r>
              <a:rPr lang="en-US" dirty="0" err="1"/>
              <a:t>OrderPlaced</a:t>
            </a:r>
            <a:r>
              <a:rPr lang="en-US" dirty="0"/>
              <a:t>, </a:t>
            </a:r>
            <a:r>
              <a:rPr lang="en-US" dirty="0" err="1"/>
              <a:t>PaymentReceived</a:t>
            </a:r>
            <a:r>
              <a:rPr lang="en-US" dirty="0"/>
              <a:t>, </a:t>
            </a:r>
            <a:r>
              <a:rPr lang="en-US" dirty="0" err="1"/>
              <a:t>StudentGraduated</a:t>
            </a:r>
            <a:endParaRPr lang="ru-RU" dirty="0"/>
          </a:p>
          <a:p>
            <a:r>
              <a:rPr lang="en-US" dirty="0" err="1"/>
              <a:t>DomainEvent</a:t>
            </a:r>
            <a:r>
              <a:rPr lang="ru-RU" dirty="0"/>
              <a:t> говорит о том, что «что-то случилось», а не то, «что нужно сделать»</a:t>
            </a:r>
            <a:endParaRPr lang="en-US" dirty="0"/>
          </a:p>
          <a:p>
            <a:r>
              <a:rPr lang="ru-RU" dirty="0"/>
              <a:t>Используется для реакций и уменьшения связности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2920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0841-3F3A-2F19-D99A-EDD0079E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агрегата целиком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6855B-B462-073F-9D5D-9CFD03B1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— Aggregate Root</a:t>
            </a:r>
          </a:p>
          <a:p>
            <a:r>
              <a:rPr lang="en-US" dirty="0" err="1"/>
              <a:t>OrderItem</a:t>
            </a:r>
            <a:r>
              <a:rPr lang="en-US" dirty="0"/>
              <a:t> — </a:t>
            </a:r>
            <a:r>
              <a:rPr lang="ru-RU" dirty="0"/>
              <a:t>часть агрегата</a:t>
            </a:r>
          </a:p>
          <a:p>
            <a:r>
              <a:rPr lang="en-US" dirty="0"/>
              <a:t>Money — Value Object</a:t>
            </a:r>
          </a:p>
          <a:p>
            <a:r>
              <a:rPr lang="ru-RU" dirty="0"/>
              <a:t>Инварианты внутри</a:t>
            </a:r>
          </a:p>
          <a:p>
            <a:r>
              <a:rPr lang="ru-RU" dirty="0"/>
              <a:t>Взаимодействие через методы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639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DB0A1A-CEE3-0E3D-0595-E1F9F9FF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BD879-77FD-E3C5-1D87-997D5F184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617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9567B5-EF24-C93C-AA51-625A2194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CQRS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290BA3-CFB8-EF10-5C89-8BE0B56C3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CQRS = Command </a:t>
            </a:r>
            <a:r>
              <a:rPr lang="ru-RU" dirty="0" err="1"/>
              <a:t>Query</a:t>
            </a:r>
            <a:r>
              <a:rPr lang="ru-RU" dirty="0"/>
              <a:t> </a:t>
            </a:r>
            <a:r>
              <a:rPr lang="ru-RU" dirty="0" err="1"/>
              <a:t>Responsibility</a:t>
            </a:r>
            <a:r>
              <a:rPr lang="ru-RU" dirty="0"/>
              <a:t> </a:t>
            </a:r>
            <a:r>
              <a:rPr lang="ru-RU" dirty="0" err="1"/>
              <a:t>Segregation</a:t>
            </a:r>
            <a:endParaRPr lang="ru-RU" dirty="0"/>
          </a:p>
          <a:p>
            <a:r>
              <a:rPr lang="ru-RU" dirty="0"/>
              <a:t>Разделение операций записи и чтения</a:t>
            </a:r>
          </a:p>
          <a:p>
            <a:r>
              <a:rPr lang="ru-RU" dirty="0"/>
              <a:t>Команды и запросы — разные модели</a:t>
            </a:r>
          </a:p>
          <a:p>
            <a:r>
              <a:rPr lang="ru-RU" dirty="0"/>
              <a:t>Цель — управлять сложностью</a:t>
            </a:r>
          </a:p>
          <a:p>
            <a:r>
              <a:rPr lang="ru-RU" dirty="0"/>
              <a:t>Это архитектурный принцип, а не технология:</a:t>
            </a:r>
          </a:p>
          <a:p>
            <a:pPr lvl="1"/>
            <a:r>
              <a:rPr lang="ru-RU" dirty="0"/>
              <a:t>Запись и чтение – разные задачи, и они не обязательно должны использовать одну и ту же модель</a:t>
            </a:r>
          </a:p>
        </p:txBody>
      </p:sp>
    </p:spTree>
    <p:extLst>
      <p:ext uri="{BB962C8B-B14F-4D97-AF65-F5344CB8AC3E}">
        <p14:creationId xmlns:p14="http://schemas.microsoft.com/office/powerpoint/2010/main" val="4388095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28C9-4339-3F32-738E-F15AC7A3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и запросы: ключевое различие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4B3A-189F-9096-B20F-BABDFD00C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Command</a:t>
            </a:r>
          </a:p>
          <a:p>
            <a:pPr lvl="1"/>
            <a:r>
              <a:rPr lang="ru-RU" dirty="0"/>
              <a:t>Изменяет состояние</a:t>
            </a:r>
          </a:p>
          <a:p>
            <a:pPr lvl="1"/>
            <a:r>
              <a:rPr lang="ru-RU" dirty="0"/>
              <a:t>Не возвращает данные</a:t>
            </a:r>
          </a:p>
          <a:p>
            <a:r>
              <a:rPr lang="ru-RU" dirty="0"/>
              <a:t>Запрос</a:t>
            </a:r>
          </a:p>
          <a:p>
            <a:pPr lvl="1"/>
            <a:r>
              <a:rPr lang="ru-RU" dirty="0"/>
              <a:t>только читает данные</a:t>
            </a:r>
          </a:p>
          <a:p>
            <a:pPr lvl="1"/>
            <a:r>
              <a:rPr lang="ru-RU" dirty="0"/>
              <a:t>Не имеет побочных эффектов</a:t>
            </a:r>
          </a:p>
          <a:p>
            <a:r>
              <a:rPr lang="ru-RU" dirty="0"/>
              <a:t>Такое разделение делает </a:t>
            </a:r>
            <a:r>
              <a:rPr lang="en-US" dirty="0"/>
              <a:t>API</a:t>
            </a:r>
            <a:r>
              <a:rPr lang="ru-RU" dirty="0"/>
              <a:t> более понятным и предсказуемым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177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DB63-21F9-CA86-B885-A45C9AB7A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единая модель плохо масштабируется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459F3-8FB8-DB50-68DA-50BCD4E2B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Write</a:t>
            </a:r>
            <a:r>
              <a:rPr lang="ru-RU" dirty="0"/>
              <a:t> и </a:t>
            </a:r>
            <a:r>
              <a:rPr lang="en-US" dirty="0"/>
              <a:t>R</a:t>
            </a:r>
            <a:r>
              <a:rPr lang="ru-RU" dirty="0" err="1"/>
              <a:t>ead</a:t>
            </a:r>
            <a:r>
              <a:rPr lang="ru-RU" dirty="0"/>
              <a:t> имеют разные требования</a:t>
            </a:r>
          </a:p>
          <a:p>
            <a:r>
              <a:rPr lang="ru-RU" dirty="0"/>
              <a:t>Бизнес-логика усложняет чтение</a:t>
            </a:r>
          </a:p>
          <a:p>
            <a:r>
              <a:rPr lang="ru-RU" dirty="0"/>
              <a:t>Оптимизация под запись мешает запросам</a:t>
            </a:r>
          </a:p>
          <a:p>
            <a:r>
              <a:rPr lang="ru-RU" dirty="0"/>
              <a:t>Модель раздувается</a:t>
            </a:r>
          </a:p>
          <a:p>
            <a:r>
              <a:rPr lang="ru-RU" dirty="0"/>
              <a:t>CQRS снимает конфликт интересов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004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40B8-131D-1A8C-4A7A-2AF72338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Read</a:t>
            </a:r>
            <a:r>
              <a:rPr lang="ru-RU" dirty="0"/>
              <a:t> Model в CQRS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B47FD-CFBF-2FDD-AF67-1916559BD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≠ </a:t>
            </a:r>
            <a:r>
              <a:rPr lang="ru-RU" dirty="0" err="1"/>
              <a:t>domain</a:t>
            </a:r>
            <a:r>
              <a:rPr lang="ru-RU" dirty="0"/>
              <a:t> </a:t>
            </a:r>
            <a:r>
              <a:rPr lang="ru-RU" dirty="0" err="1"/>
              <a:t>model</a:t>
            </a:r>
            <a:endParaRPr lang="ru-RU" dirty="0"/>
          </a:p>
          <a:p>
            <a:r>
              <a:rPr lang="ru-RU" dirty="0"/>
              <a:t>Оптимизирована под конкретные запросы</a:t>
            </a:r>
          </a:p>
          <a:p>
            <a:r>
              <a:rPr lang="ru-RU" dirty="0"/>
              <a:t>Может быть </a:t>
            </a:r>
            <a:r>
              <a:rPr lang="ru-RU" dirty="0" err="1"/>
              <a:t>денормализованной</a:t>
            </a:r>
            <a:endParaRPr lang="ru-RU" dirty="0"/>
          </a:p>
          <a:p>
            <a:r>
              <a:rPr lang="ru-RU" dirty="0"/>
              <a:t>Часто содержит “лишние” данные</a:t>
            </a:r>
          </a:p>
          <a:p>
            <a:r>
              <a:rPr lang="ru-RU" dirty="0"/>
              <a:t>Допускает дублирование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5298721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6E1B-F72F-59E0-6538-46284E64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обновляется </a:t>
            </a:r>
            <a:r>
              <a:rPr lang="ru-RU" dirty="0" err="1"/>
              <a:t>Read</a:t>
            </a:r>
            <a:r>
              <a:rPr lang="ru-RU" dirty="0"/>
              <a:t> Model (без Event </a:t>
            </a:r>
            <a:r>
              <a:rPr lang="ru-RU" dirty="0" err="1"/>
              <a:t>Sourcing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BAC5B-0C46-5E30-03EC-B0EE9AAC2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выполнения команды</a:t>
            </a:r>
          </a:p>
          <a:p>
            <a:r>
              <a:rPr lang="ru-RU" dirty="0"/>
              <a:t>Через </a:t>
            </a:r>
            <a:r>
              <a:rPr lang="ru-RU" dirty="0" err="1"/>
              <a:t>application</a:t>
            </a:r>
            <a:r>
              <a:rPr lang="ru-RU" dirty="0"/>
              <a:t> </a:t>
            </a:r>
            <a:r>
              <a:rPr lang="ru-RU" dirty="0" err="1"/>
              <a:t>layer</a:t>
            </a:r>
            <a:endParaRPr lang="ru-RU" dirty="0"/>
          </a:p>
          <a:p>
            <a:r>
              <a:rPr lang="ru-RU" dirty="0"/>
              <a:t>Синхронно или асинхронно</a:t>
            </a:r>
          </a:p>
          <a:p>
            <a:r>
              <a:rPr lang="ru-RU" dirty="0"/>
              <a:t>Возможна задержка обновления</a:t>
            </a:r>
          </a:p>
          <a:p>
            <a:r>
              <a:rPr lang="ru-RU" dirty="0"/>
              <a:t>Нужно учитывать в UX</a:t>
            </a:r>
          </a:p>
        </p:txBody>
      </p:sp>
    </p:spTree>
    <p:extLst>
      <p:ext uri="{BB962C8B-B14F-4D97-AF65-F5344CB8AC3E}">
        <p14:creationId xmlns:p14="http://schemas.microsoft.com/office/powerpoint/2010/main" val="37711056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0BF1-B09B-8DE1-3142-7511577F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CQRS: </a:t>
            </a:r>
            <a:r>
              <a:rPr lang="ru-RU" dirty="0"/>
              <a:t>за и против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611FB-CBD4-B551-C1FA-29946677A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en-US" dirty="0"/>
              <a:t>CQRS</a:t>
            </a:r>
            <a:r>
              <a:rPr lang="ru-RU" dirty="0"/>
              <a:t> имеет смысл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876EBA-4E9D-C6BA-5447-150307F008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Сложная бизнес-логика на записи</a:t>
            </a:r>
          </a:p>
          <a:p>
            <a:r>
              <a:rPr lang="ru-RU" dirty="0"/>
              <a:t>Много запросов и отчётов</a:t>
            </a:r>
          </a:p>
          <a:p>
            <a:r>
              <a:rPr lang="ru-RU" dirty="0"/>
              <a:t>Разные требования к чтению и записи</a:t>
            </a:r>
          </a:p>
          <a:p>
            <a:r>
              <a:rPr lang="ru-RU" dirty="0"/>
              <a:t>Большая или растущая система</a:t>
            </a:r>
          </a:p>
          <a:p>
            <a:r>
              <a:rPr lang="ru-RU" dirty="0"/>
              <a:t>Команда готова к разделению моделей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6E08C0-51AD-AFBE-1A13-F6429B209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en-US" dirty="0"/>
              <a:t>CQRS</a:t>
            </a:r>
            <a:r>
              <a:rPr lang="ru-RU" dirty="0"/>
              <a:t> не стоит использовать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08C7F6-54B4-1DA5-0CE7-286BDE6708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Простой CRUD</a:t>
            </a:r>
          </a:p>
          <a:p>
            <a:r>
              <a:rPr lang="ru-RU" dirty="0"/>
              <a:t>Небольшой учебный проект</a:t>
            </a:r>
          </a:p>
          <a:p>
            <a:r>
              <a:rPr lang="ru-RU" dirty="0"/>
              <a:t>Команда не готова к усложнению</a:t>
            </a:r>
          </a:p>
          <a:p>
            <a:r>
              <a:rPr lang="ru-RU" dirty="0"/>
              <a:t>Нет реальной проблемы</a:t>
            </a:r>
          </a:p>
          <a:p>
            <a:r>
              <a:rPr lang="ru-RU" dirty="0"/>
              <a:t>“CQRS ради CQRS”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1647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D9DA2D-C9C5-F2BB-2E80-68F2C721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и </a:t>
            </a:r>
            <a:r>
              <a:rPr lang="en-US" dirty="0"/>
              <a:t>DDD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215DF2-1335-62EE-D224-64C169C21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598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19D38A-157A-F9E7-3C60-2138025A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и DDD: общая идея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36B69E-E787-B381-69F2-A321F38C2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Архитектура поддерживает домен</a:t>
            </a:r>
          </a:p>
          <a:p>
            <a:r>
              <a:rPr lang="ru-RU" dirty="0"/>
              <a:t>Домен — центр системы</a:t>
            </a:r>
          </a:p>
          <a:p>
            <a:r>
              <a:rPr lang="ru-RU" dirty="0"/>
              <a:t>Инфраструктура вторична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863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F697-7AD1-8C70-E3F1-15F0574A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04244-E9A1-90A1-AA78-8FD3B56B57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Классическое разделение слоёв</a:t>
            </a:r>
          </a:p>
          <a:p>
            <a:pPr lvl="1"/>
            <a:r>
              <a:rPr lang="en-US" dirty="0"/>
              <a:t>Presentation / Application / Domain / Infrastructure</a:t>
            </a:r>
          </a:p>
          <a:p>
            <a:r>
              <a:rPr lang="ru-RU" dirty="0"/>
              <a:t>Знакома большинству разработчиков</a:t>
            </a:r>
          </a:p>
          <a:p>
            <a:r>
              <a:rPr lang="ru-RU" dirty="0"/>
              <a:t>Простая для старта</a:t>
            </a:r>
          </a:p>
          <a:p>
            <a:r>
              <a:rPr lang="ru-RU" dirty="0"/>
              <a:t>Требует дисциплины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3C75C63-C06A-D00E-A512-5533DEB840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974734"/>
            <a:ext cx="5181600" cy="405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03605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62D3-5476-4693-66E1-3E3395FC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Hexagonal</a:t>
            </a:r>
            <a:r>
              <a:rPr lang="ru-RU" dirty="0"/>
              <a:t> Architecture (</a:t>
            </a:r>
            <a:r>
              <a:rPr lang="ru-RU" dirty="0" err="1"/>
              <a:t>Ports</a:t>
            </a:r>
            <a:r>
              <a:rPr lang="ru-RU" dirty="0"/>
              <a:t> &amp; </a:t>
            </a:r>
            <a:r>
              <a:rPr lang="ru-RU" dirty="0" err="1"/>
              <a:t>Adapters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89106-2E84-95DF-BF9D-35A3ACE17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53014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Домен и </a:t>
            </a:r>
            <a:r>
              <a:rPr lang="ru-RU" dirty="0" err="1"/>
              <a:t>use-cases</a:t>
            </a:r>
            <a:r>
              <a:rPr lang="ru-RU" dirty="0"/>
              <a:t> находятся в центре, а внешние детали — на периферии</a:t>
            </a:r>
          </a:p>
          <a:p>
            <a:r>
              <a:rPr lang="ru-RU" dirty="0"/>
              <a:t>Порты задают контракты взаимодействия приложения с внешним миром</a:t>
            </a:r>
          </a:p>
          <a:p>
            <a:r>
              <a:rPr lang="ru-RU" dirty="0"/>
              <a:t>Адаптеры реализуют эти контракты для БД, HTTP, очередей, файлов и т.д.</a:t>
            </a:r>
          </a:p>
          <a:p>
            <a:r>
              <a:rPr lang="ru-RU" dirty="0"/>
              <a:t>Зависимости направлены внутрь: домен не знает про технологии</a:t>
            </a:r>
          </a:p>
          <a:p>
            <a:r>
              <a:rPr lang="ru-RU" dirty="0"/>
              <a:t>Границы становятся явными и тестируемыми: бизнес-логика отделена от инфраструктуры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4F2225-D4D1-AA9B-3BCB-6AF544B91E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132" y="1825625"/>
            <a:ext cx="5181600" cy="3227679"/>
          </a:xfrm>
        </p:spPr>
      </p:pic>
    </p:spTree>
    <p:extLst>
      <p:ext uri="{BB962C8B-B14F-4D97-AF65-F5344CB8AC3E}">
        <p14:creationId xmlns:p14="http://schemas.microsoft.com/office/powerpoint/2010/main" val="21828246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9B91-1DD1-D548-E4EA-9F9B92AF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Architecture </a:t>
            </a:r>
            <a:r>
              <a:rPr lang="ru-RU" dirty="0"/>
              <a:t>и </a:t>
            </a:r>
            <a:r>
              <a:rPr lang="en-US" dirty="0"/>
              <a:t>Onion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3A583-9B58-8CD6-2A73-EA94A919D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8401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Это развитие </a:t>
            </a:r>
            <a:r>
              <a:rPr lang="ru-RU" dirty="0" err="1"/>
              <a:t>Ports</a:t>
            </a:r>
            <a:r>
              <a:rPr lang="ru-RU" dirty="0"/>
              <a:t> &amp; </a:t>
            </a:r>
            <a:r>
              <a:rPr lang="ru-RU" dirty="0" err="1"/>
              <a:t>Adapters</a:t>
            </a:r>
            <a:endParaRPr lang="en-US" dirty="0"/>
          </a:p>
          <a:p>
            <a:pPr lvl="1"/>
            <a:r>
              <a:rPr lang="ru-RU" dirty="0"/>
              <a:t>та же идея центра и “периферии”, но формальнее по слоям</a:t>
            </a:r>
          </a:p>
          <a:p>
            <a:r>
              <a:rPr lang="ru-RU" dirty="0"/>
              <a:t>Архитектура рисуется как кольца</a:t>
            </a:r>
            <a:endParaRPr lang="en-US" dirty="0"/>
          </a:p>
          <a:p>
            <a:pPr lvl="1"/>
            <a:r>
              <a:rPr lang="ru-RU" dirty="0"/>
              <a:t>чем ближе к центру, тем стабильнее и “</a:t>
            </a:r>
            <a:r>
              <a:rPr lang="ru-RU" dirty="0" err="1"/>
              <a:t>бизнесовее</a:t>
            </a:r>
            <a:r>
              <a:rPr lang="ru-RU" dirty="0"/>
              <a:t>” код</a:t>
            </a:r>
          </a:p>
          <a:p>
            <a:r>
              <a:rPr lang="ru-RU" dirty="0"/>
              <a:t>Domain в центре:</a:t>
            </a:r>
            <a:endParaRPr lang="en-US" dirty="0"/>
          </a:p>
          <a:p>
            <a:pPr lvl="1"/>
            <a:r>
              <a:rPr lang="ru-RU" dirty="0"/>
              <a:t>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события и правила</a:t>
            </a:r>
          </a:p>
          <a:p>
            <a:r>
              <a:rPr lang="ru-RU" dirty="0"/>
              <a:t>Application слой вокруг домена:</a:t>
            </a:r>
            <a:endParaRPr lang="en-US" dirty="0"/>
          </a:p>
          <a:p>
            <a:pPr lvl="1"/>
            <a:r>
              <a:rPr lang="ru-RU" dirty="0"/>
              <a:t>сценарии (</a:t>
            </a:r>
            <a:r>
              <a:rPr lang="ru-RU" dirty="0" err="1"/>
              <a:t>use-cases</a:t>
            </a:r>
            <a:r>
              <a:rPr lang="ru-RU" dirty="0"/>
              <a:t>), </a:t>
            </a:r>
            <a:r>
              <a:rPr lang="ru-RU" dirty="0" err="1"/>
              <a:t>оркестрация</a:t>
            </a:r>
            <a:r>
              <a:rPr lang="ru-RU" dirty="0"/>
              <a:t>, транзакционные границы</a:t>
            </a:r>
          </a:p>
          <a:p>
            <a:r>
              <a:rPr lang="ru-RU" dirty="0" err="1"/>
              <a:t>Dependency</a:t>
            </a:r>
            <a:r>
              <a:rPr lang="ru-RU" dirty="0"/>
              <a:t> </a:t>
            </a:r>
            <a:r>
              <a:rPr lang="ru-RU" dirty="0" err="1"/>
              <a:t>Rule</a:t>
            </a:r>
            <a:r>
              <a:rPr lang="ru-RU" dirty="0"/>
              <a:t>:</a:t>
            </a:r>
            <a:endParaRPr lang="en-US" dirty="0"/>
          </a:p>
          <a:p>
            <a:pPr lvl="1"/>
            <a:r>
              <a:rPr lang="ru-RU" dirty="0"/>
              <a:t>зависимости направлены только внутрь; внешние детали зависят от внутренних контрактов</a:t>
            </a:r>
          </a:p>
          <a:p>
            <a:r>
              <a:rPr lang="ru-RU" dirty="0"/>
              <a:t>Фреймворки и инфраструктура — снаружи и заменяемы: БД, UI, очереди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3763BE-822C-B7FC-0DF7-6CC2A83AB1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602" y="1825625"/>
            <a:ext cx="4547135" cy="2664336"/>
          </a:xfrm>
        </p:spPr>
      </p:pic>
    </p:spTree>
    <p:extLst>
      <p:ext uri="{BB962C8B-B14F-4D97-AF65-F5344CB8AC3E}">
        <p14:creationId xmlns:p14="http://schemas.microsoft.com/office/powerpoint/2010/main" val="30033144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AABE-95BD-D4C3-0214-617377F1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Место </a:t>
            </a:r>
            <a:r>
              <a:rPr lang="en-US" dirty="0"/>
              <a:t>Domain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5F022-BDB4-5527-0D38-3A87C5D0B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Центр архитектуры</a:t>
            </a:r>
          </a:p>
          <a:p>
            <a:r>
              <a:rPr lang="en-US" dirty="0"/>
              <a:t>Entity, Value Object, Aggregate</a:t>
            </a:r>
          </a:p>
          <a:p>
            <a:r>
              <a:rPr lang="en-US" dirty="0"/>
              <a:t>Domain Services </a:t>
            </a:r>
            <a:r>
              <a:rPr lang="ru-RU" dirty="0"/>
              <a:t>и </a:t>
            </a:r>
            <a:r>
              <a:rPr lang="en-US" dirty="0"/>
              <a:t>Events</a:t>
            </a:r>
          </a:p>
          <a:p>
            <a:r>
              <a:rPr lang="ru-RU" dirty="0"/>
              <a:t>Нет инфраструктуры</a:t>
            </a:r>
          </a:p>
          <a:p>
            <a:r>
              <a:rPr lang="ru-RU" dirty="0"/>
              <a:t>Максимальная стабильность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3500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A714-5E29-EB57-CF0A-4DF525E8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Зависимости слоёв и «Domain без фреймворков»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60E55-495F-64CA-ABC7-77224100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Зависимости направлены внутрь</a:t>
            </a:r>
          </a:p>
          <a:p>
            <a:r>
              <a:rPr lang="ru-RU" dirty="0"/>
              <a:t>Domain не знает про БД</a:t>
            </a:r>
          </a:p>
          <a:p>
            <a:r>
              <a:rPr lang="ru-RU" dirty="0"/>
              <a:t>Domain не знает про HTTP</a:t>
            </a:r>
          </a:p>
          <a:p>
            <a:r>
              <a:rPr lang="ru-RU" dirty="0"/>
              <a:t>Domain не знает про фреймворки</a:t>
            </a:r>
          </a:p>
          <a:p>
            <a:r>
              <a:rPr lang="ru-RU" dirty="0"/>
              <a:t>Проще тестировать и менять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1518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09A0-9E07-3616-649F-32F66254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DDD в </a:t>
            </a:r>
            <a:r>
              <a:rPr lang="ru-RU" dirty="0" err="1"/>
              <a:t>desktop</a:t>
            </a:r>
            <a:r>
              <a:rPr lang="ru-RU" dirty="0"/>
              <a:t>-приложении (пример: редактор презентаций)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E3FA-F028-4C10-D2DC-E6CCA8CBF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Домен — это модель презентации и правила редактирования, а не UI и не формат файла</a:t>
            </a:r>
          </a:p>
          <a:p>
            <a:r>
              <a:rPr lang="ru-RU" dirty="0"/>
              <a:t>Редактируемые объекты образуют доменную модель: </a:t>
            </a:r>
            <a:endParaRPr lang="en-US" dirty="0"/>
          </a:p>
          <a:p>
            <a:pPr lvl="1"/>
            <a:r>
              <a:rPr lang="ru-RU" dirty="0"/>
              <a:t>презентация, слайды, элементы, группы</a:t>
            </a:r>
          </a:p>
          <a:p>
            <a:r>
              <a:rPr lang="ru-RU" dirty="0"/>
              <a:t>Агрегаты определяются границами согласованности, а не тем, как данные сохраняются</a:t>
            </a:r>
          </a:p>
          <a:p>
            <a:r>
              <a:rPr lang="ru-RU" dirty="0"/>
              <a:t>Файл — это инфраструктура хранения, он может содержать несколько агрегатов</a:t>
            </a:r>
          </a:p>
          <a:p>
            <a:r>
              <a:rPr lang="ru-RU" dirty="0"/>
              <a:t>DDD хорошо подходит для сложных </a:t>
            </a:r>
            <a:r>
              <a:rPr lang="ru-RU" dirty="0" err="1"/>
              <a:t>desktop</a:t>
            </a:r>
            <a:r>
              <a:rPr lang="ru-RU" dirty="0"/>
              <a:t>-доменов (</a:t>
            </a:r>
            <a:r>
              <a:rPr lang="ru-RU" dirty="0" err="1"/>
              <a:t>Undo</a:t>
            </a:r>
            <a:r>
              <a:rPr lang="ru-RU" dirty="0"/>
              <a:t>/</a:t>
            </a:r>
            <a:r>
              <a:rPr lang="ru-RU" dirty="0" err="1"/>
              <a:t>Redo</a:t>
            </a:r>
            <a:r>
              <a:rPr lang="ru-RU" dirty="0"/>
              <a:t>, инварианты, эволюция)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9492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0B62-6AEB-51C0-22A4-766F60EB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Заключение: что важно унести из DDD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86D8-74F9-96C1-A50E-7AAC1A125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DDD — это про мышление и понимание домена</a:t>
            </a:r>
            <a:r>
              <a:rPr lang="ru-RU" dirty="0"/>
              <a:t>, а не про паттерны и фреймворки</a:t>
            </a:r>
          </a:p>
          <a:p>
            <a:r>
              <a:rPr lang="ru-RU" dirty="0"/>
              <a:t>Бизнес-смысл важнее технической красоты кода</a:t>
            </a:r>
          </a:p>
          <a:p>
            <a:r>
              <a:rPr lang="ru-RU" dirty="0"/>
              <a:t>Стратегический DDD помогает управлять сложностью, тактический — реализовывать её в коде</a:t>
            </a:r>
          </a:p>
          <a:p>
            <a:r>
              <a:rPr lang="ru-RU" dirty="0"/>
              <a:t>Границы (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</a:t>
            </a:r>
            <a:r>
              <a:rPr lang="ru-RU" dirty="0" err="1"/>
              <a:t>Aggregate</a:t>
            </a:r>
            <a:r>
              <a:rPr lang="ru-RU" dirty="0"/>
              <a:t>, слои) — ключ к устойчивости системы</a:t>
            </a:r>
          </a:p>
          <a:p>
            <a:r>
              <a:rPr lang="ru-RU" dirty="0"/>
              <a:t>DDD применим шире, чем веб и микросервисы: </a:t>
            </a:r>
            <a:r>
              <a:rPr lang="ru-RU" dirty="0" err="1"/>
              <a:t>backend</a:t>
            </a:r>
            <a:r>
              <a:rPr lang="ru-RU" dirty="0"/>
              <a:t>, </a:t>
            </a:r>
            <a:r>
              <a:rPr lang="ru-RU" dirty="0" err="1"/>
              <a:t>desktop</a:t>
            </a:r>
            <a:r>
              <a:rPr lang="ru-RU" dirty="0"/>
              <a:t>, долгоживущие продукты</a:t>
            </a:r>
          </a:p>
          <a:p>
            <a:r>
              <a:rPr lang="ru-RU" b="1" dirty="0"/>
              <a:t>DDD — это не про то, как писать код.</a:t>
            </a:r>
            <a:br>
              <a:rPr lang="ru-RU" b="1" dirty="0"/>
            </a:br>
            <a:r>
              <a:rPr lang="ru-RU" b="1" dirty="0"/>
              <a:t>Это про то, как понимать систему, которую ты создаёшь.</a:t>
            </a:r>
            <a:endParaRPr lang="ru-RU" dirty="0"/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70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14744</Words>
  <Application>Microsoft Office PowerPoint</Application>
  <PresentationFormat>Widescreen</PresentationFormat>
  <Paragraphs>1294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0" baseType="lpstr">
      <vt:lpstr>Aptos</vt:lpstr>
      <vt:lpstr>Aptos Display</vt:lpstr>
      <vt:lpstr>Arial</vt:lpstr>
      <vt:lpstr>Consolas</vt:lpstr>
      <vt:lpstr>Office Theme</vt:lpstr>
      <vt:lpstr>Domain Driven Design</vt:lpstr>
      <vt:lpstr>Domain Driven Design</vt:lpstr>
      <vt:lpstr>Типичные проблемы больших проектов</vt:lpstr>
      <vt:lpstr>Почему хороший код ≠ хороший бизнес-код</vt:lpstr>
      <vt:lpstr>Domain ≠ DDD (но DDD всегда про Domain)</vt:lpstr>
      <vt:lpstr>Идея DDD и краткая история</vt:lpstr>
      <vt:lpstr>Domain и Domain Model</vt:lpstr>
      <vt:lpstr>Что такое Domain</vt:lpstr>
      <vt:lpstr>Примеры доменов</vt:lpstr>
      <vt:lpstr>Что такое Domain Model</vt:lpstr>
      <vt:lpstr>Domain Model ≠ Database / DTO / API Model</vt:lpstr>
      <vt:lpstr>Почему Domain Model — центр приложения</vt:lpstr>
      <vt:lpstr>Когда имеет смысл в DDD</vt:lpstr>
      <vt:lpstr>DDD: «за» и «против»</vt:lpstr>
      <vt:lpstr>Стоимость DDD</vt:lpstr>
      <vt:lpstr>Tactical vs Strategic DDD</vt:lpstr>
      <vt:lpstr>Простая система vs сложная система</vt:lpstr>
      <vt:lpstr>DDD и жизненный цикл продукта</vt:lpstr>
      <vt:lpstr>Принципы DDD</vt:lpstr>
      <vt:lpstr>Domain-first</vt:lpstr>
      <vt:lpstr>Богатая доменная модель vs анемичная модель (пример)</vt:lpstr>
      <vt:lpstr>Пример анемичной модели</vt:lpstr>
      <vt:lpstr>PowerPoint Presentation</vt:lpstr>
      <vt:lpstr>Инварианты и бизнес-правила</vt:lpstr>
      <vt:lpstr>Явные границы ответственности</vt:lpstr>
      <vt:lpstr>Изоляция домена от инфраструктуры</vt:lpstr>
      <vt:lpstr>Эволюция модели</vt:lpstr>
      <vt:lpstr>DDD: мышление, а не фреймворк</vt:lpstr>
      <vt:lpstr>Ubiquitous Language</vt:lpstr>
      <vt:lpstr>Что такое Ubiquitous Language</vt:lpstr>
      <vt:lpstr>Код как продолжение речи бизнеса</vt:lpstr>
      <vt:lpstr>Плохие и хорошие названия</vt:lpstr>
      <vt:lpstr>Один термин — одно значение</vt:lpstr>
      <vt:lpstr>Язык, документация и код</vt:lpstr>
      <vt:lpstr>Bounded Context</vt:lpstr>
      <vt:lpstr>Почему «одна модель на весь бизнес» ломается</vt:lpstr>
      <vt:lpstr>Bounded Context</vt:lpstr>
      <vt:lpstr>Примеры Bounded Context в системе</vt:lpstr>
      <vt:lpstr>Context Map (Карта контекстов)</vt:lpstr>
      <vt:lpstr>Bounded Contexts на примере Библиотеки</vt:lpstr>
      <vt:lpstr>Способы взаимодействия контекстов</vt:lpstr>
      <vt:lpstr>Shared Kernel</vt:lpstr>
      <vt:lpstr>Customer / Supplier</vt:lpstr>
      <vt:lpstr>Conformist</vt:lpstr>
      <vt:lpstr>Anti-Corruption Layer (ACL)</vt:lpstr>
      <vt:lpstr>Сравнение и вывод</vt:lpstr>
      <vt:lpstr>Bounded Context и микросервисы</vt:lpstr>
      <vt:lpstr>Event Storming</vt:lpstr>
      <vt:lpstr>Что такое Event Storming</vt:lpstr>
      <vt:lpstr>Доменные события</vt:lpstr>
      <vt:lpstr>Big Picture Event Storming</vt:lpstr>
      <vt:lpstr>Event Storming и Bounded Context (библиотека)</vt:lpstr>
      <vt:lpstr>От Event Storming к тактическому дизайну</vt:lpstr>
      <vt:lpstr>Пример Event Storming «Выдача книги»</vt:lpstr>
      <vt:lpstr>Зачем Event Storming в учебном проекте</vt:lpstr>
      <vt:lpstr>Тактические паттерны DDD</vt:lpstr>
      <vt:lpstr>Entity (Сущность)</vt:lpstr>
      <vt:lpstr>Value Object (Объект-значение)</vt:lpstr>
      <vt:lpstr>Entity vs Value Object</vt:lpstr>
      <vt:lpstr>Aggregate и Aggregate Root</vt:lpstr>
      <vt:lpstr>Инварианты агрегата</vt:lpstr>
      <vt:lpstr>Идентичность (ID) и ссылки между доменами в DDD</vt:lpstr>
      <vt:lpstr>Выбор ID в DDD</vt:lpstr>
      <vt:lpstr>Пример ReaderId и LoadId</vt:lpstr>
      <vt:lpstr>Repository</vt:lpstr>
      <vt:lpstr>Domain Service</vt:lpstr>
      <vt:lpstr>Application Service</vt:lpstr>
      <vt:lpstr>Domain Event</vt:lpstr>
      <vt:lpstr>Пример агрегата целиком</vt:lpstr>
      <vt:lpstr>CQRS</vt:lpstr>
      <vt:lpstr>Что такое CQRS</vt:lpstr>
      <vt:lpstr>Команды и запросы: ключевое различие</vt:lpstr>
      <vt:lpstr>Почему единая модель плохо масштабируется</vt:lpstr>
      <vt:lpstr>Read Model в CQRS</vt:lpstr>
      <vt:lpstr>Как обновляется Read Model (без Event Sourcing)</vt:lpstr>
      <vt:lpstr>CQRS: за и против</vt:lpstr>
      <vt:lpstr>Архитектура и DDD</vt:lpstr>
      <vt:lpstr>Архитектура и DDD: общая идея</vt:lpstr>
      <vt:lpstr>Layered Architecture</vt:lpstr>
      <vt:lpstr>Hexagonal Architecture (Ports &amp; Adapters)</vt:lpstr>
      <vt:lpstr>Clean Architecture и Onion Architecture</vt:lpstr>
      <vt:lpstr>Место Domain Layer</vt:lpstr>
      <vt:lpstr>Зависимости слоёв и «Domain без фреймворков»</vt:lpstr>
      <vt:lpstr>DDD в desktop-приложении (пример: редактор презентаций)</vt:lpstr>
      <vt:lpstr>Заключение: что важно унести из DDD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111</cp:revision>
  <dcterms:created xsi:type="dcterms:W3CDTF">2025-12-18T15:06:15Z</dcterms:created>
  <dcterms:modified xsi:type="dcterms:W3CDTF">2026-02-22T21:54:32Z</dcterms:modified>
</cp:coreProperties>
</file>