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426" r:id="rId2"/>
    <p:sldId id="403" r:id="rId3"/>
    <p:sldId id="404" r:id="rId4"/>
    <p:sldId id="354" r:id="rId5"/>
    <p:sldId id="405" r:id="rId6"/>
    <p:sldId id="357" r:id="rId7"/>
    <p:sldId id="406" r:id="rId8"/>
    <p:sldId id="408" r:id="rId9"/>
    <p:sldId id="411" r:id="rId10"/>
    <p:sldId id="379" r:id="rId11"/>
    <p:sldId id="412" r:id="rId12"/>
    <p:sldId id="366" r:id="rId13"/>
    <p:sldId id="414" r:id="rId14"/>
    <p:sldId id="369" r:id="rId15"/>
    <p:sldId id="370" r:id="rId16"/>
    <p:sldId id="419" r:id="rId17"/>
    <p:sldId id="420" r:id="rId18"/>
    <p:sldId id="421" r:id="rId19"/>
    <p:sldId id="422" r:id="rId20"/>
    <p:sldId id="423" r:id="rId21"/>
    <p:sldId id="424" r:id="rId22"/>
    <p:sldId id="425" r:id="rId2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C0DE4342-374D-4506-BDDE-7A69154730CF}">
          <p14:sldIdLst>
            <p14:sldId id="426"/>
            <p14:sldId id="403"/>
            <p14:sldId id="404"/>
            <p14:sldId id="354"/>
            <p14:sldId id="405"/>
            <p14:sldId id="357"/>
            <p14:sldId id="406"/>
            <p14:sldId id="408"/>
            <p14:sldId id="411"/>
            <p14:sldId id="379"/>
            <p14:sldId id="412"/>
            <p14:sldId id="366"/>
            <p14:sldId id="414"/>
            <p14:sldId id="369"/>
            <p14:sldId id="370"/>
            <p14:sldId id="419"/>
            <p14:sldId id="420"/>
            <p14:sldId id="421"/>
            <p14:sldId id="422"/>
            <p14:sldId id="423"/>
            <p14:sldId id="424"/>
            <p14:sldId id="42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82690" autoAdjust="0"/>
  </p:normalViewPr>
  <p:slideViewPr>
    <p:cSldViewPr snapToGrid="0">
      <p:cViewPr varScale="1">
        <p:scale>
          <a:sx n="80" d="100"/>
          <a:sy n="80" d="100"/>
        </p:scale>
        <p:origin x="1656" y="3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9A8C27-CF52-4E7F-AAE7-4D864EAACE7B}" type="datetimeFigureOut">
              <a:rPr lang="ru-RU" smtClean="0"/>
              <a:t>12.01.2026</a:t>
            </a:fld>
            <a:endParaRPr lang="ru-R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B69212-66BC-4312-ACFF-0847E9C59E7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05106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Один из способов визуализации структуры программы — диаграмма классов. Диаграмма визуализирует классы и интерфейсы, из которых состоит программа или её часть, свойства и методы классов, а также связи между компонентами программы. Используемые обозначения основываются на упрощённой нотации универсального языка моделирования </a:t>
            </a:r>
            <a:r>
              <a:rPr lang="en-US" dirty="0"/>
              <a:t>UML</a:t>
            </a:r>
            <a:r>
              <a:rPr lang="ru-RU" dirty="0"/>
              <a:t>.</a:t>
            </a:r>
          </a:p>
          <a:p>
            <a:r>
              <a:rPr lang="ru-RU" dirty="0"/>
              <a:t>Класс обозначается прямоугольником, содержащим имя класса, его методы и поля. Перед именем публичного метода и поля класса может ставиться символ +, а приватного — символ -. Тип полей, аргументов и возвращаемых значений указывается после двоеточия. Указатели, ссылки, а также тип </a:t>
            </a:r>
            <a:r>
              <a:rPr lang="ru-RU" dirty="0" err="1"/>
              <a:t>void</a:t>
            </a:r>
            <a:r>
              <a:rPr lang="ru-RU" dirty="0"/>
              <a:t> для краткости записи можно опустить.</a:t>
            </a:r>
          </a:p>
          <a:p>
            <a:r>
              <a:rPr lang="ru-RU" dirty="0"/>
              <a:t>Приватная часть класса, часть публичных методов или все публичные методы, несущественные на данной схеме, могут быть пропущены:</a:t>
            </a:r>
          </a:p>
          <a:p>
            <a:r>
              <a:rPr lang="ru-RU" dirty="0"/>
              <a:t>Стандартные классы вроде </a:t>
            </a:r>
            <a:r>
              <a:rPr lang="ru-RU" dirty="0" err="1"/>
              <a:t>string</a:t>
            </a:r>
            <a:r>
              <a:rPr lang="ru-RU" dirty="0"/>
              <a:t>, </a:t>
            </a:r>
            <a:r>
              <a:rPr lang="ru-RU" dirty="0" err="1"/>
              <a:t>vector</a:t>
            </a:r>
            <a:r>
              <a:rPr lang="ru-RU" dirty="0"/>
              <a:t>, а также несущественные для диаграммы классы обычно на ней не отображаются.</a:t>
            </a:r>
          </a:p>
          <a:p>
            <a:r>
              <a:rPr lang="ru-RU" dirty="0"/>
              <a:t>Перечислимые типы отображаются похожим на класс образом, с той лишь разницей, что перед именем класса записывают слово </a:t>
            </a:r>
            <a:r>
              <a:rPr lang="ru-RU" b="1" dirty="0" err="1"/>
              <a:t>enumeration</a:t>
            </a:r>
            <a:r>
              <a:rPr lang="ru-RU" dirty="0"/>
              <a:t>.</a:t>
            </a:r>
          </a:p>
          <a:p>
            <a:endParaRPr lang="ru-RU" dirty="0"/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D27560-579B-482E-BED7-036450DE1808}" type="slidenum">
              <a:rPr lang="ru-RU" smtClean="0"/>
              <a:pPr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481464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Композиция — один из самых простых способов создать новый тип данных, используя функционал уже имеющихся. При композиции мы получаем новый, более сложный тип, состоящий из одного или нескольких более простых объектов.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D27560-579B-482E-BED7-036450DE1808}" type="slidenum">
              <a:rPr lang="ru-RU" smtClean="0"/>
              <a:pPr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060965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Особенности: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Один объект является Частью другого, составного объекта.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Часть в один момент времени может принадлежать только одному составному объекту.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Составной объект управляет своими частями. В частности, когда объект удаляется, его части должны быть также удалены.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Часть не знает о существовании объекта, который ею владеет.</a:t>
            </a:r>
          </a:p>
          <a:p>
            <a:r>
              <a:rPr lang="ru-RU" dirty="0"/>
              <a:t>В C++ мы обычно используем композицию, когда объявляем структуру или класс.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D27560-579B-482E-BED7-036450DE1808}" type="slidenum">
              <a:rPr lang="ru-RU" smtClean="0"/>
              <a:pPr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614055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Примеры композиции: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Точка на плоскости состоит из двух чисел, хранящих её координаты.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Окружность состоит из точки, задающей координаты центра, и числа, задающего радиус.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Класс рациональных чисел состоит из двух целых чисел — числителя и знаменателя.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D27560-579B-482E-BED7-036450DE1808}" type="slidenum">
              <a:rPr lang="ru-RU" smtClean="0"/>
              <a:pPr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87157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Композиция позволяет с лёгкостью создавать сложные объекты из более простых. Однажды разработав и протестировав класс, мы можем многократно использовать его как надёжный «кирпичик» в составе более крупных компонентов нашей программы. Классы стандартной библиотеки C++ являются хорошим примером таких «кирпичиков». 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D27560-579B-482E-BED7-036450DE1808}" type="slidenum">
              <a:rPr lang="ru-RU" smtClean="0"/>
              <a:pPr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5359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На диаграмме классов композиция обозначается соединительной линией с закрашенным ромбом, исходящим от составного объекта. Со стороны включаемого объекта наконечника может и не быть.</a:t>
            </a:r>
          </a:p>
          <a:p>
            <a:r>
              <a:rPr lang="ru-RU" dirty="0"/>
              <a:t>Ограничений на количество включений простого объекта в состав более сложного нет. В приведённом примере </a:t>
            </a:r>
            <a:r>
              <a:rPr lang="ru-RU" dirty="0" err="1"/>
              <a:t>Circle</a:t>
            </a:r>
            <a:r>
              <a:rPr lang="ru-RU" dirty="0"/>
              <a:t> содержит один экземпляр </a:t>
            </a:r>
            <a:r>
              <a:rPr lang="ru-RU" dirty="0" err="1"/>
              <a:t>Point</a:t>
            </a:r>
            <a:r>
              <a:rPr lang="ru-RU" dirty="0"/>
              <a:t>, а </a:t>
            </a:r>
            <a:r>
              <a:rPr lang="ru-RU" dirty="0" err="1"/>
              <a:t>Triangle</a:t>
            </a:r>
            <a:r>
              <a:rPr lang="ru-RU" dirty="0"/>
              <a:t> — три. Чтобы подчеркнуть множественный характер связи, на конце стрелочки может указываться количество экземпляров.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D27560-579B-482E-BED7-036450DE1808}" type="slidenum">
              <a:rPr lang="ru-RU" smtClean="0"/>
              <a:pPr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143577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0" i="0" dirty="0">
                <a:solidFill>
                  <a:srgbClr val="37352F"/>
                </a:solidFill>
                <a:effectLst/>
                <a:latin typeface="-apple-system"/>
              </a:rPr>
              <a:t>Агрегация — тоже пример отношений часть-целое, и реализуется она, подобно композиции, с использованием структур или классов. Различия между композицией и агрегацией в основном семантические.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D27560-579B-482E-BED7-036450DE1808}" type="slidenum">
              <a:rPr lang="ru-RU" smtClean="0"/>
              <a:pPr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718274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Агрегация позволяет одному объекту делегировать часть работы другому, переданному извне, объекту. Например, </a:t>
            </a:r>
            <a:r>
              <a:rPr lang="en-US" dirty="0" err="1"/>
              <a:t>RemoteControl</a:t>
            </a:r>
            <a:r>
              <a:rPr lang="en-US" dirty="0"/>
              <a:t> </a:t>
            </a:r>
            <a:r>
              <a:rPr lang="ru-RU" dirty="0"/>
              <a:t>делегирует выполнение операций классу </a:t>
            </a:r>
            <a:r>
              <a:rPr lang="en-US" dirty="0"/>
              <a:t>TV</a:t>
            </a:r>
            <a:r>
              <a:rPr lang="ru-RU" dirty="0"/>
              <a:t>, а сам лишь обрабатывает команды пользователя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D27560-579B-482E-BED7-036450DE1808}" type="slidenum">
              <a:rPr lang="ru-RU" smtClean="0"/>
              <a:pPr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009400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При композиции и агрегации Целое оказывается связанным с Частью в течение длительного времени — поля Целого хранят Часть по значению, ссылке или указателю.</a:t>
            </a:r>
          </a:p>
          <a:p>
            <a:r>
              <a:rPr lang="ru-RU" dirty="0"/>
              <a:t>В жизни потребность в каком-либо объекте нам часто нужна лишь для выполнения некоторой задачи: мы вызываем такси, чтобы доехать до нужного места, берём нож, чтобы сделать бутерброд, прибегаем к услугам парикмахера, чтобы подстричься. После выполнения задачи потребность в объекте исчезает до следующего раза. И правда, незачем держать при себе парикмахера до конца своей жизни.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D27560-579B-482E-BED7-036450DE1808}" type="slidenum">
              <a:rPr lang="ru-RU" smtClean="0"/>
              <a:pPr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0721724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Такого рода отношение называется зависимостью, или отношением «‎Клиент-Поставщик». У Клиента возникает зависимость от Поставщика при решении некоторой задачи. Зависимость возникает в любом из следующих случаев: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Поставщик создаётся внутри метода Клиента.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Поставщик передаётся в метод Клиента по значению, ссылке или указателю.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Метод клиента возвращает Поставщика.</a:t>
            </a:r>
          </a:p>
          <a:p>
            <a:r>
              <a:rPr lang="ru-RU" dirty="0"/>
              <a:t>Во всех упомянутых ситуациях зависимость от Поставщика существует лишь на протяжении вызова метода Клиента — в локальных переменных, параметрах функций и временных объектах.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D27560-579B-482E-BED7-036450DE1808}" type="slidenum">
              <a:rPr lang="ru-RU" smtClean="0"/>
              <a:pPr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927160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Ещё один пример — загрузка и сохранение объектов в потоки ввода и вывода</a:t>
            </a:r>
            <a:r>
              <a:rPr lang="en-US" dirty="0"/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Класс </a:t>
            </a:r>
            <a:r>
              <a:rPr lang="ru-RU" dirty="0" err="1"/>
              <a:t>Document</a:t>
            </a:r>
            <a:r>
              <a:rPr lang="ru-RU" dirty="0"/>
              <a:t> зависит от классов </a:t>
            </a:r>
            <a:r>
              <a:rPr lang="ru-RU" dirty="0" err="1"/>
              <a:t>ostream</a:t>
            </a:r>
            <a:r>
              <a:rPr lang="ru-RU" dirty="0"/>
              <a:t> и </a:t>
            </a:r>
            <a:r>
              <a:rPr lang="ru-RU" dirty="0" err="1"/>
              <a:t>istream</a:t>
            </a:r>
            <a:r>
              <a:rPr lang="ru-RU" dirty="0"/>
              <a:t> только во время вызова методов </a:t>
            </a:r>
            <a:r>
              <a:rPr lang="ru-RU" dirty="0" err="1"/>
              <a:t>SaveToStream</a:t>
            </a:r>
            <a:r>
              <a:rPr lang="ru-RU" dirty="0"/>
              <a:t> и </a:t>
            </a:r>
            <a:r>
              <a:rPr lang="ru-RU" dirty="0" err="1"/>
              <a:t>LoadFromStream</a:t>
            </a:r>
            <a:r>
              <a:rPr lang="ru-RU" dirty="0"/>
              <a:t>. Это значит, что на протяжении жизни Документа его можно сохранять в разные потоки вывода или загружать из разных потоков ввода. Точь-в-точь как для печати одного и того же документа вы используете разные листы бумаги. Обратной зависимости </a:t>
            </a:r>
            <a:r>
              <a:rPr lang="ru-RU" dirty="0" err="1"/>
              <a:t>ostream</a:t>
            </a:r>
            <a:r>
              <a:rPr lang="ru-RU" dirty="0"/>
              <a:t> и </a:t>
            </a:r>
            <a:r>
              <a:rPr lang="ru-RU" dirty="0" err="1"/>
              <a:t>istream</a:t>
            </a:r>
            <a:r>
              <a:rPr lang="ru-RU" dirty="0"/>
              <a:t> от документа нет.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D27560-579B-482E-BED7-036450DE1808}" type="slidenum">
              <a:rPr lang="ru-RU" smtClean="0"/>
              <a:pPr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1420918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На схемах зависимость изображается пунктирной стрелкой, идущей от Клиента к Поставщику. Чтобы конкретизировать, какой вид зависимости используется, на стрелке дополнительно может указываться одно из следующих слов: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 err="1"/>
              <a:t>create</a:t>
            </a:r>
            <a:r>
              <a:rPr lang="ru-RU" dirty="0"/>
              <a:t>. Метод Клиента создаёт экземпляр Поставщика и использует его, не передавая наружу.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 err="1"/>
              <a:t>return</a:t>
            </a:r>
            <a:r>
              <a:rPr lang="ru-RU" dirty="0"/>
              <a:t>. Клиент возвращает экземпляр Поставщика. При этом клиент может создавать Поставщика самостоятельно или делегировать создание другому объекту. 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ru-RU" dirty="0" err="1"/>
              <a:t>use</a:t>
            </a:r>
            <a:r>
              <a:rPr lang="ru-RU" dirty="0"/>
              <a:t>. Клиент использует зависимость, переданную ему через параметр метода. Для этого он вызывает методы переданных ему параметров или передаёт их дальше в качестве параметров.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Класс Прямоугольник использует переданный ему Холст (</a:t>
            </a:r>
            <a:r>
              <a:rPr lang="ru-RU" dirty="0" err="1"/>
              <a:t>Canvas</a:t>
            </a:r>
            <a:r>
              <a:rPr lang="ru-RU" dirty="0"/>
              <a:t>), чтобы нарисовать на нём своё изображение, вызывая методы </a:t>
            </a:r>
            <a:r>
              <a:rPr lang="ru-RU" dirty="0" err="1"/>
              <a:t>MoveTo</a:t>
            </a:r>
            <a:r>
              <a:rPr lang="ru-RU" dirty="0"/>
              <a:t> и </a:t>
            </a:r>
            <a:r>
              <a:rPr lang="ru-RU" dirty="0" err="1"/>
              <a:t>LineTo</a:t>
            </a:r>
            <a:r>
              <a:rPr lang="ru-RU" dirty="0"/>
              <a:t>. Так можно многократно с разными параметрами вызывать метод </a:t>
            </a:r>
            <a:r>
              <a:rPr lang="ru-RU" dirty="0" err="1"/>
              <a:t>Draw</a:t>
            </a:r>
            <a:r>
              <a:rPr lang="ru-RU" dirty="0"/>
              <a:t> у одного и того же прямоугольника, получая изображение прямоугольника на разных холстах.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D27560-579B-482E-BED7-036450DE1808}" type="slidenum">
              <a:rPr lang="ru-RU" smtClean="0"/>
              <a:pPr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6440846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Зависимость — наиболее слабая связь между классами среди рассмотренных отношений. Эта слабость даёт наибольшую гибкость — каждый вызов метода Клиента может иметь дело с новым Поставщиком. За эту гибкость приходится платить — зависимость транзитивна. Она распространяется на всех пользователей Клиента — они должны уметь создать Поставщика перед тем как передать его Клиенту в качестве параметра и знать, что делать с Поставщиком, которого им вернул Клиент. При композиции и агрегации зависимость не распространяется, так как Целое скрывает свои Части в приватной области.</a:t>
            </a:r>
          </a:p>
          <a:p>
            <a:r>
              <a:rPr lang="ru-RU" dirty="0"/>
              <a:t>На схеме показан класс </a:t>
            </a:r>
            <a:r>
              <a:rPr lang="en-US" dirty="0"/>
              <a:t>Foo</a:t>
            </a:r>
            <a:r>
              <a:rPr lang="ru-RU" dirty="0"/>
              <a:t>, один из методов которого возвращает экземпляры </a:t>
            </a:r>
            <a:r>
              <a:rPr lang="en-US" dirty="0"/>
              <a:t>Bar</a:t>
            </a:r>
            <a:r>
              <a:rPr lang="ru-RU" dirty="0"/>
              <a:t>. Метод класса </a:t>
            </a:r>
            <a:r>
              <a:rPr lang="en-US" dirty="0"/>
              <a:t>Bar</a:t>
            </a:r>
            <a:r>
              <a:rPr lang="ru-RU" dirty="0"/>
              <a:t>, в свою очередь принимает экземпляры класса </a:t>
            </a:r>
            <a:r>
              <a:rPr lang="en-US" dirty="0"/>
              <a:t>Baz.</a:t>
            </a:r>
          </a:p>
          <a:p>
            <a:r>
              <a:rPr lang="ru-RU" dirty="0"/>
              <a:t>Поэтому на клиентов класса </a:t>
            </a:r>
            <a:r>
              <a:rPr lang="en-US" dirty="0"/>
              <a:t>Foo </a:t>
            </a:r>
            <a:r>
              <a:rPr lang="ru-RU" dirty="0"/>
              <a:t>распространяется знание не только о классе </a:t>
            </a:r>
            <a:r>
              <a:rPr lang="en-US" dirty="0"/>
              <a:t>Bar</a:t>
            </a:r>
            <a:r>
              <a:rPr lang="ru-RU" dirty="0"/>
              <a:t>, но и о классе </a:t>
            </a:r>
            <a:r>
              <a:rPr lang="en-US" dirty="0"/>
              <a:t>Baz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D27560-579B-482E-BED7-036450DE1808}" type="slidenum">
              <a:rPr lang="ru-RU" smtClean="0"/>
              <a:pPr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486073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 C++ и многих других языках программирования для выражения отношения «является» используется наследование. Механизм наследования создаёт новый класс не с нуля, а на основе уже существующего класса. Новый класс сохраняет данные и поведение родительского класса. За счёт этого обеспечивается повторное использование кода. 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D27560-579B-482E-BED7-036450DE1808}" type="slidenum">
              <a:rPr lang="ru-RU" smtClean="0"/>
              <a:pPr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4778126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Графически наследование обозначается в виде стрелки с треугольным наконечником, направленной от наследника к базовому классу. Иногда встречается форма записи, при которой соединительная линия содержит надпись {{"</a:t>
            </a:r>
            <a:r>
              <a:rPr lang="ru-RU" dirty="0" err="1"/>
              <a:t>Extends</a:t>
            </a:r>
            <a:r>
              <a:rPr lang="ru-RU" dirty="0"/>
              <a:t>"}}[</a:t>
            </a:r>
            <a:r>
              <a:rPr lang="ru-RU" dirty="0" err="1"/>
              <a:t>be_translate_cpp_extends</a:t>
            </a:r>
            <a:r>
              <a:rPr lang="ru-RU" dirty="0"/>
              <a:t>]. На следующем рисунке показаны различные иерархии наследования.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D27560-579B-482E-BED7-036450DE1808}" type="slidenum">
              <a:rPr lang="ru-RU" smtClean="0"/>
              <a:pPr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7572082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На диаграмме классов интерфейсы отображаются подобно классам, с уточняющей пометкой </a:t>
            </a:r>
            <a:r>
              <a:rPr lang="ru-RU" dirty="0">
                <a:solidFill>
                  <a:srgbClr val="EB5757"/>
                </a:solidFill>
                <a:effectLst/>
                <a:latin typeface="SFMono-Regular"/>
              </a:rPr>
              <a:t>&lt;&lt;Interface&gt;&gt;</a:t>
            </a:r>
            <a:r>
              <a:rPr lang="ru-RU" dirty="0"/>
              <a:t>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D27560-579B-482E-BED7-036450DE1808}" type="slidenum">
              <a:rPr lang="ru-RU" smtClean="0"/>
              <a:pPr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822526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BAE877-0B2B-4E92-AB4F-CF31ADE28E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E2E6D9-A916-40D7-83AD-EF4FFEF842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88F174-AAFC-4154-9704-73AF0FD33E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42338-19C0-4D5B-87F4-D84E00F7CA9F}" type="datetime1">
              <a:rPr lang="ru-RU" smtClean="0"/>
              <a:t>12.01.2026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CEAF7C-4A59-4EC1-9CD6-24639B475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13D70A-9CF3-4156-ABA9-96ADEF129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E8911-E3D6-4AD9-AA24-3D7604D2F44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57658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05B4D-328A-4730-83B9-A27100507A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584A3B-2F97-46F5-BCB9-6E4888EA5F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EA3365-BE53-41E9-B6ED-212851EFDB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046E7A-C0A0-4585-9511-0CC32E1FD9E5}" type="datetime1">
              <a:rPr lang="ru-RU" smtClean="0"/>
              <a:t>12.01.2026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A07BF0-86C7-4E97-986C-31E7FD6E6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2E3EE4-9DE6-4EF9-9A24-92DDE50C28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E8911-E3D6-4AD9-AA24-3D7604D2F44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464997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EFC3ED-E11A-469E-AE9B-A6913DFF3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1D1D77-74F8-4834-A657-396FD90D65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D8CF60-F80A-4816-B420-4EE5232419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FA3D6-0ACE-4A6A-A614-8F082567C748}" type="datetime1">
              <a:rPr lang="ru-RU" smtClean="0"/>
              <a:t>12.01.2026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0A9A8E-F7BD-4300-AA03-149260D1A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D20C3F-775A-4C18-A749-7E72550A87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E8911-E3D6-4AD9-AA24-3D7604D2F44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811657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CC1AD0-9BDF-4BD1-8DEA-B0C087D6B3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854EF9-1C1C-4998-BD62-0EAF7CB3BB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3900D2-E2B3-48D8-9F50-FAC1D13479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20AADF-8249-4C0D-ACE2-53AB093072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27D5AA-C59A-488C-BD40-52249BD73BF2}" type="datetime1">
              <a:rPr lang="ru-RU" smtClean="0"/>
              <a:t>12.01.2026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C6A8D9-981B-49AC-BACA-8C51F2A61C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E19B4C-8BFA-4E95-9AEF-7E4FDAD4B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E8911-E3D6-4AD9-AA24-3D7604D2F44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392067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4FCDC8-6418-47AC-A9ED-BEC2C2CCD4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1E4296-2F0F-4EBB-A4C5-C9FE9E4D0E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AE99F5-0F14-45C2-B2F3-67C00DD8A4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7C4BA42-D213-4A5D-884E-9D4DBAC716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9CD0B6B-593A-4A0B-9D82-2B234E5DA5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F410BA3-6CDE-4FE7-A7B7-DC80F1C283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34CB10-256C-4862-8195-7B259579A1DE}" type="datetime1">
              <a:rPr lang="ru-RU" smtClean="0"/>
              <a:t>12.01.2026</a:t>
            </a:fld>
            <a:endParaRPr lang="ru-R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6D6ADC3-900C-461E-AF27-6AEA82F5A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5F90D9E-09C8-40BA-8F1A-13C482A21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E8911-E3D6-4AD9-AA24-3D7604D2F44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907005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105B29-D415-4AC3-A02B-23C328869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31779F2-768A-456B-8AD1-C577FA87A0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E238F-8367-4111-8E77-9E3737855EA3}" type="datetime1">
              <a:rPr lang="ru-RU" smtClean="0"/>
              <a:t>12.01.2026</a:t>
            </a:fld>
            <a:endParaRPr lang="ru-R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90203E-BA3E-4C5D-9469-C7D8404BEE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597CF4-C872-47B7-A3C5-B3B5F154D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E8911-E3D6-4AD9-AA24-3D7604D2F44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50702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19A22FA-444E-4504-A21D-C6525C5DC1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77840-E45D-4DAA-BE43-94276BE639C0}" type="datetime1">
              <a:rPr lang="ru-RU" smtClean="0"/>
              <a:t>12.01.2026</a:t>
            </a:fld>
            <a:endParaRPr lang="ru-R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6626FE9-6158-4E2B-8C72-1B582BEA65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01001A-88AE-4089-97A2-07F60DB3E6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E8911-E3D6-4AD9-AA24-3D7604D2F44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530521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7DC355-D362-4A3F-95A0-97A2B9F9A5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7CC1F4-78B6-46BE-B9DD-2387FC6894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E06E47-6445-4251-A3C1-2A48A1EEBD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D94250-2F41-4824-B15B-EE7C2AD5F8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081C3-C275-49D1-AD29-5B152B9D32A6}" type="datetime1">
              <a:rPr lang="ru-RU" smtClean="0"/>
              <a:t>12.01.2026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EB8E40-5563-4ED2-AAC5-815EEA618A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1E2C66-9FC5-40FA-A078-306C4B975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E8911-E3D6-4AD9-AA24-3D7604D2F44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267154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2291FF-9FFD-4CFA-8322-03C7B75DE9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8FD8E02-D776-40EC-A83F-B6490FA528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E773C5-0DFE-434A-9556-DABE7607F1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64CE20-ED23-4394-985A-39AA57B0E9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BEC0E-0129-4BAE-BDC5-B0A9F963C45C}" type="datetime1">
              <a:rPr lang="ru-RU" smtClean="0"/>
              <a:t>12.01.2026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4B76E6-EC1A-4371-82CB-F7A1B02ED6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25BC96-093F-49E1-B620-8550721C1E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E8911-E3D6-4AD9-AA24-3D7604D2F44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097522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869FEE-B984-422E-8829-BAC3447CF8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4FF5FC-EE5A-40B8-B13E-4B24DCB81B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7B94C7-C425-42D2-967A-3860E9AC20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435379-0901-4231-AD59-C11B54E6DE39}" type="datetime1">
              <a:rPr lang="ru-RU" smtClean="0"/>
              <a:t>12.01.2026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0F384E-900C-4F93-9042-DAFAEA8FF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249BA6-4CF0-4129-BB01-852E0ABD5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E8911-E3D6-4AD9-AA24-3D7604D2F44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35476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C10387D-78AE-4D0A-ABE2-AB81E74668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1259FD-282A-4155-9F50-FBBDAF4E46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F8DE9B-1397-44F6-B498-628096E46E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D2BD2-2B61-4104-B801-D48DD70A0351}" type="datetime1">
              <a:rPr lang="ru-RU" smtClean="0"/>
              <a:t>12.01.2026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C233CC-36DE-4DAB-B8E5-DADCF1E0DD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5EB5CF-EA7F-4E68-85A6-06BC3A3F0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E8911-E3D6-4AD9-AA24-3D7604D2F44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341690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1932BD-83E2-4145-B3CA-F819726EF7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67E9DE-A29C-49FD-8152-E53A7641F0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E50C14-9ECB-4FC3-9625-D608393EDBD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0E3125-C00F-4E0E-AE42-19C93EAE59FD}" type="datetime1">
              <a:rPr lang="ru-RU" smtClean="0"/>
              <a:t>12.01.2026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CAF121-2918-407D-8FDD-A1E43BAB73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5AACE7-95FD-4EEA-B2F8-C028BE837A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8E8911-E3D6-4AD9-AA24-3D7604D2F44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896266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>
            <a:noAutofit/>
          </a:bodyPr>
          <a:lstStyle/>
          <a:p>
            <a:r>
              <a:rPr lang="ru-RU" dirty="0"/>
              <a:t>Отношения между классами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3CE94875-9E79-DAC4-5E5F-8C234472CC9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93312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12DDA6B-B205-44FB-9002-AC2269452C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Диаграмма классов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FA450FE-1DFD-47E9-9263-7D0A9C7B31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Один из способов визуализации структуры программы</a:t>
            </a:r>
          </a:p>
          <a:p>
            <a:r>
              <a:rPr lang="ru-RU" dirty="0"/>
              <a:t>Показывает классы и интерфейсы, их состав и связи между ними</a:t>
            </a:r>
          </a:p>
          <a:p>
            <a:r>
              <a:rPr lang="en-US" dirty="0"/>
              <a:t>UML – </a:t>
            </a:r>
            <a:r>
              <a:rPr lang="ru-RU" dirty="0"/>
              <a:t>универсальный язык моделирования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60A991B-FF38-4274-A00D-85B8ED5419B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75520" y="4020439"/>
            <a:ext cx="8820944" cy="2623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72726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3BFE267-D992-4B74-A5FB-7DD145E46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Композиция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D4DA888-5B7B-417D-8854-E5B11DB984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366544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14A5E15-5E17-4A6D-9194-572D33F9FD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Особенности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3761BE8-4C5F-40DF-8BFA-BB3F4B5C3A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Один объект является </a:t>
            </a:r>
            <a:r>
              <a:rPr lang="ru-RU" b="1" dirty="0"/>
              <a:t>Частью</a:t>
            </a:r>
            <a:r>
              <a:rPr lang="ru-RU" dirty="0"/>
              <a:t> другого, составного объекта</a:t>
            </a:r>
          </a:p>
          <a:p>
            <a:r>
              <a:rPr lang="ru-RU" dirty="0"/>
              <a:t>Часть в один момент времени принадлежит только одному составному объекту</a:t>
            </a:r>
          </a:p>
          <a:p>
            <a:r>
              <a:rPr lang="ru-RU" dirty="0"/>
              <a:t>Составной объект управляет своими частями.</a:t>
            </a:r>
          </a:p>
          <a:p>
            <a:pPr lvl="1"/>
            <a:r>
              <a:rPr lang="ru-RU" dirty="0"/>
              <a:t>Часть удаляется при удалении объекта</a:t>
            </a:r>
          </a:p>
          <a:p>
            <a:r>
              <a:rPr lang="ru-RU" dirty="0"/>
              <a:t>Часть обычно не знает о том, в состав каких объектов она входит</a:t>
            </a:r>
          </a:p>
          <a:p>
            <a:r>
              <a:rPr lang="ru-RU" dirty="0"/>
              <a:t>В </a:t>
            </a:r>
            <a:r>
              <a:rPr lang="en-US" dirty="0"/>
              <a:t>C++</a:t>
            </a:r>
            <a:r>
              <a:rPr lang="ru-RU" dirty="0"/>
              <a:t> классы обычно используют композицию</a:t>
            </a:r>
          </a:p>
        </p:txBody>
      </p:sp>
    </p:spTree>
    <p:extLst>
      <p:ext uri="{BB962C8B-B14F-4D97-AF65-F5344CB8AC3E}">
        <p14:creationId xmlns:p14="http://schemas.microsoft.com/office/powerpoint/2010/main" val="3180980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7EDF0C-5F6E-4497-A839-4FCA94CDB1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F76F067-A745-4012-8CF4-6EB40B0AB0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553944" cy="4351338"/>
          </a:xfrm>
        </p:spPr>
        <p:txBody>
          <a:bodyPr>
            <a:normAutofit fontScale="92500"/>
          </a:bodyPr>
          <a:lstStyle/>
          <a:p>
            <a:r>
              <a:rPr lang="ru-RU" dirty="0"/>
              <a:t>Точка на плоскости</a:t>
            </a:r>
          </a:p>
          <a:p>
            <a:pPr lvl="1"/>
            <a:r>
              <a:rPr lang="ru-RU" dirty="0"/>
              <a:t>Пара чисел, задающих координаты точки</a:t>
            </a:r>
          </a:p>
          <a:p>
            <a:r>
              <a:rPr lang="ru-RU" dirty="0"/>
              <a:t>Окружность</a:t>
            </a:r>
          </a:p>
          <a:p>
            <a:pPr lvl="1"/>
            <a:r>
              <a:rPr lang="ru-RU" dirty="0"/>
              <a:t>Точка (центр) и число (радиус)</a:t>
            </a:r>
          </a:p>
          <a:p>
            <a:r>
              <a:rPr lang="ru-RU" dirty="0"/>
              <a:t>Класс комплексных чисел</a:t>
            </a:r>
          </a:p>
          <a:p>
            <a:pPr lvl="1"/>
            <a:r>
              <a:rPr lang="ru-RU" dirty="0"/>
              <a:t>Действительная и мнимая часть</a:t>
            </a:r>
            <a:endParaRPr lang="en-US" dirty="0"/>
          </a:p>
          <a:p>
            <a:r>
              <a:rPr lang="ru-RU" dirty="0"/>
              <a:t>Класс рациональных чисел</a:t>
            </a:r>
          </a:p>
          <a:p>
            <a:pPr lvl="1"/>
            <a:r>
              <a:rPr lang="ru-RU" dirty="0"/>
              <a:t>Пара целых чисел - числитель и знаменатель</a:t>
            </a:r>
          </a:p>
          <a:p>
            <a:r>
              <a:rPr lang="ru-RU" dirty="0"/>
              <a:t>Многоугольник</a:t>
            </a:r>
          </a:p>
          <a:p>
            <a:pPr lvl="1"/>
            <a:r>
              <a:rPr lang="ru-RU" dirty="0"/>
              <a:t>Координаты вершин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104880E-E7E2-4F8C-80D3-DB6BEC83767B}"/>
              </a:ext>
            </a:extLst>
          </p:cNvPr>
          <p:cNvSpPr txBox="1"/>
          <p:nvPr/>
        </p:nvSpPr>
        <p:spPr>
          <a:xfrm>
            <a:off x="7536160" y="548680"/>
            <a:ext cx="4557119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Point 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x, y;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Circle 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Point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m_center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m_radius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struct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Complex 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real;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double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im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Rational 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m_numerator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m_denominator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Polygon {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std::vector&lt;Point&gt;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m_vertices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38868575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F94B3B5A-2F67-4AD6-8D6A-85F8682DBA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CD436B7-0125-4F27-AD64-3E0F0CC7E1D0}"/>
              </a:ext>
            </a:extLst>
          </p:cNvPr>
          <p:cNvSpPr txBox="1"/>
          <p:nvPr/>
        </p:nvSpPr>
        <p:spPr>
          <a:xfrm>
            <a:off x="1970717" y="1888952"/>
            <a:ext cx="8414054" cy="4924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ru-RU" sz="160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 Книга - пример композиции экземпляров </a:t>
            </a:r>
            <a:r>
              <a:rPr lang="ru-RU" sz="1600" dirty="0" err="1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string</a:t>
            </a:r>
            <a:r>
              <a:rPr lang="ru-RU" sz="160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и </a:t>
            </a:r>
            <a:r>
              <a:rPr lang="ru-RU" sz="1600" dirty="0" err="1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ru-RU" sz="160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</a:t>
            </a:r>
            <a:endParaRPr lang="ru-RU" sz="16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class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Book</a:t>
            </a:r>
            <a:endParaRPr lang="ru-RU" sz="16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</a:t>
            </a:r>
            <a:endParaRPr lang="ru-RU" sz="16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... </a:t>
            </a:r>
            <a:endParaRPr lang="ru-RU" sz="16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private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 </a:t>
            </a:r>
            <a:endParaRPr lang="ru-RU" sz="1600" dirty="0">
              <a:solidFill>
                <a:srgbClr val="000000"/>
              </a:solidFill>
              <a:latin typeface="Consolas" panose="020B0609020204030204" pitchFamily="49" charset="0"/>
              <a:ea typeface="Calibri" panose="020F0502020204030204" pitchFamily="34" charset="0"/>
              <a:cs typeface="Consolas" panose="020B0609020204030204" pitchFamily="49" charset="0"/>
            </a:endParaRPr>
          </a:p>
          <a:p>
            <a:pPr>
              <a:spcAft>
                <a:spcPts val="0"/>
              </a:spcAft>
            </a:pPr>
            <a:r>
              <a:rPr lang="ru-RU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string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m_title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6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ru-RU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ru-RU" sz="16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string</a:t>
            </a:r>
            <a:r>
              <a:rPr lang="ru-RU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m_</a:t>
            </a:r>
            <a:r>
              <a:rPr lang="ru-RU" sz="16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author</a:t>
            </a:r>
            <a:r>
              <a:rPr lang="ru-RU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6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ru-RU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ru-RU" sz="16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string</a:t>
            </a:r>
            <a:r>
              <a:rPr lang="ru-RU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m_</a:t>
            </a:r>
            <a:r>
              <a:rPr lang="ru-RU" sz="16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isbn</a:t>
            </a:r>
            <a:r>
              <a:rPr lang="ru-RU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 </a:t>
            </a:r>
            <a:r>
              <a:rPr lang="ru-RU" sz="160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 ISBN - уникальный номер книжного издания</a:t>
            </a:r>
            <a:endParaRPr lang="ru-RU" sz="16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ru-RU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m_publicationYear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 </a:t>
            </a:r>
            <a:r>
              <a:rPr lang="en-US" sz="160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 </a:t>
            </a:r>
            <a:r>
              <a:rPr lang="ru-RU" sz="160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Год публикации</a:t>
            </a:r>
            <a:endParaRPr lang="ru-RU" sz="16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};</a:t>
            </a:r>
            <a:endParaRPr lang="ru-RU" sz="16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 </a:t>
            </a:r>
            <a:endParaRPr lang="ru-RU" sz="16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ru-RU" sz="160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 Человек - ещё один пример композиции экземпляров </a:t>
            </a:r>
            <a:r>
              <a:rPr lang="ru-RU" sz="1600" dirty="0" err="1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string</a:t>
            </a:r>
            <a:r>
              <a:rPr lang="ru-RU" sz="160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и </a:t>
            </a:r>
            <a:r>
              <a:rPr lang="ru-RU" sz="1600" dirty="0" err="1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endParaRPr lang="ru-RU" sz="16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class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Person</a:t>
            </a:r>
            <a:endParaRPr lang="ru-RU" sz="16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</a:t>
            </a:r>
            <a:endParaRPr lang="ru-RU" sz="16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private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</a:t>
            </a:r>
            <a:endParaRPr lang="ru-RU" sz="16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string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m_name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6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string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m_address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6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m_birthYear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6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ru-RU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};</a:t>
            </a:r>
            <a:endParaRPr lang="ru-RU" sz="16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8386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165B14-FC91-47B1-B3C2-C2A9861DA8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Обозначение композиции на диаграммах классов</a:t>
            </a:r>
          </a:p>
        </p:txBody>
      </p:sp>
      <p:pic>
        <p:nvPicPr>
          <p:cNvPr id="4" name="Рисунок 3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B22C2DE6-3098-45BB-BF6F-A5F58DCB11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0300" y="2279550"/>
            <a:ext cx="7080076" cy="4370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15973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DFA4413-24DE-4ED2-B703-609DAF7FCB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Агрегация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C8A4E74-53CF-43B7-8A16-81BF6EC552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786010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73E1AC1-1020-4294-A077-007A71C780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Агрегация и делегирование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A871CF4-AACF-395E-5682-5A4F4F5F35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8264" y="2492896"/>
            <a:ext cx="6470104" cy="3702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77261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32D142-1727-46E9-802D-5C11B0B03F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Агрегация и делегирование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717AC3E-2C14-4F44-866D-6B0A5CE0B4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5520" y="2420888"/>
            <a:ext cx="9098262" cy="42804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375445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6A3ED60-46B9-4A37-B70A-5752E1E19E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Зависимость (</a:t>
            </a:r>
            <a:r>
              <a:rPr lang="en-US" dirty="0"/>
              <a:t>Dependency)</a:t>
            </a:r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AC5D6E4-B347-4185-B6F6-AB7F13C142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713319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F6B10609-342F-4D6F-BA8A-7D410D91A0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Особенности</a:t>
            </a: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602CA5C1-4842-495A-B15F-9560F1308E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Отношение «Клиент – Поставщик»</a:t>
            </a:r>
          </a:p>
          <a:p>
            <a:r>
              <a:rPr lang="ru-RU" dirty="0"/>
              <a:t>Возникает в следующих случаях:</a:t>
            </a:r>
          </a:p>
          <a:p>
            <a:pPr lvl="1"/>
            <a:r>
              <a:rPr lang="ru-RU" dirty="0"/>
              <a:t>Поставщик создаётся внутри метода Клиента</a:t>
            </a:r>
          </a:p>
          <a:p>
            <a:pPr lvl="1"/>
            <a:r>
              <a:rPr lang="ru-RU" dirty="0"/>
              <a:t>Поставщик передаётся в метод Клиента</a:t>
            </a:r>
          </a:p>
          <a:p>
            <a:pPr lvl="1"/>
            <a:r>
              <a:rPr lang="ru-RU" dirty="0"/>
              <a:t>Метод Клиента возвращает Поставщика</a:t>
            </a:r>
          </a:p>
          <a:p>
            <a:r>
              <a:rPr lang="ru-RU" dirty="0"/>
              <a:t>Поставщик ничего не знает про Клиента</a:t>
            </a:r>
          </a:p>
          <a:p>
            <a:r>
              <a:rPr lang="ru-RU" dirty="0"/>
              <a:t>Зависимость существует на время вызова метода Клиента</a:t>
            </a:r>
          </a:p>
        </p:txBody>
      </p:sp>
    </p:spTree>
    <p:extLst>
      <p:ext uri="{BB962C8B-B14F-4D97-AF65-F5344CB8AC3E}">
        <p14:creationId xmlns:p14="http://schemas.microsoft.com/office/powerpoint/2010/main" val="22486408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3BF43C6-9B95-4028-882B-1165568B76B9}"/>
              </a:ext>
            </a:extLst>
          </p:cNvPr>
          <p:cNvSpPr txBox="1"/>
          <p:nvPr/>
        </p:nvSpPr>
        <p:spPr>
          <a:xfrm>
            <a:off x="1415480" y="58846"/>
            <a:ext cx="9540552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ru-RU" sz="1600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class</a:t>
            </a:r>
            <a:r>
              <a:rPr lang="ru-RU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ru-RU" sz="1600" dirty="0" err="1">
                <a:solidFill>
                  <a:srgbClr val="2B91A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Document</a:t>
            </a:r>
            <a:endParaRPr lang="ru-RU" sz="16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ru-RU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</a:t>
            </a:r>
            <a:endParaRPr lang="ru-RU" sz="16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ru-RU" sz="1600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public</a:t>
            </a:r>
            <a:r>
              <a:rPr lang="ru-RU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</a:t>
            </a:r>
            <a:endParaRPr lang="ru-RU" sz="16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ru-RU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ru-RU" sz="160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 </a:t>
            </a:r>
            <a:r>
              <a:rPr lang="ru-RU" sz="1600" dirty="0" err="1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output</a:t>
            </a:r>
            <a:r>
              <a:rPr lang="ru-RU" sz="160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используется только для записи документа</a:t>
            </a:r>
            <a:endParaRPr lang="ru-RU" sz="16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ru-RU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SaveToStream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ostream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&amp; </a:t>
            </a:r>
            <a:r>
              <a:rPr lang="en-US" sz="1600" b="1" dirty="0">
                <a:solidFill>
                  <a:srgbClr val="8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output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const</a:t>
            </a:r>
            <a:r>
              <a:rPr lang="ru-RU" sz="16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</a:t>
            </a:r>
            <a:endParaRPr lang="ru-RU" sz="16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</a:t>
            </a:r>
            <a:r>
              <a:rPr lang="en-US" sz="1600" b="1" dirty="0">
                <a:solidFill>
                  <a:srgbClr val="8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output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&lt;&lt; title_ &lt;&lt;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endl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&lt;&lt; text_ &lt;&lt;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endl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6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ru-RU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</a:t>
            </a:r>
          </a:p>
          <a:p>
            <a:pPr>
              <a:spcAft>
                <a:spcPts val="0"/>
              </a:spcAft>
            </a:pPr>
            <a:endParaRPr lang="ru-RU" sz="16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ru-RU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ru-RU" sz="160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// </a:t>
            </a:r>
            <a:r>
              <a:rPr lang="ru-RU" sz="1600" dirty="0" err="1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input</a:t>
            </a:r>
            <a:r>
              <a:rPr lang="ru-RU" sz="1600" dirty="0">
                <a:solidFill>
                  <a:srgbClr val="008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используется только для чтения документа</a:t>
            </a:r>
            <a:endParaRPr lang="ru-RU" sz="16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ru-RU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void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LoadFromStream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istream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&amp; </a:t>
            </a:r>
            <a:r>
              <a:rPr lang="en-US" sz="1600" b="1" dirty="0">
                <a:solidFill>
                  <a:srgbClr val="8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input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)</a:t>
            </a:r>
            <a:r>
              <a:rPr lang="ru-RU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</a:t>
            </a:r>
            <a:endParaRPr lang="ru-RU" sz="16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getline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600" b="1" dirty="0">
                <a:solidFill>
                  <a:srgbClr val="8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input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 title_);</a:t>
            </a:r>
            <a:endParaRPr lang="ru-RU" sz="16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text</a:t>
            </a:r>
            <a:r>
              <a:rPr lang="ru-RU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_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.clear();</a:t>
            </a:r>
            <a:endParaRPr lang="ru-RU" sz="16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string line;</a:t>
            </a:r>
            <a:endParaRPr lang="ru-RU" sz="16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</a:t>
            </a: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while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</a:t>
            </a:r>
            <a:r>
              <a:rPr lang="en-US" sz="16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getline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</a:t>
            </a:r>
            <a:r>
              <a:rPr lang="en-US" sz="1600" b="1" dirty="0">
                <a:solidFill>
                  <a:srgbClr val="80808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input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, line))</a:t>
            </a:r>
            <a:endParaRPr lang="ru-RU" sz="16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</a:t>
            </a:r>
            <a:r>
              <a:rPr lang="ru-RU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{</a:t>
            </a:r>
            <a:endParaRPr lang="ru-RU" sz="16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ru-RU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</a:t>
            </a:r>
            <a:r>
              <a:rPr lang="ru-RU" sz="1600" dirty="0" err="1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if</a:t>
            </a:r>
            <a:r>
              <a:rPr lang="ru-RU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(</a:t>
            </a:r>
            <a:r>
              <a:rPr lang="ru-RU" sz="16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text</a:t>
            </a:r>
            <a:r>
              <a:rPr lang="ru-RU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_.</a:t>
            </a:r>
            <a:r>
              <a:rPr lang="ru-RU" sz="16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empty</a:t>
            </a:r>
            <a:r>
              <a:rPr lang="ru-RU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())</a:t>
            </a:r>
            <a:endParaRPr lang="ru-RU" sz="16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ru-RU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{</a:t>
            </a:r>
            <a:endParaRPr lang="ru-RU" sz="16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ru-RU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  </a:t>
            </a:r>
            <a:r>
              <a:rPr lang="ru-RU" sz="16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text</a:t>
            </a:r>
            <a:r>
              <a:rPr lang="ru-RU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_ += </a:t>
            </a:r>
            <a:r>
              <a:rPr lang="ru-RU" sz="1600" dirty="0">
                <a:solidFill>
                  <a:srgbClr val="A31515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'\n'</a:t>
            </a:r>
            <a:r>
              <a:rPr lang="ru-RU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;</a:t>
            </a:r>
            <a:endParaRPr lang="ru-RU" sz="16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ru-RU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</a:t>
            </a:r>
            <a:endParaRPr lang="ru-RU" sz="16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  text_ += line;</a:t>
            </a:r>
            <a:endParaRPr lang="ru-RU" sz="16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  }</a:t>
            </a:r>
            <a:endParaRPr lang="ru-RU" sz="16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}</a:t>
            </a:r>
            <a:endParaRPr lang="ru-RU" sz="16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600" dirty="0">
                <a:solidFill>
                  <a:srgbClr val="0000FF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private</a:t>
            </a: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:</a:t>
            </a:r>
            <a:endParaRPr lang="ru-RU" sz="16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string title_;</a:t>
            </a:r>
            <a:endParaRPr lang="ru-RU" sz="16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US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 </a:t>
            </a:r>
            <a:r>
              <a:rPr lang="ru-RU" sz="16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string</a:t>
            </a:r>
            <a:r>
              <a:rPr lang="ru-RU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 </a:t>
            </a:r>
            <a:r>
              <a:rPr lang="ru-RU" sz="1600" dirty="0" err="1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text</a:t>
            </a:r>
            <a:r>
              <a:rPr lang="ru-RU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_;</a:t>
            </a:r>
            <a:endParaRPr lang="ru-RU" sz="16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ru-RU" sz="1600" dirty="0">
                <a:solidFill>
                  <a:srgbClr val="000000"/>
                </a:solidFill>
                <a:latin typeface="Consolas" panose="020B0609020204030204" pitchFamily="49" charset="0"/>
                <a:ea typeface="Calibri" panose="020F0502020204030204" pitchFamily="34" charset="0"/>
                <a:cs typeface="Consolas" panose="020B0609020204030204" pitchFamily="49" charset="0"/>
              </a:rPr>
              <a:t>};</a:t>
            </a:r>
            <a:endParaRPr lang="ru-RU" sz="16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47117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6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6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6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6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6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BA670F6D-AA93-4847-B11C-B1FD5042CA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3296" y="2003869"/>
            <a:ext cx="6840760" cy="3264055"/>
          </a:xfrm>
          <a:prstGeom prst="rect">
            <a:avLst/>
          </a:prstGeom>
        </p:spPr>
      </p:pic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DF2AFD21-51D0-42B2-A0D5-D8E2BA6F90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Обозначение зависимости на диаграммах классов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3FA3E94-BB74-4F46-AA91-DE7D08A6D2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9576" y="5581105"/>
            <a:ext cx="6724389" cy="10200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885933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87B3CCF-CE61-427C-AAF4-82B5C96764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Транзитивность зависимостей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3A04AB77-04FD-495C-B5C4-F0A58A2A95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3552" y="2696631"/>
            <a:ext cx="8243546" cy="12260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948879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EBF5C1F-8EB7-440F-83AA-83349F6B1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Наследование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3C3619-47C0-4CBE-ABA2-016231C459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CBB147-5EA7-452D-8899-B16743B90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E8911-E3D6-4AD9-AA24-3D7604D2F44D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474503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78A11AA-F11C-43CA-AF24-B81732CE1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Наследование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875E180-BF1C-4731-94AF-7D7410D233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Выражает отношение «является» между классами</a:t>
            </a:r>
          </a:p>
          <a:p>
            <a:r>
              <a:rPr lang="ru-RU" dirty="0"/>
              <a:t>Создаёт новый класс не с нуля, а на основе существующего класса</a:t>
            </a:r>
          </a:p>
          <a:p>
            <a:r>
              <a:rPr lang="ru-RU" dirty="0"/>
              <a:t>Новый класс сохраняет данные и поведение родительского класса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182FF1-8F39-4912-AA32-066BC5F684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E8911-E3D6-4AD9-AA24-3D7604D2F44D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142815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472F0AD-A5B3-4AA1-8E35-B3F293DD29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5704" y="2132857"/>
            <a:ext cx="9144000" cy="4646951"/>
          </a:xfrm>
          <a:prstGeom prst="rect">
            <a:avLst/>
          </a:prstGeom>
        </p:spPr>
      </p:pic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0794055E-B301-425F-842E-92F680660B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Обозначение наследования на диаграммах классов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6EBD925-E666-4C9B-84ED-8270135154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E8911-E3D6-4AD9-AA24-3D7604D2F44D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252810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D20A85F-E557-4665-A30A-B0D4CCF092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Интерфейсы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4DD752-76D8-4068-A767-76069DC834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3F17E0-2CD9-4DF8-BC5C-3843417F7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E8911-E3D6-4AD9-AA24-3D7604D2F44D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543363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52DA270-CB7E-8B00-5A03-197D05BB28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9536" y="3500439"/>
            <a:ext cx="8172400" cy="1922055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F9EC0F0A-A4A6-472E-AB37-B92F93F105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Обозначение интерфейса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7B596E-DA3A-4FA1-9260-CE55898457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E8911-E3D6-4AD9-AA24-3D7604D2F44D}" type="slidenum">
              <a:rPr lang="ru-RU" smtClean="0"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406090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D20A85F-E557-4665-A30A-B0D4CCF092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Реализация интерфейса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4DD752-76D8-4068-A767-76069DC834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467DA6F-952A-418D-A83A-62E966CBB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E8911-E3D6-4AD9-AA24-3D7604D2F44D}" type="slidenum">
              <a:rPr lang="ru-RU" smtClean="0"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6785690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F18DEB-8DC1-40F2-8D25-8A130A9D75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Обозначение на диаграмме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29A911D7-AE2A-44B4-89C9-8741FF9005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4716" y="1690687"/>
            <a:ext cx="3379028" cy="4943393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20C541-292C-44F4-8485-CDBDEAE9DA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8E8911-E3D6-4AD9-AA24-3D7604D2F44D}" type="slidenum">
              <a:rPr lang="ru-RU" smtClean="0"/>
              <a:t>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19558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1637</Words>
  <Application>Microsoft Office PowerPoint</Application>
  <PresentationFormat>Widescreen</PresentationFormat>
  <Paragraphs>177</Paragraphs>
  <Slides>22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-apple-system</vt:lpstr>
      <vt:lpstr>Arial</vt:lpstr>
      <vt:lpstr>Calibri</vt:lpstr>
      <vt:lpstr>Calibri Light</vt:lpstr>
      <vt:lpstr>Consolas</vt:lpstr>
      <vt:lpstr>SFMono-Regular</vt:lpstr>
      <vt:lpstr>Office Theme</vt:lpstr>
      <vt:lpstr>Отношения между классами</vt:lpstr>
      <vt:lpstr>Диаграмма классов</vt:lpstr>
      <vt:lpstr>Композиция</vt:lpstr>
      <vt:lpstr>Особенности</vt:lpstr>
      <vt:lpstr>Примеры</vt:lpstr>
      <vt:lpstr>Пример</vt:lpstr>
      <vt:lpstr>Обозначение композиции на диаграммах классов</vt:lpstr>
      <vt:lpstr>Агрегация</vt:lpstr>
      <vt:lpstr>Агрегация и делегирование</vt:lpstr>
      <vt:lpstr>Агрегация и делегирование</vt:lpstr>
      <vt:lpstr>Зависимость (Dependency)</vt:lpstr>
      <vt:lpstr>Особенности</vt:lpstr>
      <vt:lpstr>PowerPoint Presentation</vt:lpstr>
      <vt:lpstr>Обозначение зависимости на диаграммах классов</vt:lpstr>
      <vt:lpstr>Транзитивность зависимостей</vt:lpstr>
      <vt:lpstr>Наследование</vt:lpstr>
      <vt:lpstr>Наследование</vt:lpstr>
      <vt:lpstr>Обозначение наследования на диаграммах классов</vt:lpstr>
      <vt:lpstr>Интерфейсы</vt:lpstr>
      <vt:lpstr>Обозначение интерфейса</vt:lpstr>
      <vt:lpstr>Реализация интерфейса</vt:lpstr>
      <vt:lpstr>Обозначение на диаграмме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UML-диаграммы классов</dc:title>
  <dc:creator>Alexey Malov</dc:creator>
  <cp:lastModifiedBy>Алексей Малов</cp:lastModifiedBy>
  <cp:revision>7</cp:revision>
  <dcterms:created xsi:type="dcterms:W3CDTF">2023-09-08T15:21:07Z</dcterms:created>
  <dcterms:modified xsi:type="dcterms:W3CDTF">2026-01-12T13:22:58Z</dcterms:modified>
</cp:coreProperties>
</file>